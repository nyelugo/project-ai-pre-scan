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17c1df56b84e3e" /><Relationship Type="http://schemas.openxmlformats.org/officeDocument/2006/relationships/extended-properties" Target="/docProps/app.xml" Id="R1a47c119a7304b18" /><Relationship Type="http://schemas.openxmlformats.org/officeDocument/2006/relationships/officeDocument" Target="/ppt/presentation.xml" Id="Rd562ec89162642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dd9d272a2e463c"/>
  </p:sldMasterIdLst>
  <p:notesMasterIdLst>
    <p:notesMasterId xmlns:r="http://schemas.openxmlformats.org/officeDocument/2006/relationships" r:id="Rab09dc90d9854225"/>
  </p:notesMasterIdLst>
  <p:sldIdLst>
    <p:sldId xmlns:r="http://schemas.openxmlformats.org/officeDocument/2006/relationships" id="256" r:id="Rb69ed3058c7e46e9"/>
    <p:sldId xmlns:r="http://schemas.openxmlformats.org/officeDocument/2006/relationships" id="257" r:id="Rc8d0374a177843f4"/>
    <p:sldId xmlns:r="http://schemas.openxmlformats.org/officeDocument/2006/relationships" id="258" r:id="R7fa9599ad871449c"/>
    <p:sldId xmlns:r="http://schemas.openxmlformats.org/officeDocument/2006/relationships" id="259" r:id="R4930c031385943cf"/>
    <p:sldId xmlns:r="http://schemas.openxmlformats.org/officeDocument/2006/relationships" id="260" r:id="R3b3ff263e9c24384"/>
    <p:sldId xmlns:r="http://schemas.openxmlformats.org/officeDocument/2006/relationships" id="261" r:id="R337fc485321c4029"/>
    <p:sldId xmlns:r="http://schemas.openxmlformats.org/officeDocument/2006/relationships" id="262" r:id="R1af2332d03614bb9"/>
    <p:sldId xmlns:r="http://schemas.openxmlformats.org/officeDocument/2006/relationships" id="263" r:id="R0ef8cb050297458c"/>
    <p:sldId xmlns:r="http://schemas.openxmlformats.org/officeDocument/2006/relationships" id="264" r:id="Reb96827a9bf04190"/>
    <p:sldId xmlns:r="http://schemas.openxmlformats.org/officeDocument/2006/relationships" id="265" r:id="Rc2c909992d5a4f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b5c138576d43b8" /><Relationship Type="http://schemas.openxmlformats.org/officeDocument/2006/relationships/slideMaster" Target="/ppt/slideMasters/slideMaster1.xml" Id="R92dd9d272a2e463c" /><Relationship Type="http://schemas.openxmlformats.org/officeDocument/2006/relationships/notesMaster" Target="/ppt/notesMasters/notesMaster1.xml" Id="Rab09dc90d9854225" /><Relationship Type="http://schemas.openxmlformats.org/officeDocument/2006/relationships/presProps" Target="/ppt/presProps.xml" Id="Redd07eeda7004e4d" /><Relationship Type="http://schemas.openxmlformats.org/officeDocument/2006/relationships/tableStyles" Target="/ppt/tableStyles.xml" Id="Rdd65ac1c946341e4" /><Relationship Type="http://schemas.openxmlformats.org/officeDocument/2006/relationships/slide" Target="/ppt/slides/slide1.xml" Id="Rb69ed3058c7e46e9" /><Relationship Type="http://schemas.openxmlformats.org/officeDocument/2006/relationships/slide" Target="/ppt/slides/slide2.xml" Id="Rc8d0374a177843f4" /><Relationship Type="http://schemas.openxmlformats.org/officeDocument/2006/relationships/slide" Target="/ppt/slides/slide3.xml" Id="R7fa9599ad871449c" /><Relationship Type="http://schemas.openxmlformats.org/officeDocument/2006/relationships/slide" Target="/ppt/slides/slide4.xml" Id="R4930c031385943cf" /><Relationship Type="http://schemas.openxmlformats.org/officeDocument/2006/relationships/slide" Target="/ppt/slides/slide5.xml" Id="R3b3ff263e9c24384" /><Relationship Type="http://schemas.openxmlformats.org/officeDocument/2006/relationships/slide" Target="/ppt/slides/slide6.xml" Id="R337fc485321c4029" /><Relationship Type="http://schemas.openxmlformats.org/officeDocument/2006/relationships/slide" Target="/ppt/slides/slide7.xml" Id="R1af2332d03614bb9" /><Relationship Type="http://schemas.openxmlformats.org/officeDocument/2006/relationships/slide" Target="/ppt/slides/slide8.xml" Id="R0ef8cb050297458c" /><Relationship Type="http://schemas.openxmlformats.org/officeDocument/2006/relationships/slide" Target="/ppt/slides/slide9.xml" Id="Reb96827a9bf04190" /><Relationship Type="http://schemas.openxmlformats.org/officeDocument/2006/relationships/slide" Target="/ppt/slides/slide10.xml" Id="Rc2c909992d5a4f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53f515493f45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e865d45c3c449b" /><Relationship Type="http://schemas.openxmlformats.org/officeDocument/2006/relationships/notesMaster" Target="/ppt/notesMasters/notesMaster1.xml" Id="Ra7f75101b7ed4c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60a8998d9d4363" /><Relationship Type="http://schemas.openxmlformats.org/officeDocument/2006/relationships/notesMaster" Target="/ppt/notesMasters/notesMaster1.xml" Id="R42f5ef2af42142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f014d166914360" /><Relationship Type="http://schemas.openxmlformats.org/officeDocument/2006/relationships/notesMaster" Target="/ppt/notesMasters/notesMaster1.xml" Id="Rde1021078b2e42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6bae7e2aa64d10" /><Relationship Type="http://schemas.openxmlformats.org/officeDocument/2006/relationships/notesMaster" Target="/ppt/notesMasters/notesMaster1.xml" Id="R05f97a0558354b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e660a82519476b" /><Relationship Type="http://schemas.openxmlformats.org/officeDocument/2006/relationships/notesMaster" Target="/ppt/notesMasters/notesMaster1.xml" Id="R0f327cd0f614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51fa3f0ab7481c" /><Relationship Type="http://schemas.openxmlformats.org/officeDocument/2006/relationships/notesMaster" Target="/ppt/notesMasters/notesMaster1.xml" Id="R29f20b514aa14e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5fa6211ec449e" /><Relationship Type="http://schemas.openxmlformats.org/officeDocument/2006/relationships/notesMaster" Target="/ppt/notesMasters/notesMaster1.xml" Id="R6090d4d461e349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867694203349d6" /><Relationship Type="http://schemas.openxmlformats.org/officeDocument/2006/relationships/notesMaster" Target="/ppt/notesMasters/notesMaster1.xml" Id="R581408af0c2948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c47436391947e2" /><Relationship Type="http://schemas.openxmlformats.org/officeDocument/2006/relationships/notesMaster" Target="/ppt/notesMasters/notesMaster1.xml" Id="R2649724ab2284f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498ae67d8c4a13" /><Relationship Type="http://schemas.openxmlformats.org/officeDocument/2006/relationships/notesMaster" Target="/ppt/notesMasters/notesMaster1.xml" Id="R6e15a63d6b5c46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EU AI Act addresses risks from AI systems through a risk-based approach.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Before a company can assess what rules apply, it must know which AI systems it uses.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turns a company name into an evidence-backed first draft of that inventory.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problem begins before the compliance form opens.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European Commission, “AI Act”: https://digital-strategy.ec.europa.eu/en/factpages/ai-act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Most compliance tools assess one known system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assumes someone has already found the systems.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For many SMEs, that inventory does not exist.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can arrive through a vendor update, a team purchase or an employee tool.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So, when the checker asks for each individual AI system, the SME may honestly ask: “Which systems are those?”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fills that missing step.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creates a useful starting point before that meeting.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only input is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First, the system maps the public footprint: registry, website, careers, vendor references and news.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Second, every candidate finding must pass the evidence gate.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exact quote must exist, the source must be traceable and the timing must fit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Unsupported findings become undetermined, not facts.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Third, the adviser receives a candidate inventory plus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Human review confirms the facts; a separate deterministic checker applies the law.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fastest way to understand that boundary is to see both kinds of output.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docs/system-overview-slide.pptx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[Enter Personio and select Scan.]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begin with only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From here, I take my hands off the keyboard while the workflow researches, extracts and checks the evidence.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workflow loops back to research, point to it.]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loop-back is intentional: the gate could not support a claim, so the workflow researched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[Open the Personio result and point to the highlighted quote.]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Personio has three candidates: one evidenced and two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key is this exact supporting sentence—not the model's wording.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two unresolved candidates become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[Switch to the Ballymaloe Foods result.]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Here, the scan found no public evidence, so it claimed zero systems and produced one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 public evidence does not mean no AI use; it means the external scan cannot make that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live run is unavailable, open the retained sample reports.]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These reports were generated through the same documented run path.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Those two reports are different because honesty is enforced before a finding ships.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gate is the trust mechanism.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finding ships only when all three checks pass.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One: the exact quote exists in the fetched source.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Two: the source is traceable, with complete identity and retrieval details.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Three: the source is current enough for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support still cannot be found, the result becomes undetermined and the uncertainty becomes a client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Across five runs: unsupported claims refused, 1.0; false claims on thin-data companies, 0; missing source details,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trust comes from the gate, not from asking the model to be careful.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gate also explains the stack choice.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src/ai_prescan/gate.py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Everything above the grey delivery rail sits inside LangGraph: research, extraction, the evidence gate, retry state and report routing.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LangGraph keeps the deterministic evidence gate inside that workflow loop.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the evidence checks pass, supported facts and questions move to the report.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 and retries remain,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no retries remain, the claim becomes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Nothing is forced through.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grey rail is separate: n8n only files the finished report in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n8n does not research, judge evidence or make compliance decisions.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We verified delivery from the Notion API response—not only from an n8n success message.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architecture points to a recurring product, not just a one-off scan.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stack_decision.md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today is an on-demand scan of one company.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post-MVP opportunity is vendor-drift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May, the client already uses an ATS, but no AI-ranking feature is evidenced.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June, the vendor adds AI CV ranking; the client buys nothing new.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July, the adviser receives an alert: the client's AI inventory changed.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change signal can recur across an adviser portfolio.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commercial test is: adviser pilot, validate useful drift alerts, then test retained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is future validation—not current traction.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can turn a blank-page scan into an auditable, recurring conversation.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[End the timed presentation here. Open the appendix only for questions.]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gtm_future_sprints.md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evaluation shows a clear split.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honesty controls are stable: honest refusal is 1.0; thin-company false positives are 0; provenance violations are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Discovery quality is not yet at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Recall—how many expected systems were found—is 0.444 against a 0.75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Role correctness—whether company roles were labelled correctly—is 0.739 against 0.90.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over-claim rate—unsupported claims of current use—is 0.333 against a maximum of 0.10.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code produced recall of 0.556 and 0.444 in two runs.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 run cannot prove an improvement; use repeated runs or a frozen page cache before tuning claims.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docs/eval-plan.md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boundary is deliberate.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establishes candidate facts from public sources: systems, quoted evidence, provenance and unresolved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does not classify legal risk.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An adviser confirms the facts with the client at the human-review checkpoint.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Only then does a separate deterministic checker classify risk and determine obligations.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Internal tools, systems behind a login and employee use of consumer AI remain outside the external scan's field of view.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product never claims complete visibility, legal advice or an autonomous compliance decision.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works end to end.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runs in the browser or from the command line with a company-name trigger.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finds evidence through Serper, NewsAPI, GLEIF and Wikidata.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OpenAI supports extraction, Pinecone stores evidence and the deterministic gate verifies each finding.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output is a Markdown report; n8n can deliver it into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evidence base includes a twelve-company evaluation, two retained sample reports and 104 passing offline tests.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retained samples are generated artefacts—not hand-edited showcase copy.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Scheduled sweeps and vendor-corpus ingestion are designed next steps, not part of the built MVP.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590f1ceda4d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28e8b98d0447f" /></Relationships>
</file>

<file path=ppt/slideLayouts/slideLayout1.xml><?xml version="1.0" encoding="utf-8"?>
<p:sldLayout xmlns:p="http://schemas.openxmlformats.org/presentationml/2006/main" type="blank" preserve="1">
  <p:cSld name="DEFAUL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MASTER"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D166689-95A8-483D-8E18-D9579C3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440" cy="685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D02B0F-168B-48D7-82C0-1C1D72DD8BBA}"/>
              </a:ext>
            </a:extLst>
          </p:cNvPr>
          <p:cNvSpPr>
            <a:spLocks xmlns:a="http://schemas.openxmlformats.org/drawingml/2006/main" noGrp="1"/>
          </p:cNvSpPr>
          <p:nvPr>
            <p:ph type="sldNum" idx="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95547B3-D671-4D4C-B9A9-29366E135E7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&lt;number&gt;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0FBEA45-2BB8-4D2C-9D8E-BE7A91B9F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title text format</a:t>
            </a:r>
            <a:endParaRPr sz="18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EED2F09-57BF-4B7E-9012-007BC6D6CA7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4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Second Outline Level</a:t>
            </a:r>
            <a:endParaRPr sz="24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Third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Fourth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Fifth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Sixth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Seventh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796e73620d4a76" /><Relationship Type="http://schemas.openxmlformats.org/officeDocument/2006/relationships/slideLayout" Target="/ppt/slideLayouts/slideLayout1.xml" Id="Rbd58e1ae051846b3" /><Relationship Type="http://schemas.openxmlformats.org/officeDocument/2006/relationships/slideLayout" Target="/ppt/slideLayouts/slideLayout2.xml" Id="R24032771bf754a9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58e1ae051846b3"/>
    <p:sldLayoutId xmlns:r="http://schemas.openxmlformats.org/officeDocument/2006/relationships" id="2147483650" r:id="R24032771bf754a90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2353bb58ee46d8" /><Relationship Type="http://schemas.openxmlformats.org/officeDocument/2006/relationships/notesSlide" Target="/ppt/notesSlides/notesSlide1.xml" Id="R4f800b53efde4b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ecca5340c54e46" /><Relationship Type="http://schemas.openxmlformats.org/officeDocument/2006/relationships/notesSlide" Target="/ppt/notesSlides/notesSlide2.xml" Id="R4c845c5e980346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6e0b3199c84680" /><Relationship Type="http://schemas.openxmlformats.org/officeDocument/2006/relationships/notesSlide" Target="/ppt/notesSlides/notesSlide3.xml" Id="R31bc72e1d1004a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ebbb7be4184f8c" /><Relationship Type="http://schemas.openxmlformats.org/officeDocument/2006/relationships/notesSlide" Target="/ppt/notesSlides/notesSlide4.xml" Id="R1e0599961cfc47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46f9101f4b4d8f" /><Relationship Type="http://schemas.openxmlformats.org/officeDocument/2006/relationships/notesSlide" Target="/ppt/notesSlides/notesSlide5.xml" Id="R4a2ce2d5be7341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b01b6cf96340d4" /><Relationship Type="http://schemas.openxmlformats.org/officeDocument/2006/relationships/notesSlide" Target="/ppt/notesSlides/notesSlide6.xml" Id="R4945551094d949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f2f59c7d94487c" /><Relationship Type="http://schemas.openxmlformats.org/officeDocument/2006/relationships/notesSlide" Target="/ppt/notesSlides/notesSlide7.xml" Id="R82cae850d3e643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edee8361af46b0" /><Relationship Type="http://schemas.openxmlformats.org/officeDocument/2006/relationships/notesSlide" Target="/ppt/notesSlides/notesSlide8.xml" Id="R8f6a7719c30a41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720ee61b7d4ad7" /><Relationship Type="http://schemas.openxmlformats.org/officeDocument/2006/relationships/notesSlide" Target="/ppt/notesSlides/notesSlide9.xml" Id="R89f217d8cb134d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064bf3116b4a60" /><Relationship Type="http://schemas.openxmlformats.org/officeDocument/2006/relationships/notesSlide" Target="/ppt/notesSlides/notesSlide10.xml" Id="Rcdaf998cbeea4b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 0">
            <a:extLst xmlns:a="http://schemas.openxmlformats.org/drawingml/2006/main">
              <a:ext uri="{FF2B5EF4-FFF2-40B4-BE49-F238E27FC236}">
                <a16:creationId xmlns:a16="http://schemas.microsoft.com/office/drawing/2014/main" id="{87FD0AC4-A85F-4062-BF64-BC312293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7000"/>
            <a:ext cx="21942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 spc="221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Text 1">
            <a:extLst xmlns:a="http://schemas.openxmlformats.org/drawingml/2006/main">
              <a:ext uri="{FF2B5EF4-FFF2-40B4-BE49-F238E27FC236}">
                <a16:creationId xmlns:a16="http://schemas.microsoft.com/office/drawing/2014/main" id="{E7DFE0B7-4D05-495F-BCBB-46AF6E84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61360"/>
            <a:ext cx="5988960" cy="150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missing step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before AI Act assessment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Text 2">
            <a:extLst xmlns:a="http://schemas.openxmlformats.org/drawingml/2006/main">
              <a:ext uri="{FF2B5EF4-FFF2-40B4-BE49-F238E27FC236}">
                <a16:creationId xmlns:a16="http://schemas.microsoft.com/office/drawing/2014/main" id="{98374123-18DF-43B2-AE69-45CC83D9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990160"/>
            <a:ext cx="5348880" cy="65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6000"/>
              </a:lnSpc>
              <a:buNone/>
              <a:tabLst>
                <a:tab pos="0" algn="l"/>
              </a:tabLst>
            </a:pPr>
            <a:r>
              <a:rPr sz="21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name → evidence-backed first draft → focused client conversation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hape 3">
            <a:extLst xmlns:a="http://schemas.openxmlformats.org/drawingml/2006/main">
              <a:ext uri="{FF2B5EF4-FFF2-40B4-BE49-F238E27FC236}">
                <a16:creationId xmlns:a16="http://schemas.microsoft.com/office/drawing/2014/main" id="{D48F4F8E-2C3D-4BEE-95E6-304546D3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474720"/>
            <a:ext cx="100584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hape 4">
            <a:extLst xmlns:a="http://schemas.openxmlformats.org/drawingml/2006/main">
              <a:ext uri="{FF2B5EF4-FFF2-40B4-BE49-F238E27FC236}">
                <a16:creationId xmlns:a16="http://schemas.microsoft.com/office/drawing/2014/main" id="{4B83DE43-CEE5-4A51-8D91-942D78E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124640"/>
            <a:ext cx="4388760" cy="4370400"/>
          </a:xfrm>
          <a:prstGeom xmlns:a="http://schemas.openxmlformats.org/drawingml/2006/main" prst="roundRect">
            <a:avLst>
              <a:gd name="adj" fmla="val 33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19080" dist="50402" dir="2700000" sx="100000" sy="100000" kx="0" ky="0" algn="bl" rotWithShape="0">
              <a:srgbClr val="0B1020">
                <a:alpha val="12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Text 5">
            <a:extLst xmlns:a="http://schemas.openxmlformats.org/drawingml/2006/main">
              <a:ext uri="{FF2B5EF4-FFF2-40B4-BE49-F238E27FC236}">
                <a16:creationId xmlns:a16="http://schemas.microsoft.com/office/drawing/2014/main" id="{4DCDC336-8589-4187-BE2A-BE6D50DF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444680"/>
            <a:ext cx="1279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50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Text 6">
            <a:extLst xmlns:a="http://schemas.openxmlformats.org/drawingml/2006/main">
              <a:ext uri="{FF2B5EF4-FFF2-40B4-BE49-F238E27FC236}">
                <a16:creationId xmlns:a16="http://schemas.microsoft.com/office/drawing/2014/main" id="{B6BFCD2F-2932-4AB5-A3DB-E0DC24CE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440" y="1426320"/>
            <a:ext cx="9597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0F766E"/>
                </a:solidFill>
                <a:latin typeface="Aptos"/>
                <a:ea typeface="Aptos"/>
                <a:cs typeface="Aptos"/>
              </a:rPr>
              <a:t>EVIDENCED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Text 7">
            <a:extLst xmlns:a="http://schemas.openxmlformats.org/drawingml/2006/main">
              <a:ext uri="{FF2B5EF4-FFF2-40B4-BE49-F238E27FC236}">
                <a16:creationId xmlns:a16="http://schemas.microsoft.com/office/drawing/2014/main" id="{BF52DA37-E023-4BBA-A2D1-8E12E9DC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847160"/>
            <a:ext cx="3611520" cy="392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AI Performance Summaries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Text 8">
            <a:extLst xmlns:a="http://schemas.openxmlformats.org/drawingml/2006/main">
              <a:ext uri="{FF2B5EF4-FFF2-40B4-BE49-F238E27FC236}">
                <a16:creationId xmlns:a16="http://schemas.microsoft.com/office/drawing/2014/main" id="{5C62FE84-FFC5-472D-B712-B45AD9CF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2541960"/>
            <a:ext cx="3428640" cy="95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i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feedback…”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hape 9">
            <a:extLst xmlns:a="http://schemas.openxmlformats.org/drawingml/2006/main">
              <a:ext uri="{FF2B5EF4-FFF2-40B4-BE49-F238E27FC236}">
                <a16:creationId xmlns:a16="http://schemas.microsoft.com/office/drawing/2014/main" id="{A400C2A8-7BE8-4F7A-B873-E2535012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120" y="3712320"/>
            <a:ext cx="3611880" cy="3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Text 10">
            <a:extLst xmlns:a="http://schemas.openxmlformats.org/drawingml/2006/main">
              <a:ext uri="{FF2B5EF4-FFF2-40B4-BE49-F238E27FC236}">
                <a16:creationId xmlns:a16="http://schemas.microsoft.com/office/drawing/2014/main" id="{C154DD58-1B31-466E-AC5B-0D37E039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3931920"/>
            <a:ext cx="3154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What public evidence cannot settle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Text 11">
            <a:extLst xmlns:a="http://schemas.openxmlformats.org/drawingml/2006/main">
              <a:ext uri="{FF2B5EF4-FFF2-40B4-BE49-F238E27FC236}">
                <a16:creationId xmlns:a16="http://schemas.microsoft.com/office/drawing/2014/main" id="{C7FD9175-3DE2-4D19-9DAD-C6214EC8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297680"/>
            <a:ext cx="3382920" cy="51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Is this in use today, and since when?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Text 12">
            <a:extLst xmlns:a="http://schemas.openxmlformats.org/drawingml/2006/main">
              <a:ext uri="{FF2B5EF4-FFF2-40B4-BE49-F238E27FC236}">
                <a16:creationId xmlns:a16="http://schemas.microsoft.com/office/drawing/2014/main" id="{6E9BDD08-A28B-4EE7-99E7-6153730E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974480"/>
            <a:ext cx="11883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UNDETERMINED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Text 13">
            <a:extLst xmlns:a="http://schemas.openxmlformats.org/drawingml/2006/main">
              <a:ext uri="{FF2B5EF4-FFF2-40B4-BE49-F238E27FC236}">
                <a16:creationId xmlns:a16="http://schemas.microsoft.com/office/drawing/2014/main" id="{8B2C9EC7-3537-4EA6-ADE0-67673696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54640"/>
            <a:ext cx="420588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Nnanyelugo Ahukannah  •  Ironhack Project 3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AE74680-4B84-4EFF-A0A8-F1131D6F1620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D75FED6-38D0-DE9C-92C0-6E7FA635581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848087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 0">
            <a:extLst xmlns:a="http://schemas.openxmlformats.org/drawingml/2006/main">
              <a:ext uri="{FF2B5EF4-FFF2-40B4-BE49-F238E27FC236}">
                <a16:creationId xmlns:a16="http://schemas.microsoft.com/office/drawing/2014/main" id="{99DB633C-66A2-4ACB-8482-14041BEA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GAP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Text 1">
            <a:extLst xmlns:a="http://schemas.openxmlformats.org/drawingml/2006/main">
              <a:ext uri="{FF2B5EF4-FFF2-40B4-BE49-F238E27FC236}">
                <a16:creationId xmlns:a16="http://schemas.microsoft.com/office/drawing/2014/main" id="{B45AE690-4630-4BCA-A68C-156DD6DC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Compliance begins with an inventory most SMEs do not have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hape 2">
            <a:extLst xmlns:a="http://schemas.openxmlformats.org/drawingml/2006/main">
              <a:ext uri="{FF2B5EF4-FFF2-40B4-BE49-F238E27FC236}">
                <a16:creationId xmlns:a16="http://schemas.microsoft.com/office/drawing/2014/main" id="{D393F70D-20CA-4D29-831C-50CFD499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880"/>
            <a:ext cx="416016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241935120" dist="645159960" dir="0" sx="100000" sy="100000" kx="0" ky="0" algn="bl" rotWithShape="0">
              <a:srgbClr val="0B1020"/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Text 3">
            <a:extLst xmlns:a="http://schemas.openxmlformats.org/drawingml/2006/main">
              <a:ext uri="{FF2B5EF4-FFF2-40B4-BE49-F238E27FC236}">
                <a16:creationId xmlns:a16="http://schemas.microsoft.com/office/drawing/2014/main" id="{C91293DA-F46F-4F91-9E52-AC93B4E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CHECKER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Text 4">
            <a:extLst xmlns:a="http://schemas.openxmlformats.org/drawingml/2006/main">
              <a:ext uri="{FF2B5EF4-FFF2-40B4-BE49-F238E27FC236}">
                <a16:creationId xmlns:a16="http://schemas.microsoft.com/office/drawing/2014/main" id="{674BE5AA-2B33-4A50-9584-1820C780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706480"/>
            <a:ext cx="3520080" cy="120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“Complete this form for each individual AI system used in your organisation.”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ext 5">
            <a:extLst xmlns:a="http://schemas.openxmlformats.org/drawingml/2006/main">
              <a:ext uri="{FF2B5EF4-FFF2-40B4-BE49-F238E27FC236}">
                <a16:creationId xmlns:a16="http://schemas.microsoft.com/office/drawing/2014/main" id="{B8176263-F840-4F1D-8029-0501F814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4279320"/>
            <a:ext cx="34286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reasonable instruction — once the system list exists.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hape 6">
            <a:extLst xmlns:a="http://schemas.openxmlformats.org/drawingml/2006/main">
              <a:ext uri="{FF2B5EF4-FFF2-40B4-BE49-F238E27FC236}">
                <a16:creationId xmlns:a16="http://schemas.microsoft.com/office/drawing/2014/main" id="{5D8B1B33-9258-4759-8044-328E636C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560" y="3447000"/>
            <a:ext cx="106056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229E70B3-635A-4DF0-BDD9-43F4E12C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480" y="298080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MISSING STEP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hape 8">
            <a:extLst xmlns:a="http://schemas.openxmlformats.org/drawingml/2006/main">
              <a:ext uri="{FF2B5EF4-FFF2-40B4-BE49-F238E27FC236}">
                <a16:creationId xmlns:a16="http://schemas.microsoft.com/office/drawing/2014/main" id="{DCE745DA-1630-4418-9FAE-F75A114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901880"/>
            <a:ext cx="514764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Text 9">
            <a:extLst xmlns:a="http://schemas.openxmlformats.org/drawingml/2006/main">
              <a:ext uri="{FF2B5EF4-FFF2-40B4-BE49-F238E27FC236}">
                <a16:creationId xmlns:a16="http://schemas.microsoft.com/office/drawing/2014/main" id="{7F26E8FE-BCC7-4B11-8243-750E2B31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SME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Text 10">
            <a:extLst xmlns:a="http://schemas.openxmlformats.org/drawingml/2006/main">
              <a:ext uri="{FF2B5EF4-FFF2-40B4-BE49-F238E27FC236}">
                <a16:creationId xmlns:a16="http://schemas.microsoft.com/office/drawing/2014/main" id="{C52252CF-307F-46E2-8468-BD24BB52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24840"/>
            <a:ext cx="4343040" cy="60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“Which systems are those?”</a:t>
            </a:r>
            <a:endParaRPr sz="3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hape 11">
            <a:extLst xmlns:a="http://schemas.openxmlformats.org/drawingml/2006/main">
              <a:ext uri="{FF2B5EF4-FFF2-40B4-BE49-F238E27FC236}">
                <a16:creationId xmlns:a16="http://schemas.microsoft.com/office/drawing/2014/main" id="{A859BB8D-8771-4188-9C40-8D9E5982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57516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Text 12">
            <a:extLst xmlns:a="http://schemas.openxmlformats.org/drawingml/2006/main">
              <a:ext uri="{FF2B5EF4-FFF2-40B4-BE49-F238E27FC236}">
                <a16:creationId xmlns:a16="http://schemas.microsoft.com/office/drawing/2014/main" id="{7C4B16BC-2CE0-4EC2-9AA3-2048A1C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55716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VENDOR UPDATE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Text 13">
            <a:extLst xmlns:a="http://schemas.openxmlformats.org/drawingml/2006/main">
              <a:ext uri="{FF2B5EF4-FFF2-40B4-BE49-F238E27FC236}">
                <a16:creationId xmlns:a16="http://schemas.microsoft.com/office/drawing/2014/main" id="{993B3D48-4EE7-4DF8-B16A-66D3FAE6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55716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AI arrives inside software already owned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hape 14">
            <a:extLst xmlns:a="http://schemas.openxmlformats.org/drawingml/2006/main">
              <a:ext uri="{FF2B5EF4-FFF2-40B4-BE49-F238E27FC236}">
                <a16:creationId xmlns:a16="http://schemas.microsoft.com/office/drawing/2014/main" id="{670F3C92-1E92-4DFD-9804-0A6C241C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98664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Text 15">
            <a:extLst xmlns:a="http://schemas.openxmlformats.org/drawingml/2006/main">
              <a:ext uri="{FF2B5EF4-FFF2-40B4-BE49-F238E27FC236}">
                <a16:creationId xmlns:a16="http://schemas.microsoft.com/office/drawing/2014/main" id="{B7035A73-37D2-44B4-B998-E1544708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96864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CARD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Text 16">
            <a:extLst xmlns:a="http://schemas.openxmlformats.org/drawingml/2006/main">
              <a:ext uri="{FF2B5EF4-FFF2-40B4-BE49-F238E27FC236}">
                <a16:creationId xmlns:a16="http://schemas.microsoft.com/office/drawing/2014/main" id="{DDD97963-3A87-4F5A-BBFA-AB330B1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96864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 team buys a tool outside central procurement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hape 17">
            <a:extLst xmlns:a="http://schemas.openxmlformats.org/drawingml/2006/main">
              <a:ext uri="{FF2B5EF4-FFF2-40B4-BE49-F238E27FC236}">
                <a16:creationId xmlns:a16="http://schemas.microsoft.com/office/drawing/2014/main" id="{63D33672-0616-4C57-9CC9-00E7D505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439812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Text 18">
            <a:extLst xmlns:a="http://schemas.openxmlformats.org/drawingml/2006/main">
              <a:ext uri="{FF2B5EF4-FFF2-40B4-BE49-F238E27FC236}">
                <a16:creationId xmlns:a16="http://schemas.microsoft.com/office/drawing/2014/main" id="{FF4D3EF6-E68F-47E1-818E-AEFF4012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438012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EMPLOYEE TOOL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Text 19">
            <a:extLst xmlns:a="http://schemas.openxmlformats.org/drawingml/2006/main">
              <a:ext uri="{FF2B5EF4-FFF2-40B4-BE49-F238E27FC236}">
                <a16:creationId xmlns:a16="http://schemas.microsoft.com/office/drawing/2014/main" id="{7D8F3E3E-6055-4DB6-92DC-0D3E468C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438012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Everyday use leaves no public inventory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Text 20">
            <a:extLst xmlns:a="http://schemas.openxmlformats.org/drawingml/2006/main">
              <a:ext uri="{FF2B5EF4-FFF2-40B4-BE49-F238E27FC236}">
                <a16:creationId xmlns:a16="http://schemas.microsoft.com/office/drawing/2014/main" id="{C4514B37-99C6-4474-9B72-70658029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22320"/>
            <a:ext cx="1051524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inventory is often never created.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Text 21">
            <a:extLst xmlns:a="http://schemas.openxmlformats.org/drawingml/2006/main">
              <a:ext uri="{FF2B5EF4-FFF2-40B4-BE49-F238E27FC236}">
                <a16:creationId xmlns:a16="http://schemas.microsoft.com/office/drawing/2014/main" id="{125450FB-675B-4227-A158-6BF501A2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GAP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F50E26B-2627-4FEE-BC65-2F0999CBC524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2598689-54C9-18A7-3A19-ED76AA08988F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2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093034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Text 0">
            <a:extLst xmlns:a="http://schemas.openxmlformats.org/drawingml/2006/main">
              <a:ext uri="{FF2B5EF4-FFF2-40B4-BE49-F238E27FC236}">
                <a16:creationId xmlns:a16="http://schemas.microsoft.com/office/drawing/2014/main" id="{371E5BFF-99A8-44B4-A086-832AE82C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SYSTEM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Text 1">
            <a:extLst xmlns:a="http://schemas.openxmlformats.org/drawingml/2006/main">
              <a:ext uri="{FF2B5EF4-FFF2-40B4-BE49-F238E27FC236}">
                <a16:creationId xmlns:a16="http://schemas.microsoft.com/office/drawing/2014/main" id="{353B8F74-AB81-44C2-9639-9C53AAED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company name becomes an auditable first draft</a:t>
            </a:r>
            <a:endParaRPr sz="3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hape 2">
            <a:extLst xmlns:a="http://schemas.openxmlformats.org/drawingml/2006/main">
              <a:ext uri="{FF2B5EF4-FFF2-40B4-BE49-F238E27FC236}">
                <a16:creationId xmlns:a16="http://schemas.microsoft.com/office/drawing/2014/main" id="{E086508F-F6DD-4F3B-8295-E5E6F39C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64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hape 3">
            <a:extLst xmlns:a="http://schemas.openxmlformats.org/drawingml/2006/main">
              <a:ext uri="{FF2B5EF4-FFF2-40B4-BE49-F238E27FC236}">
                <a16:creationId xmlns:a16="http://schemas.microsoft.com/office/drawing/2014/main" id="{4E122A2F-5A13-428E-956C-0CD5B539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296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hape 4">
            <a:extLst xmlns:a="http://schemas.openxmlformats.org/drawingml/2006/main">
              <a:ext uri="{FF2B5EF4-FFF2-40B4-BE49-F238E27FC236}">
                <a16:creationId xmlns:a16="http://schemas.microsoft.com/office/drawing/2014/main" id="{AE3D357C-96CC-4F1E-A597-88AC834F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560" y="4370760"/>
            <a:ext cx="360" cy="66744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hape 5">
            <a:extLst xmlns:a="http://schemas.openxmlformats.org/drawingml/2006/main">
              <a:ext uri="{FF2B5EF4-FFF2-40B4-BE49-F238E27FC236}">
                <a16:creationId xmlns:a16="http://schemas.microsoft.com/office/drawing/2014/main" id="{0312D4AC-0560-48FC-A990-2AE0045F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hape 6">
            <a:extLst xmlns:a="http://schemas.openxmlformats.org/drawingml/2006/main">
              <a:ext uri="{FF2B5EF4-FFF2-40B4-BE49-F238E27FC236}">
                <a16:creationId xmlns:a16="http://schemas.microsoft.com/office/drawing/2014/main" id="{DDB105E0-7B31-46A0-8E53-159979FC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Text 7">
            <a:extLst xmlns:a="http://schemas.openxmlformats.org/drawingml/2006/main">
              <a:ext uri="{FF2B5EF4-FFF2-40B4-BE49-F238E27FC236}">
                <a16:creationId xmlns:a16="http://schemas.microsoft.com/office/drawing/2014/main" id="{A3295D05-162A-4AB0-BBCC-932AB439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Text 8">
            <a:extLst xmlns:a="http://schemas.openxmlformats.org/drawingml/2006/main">
              <a:ext uri="{FF2B5EF4-FFF2-40B4-BE49-F238E27FC236}">
                <a16:creationId xmlns:a16="http://schemas.microsoft.com/office/drawing/2014/main" id="{147BAFAF-FB23-4817-9910-9C348EDD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8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RESEARCH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Text 9">
            <a:extLst xmlns:a="http://schemas.openxmlformats.org/drawingml/2006/main">
              <a:ext uri="{FF2B5EF4-FFF2-40B4-BE49-F238E27FC236}">
                <a16:creationId xmlns:a16="http://schemas.microsoft.com/office/drawing/2014/main" id="{EECAEA48-6E7C-4D35-BE03-CEE48D28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Map the public footprint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Text 10">
            <a:extLst xmlns:a="http://schemas.openxmlformats.org/drawingml/2006/main">
              <a:ext uri="{FF2B5EF4-FFF2-40B4-BE49-F238E27FC236}">
                <a16:creationId xmlns:a16="http://schemas.microsoft.com/office/drawing/2014/main" id="{69040ECD-46DB-4A0A-B9E1-BEC5EC5E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Registry · website · careers · vendors · news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hape 11">
            <a:extLst xmlns:a="http://schemas.openxmlformats.org/drawingml/2006/main">
              <a:ext uri="{FF2B5EF4-FFF2-40B4-BE49-F238E27FC236}">
                <a16:creationId xmlns:a16="http://schemas.microsoft.com/office/drawing/2014/main" id="{7706239C-35EB-4EC5-9B3D-4472ABEB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44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hape 12">
            <a:extLst xmlns:a="http://schemas.openxmlformats.org/drawingml/2006/main">
              <a:ext uri="{FF2B5EF4-FFF2-40B4-BE49-F238E27FC236}">
                <a16:creationId xmlns:a16="http://schemas.microsoft.com/office/drawing/2014/main" id="{6D86B16C-B6BA-4EC6-977C-E604E791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Text 13">
            <a:extLst xmlns:a="http://schemas.openxmlformats.org/drawingml/2006/main">
              <a:ext uri="{FF2B5EF4-FFF2-40B4-BE49-F238E27FC236}">
                <a16:creationId xmlns:a16="http://schemas.microsoft.com/office/drawing/2014/main" id="{6C7C5E6F-4E20-4333-86A1-345BBF68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ext 14">
            <a:extLst xmlns:a="http://schemas.openxmlformats.org/drawingml/2006/main">
              <a:ext uri="{FF2B5EF4-FFF2-40B4-BE49-F238E27FC236}">
                <a16:creationId xmlns:a16="http://schemas.microsoft.com/office/drawing/2014/main" id="{A1FAF686-29FB-4E13-B6F4-8C9D071C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84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DCE8FF"/>
                </a:solidFill>
                <a:latin typeface="Aptos"/>
                <a:ea typeface="Aptos"/>
                <a:cs typeface="Aptos"/>
              </a:rPr>
              <a:t>VERIFY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Text 15">
            <a:extLst xmlns:a="http://schemas.openxmlformats.org/drawingml/2006/main">
              <a:ext uri="{FF2B5EF4-FFF2-40B4-BE49-F238E27FC236}">
                <a16:creationId xmlns:a16="http://schemas.microsoft.com/office/drawing/2014/main" id="{355CF3EF-30A8-44A2-B105-576317AF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 every finding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Text 16">
            <a:extLst xmlns:a="http://schemas.openxmlformats.org/drawingml/2006/main">
              <a:ext uri="{FF2B5EF4-FFF2-40B4-BE49-F238E27FC236}">
                <a16:creationId xmlns:a16="http://schemas.microsoft.com/office/drawing/2014/main" id="{78CEFE59-9470-4478-9E16-B65D3610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Exact quoted support + source currentness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hape 17">
            <a:extLst xmlns:a="http://schemas.openxmlformats.org/drawingml/2006/main">
              <a:ext uri="{FF2B5EF4-FFF2-40B4-BE49-F238E27FC236}">
                <a16:creationId xmlns:a16="http://schemas.microsoft.com/office/drawing/2014/main" id="{908AA2E8-1265-4644-9AD6-F1E8CFE3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912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hape 18">
            <a:extLst xmlns:a="http://schemas.openxmlformats.org/drawingml/2006/main">
              <a:ext uri="{FF2B5EF4-FFF2-40B4-BE49-F238E27FC236}">
                <a16:creationId xmlns:a16="http://schemas.microsoft.com/office/drawing/2014/main" id="{D6730576-E882-4732-A795-A1A6933B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Text 19">
            <a:extLst xmlns:a="http://schemas.openxmlformats.org/drawingml/2006/main">
              <a:ext uri="{FF2B5EF4-FFF2-40B4-BE49-F238E27FC236}">
                <a16:creationId xmlns:a16="http://schemas.microsoft.com/office/drawing/2014/main" id="{291208BA-7A2E-439C-86FA-4DD18CCC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Text 20">
            <a:extLst xmlns:a="http://schemas.openxmlformats.org/drawingml/2006/main">
              <a:ext uri="{FF2B5EF4-FFF2-40B4-BE49-F238E27FC236}">
                <a16:creationId xmlns:a16="http://schemas.microsoft.com/office/drawing/2014/main" id="{65DC8F45-D6D5-4AD4-BA97-4B36F868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Text 21">
            <a:extLst xmlns:a="http://schemas.openxmlformats.org/drawingml/2006/main">
              <a:ext uri="{FF2B5EF4-FFF2-40B4-BE49-F238E27FC236}">
                <a16:creationId xmlns:a16="http://schemas.microsoft.com/office/drawing/2014/main" id="{A579706B-F54E-40FC-818A-4AB3B03E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Start the client conversation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Text 22">
            <a:extLst xmlns:a="http://schemas.openxmlformats.org/drawingml/2006/main">
              <a:ext uri="{FF2B5EF4-FFF2-40B4-BE49-F238E27FC236}">
                <a16:creationId xmlns:a16="http://schemas.microsoft.com/office/drawing/2014/main" id="{BAE93762-FDD3-4AE5-99ED-1547007D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Candidate inventory + focused questions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hape 23">
            <a:extLst xmlns:a="http://schemas.openxmlformats.org/drawingml/2006/main">
              <a:ext uri="{FF2B5EF4-FFF2-40B4-BE49-F238E27FC236}">
                <a16:creationId xmlns:a16="http://schemas.microsoft.com/office/drawing/2014/main" id="{00C5A8E8-0D85-4259-B451-BE95B90A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5010840"/>
            <a:ext cx="2742840" cy="56664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Text 24">
            <a:extLst xmlns:a="http://schemas.openxmlformats.org/drawingml/2006/main">
              <a:ext uri="{FF2B5EF4-FFF2-40B4-BE49-F238E27FC236}">
                <a16:creationId xmlns:a16="http://schemas.microsoft.com/office/drawing/2014/main" id="{AA8C83FF-AA4B-43B2-BF07-ACEF073C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480" y="5157360"/>
            <a:ext cx="2413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UNSUPPORTED → UNDETERMINED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hape 25">
            <a:extLst xmlns:a="http://schemas.openxmlformats.org/drawingml/2006/main">
              <a:ext uri="{FF2B5EF4-FFF2-40B4-BE49-F238E27FC236}">
                <a16:creationId xmlns:a16="http://schemas.microsoft.com/office/drawing/2014/main" id="{AF6FCD34-2076-4458-8742-FA285252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742360"/>
            <a:ext cx="10670760" cy="40212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Text 26">
            <a:extLst xmlns:a="http://schemas.openxmlformats.org/drawingml/2006/main">
              <a:ext uri="{FF2B5EF4-FFF2-40B4-BE49-F238E27FC236}">
                <a16:creationId xmlns:a16="http://schemas.microsoft.com/office/drawing/2014/main" id="{C853B119-E828-40B7-A6AF-9B29C907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20" y="5815440"/>
            <a:ext cx="1024092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Human review confirms the facts. A separate deterministic checker applies the law.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Text 27">
            <a:extLst xmlns:a="http://schemas.openxmlformats.org/drawingml/2006/main">
              <a:ext uri="{FF2B5EF4-FFF2-40B4-BE49-F238E27FC236}">
                <a16:creationId xmlns:a16="http://schemas.microsoft.com/office/drawing/2014/main" id="{9B395917-BC08-473F-BE33-9C3FF1F1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SYSTEM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DDA6142-8D10-484E-B18E-4E0AA936C9E0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202359C0-8A7A-196E-DD58-8E6569619F09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3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6239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ext 0">
            <a:extLst xmlns:a="http://schemas.openxmlformats.org/drawingml/2006/main">
              <a:ext uri="{FF2B5EF4-FFF2-40B4-BE49-F238E27FC236}">
                <a16:creationId xmlns:a16="http://schemas.microsoft.com/office/drawing/2014/main" id="{F9DDF729-6A84-412D-B0D8-F9CAE826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DEMO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Text 1">
            <a:extLst xmlns:a="http://schemas.openxmlformats.org/drawingml/2006/main">
              <a:ext uri="{FF2B5EF4-FFF2-40B4-BE49-F238E27FC236}">
                <a16:creationId xmlns:a16="http://schemas.microsoft.com/office/drawing/2014/main" id="{BE0958AE-0D4E-412A-ADDA-EF3B7E44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name in; evidence and questions out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Text 2">
            <a:extLst xmlns:a="http://schemas.openxmlformats.org/drawingml/2006/main">
              <a:ext uri="{FF2B5EF4-FFF2-40B4-BE49-F238E27FC236}">
                <a16:creationId xmlns:a16="http://schemas.microsoft.com/office/drawing/2014/main" id="{014D6D0C-4E4D-4E08-8307-0CE6E91B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72840"/>
            <a:ext cx="4571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RETAINED SAMPLE  •  GENERATED THROUGH THE DOCUMENTED RUN PATH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hape 3">
            <a:extLst xmlns:a="http://schemas.openxmlformats.org/drawingml/2006/main">
              <a:ext uri="{FF2B5EF4-FFF2-40B4-BE49-F238E27FC236}">
                <a16:creationId xmlns:a16="http://schemas.microsoft.com/office/drawing/2014/main" id="{95653D35-B7DB-40C1-8DCB-ACC6F991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965960"/>
            <a:ext cx="537624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ext 4">
            <a:extLst xmlns:a="http://schemas.openxmlformats.org/drawingml/2006/main">
              <a:ext uri="{FF2B5EF4-FFF2-40B4-BE49-F238E27FC236}">
                <a16:creationId xmlns:a16="http://schemas.microsoft.com/office/drawing/2014/main" id="{C895E9BD-7288-4645-B8C0-2EF442B0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58640"/>
            <a:ext cx="10054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Text 5">
            <a:extLst xmlns:a="http://schemas.openxmlformats.org/drawingml/2006/main">
              <a:ext uri="{FF2B5EF4-FFF2-40B4-BE49-F238E27FC236}">
                <a16:creationId xmlns:a16="http://schemas.microsoft.com/office/drawing/2014/main" id="{10F5F896-E876-498E-AEC4-D9274811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78680"/>
            <a:ext cx="356580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Text 6">
            <a:extLst xmlns:a="http://schemas.openxmlformats.org/drawingml/2006/main">
              <a:ext uri="{FF2B5EF4-FFF2-40B4-BE49-F238E27FC236}">
                <a16:creationId xmlns:a16="http://schemas.microsoft.com/office/drawing/2014/main" id="{48B4EC36-673C-4B68-88F7-0D86F8E0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035880"/>
            <a:ext cx="44802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3 candidate systems  •  1 evidenced  •  2 undetermined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hape 7">
            <a:extLst xmlns:a="http://schemas.openxmlformats.org/drawingml/2006/main">
              <a:ext uri="{FF2B5EF4-FFF2-40B4-BE49-F238E27FC236}">
                <a16:creationId xmlns:a16="http://schemas.microsoft.com/office/drawing/2014/main" id="{52B99E8C-4FAD-4852-A47A-FF15DF50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84520"/>
            <a:ext cx="475452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Text 8">
            <a:extLst xmlns:a="http://schemas.openxmlformats.org/drawingml/2006/main">
              <a:ext uri="{FF2B5EF4-FFF2-40B4-BE49-F238E27FC236}">
                <a16:creationId xmlns:a16="http://schemas.microsoft.com/office/drawing/2014/main" id="{693C2E7A-2B79-4585-8383-2FC8A21A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3767400"/>
            <a:ext cx="233136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EXACT SUPPORTING SENTENCE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Text 9">
            <a:extLst xmlns:a="http://schemas.openxmlformats.org/drawingml/2006/main">
              <a:ext uri="{FF2B5EF4-FFF2-40B4-BE49-F238E27FC236}">
                <a16:creationId xmlns:a16="http://schemas.microsoft.com/office/drawing/2014/main" id="{278879F8-91B8-4CE6-A455-2A0C214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4078080"/>
            <a:ext cx="416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50" b="0" i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feedback, manager, peer, and upward reviews…”</a:t>
            </a:r>
            <a:endParaRPr sz="1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Text 10">
            <a:extLst xmlns:a="http://schemas.openxmlformats.org/drawingml/2006/main">
              <a:ext uri="{FF2B5EF4-FFF2-40B4-BE49-F238E27FC236}">
                <a16:creationId xmlns:a16="http://schemas.microsoft.com/office/drawing/2014/main" id="{EF13023F-EF52-45D8-95B1-467340A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93280"/>
            <a:ext cx="452592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verify: Is this in use today, and since when?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hape 11">
            <a:extLst xmlns:a="http://schemas.openxmlformats.org/drawingml/2006/main">
              <a:ext uri="{FF2B5EF4-FFF2-40B4-BE49-F238E27FC236}">
                <a16:creationId xmlns:a16="http://schemas.microsoft.com/office/drawing/2014/main" id="{CAB61817-52DA-4607-807C-D4473820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501048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Text 12">
            <a:extLst xmlns:a="http://schemas.openxmlformats.org/drawingml/2006/main">
              <a:ext uri="{FF2B5EF4-FFF2-40B4-BE49-F238E27FC236}">
                <a16:creationId xmlns:a16="http://schemas.microsoft.com/office/drawing/2014/main" id="{5C622183-5235-4283-966B-6C948F1F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258640"/>
            <a:ext cx="182844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BALLYMALOE FOODS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Text 13">
            <a:extLst xmlns:a="http://schemas.openxmlformats.org/drawingml/2006/main">
              <a:ext uri="{FF2B5EF4-FFF2-40B4-BE49-F238E27FC236}">
                <a16:creationId xmlns:a16="http://schemas.microsoft.com/office/drawing/2014/main" id="{E2306893-B13C-4C67-97E0-AAF28068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578680"/>
            <a:ext cx="416016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Text 14">
            <a:extLst xmlns:a="http://schemas.openxmlformats.org/drawingml/2006/main">
              <a:ext uri="{FF2B5EF4-FFF2-40B4-BE49-F238E27FC236}">
                <a16:creationId xmlns:a16="http://schemas.microsoft.com/office/drawing/2014/main" id="{FAD7D58D-FE69-4ACF-8522-5DD19AF8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035880"/>
            <a:ext cx="416016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0 candidate systems  •  1 question to discuss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Shape 15">
            <a:extLst xmlns:a="http://schemas.openxmlformats.org/drawingml/2006/main">
              <a:ext uri="{FF2B5EF4-FFF2-40B4-BE49-F238E27FC236}">
                <a16:creationId xmlns:a16="http://schemas.microsoft.com/office/drawing/2014/main" id="{6F96F672-BCB6-4646-9E7D-56A18EC0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584520"/>
            <a:ext cx="438876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Text 16">
            <a:extLst xmlns:a="http://schemas.openxmlformats.org/drawingml/2006/main">
              <a:ext uri="{FF2B5EF4-FFF2-40B4-BE49-F238E27FC236}">
                <a16:creationId xmlns:a16="http://schemas.microsoft.com/office/drawing/2014/main" id="{04A87919-DB78-4FF7-A58D-11ABEAA6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3767400"/>
            <a:ext cx="196560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THE HONEST RESULT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Text 17">
            <a:extLst xmlns:a="http://schemas.openxmlformats.org/drawingml/2006/main">
              <a:ext uri="{FF2B5EF4-FFF2-40B4-BE49-F238E27FC236}">
                <a16:creationId xmlns:a16="http://schemas.microsoft.com/office/drawing/2014/main" id="{63D1E561-E470-410F-9371-CEF075AB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4096440"/>
            <a:ext cx="374868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is not the same as no AI use.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Text 18">
            <a:extLst xmlns:a="http://schemas.openxmlformats.org/drawingml/2006/main">
              <a:ext uri="{FF2B5EF4-FFF2-40B4-BE49-F238E27FC236}">
                <a16:creationId xmlns:a16="http://schemas.microsoft.com/office/drawing/2014/main" id="{1CB9528D-9214-4368-AAC2-1A17B037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5093280"/>
            <a:ext cx="420588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ask: What AI tools does the business actually use?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Text 19">
            <a:extLst xmlns:a="http://schemas.openxmlformats.org/drawingml/2006/main">
              <a:ext uri="{FF2B5EF4-FFF2-40B4-BE49-F238E27FC236}">
                <a16:creationId xmlns:a16="http://schemas.microsoft.com/office/drawing/2014/main" id="{7E8AE9B7-C347-407E-9D50-3A39A51A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DEMO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3904E9A-545C-40F0-A3FF-C697B21CD680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FD6AB9A-5F9E-5F59-51AB-3C8734130965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4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67668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" name="Text 0">
            <a:extLst xmlns:a="http://schemas.openxmlformats.org/drawingml/2006/main">
              <a:ext uri="{FF2B5EF4-FFF2-40B4-BE49-F238E27FC236}">
                <a16:creationId xmlns:a16="http://schemas.microsoft.com/office/drawing/2014/main" id="{913DD227-DF10-4E1B-A9F2-4EE96402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TRUST BOUNDARY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Text 1">
            <a:extLst xmlns:a="http://schemas.openxmlformats.org/drawingml/2006/main">
              <a:ext uri="{FF2B5EF4-FFF2-40B4-BE49-F238E27FC236}">
                <a16:creationId xmlns:a16="http://schemas.microsoft.com/office/drawing/2014/main" id="{DDF0F064-490C-4C3C-BEC0-6723229A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Trust is enforced at the gate,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 promised in the prompt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ext 2">
            <a:extLst xmlns:a="http://schemas.openxmlformats.org/drawingml/2006/main">
              <a:ext uri="{FF2B5EF4-FFF2-40B4-BE49-F238E27FC236}">
                <a16:creationId xmlns:a16="http://schemas.microsoft.com/office/drawing/2014/main" id="{80888F36-0A5F-431F-AA62-0D2EEB9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903" y="1743075"/>
            <a:ext cx="5851779" cy="31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finding ships only when all three checks pass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hape 3">
            <a:extLst xmlns:a="http://schemas.openxmlformats.org/drawingml/2006/main">
              <a:ext uri="{FF2B5EF4-FFF2-40B4-BE49-F238E27FC236}">
                <a16:creationId xmlns:a16="http://schemas.microsoft.com/office/drawing/2014/main" id="{29624A94-E901-41FC-82CB-284DF6FA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440" y="3218400"/>
            <a:ext cx="38412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hape 4">
            <a:extLst xmlns:a="http://schemas.openxmlformats.org/drawingml/2006/main">
              <a:ext uri="{FF2B5EF4-FFF2-40B4-BE49-F238E27FC236}">
                <a16:creationId xmlns:a16="http://schemas.microsoft.com/office/drawing/2014/main" id="{7DB0489C-F24E-499C-B761-17C06BA0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18400"/>
            <a:ext cx="38376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hape 5">
            <a:extLst xmlns:a="http://schemas.openxmlformats.org/drawingml/2006/main">
              <a:ext uri="{FF2B5EF4-FFF2-40B4-BE49-F238E27FC236}">
                <a16:creationId xmlns:a16="http://schemas.microsoft.com/office/drawing/2014/main" id="{1E18E3C3-5276-4434-AF0D-7118ABDB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Shape 6">
            <a:extLst xmlns:a="http://schemas.openxmlformats.org/drawingml/2006/main">
              <a:ext uri="{FF2B5EF4-FFF2-40B4-BE49-F238E27FC236}">
                <a16:creationId xmlns:a16="http://schemas.microsoft.com/office/drawing/2014/main" id="{3A18733D-5672-40EA-802B-23714E53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Text 7">
            <a:extLst xmlns:a="http://schemas.openxmlformats.org/drawingml/2006/main">
              <a:ext uri="{FF2B5EF4-FFF2-40B4-BE49-F238E27FC236}">
                <a16:creationId xmlns:a16="http://schemas.microsoft.com/office/drawing/2014/main" id="{ED3DF422-06A8-4E6C-8727-43DAC4FC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01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Text 8">
            <a:extLst xmlns:a="http://schemas.openxmlformats.org/drawingml/2006/main">
              <a:ext uri="{FF2B5EF4-FFF2-40B4-BE49-F238E27FC236}">
                <a16:creationId xmlns:a16="http://schemas.microsoft.com/office/drawing/2014/main" id="{58C46FEB-D492-4EF2-B4D7-D9268DF7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0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Exact quote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Text 9">
            <a:extLst xmlns:a="http://schemas.openxmlformats.org/drawingml/2006/main">
              <a:ext uri="{FF2B5EF4-FFF2-40B4-BE49-F238E27FC236}">
                <a16:creationId xmlns:a16="http://schemas.microsoft.com/office/drawing/2014/main" id="{846A4E3C-7926-44F8-A0D8-59ADE386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sentence exists in the fetched source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hape 10">
            <a:extLst xmlns:a="http://schemas.openxmlformats.org/drawingml/2006/main">
              <a:ext uri="{FF2B5EF4-FFF2-40B4-BE49-F238E27FC236}">
                <a16:creationId xmlns:a16="http://schemas.microsoft.com/office/drawing/2014/main" id="{67F019D2-D994-410D-A926-3DF168EC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04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hape 11">
            <a:extLst xmlns:a="http://schemas.openxmlformats.org/drawingml/2006/main">
              <a:ext uri="{FF2B5EF4-FFF2-40B4-BE49-F238E27FC236}">
                <a16:creationId xmlns:a16="http://schemas.microsoft.com/office/drawing/2014/main" id="{4CDB228B-9C37-4B35-AABB-AE228912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Text 12">
            <a:extLst xmlns:a="http://schemas.openxmlformats.org/drawingml/2006/main">
              <a:ext uri="{FF2B5EF4-FFF2-40B4-BE49-F238E27FC236}">
                <a16:creationId xmlns:a16="http://schemas.microsoft.com/office/drawing/2014/main" id="{952E25AA-0D26-428D-8E94-600ABDF5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Text 13">
            <a:extLst xmlns:a="http://schemas.openxmlformats.org/drawingml/2006/main">
              <a:ext uri="{FF2B5EF4-FFF2-40B4-BE49-F238E27FC236}">
                <a16:creationId xmlns:a16="http://schemas.microsoft.com/office/drawing/2014/main" id="{270DC1F2-6388-41F0-AF91-A27291D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36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1878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Traceable source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Text 14">
            <a:extLst xmlns:a="http://schemas.openxmlformats.org/drawingml/2006/main">
              <a:ext uri="{FF2B5EF4-FFF2-40B4-BE49-F238E27FC236}">
                <a16:creationId xmlns:a16="http://schemas.microsoft.com/office/drawing/2014/main" id="{5FC4FE4D-803B-4343-A32C-40A57774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Source identity and retrieval details are complete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Shape 15">
            <a:extLst xmlns:a="http://schemas.openxmlformats.org/drawingml/2006/main">
              <a:ext uri="{FF2B5EF4-FFF2-40B4-BE49-F238E27FC236}">
                <a16:creationId xmlns:a16="http://schemas.microsoft.com/office/drawing/2014/main" id="{A7975808-C466-464F-A552-466736FA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20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hape 16">
            <a:extLst xmlns:a="http://schemas.openxmlformats.org/drawingml/2006/main">
              <a:ext uri="{FF2B5EF4-FFF2-40B4-BE49-F238E27FC236}">
                <a16:creationId xmlns:a16="http://schemas.microsoft.com/office/drawing/2014/main" id="{49C7BFC3-B212-462B-8447-B8D1AF9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Text 17">
            <a:extLst xmlns:a="http://schemas.openxmlformats.org/drawingml/2006/main">
              <a:ext uri="{FF2B5EF4-FFF2-40B4-BE49-F238E27FC236}">
                <a16:creationId xmlns:a16="http://schemas.microsoft.com/office/drawing/2014/main" id="{1B45A50B-4CCF-4C2B-BCC1-4C9B7086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03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Text 18">
            <a:extLst xmlns:a="http://schemas.openxmlformats.org/drawingml/2006/main">
              <a:ext uri="{FF2B5EF4-FFF2-40B4-BE49-F238E27FC236}">
                <a16:creationId xmlns:a16="http://schemas.microsoft.com/office/drawing/2014/main" id="{95D6FBD7-E312-45BB-8BD0-29ED3F90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962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Current enough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Text 19">
            <a:extLst xmlns:a="http://schemas.openxmlformats.org/drawingml/2006/main">
              <a:ext uri="{FF2B5EF4-FFF2-40B4-BE49-F238E27FC236}">
                <a16:creationId xmlns:a16="http://schemas.microsoft.com/office/drawing/2014/main" id="{C73FA78E-D11A-4AAA-80CC-757F4133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source supports the claim's timing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hape 20">
            <a:extLst xmlns:a="http://schemas.openxmlformats.org/drawingml/2006/main">
              <a:ext uri="{FF2B5EF4-FFF2-40B4-BE49-F238E27FC236}">
                <a16:creationId xmlns:a16="http://schemas.microsoft.com/office/drawing/2014/main" id="{58CB0FC7-0AD1-4CA7-94D0-93AAAD2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880" y="4279320"/>
            <a:ext cx="360" cy="4572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hape 21">
            <a:extLst xmlns:a="http://schemas.openxmlformats.org/drawingml/2006/main">
              <a:ext uri="{FF2B5EF4-FFF2-40B4-BE49-F238E27FC236}">
                <a16:creationId xmlns:a16="http://schemas.microsoft.com/office/drawing/2014/main" id="{9FE7AD33-4C2A-4DD0-B137-AEE7EBC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400" y="4791600"/>
            <a:ext cx="4315680" cy="51156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Text 22">
            <a:extLst xmlns:a="http://schemas.openxmlformats.org/drawingml/2006/main">
              <a:ext uri="{FF2B5EF4-FFF2-40B4-BE49-F238E27FC236}">
                <a16:creationId xmlns:a16="http://schemas.microsoft.com/office/drawing/2014/main" id="{2613651E-14EB-4684-84E6-97F923B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640" y="4928760"/>
            <a:ext cx="393156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60">
                <a:solidFill>
                  <a:srgbClr val="B45309"/>
                </a:solidFill>
                <a:latin typeface="Aptos"/>
                <a:ea typeface="Aptos"/>
                <a:cs typeface="Aptos"/>
              </a:rPr>
              <a:t>FAIL → RESEARCH AGAIN → UNDETERMINED → CLIENT QUESTION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hape 23">
            <a:extLst xmlns:a="http://schemas.openxmlformats.org/drawingml/2006/main">
              <a:ext uri="{FF2B5EF4-FFF2-40B4-BE49-F238E27FC236}">
                <a16:creationId xmlns:a16="http://schemas.microsoft.com/office/drawing/2014/main" id="{4D46ED31-6FDF-4187-97D7-CBCA7061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Text 24">
            <a:extLst xmlns:a="http://schemas.openxmlformats.org/drawingml/2006/main">
              <a:ext uri="{FF2B5EF4-FFF2-40B4-BE49-F238E27FC236}">
                <a16:creationId xmlns:a16="http://schemas.microsoft.com/office/drawing/2014/main" id="{45281EB8-D0C2-42A0-B427-733BF2A1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Text 25">
            <a:extLst xmlns:a="http://schemas.openxmlformats.org/drawingml/2006/main">
              <a:ext uri="{FF2B5EF4-FFF2-40B4-BE49-F238E27FC236}">
                <a16:creationId xmlns:a16="http://schemas.microsoft.com/office/drawing/2014/main" id="{A0EBEFAC-04F4-4203-B546-225556DA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Shape 26">
            <a:extLst xmlns:a="http://schemas.openxmlformats.org/drawingml/2006/main">
              <a:ext uri="{FF2B5EF4-FFF2-40B4-BE49-F238E27FC236}">
                <a16:creationId xmlns:a16="http://schemas.microsoft.com/office/drawing/2014/main" id="{4FB659DA-2550-46F5-A7BB-53443175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Text 27">
            <a:extLst xmlns:a="http://schemas.openxmlformats.org/drawingml/2006/main">
              <a:ext uri="{FF2B5EF4-FFF2-40B4-BE49-F238E27FC236}">
                <a16:creationId xmlns:a16="http://schemas.microsoft.com/office/drawing/2014/main" id="{EAA78822-ED23-4034-AB5D-4EC783E2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Text 28">
            <a:extLst xmlns:a="http://schemas.openxmlformats.org/drawingml/2006/main">
              <a:ext uri="{FF2B5EF4-FFF2-40B4-BE49-F238E27FC236}">
                <a16:creationId xmlns:a16="http://schemas.microsoft.com/office/drawing/2014/main" id="{6952121B-3E4D-4D73-8347-B5901FED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hape 29">
            <a:extLst xmlns:a="http://schemas.openxmlformats.org/drawingml/2006/main">
              <a:ext uri="{FF2B5EF4-FFF2-40B4-BE49-F238E27FC236}">
                <a16:creationId xmlns:a16="http://schemas.microsoft.com/office/drawing/2014/main" id="{75DE2D76-2C78-44EB-80E8-BABBA7C8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Text 30">
            <a:extLst xmlns:a="http://schemas.openxmlformats.org/drawingml/2006/main">
              <a:ext uri="{FF2B5EF4-FFF2-40B4-BE49-F238E27FC236}">
                <a16:creationId xmlns:a16="http://schemas.microsoft.com/office/drawing/2014/main" id="{99D7EB6C-D962-4AD8-8A3E-68305698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Text 31">
            <a:extLst xmlns:a="http://schemas.openxmlformats.org/drawingml/2006/main">
              <a:ext uri="{FF2B5EF4-FFF2-40B4-BE49-F238E27FC236}">
                <a16:creationId xmlns:a16="http://schemas.microsoft.com/office/drawing/2014/main" id="{C6AD46EC-1C3D-4FE8-8B5D-0B0293FD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Text 32">
            <a:extLst xmlns:a="http://schemas.openxmlformats.org/drawingml/2006/main">
              <a:ext uri="{FF2B5EF4-FFF2-40B4-BE49-F238E27FC236}">
                <a16:creationId xmlns:a16="http://schemas.microsoft.com/office/drawing/2014/main" id="{71B15D19-2306-4CAB-B2A1-D702958C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TRUST BOUNDARY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2786B44-9AE0-418C-AB11-6B72356FA8EA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E5B3003-2C54-13C6-9832-7637201064D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5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01959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Text 0">
            <a:extLst xmlns:a="http://schemas.openxmlformats.org/drawingml/2006/main">
              <a:ext uri="{FF2B5EF4-FFF2-40B4-BE49-F238E27FC236}">
                <a16:creationId xmlns:a16="http://schemas.microsoft.com/office/drawing/2014/main" id="{88C77FD8-00A2-4BF0-8626-D77BBC9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LANGGRAPH WORKFLOW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Text 1">
            <a:extLst xmlns:a="http://schemas.openxmlformats.org/drawingml/2006/main">
              <a:ext uri="{FF2B5EF4-FFF2-40B4-BE49-F238E27FC236}">
                <a16:creationId xmlns:a16="http://schemas.microsoft.com/office/drawing/2014/main" id="{9BB9B35C-3399-44BB-B6A2-D854072F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LangGraph runs the full evidence loop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Shape 2">
            <a:extLst xmlns:a="http://schemas.openxmlformats.org/drawingml/2006/main">
              <a:ext uri="{FF2B5EF4-FFF2-40B4-BE49-F238E27FC236}">
                <a16:creationId xmlns:a16="http://schemas.microsoft.com/office/drawing/2014/main" id="{754E6CBB-1BCE-4D4B-AC70-4B2BEFE9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320" y="2816280"/>
            <a:ext cx="74988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Shape 3">
            <a:extLst xmlns:a="http://schemas.openxmlformats.org/drawingml/2006/main">
              <a:ext uri="{FF2B5EF4-FFF2-40B4-BE49-F238E27FC236}">
                <a16:creationId xmlns:a16="http://schemas.microsoft.com/office/drawing/2014/main" id="{E052E134-CE43-4D80-BF13-70ECF4B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81628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Shape 4">
            <a:extLst xmlns:a="http://schemas.openxmlformats.org/drawingml/2006/main">
              <a:ext uri="{FF2B5EF4-FFF2-40B4-BE49-F238E27FC236}">
                <a16:creationId xmlns:a16="http://schemas.microsoft.com/office/drawing/2014/main" id="{A25E0C70-2ECF-41E8-855A-B3E5175F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160" y="2816280"/>
            <a:ext cx="786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0F766E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Shape 5">
            <a:extLst xmlns:a="http://schemas.openxmlformats.org/drawingml/2006/main">
              <a:ext uri="{FF2B5EF4-FFF2-40B4-BE49-F238E27FC236}">
                <a16:creationId xmlns:a16="http://schemas.microsoft.com/office/drawing/2014/main" id="{F0CC24A2-DBE9-454D-B0B1-8758109B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187880" y="3675600"/>
            <a:ext cx="3383280" cy="95112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prstDash val="dash"/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Shape 6">
            <a:extLst xmlns:a="http://schemas.openxmlformats.org/drawingml/2006/main">
              <a:ext uri="{FF2B5EF4-FFF2-40B4-BE49-F238E27FC236}">
                <a16:creationId xmlns:a16="http://schemas.microsoft.com/office/drawing/2014/main" id="{8C869394-F02E-4A36-A9FA-AE6A3B4B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160" y="3675600"/>
            <a:ext cx="360" cy="96948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Shape 7">
            <a:extLst xmlns:a="http://schemas.openxmlformats.org/drawingml/2006/main">
              <a:ext uri="{FF2B5EF4-FFF2-40B4-BE49-F238E27FC236}">
                <a16:creationId xmlns:a16="http://schemas.microsoft.com/office/drawing/2014/main" id="{B85DAE03-BD70-47B6-B929-FC80CC7A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Text 8">
            <a:extLst xmlns:a="http://schemas.openxmlformats.org/drawingml/2006/main">
              <a:ext uri="{FF2B5EF4-FFF2-40B4-BE49-F238E27FC236}">
                <a16:creationId xmlns:a16="http://schemas.microsoft.com/office/drawing/2014/main" id="{E49EAA9B-01C2-4C54-86E5-08A7C9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RESEARCH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Text 9">
            <a:extLst xmlns:a="http://schemas.openxmlformats.org/drawingml/2006/main">
              <a:ext uri="{FF2B5EF4-FFF2-40B4-BE49-F238E27FC236}">
                <a16:creationId xmlns:a16="http://schemas.microsoft.com/office/drawing/2014/main" id="{38BAC738-8E9B-46C5-98DF-463E7D2B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Search + retrieve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Shape 10">
            <a:extLst xmlns:a="http://schemas.openxmlformats.org/drawingml/2006/main">
              <a:ext uri="{FF2B5EF4-FFF2-40B4-BE49-F238E27FC236}">
                <a16:creationId xmlns:a16="http://schemas.microsoft.com/office/drawing/2014/main" id="{CCC3A136-D28B-4688-92A1-B08C4DCB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212920"/>
            <a:ext cx="224892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Text 11">
            <a:extLst xmlns:a="http://schemas.openxmlformats.org/drawingml/2006/main">
              <a:ext uri="{FF2B5EF4-FFF2-40B4-BE49-F238E27FC236}">
                <a16:creationId xmlns:a16="http://schemas.microsoft.com/office/drawing/2014/main" id="{181DA080-24F2-48EE-8EF0-84FD9F3F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414160"/>
            <a:ext cx="19198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EXTRACT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Text 12">
            <a:extLst xmlns:a="http://schemas.openxmlformats.org/drawingml/2006/main">
              <a:ext uri="{FF2B5EF4-FFF2-40B4-BE49-F238E27FC236}">
                <a16:creationId xmlns:a16="http://schemas.microsoft.com/office/drawing/2014/main" id="{3040942F-34DE-4EA6-B94B-ABA8ED52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779920"/>
            <a:ext cx="191988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Candidate facts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hape 13">
            <a:extLst xmlns:a="http://schemas.openxmlformats.org/drawingml/2006/main">
              <a:ext uri="{FF2B5EF4-FFF2-40B4-BE49-F238E27FC236}">
                <a16:creationId xmlns:a16="http://schemas.microsoft.com/office/drawing/2014/main" id="{8CC321B9-D944-43CC-A423-6F1237A1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2011680"/>
            <a:ext cx="2358720" cy="1590840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Text 14">
            <a:extLst xmlns:a="http://schemas.openxmlformats.org/drawingml/2006/main">
              <a:ext uri="{FF2B5EF4-FFF2-40B4-BE49-F238E27FC236}">
                <a16:creationId xmlns:a16="http://schemas.microsoft.com/office/drawing/2014/main" id="{8526F5D3-1268-4032-A80E-0257A00B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212920"/>
            <a:ext cx="20296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GATE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Text 15">
            <a:extLst xmlns:a="http://schemas.openxmlformats.org/drawingml/2006/main">
              <a:ext uri="{FF2B5EF4-FFF2-40B4-BE49-F238E27FC236}">
                <a16:creationId xmlns:a16="http://schemas.microsoft.com/office/drawing/2014/main" id="{95691DC1-CDEB-4E3D-9FCA-EE75F3A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578680"/>
            <a:ext cx="2029680" cy="90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quoted support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 source fit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Shape 16">
            <a:extLst xmlns:a="http://schemas.openxmlformats.org/drawingml/2006/main">
              <a:ext uri="{FF2B5EF4-FFF2-40B4-BE49-F238E27FC236}">
                <a16:creationId xmlns:a16="http://schemas.microsoft.com/office/drawing/2014/main" id="{D50B9FE9-4DFD-4F9D-90B0-3583DCE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2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E7F7F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Text 17">
            <a:extLst xmlns:a="http://schemas.openxmlformats.org/drawingml/2006/main">
              <a:ext uri="{FF2B5EF4-FFF2-40B4-BE49-F238E27FC236}">
                <a16:creationId xmlns:a16="http://schemas.microsoft.com/office/drawing/2014/main" id="{1552D616-80EF-4E4D-B833-014B91D5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REPORT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Text 18">
            <a:extLst xmlns:a="http://schemas.openxmlformats.org/drawingml/2006/main">
              <a:ext uri="{FF2B5EF4-FFF2-40B4-BE49-F238E27FC236}">
                <a16:creationId xmlns:a16="http://schemas.microsoft.com/office/drawing/2014/main" id="{D859982C-46A0-48F7-B8CE-234787CF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129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Supported facts
+ questions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Text 19">
            <a:extLst xmlns:a="http://schemas.openxmlformats.org/drawingml/2006/main">
              <a:ext uri="{FF2B5EF4-FFF2-40B4-BE49-F238E27FC236}">
                <a16:creationId xmlns:a16="http://schemas.microsoft.com/office/drawing/2014/main" id="{FE825CC1-6EE7-4F00-AAB3-75ACBACC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17145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RESEARCH AGAIN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hape 20">
            <a:extLst xmlns:a="http://schemas.openxmlformats.org/drawingml/2006/main">
              <a:ext uri="{FF2B5EF4-FFF2-40B4-BE49-F238E27FC236}">
                <a16:creationId xmlns:a16="http://schemas.microsoft.com/office/drawing/2014/main" id="{EC944899-C6E2-44E6-A5AA-F5D6FB17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4736520"/>
            <a:ext cx="2358720" cy="52992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Text 21">
            <a:extLst xmlns:a="http://schemas.openxmlformats.org/drawingml/2006/main">
              <a:ext uri="{FF2B5EF4-FFF2-40B4-BE49-F238E27FC236}">
                <a16:creationId xmlns:a16="http://schemas.microsoft.com/office/drawing/2014/main" id="{FBAEC982-E50D-4D6F-BF8A-2C7AB224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4883040"/>
            <a:ext cx="20296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6246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NO RETRIES → UNDETERMINED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hape 22">
            <a:extLst xmlns:a="http://schemas.openxmlformats.org/drawingml/2006/main">
              <a:ext uri="{FF2B5EF4-FFF2-40B4-BE49-F238E27FC236}">
                <a16:creationId xmlns:a16="http://schemas.microsoft.com/office/drawing/2014/main" id="{230BF84D-201F-4CCE-BCCD-EAC9E24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96200"/>
            <a:ext cx="10625040" cy="56664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ext 23">
            <a:extLst xmlns:a="http://schemas.openxmlformats.org/drawingml/2006/main">
              <a:ext uri="{FF2B5EF4-FFF2-40B4-BE49-F238E27FC236}">
                <a16:creationId xmlns:a16="http://schemas.microsoft.com/office/drawing/2014/main" id="{741BB1AA-DE08-4755-9147-8634B630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769720"/>
            <a:ext cx="126144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DELIVERY ONLY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hape 24">
            <a:extLst xmlns:a="http://schemas.openxmlformats.org/drawingml/2006/main">
              <a:ext uri="{FF2B5EF4-FFF2-40B4-BE49-F238E27FC236}">
                <a16:creationId xmlns:a16="http://schemas.microsoft.com/office/drawing/2014/main" id="{A89AA7CD-18C3-4967-983D-60EFDDBA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870160"/>
            <a:ext cx="914400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Text 25">
            <a:extLst xmlns:a="http://schemas.openxmlformats.org/drawingml/2006/main">
              <a:ext uri="{FF2B5EF4-FFF2-40B4-BE49-F238E27FC236}">
                <a16:creationId xmlns:a16="http://schemas.microsoft.com/office/drawing/2014/main" id="{44112745-0E93-4B38-90A9-43B58C39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87640"/>
            <a:ext cx="5940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n8n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Shape 26">
            <a:extLst xmlns:a="http://schemas.openxmlformats.org/drawingml/2006/main">
              <a:ext uri="{FF2B5EF4-FFF2-40B4-BE49-F238E27FC236}">
                <a16:creationId xmlns:a16="http://schemas.microsoft.com/office/drawing/2014/main" id="{F28D05C9-B1F5-4B70-A314-80ED557F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5870160"/>
            <a:ext cx="914400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Text 27">
            <a:extLst xmlns:a="http://schemas.openxmlformats.org/drawingml/2006/main">
              <a:ext uri="{FF2B5EF4-FFF2-40B4-BE49-F238E27FC236}">
                <a16:creationId xmlns:a16="http://schemas.microsoft.com/office/drawing/2014/main" id="{A528B397-011E-4133-95E2-BF49887C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800" y="568764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Notion 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Text 28">
            <a:extLst xmlns:a="http://schemas.openxmlformats.org/drawingml/2006/main">
              <a:ext uri="{FF2B5EF4-FFF2-40B4-BE49-F238E27FC236}">
                <a16:creationId xmlns:a16="http://schemas.microsoft.com/office/drawing/2014/main" id="{685E5C88-0537-433B-9CE8-5EB0BF3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920" y="5715000"/>
            <a:ext cx="4160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n8n files the finished report. It does not make decisions.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Text 29">
            <a:extLst xmlns:a="http://schemas.openxmlformats.org/drawingml/2006/main">
              <a:ext uri="{FF2B5EF4-FFF2-40B4-BE49-F238E27FC236}">
                <a16:creationId xmlns:a16="http://schemas.microsoft.com/office/drawing/2014/main" id="{FCC59A14-10DA-4CA7-AED8-95C1A2FB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6428137"/>
            <a:ext cx="3048000" cy="164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ARCHITECTURE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21EEFA-F2AA-41FB-B325-EA328ACA8B2A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8C630A04-5A25-9E0C-9436-126091DB86B3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6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2059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Text 0">
            <a:extLst xmlns:a="http://schemas.openxmlformats.org/drawingml/2006/main">
              <a:ext uri="{FF2B5EF4-FFF2-40B4-BE49-F238E27FC236}">
                <a16:creationId xmlns:a16="http://schemas.microsoft.com/office/drawing/2014/main" id="{D31306D0-4594-4E66-BB31-963969EC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POST-MVP • VENDOR DRIFT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Text 1">
            <a:extLst xmlns:a="http://schemas.openxmlformats.org/drawingml/2006/main">
              <a:ext uri="{FF2B5EF4-FFF2-40B4-BE49-F238E27FC236}">
                <a16:creationId xmlns:a16="http://schemas.microsoft.com/office/drawing/2014/main" id="{B2EA6B29-E353-4856-BB2A-939C6024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881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updates can change a client's AI inventory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Text 2">
            <a:extLst xmlns:a="http://schemas.openxmlformats.org/drawingml/2006/main">
              <a:ext uri="{FF2B5EF4-FFF2-40B4-BE49-F238E27FC236}">
                <a16:creationId xmlns:a16="http://schemas.microsoft.com/office/drawing/2014/main" id="{0EEB6E1A-E431-4A16-93FA-618FC51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08760"/>
            <a:ext cx="3245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FUTURE VALIDATION — NOT CURRENT TRACTION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Shape 3">
            <a:extLst xmlns:a="http://schemas.openxmlformats.org/drawingml/2006/main">
              <a:ext uri="{FF2B5EF4-FFF2-40B4-BE49-F238E27FC236}">
                <a16:creationId xmlns:a16="http://schemas.microsoft.com/office/drawing/2014/main" id="{17EF9BA1-3679-48B8-A4AF-C646BA50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680" y="3447000"/>
            <a:ext cx="8915400" cy="36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Shape 4">
            <a:extLst xmlns:a="http://schemas.openxmlformats.org/drawingml/2006/main">
              <a:ext uri="{FF2B5EF4-FFF2-40B4-BE49-F238E27FC236}">
                <a16:creationId xmlns:a16="http://schemas.microsoft.com/office/drawing/2014/main" id="{3C6B4316-F3D3-4418-B41A-64B19F54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Text 5">
            <a:extLst xmlns:a="http://schemas.openxmlformats.org/drawingml/2006/main">
              <a:ext uri="{FF2B5EF4-FFF2-40B4-BE49-F238E27FC236}">
                <a16:creationId xmlns:a16="http://schemas.microsoft.com/office/drawing/2014/main" id="{0BB3DC31-21C0-41D3-B6E4-3C4BB680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MAY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Shape 6">
            <a:extLst xmlns:a="http://schemas.openxmlformats.org/drawingml/2006/main">
              <a:ext uri="{FF2B5EF4-FFF2-40B4-BE49-F238E27FC236}">
                <a16:creationId xmlns:a16="http://schemas.microsoft.com/office/drawing/2014/main" id="{5873C6EB-85E7-4F2B-A274-FB8F9EEB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Text 7">
            <a:extLst xmlns:a="http://schemas.openxmlformats.org/drawingml/2006/main">
              <a:ext uri="{FF2B5EF4-FFF2-40B4-BE49-F238E27FC236}">
                <a16:creationId xmlns:a16="http://schemas.microsoft.com/office/drawing/2014/main" id="{91D862EC-C9EC-402F-838C-B1098F41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evidenced AI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Text 8">
            <a:extLst xmlns:a="http://schemas.openxmlformats.org/drawingml/2006/main">
              <a:ext uri="{FF2B5EF4-FFF2-40B4-BE49-F238E27FC236}">
                <a16:creationId xmlns:a16="http://schemas.microsoft.com/office/drawing/2014/main" id="{AE47C620-C1F0-40E2-A939-2AB9E2FC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Client already uses the ATS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Shape 9">
            <a:extLst xmlns:a="http://schemas.openxmlformats.org/drawingml/2006/main">
              <a:ext uri="{FF2B5EF4-FFF2-40B4-BE49-F238E27FC236}">
                <a16:creationId xmlns:a16="http://schemas.microsoft.com/office/drawing/2014/main" id="{A9942CC6-CA00-4F44-8AC2-23BECCBF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Text 10">
            <a:extLst xmlns:a="http://schemas.openxmlformats.org/drawingml/2006/main">
              <a:ext uri="{FF2B5EF4-FFF2-40B4-BE49-F238E27FC236}">
                <a16:creationId xmlns:a16="http://schemas.microsoft.com/office/drawing/2014/main" id="{4C63E38B-D579-4FBE-9B2C-D44FC6FE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JUNE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hape 11">
            <a:extLst xmlns:a="http://schemas.openxmlformats.org/drawingml/2006/main">
              <a:ext uri="{FF2B5EF4-FFF2-40B4-BE49-F238E27FC236}">
                <a16:creationId xmlns:a16="http://schemas.microsoft.com/office/drawing/2014/main" id="{BC0B8906-E6B7-4ABA-9B54-93717530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Text 12">
            <a:extLst xmlns:a="http://schemas.openxmlformats.org/drawingml/2006/main">
              <a:ext uri="{FF2B5EF4-FFF2-40B4-BE49-F238E27FC236}">
                <a16:creationId xmlns:a16="http://schemas.microsoft.com/office/drawing/2014/main" id="{206C9828-74A4-48D1-AD10-1BA8631C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953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adds AI CV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Text 13">
            <a:extLst xmlns:a="http://schemas.openxmlformats.org/drawingml/2006/main">
              <a:ext uri="{FF2B5EF4-FFF2-40B4-BE49-F238E27FC236}">
                <a16:creationId xmlns:a16="http://schemas.microsoft.com/office/drawing/2014/main" id="{47DA6A0C-6EC3-4967-91D8-332AC0E4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No new client purchase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Shape 14">
            <a:extLst xmlns:a="http://schemas.openxmlformats.org/drawingml/2006/main">
              <a:ext uri="{FF2B5EF4-FFF2-40B4-BE49-F238E27FC236}">
                <a16:creationId xmlns:a16="http://schemas.microsoft.com/office/drawing/2014/main" id="{058C8C15-3A99-4123-A788-D7FDED8C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90600"/>
            <a:ext cx="566640" cy="56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Text 15">
            <a:extLst xmlns:a="http://schemas.openxmlformats.org/drawingml/2006/main">
              <a:ext uri="{FF2B5EF4-FFF2-40B4-BE49-F238E27FC236}">
                <a16:creationId xmlns:a16="http://schemas.microsoft.com/office/drawing/2014/main" id="{6F087A88-8B14-487C-809D-99DB9AB8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2563EB"/>
                </a:solidFill>
                <a:latin typeface="Aptos"/>
                <a:ea typeface="Aptos"/>
                <a:cs typeface="Aptos"/>
              </a:rPr>
              <a:t>JULY ALERT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Shape 16">
            <a:extLst xmlns:a="http://schemas.openxmlformats.org/drawingml/2006/main">
              <a:ext uri="{FF2B5EF4-FFF2-40B4-BE49-F238E27FC236}">
                <a16:creationId xmlns:a16="http://schemas.microsoft.com/office/drawing/2014/main" id="{1658AA7A-27BE-4213-A01C-64FCABF3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822120"/>
            <a:ext cx="3017160" cy="1352880"/>
          </a:xfrm>
          <a:prstGeom xmlns:a="http://schemas.openxmlformats.org/drawingml/2006/main" prst="roundRect">
            <a:avLst>
              <a:gd name="adj" fmla="val 1013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Text 17">
            <a:extLst xmlns:a="http://schemas.openxmlformats.org/drawingml/2006/main">
              <a:ext uri="{FF2B5EF4-FFF2-40B4-BE49-F238E27FC236}">
                <a16:creationId xmlns:a16="http://schemas.microsoft.com/office/drawing/2014/main" id="{B113E239-ED3C-4A03-A253-7243C35C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069080"/>
            <a:ext cx="25599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5704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AI inventory changed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Text 18">
            <a:extLst xmlns:a="http://schemas.openxmlformats.org/drawingml/2006/main">
              <a:ext uri="{FF2B5EF4-FFF2-40B4-BE49-F238E27FC236}">
                <a16:creationId xmlns:a16="http://schemas.microsoft.com/office/drawing/2014/main" id="{A89862D7-2956-4574-98AC-CE70D260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645080"/>
            <a:ext cx="25599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Alert the adviser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Text 19">
            <a:extLst xmlns:a="http://schemas.openxmlformats.org/drawingml/2006/main">
              <a:ext uri="{FF2B5EF4-FFF2-40B4-BE49-F238E27FC236}">
                <a16:creationId xmlns:a16="http://schemas.microsoft.com/office/drawing/2014/main" id="{94E770F1-1007-437A-8483-3714290A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669280"/>
            <a:ext cx="21484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ADVISER PILOT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Shape 20">
            <a:extLst xmlns:a="http://schemas.openxmlformats.org/drawingml/2006/main">
              <a:ext uri="{FF2B5EF4-FFF2-40B4-BE49-F238E27FC236}">
                <a16:creationId xmlns:a16="http://schemas.microsoft.com/office/drawing/2014/main" id="{1002F08D-4F3F-482E-9EC4-702CE51C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Text 21">
            <a:extLst xmlns:a="http://schemas.openxmlformats.org/drawingml/2006/main">
              <a:ext uri="{FF2B5EF4-FFF2-40B4-BE49-F238E27FC236}">
                <a16:creationId xmlns:a16="http://schemas.microsoft.com/office/drawing/2014/main" id="{91CE1227-C385-4BA4-B222-1875ED58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5669280"/>
            <a:ext cx="24685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VALIDATE DRIFT ALERTS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Shape 22">
            <a:extLst xmlns:a="http://schemas.openxmlformats.org/drawingml/2006/main">
              <a:ext uri="{FF2B5EF4-FFF2-40B4-BE49-F238E27FC236}">
                <a16:creationId xmlns:a16="http://schemas.microsoft.com/office/drawing/2014/main" id="{A8C5E434-E906-44BC-A1C5-6568CF8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Text 23">
            <a:extLst xmlns:a="http://schemas.openxmlformats.org/drawingml/2006/main">
              <a:ext uri="{FF2B5EF4-FFF2-40B4-BE49-F238E27FC236}">
                <a16:creationId xmlns:a16="http://schemas.microsoft.com/office/drawing/2014/main" id="{B9B2584B-4382-4D2C-84F7-D706864E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60" y="5669280"/>
            <a:ext cx="24228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1D4ED8"/>
                </a:solidFill>
                <a:latin typeface="Aptos"/>
                <a:ea typeface="Aptos"/>
                <a:cs typeface="Aptos"/>
              </a:rPr>
              <a:t>RETAINED MONITORING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Text 24">
            <a:extLst xmlns:a="http://schemas.openxmlformats.org/drawingml/2006/main">
              <a:ext uri="{FF2B5EF4-FFF2-40B4-BE49-F238E27FC236}">
                <a16:creationId xmlns:a16="http://schemas.microsoft.com/office/drawing/2014/main" id="{6B3D67CA-B90E-41E0-B032-E8A38E7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998320"/>
            <a:ext cx="106066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1339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Turn a blank-page scan into an auditable, recurring conversation.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Text 25">
            <a:extLst xmlns:a="http://schemas.openxmlformats.org/drawingml/2006/main">
              <a:ext uri="{FF2B5EF4-FFF2-40B4-BE49-F238E27FC236}">
                <a16:creationId xmlns:a16="http://schemas.microsoft.com/office/drawing/2014/main" id="{7ED0E0F8-4801-4D94-8911-FDF05248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POST-MVP PATH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379090-48E0-44A1-8D3E-B6BD6BB3C4C8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3D7D1C8-AE23-AA48-DF65-C742588DBE47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7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345719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Text 0">
            <a:extLst xmlns:a="http://schemas.openxmlformats.org/drawingml/2006/main">
              <a:ext uri="{FF2B5EF4-FFF2-40B4-BE49-F238E27FC236}">
                <a16:creationId xmlns:a16="http://schemas.microsoft.com/office/drawing/2014/main" id="{19EFEC4B-93A2-4739-BDFA-4C205ED6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EVALUATION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Text 1">
            <a:extLst xmlns:a="http://schemas.openxmlformats.org/drawingml/2006/main">
              <a:ext uri="{FF2B5EF4-FFF2-40B4-BE49-F238E27FC236}">
                <a16:creationId xmlns:a16="http://schemas.microsoft.com/office/drawing/2014/main" id="{D1AE4FFD-D66F-40B9-B1E2-66913852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honesty controls pass; research quality still needs work</a:t>
            </a:r>
            <a:endParaRPr sz="3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Text 2">
            <a:extLst xmlns:a="http://schemas.openxmlformats.org/drawingml/2006/main">
              <a:ext uri="{FF2B5EF4-FFF2-40B4-BE49-F238E27FC236}">
                <a16:creationId xmlns:a16="http://schemas.microsoft.com/office/drawing/2014/main" id="{B95A86C9-23CF-4478-9CF6-45E3A00E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664280"/>
            <a:ext cx="2194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STABLE STRENGTHS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Text 3">
            <a:extLst xmlns:a="http://schemas.openxmlformats.org/drawingml/2006/main">
              <a:ext uri="{FF2B5EF4-FFF2-40B4-BE49-F238E27FC236}">
                <a16:creationId xmlns:a16="http://schemas.microsoft.com/office/drawing/2014/main" id="{8DBA1692-5C6A-4791-98CB-CE4A7CB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64280"/>
            <a:ext cx="2468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B45309"/>
                </a:solidFill>
                <a:latin typeface="Aptos"/>
                <a:ea typeface="Aptos"/>
                <a:cs typeface="Aptos"/>
              </a:rPr>
              <a:t>MEASURED LIMITATIONS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Shape 4">
            <a:extLst xmlns:a="http://schemas.openxmlformats.org/drawingml/2006/main">
              <a:ext uri="{FF2B5EF4-FFF2-40B4-BE49-F238E27FC236}">
                <a16:creationId xmlns:a16="http://schemas.microsoft.com/office/drawing/2014/main" id="{8196031A-69B5-444D-9F3D-64C15312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3004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Text 5">
            <a:extLst xmlns:a="http://schemas.openxmlformats.org/drawingml/2006/main">
              <a:ext uri="{FF2B5EF4-FFF2-40B4-BE49-F238E27FC236}">
                <a16:creationId xmlns:a16="http://schemas.microsoft.com/office/drawing/2014/main" id="{BE3A56A1-8028-4C9E-9655-8AF10297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984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Text 6">
            <a:extLst xmlns:a="http://schemas.openxmlformats.org/drawingml/2006/main">
              <a:ext uri="{FF2B5EF4-FFF2-40B4-BE49-F238E27FC236}">
                <a16:creationId xmlns:a16="http://schemas.microsoft.com/office/drawing/2014/main" id="{265D3931-223D-4EDD-A158-5088DA91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704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Shape 7">
            <a:extLst xmlns:a="http://schemas.openxmlformats.org/drawingml/2006/main">
              <a:ext uri="{FF2B5EF4-FFF2-40B4-BE49-F238E27FC236}">
                <a16:creationId xmlns:a16="http://schemas.microsoft.com/office/drawing/2014/main" id="{B0702F60-B270-4879-9F8C-3C0C3C68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10896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Text 8">
            <a:extLst xmlns:a="http://schemas.openxmlformats.org/drawingml/2006/main">
              <a:ext uri="{FF2B5EF4-FFF2-40B4-BE49-F238E27FC236}">
                <a16:creationId xmlns:a16="http://schemas.microsoft.com/office/drawing/2014/main" id="{2FE8C594-B359-4192-B3F6-DC85627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76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Text 9">
            <a:extLst xmlns:a="http://schemas.openxmlformats.org/drawingml/2006/main">
              <a:ext uri="{FF2B5EF4-FFF2-40B4-BE49-F238E27FC236}">
                <a16:creationId xmlns:a16="http://schemas.microsoft.com/office/drawing/2014/main" id="{D03E132A-3776-49F1-916D-5C98743E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596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Shape 10">
            <a:extLst xmlns:a="http://schemas.openxmlformats.org/drawingml/2006/main">
              <a:ext uri="{FF2B5EF4-FFF2-40B4-BE49-F238E27FC236}">
                <a16:creationId xmlns:a16="http://schemas.microsoft.com/office/drawing/2014/main" id="{BC2F9AB4-BEB6-44C5-8031-0CC2037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18788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Text 11">
            <a:extLst xmlns:a="http://schemas.openxmlformats.org/drawingml/2006/main">
              <a:ext uri="{FF2B5EF4-FFF2-40B4-BE49-F238E27FC236}">
                <a16:creationId xmlns:a16="http://schemas.microsoft.com/office/drawing/2014/main" id="{03DC1155-D461-4B82-9F26-25E40D9A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Text 12">
            <a:extLst xmlns:a="http://schemas.openxmlformats.org/drawingml/2006/main">
              <a:ext uri="{FF2B5EF4-FFF2-40B4-BE49-F238E27FC236}">
                <a16:creationId xmlns:a16="http://schemas.microsoft.com/office/drawing/2014/main" id="{AA881CBF-E2AF-4429-BE07-971E9E41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Shape 13">
            <a:extLst xmlns:a="http://schemas.openxmlformats.org/drawingml/2006/main">
              <a:ext uri="{FF2B5EF4-FFF2-40B4-BE49-F238E27FC236}">
                <a16:creationId xmlns:a16="http://schemas.microsoft.com/office/drawing/2014/main" id="{26CE3924-57E1-4EF8-B7B8-B9A460DC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3004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Text 14">
            <a:extLst xmlns:a="http://schemas.openxmlformats.org/drawingml/2006/main">
              <a:ext uri="{FF2B5EF4-FFF2-40B4-BE49-F238E27FC236}">
                <a16:creationId xmlns:a16="http://schemas.microsoft.com/office/drawing/2014/main" id="{CFDE188C-C7E5-4322-A97F-5E50BAC1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213984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0.444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Text 15">
            <a:extLst xmlns:a="http://schemas.openxmlformats.org/drawingml/2006/main">
              <a:ext uri="{FF2B5EF4-FFF2-40B4-BE49-F238E27FC236}">
                <a16:creationId xmlns:a16="http://schemas.microsoft.com/office/drawing/2014/main" id="{8322B8B9-DD0E-4600-9760-940A8452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21762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Systems found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ext 16">
            <a:extLst xmlns:a="http://schemas.openxmlformats.org/drawingml/2006/main">
              <a:ext uri="{FF2B5EF4-FFF2-40B4-BE49-F238E27FC236}">
                <a16:creationId xmlns:a16="http://schemas.microsoft.com/office/drawing/2014/main" id="{C83BDBD6-162B-43A3-9B9F-A2F9071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218556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0.75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Shape 17">
            <a:extLst xmlns:a="http://schemas.openxmlformats.org/drawingml/2006/main">
              <a:ext uri="{FF2B5EF4-FFF2-40B4-BE49-F238E27FC236}">
                <a16:creationId xmlns:a16="http://schemas.microsoft.com/office/drawing/2014/main" id="{0DB9825D-7508-4995-95C7-934EDA4F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10896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Text 18">
            <a:extLst xmlns:a="http://schemas.openxmlformats.org/drawingml/2006/main">
              <a:ext uri="{FF2B5EF4-FFF2-40B4-BE49-F238E27FC236}">
                <a16:creationId xmlns:a16="http://schemas.microsoft.com/office/drawing/2014/main" id="{17848AE0-FF6F-40E1-98A0-DB4C3639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321876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0.739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Text 19">
            <a:extLst xmlns:a="http://schemas.openxmlformats.org/drawingml/2006/main">
              <a:ext uri="{FF2B5EF4-FFF2-40B4-BE49-F238E27FC236}">
                <a16:creationId xmlns:a16="http://schemas.microsoft.com/office/drawing/2014/main" id="{8D7682D7-13A7-457B-B39E-C3D67C88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325512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Role labels correct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Text 20">
            <a:extLst xmlns:a="http://schemas.openxmlformats.org/drawingml/2006/main">
              <a:ext uri="{FF2B5EF4-FFF2-40B4-BE49-F238E27FC236}">
                <a16:creationId xmlns:a16="http://schemas.microsoft.com/office/drawing/2014/main" id="{F48EC716-45C8-4BDE-B38C-BEB97565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326448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0.90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Shape 21">
            <a:extLst xmlns:a="http://schemas.openxmlformats.org/drawingml/2006/main">
              <a:ext uri="{FF2B5EF4-FFF2-40B4-BE49-F238E27FC236}">
                <a16:creationId xmlns:a16="http://schemas.microsoft.com/office/drawing/2014/main" id="{612E23E4-AB61-4840-9EC1-1E5C1F1B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18788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Text 22">
            <a:extLst xmlns:a="http://schemas.openxmlformats.org/drawingml/2006/main">
              <a:ext uri="{FF2B5EF4-FFF2-40B4-BE49-F238E27FC236}">
                <a16:creationId xmlns:a16="http://schemas.microsoft.com/office/drawing/2014/main" id="{979C9888-DF46-4225-90BC-23760AD0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429768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0.333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Text 23">
            <a:extLst xmlns:a="http://schemas.openxmlformats.org/drawingml/2006/main">
              <a:ext uri="{FF2B5EF4-FFF2-40B4-BE49-F238E27FC236}">
                <a16:creationId xmlns:a16="http://schemas.microsoft.com/office/drawing/2014/main" id="{7780F269-F960-4E65-A61F-8069902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43344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6642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Unsupported use claims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Text 24">
            <a:extLst xmlns:a="http://schemas.openxmlformats.org/drawingml/2006/main">
              <a:ext uri="{FF2B5EF4-FFF2-40B4-BE49-F238E27FC236}">
                <a16:creationId xmlns:a16="http://schemas.microsoft.com/office/drawing/2014/main" id="{FC47EF03-61B4-49CB-AE05-4DA53320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434340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0.10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Shape 25">
            <a:extLst xmlns:a="http://schemas.openxmlformats.org/drawingml/2006/main">
              <a:ext uri="{FF2B5EF4-FFF2-40B4-BE49-F238E27FC236}">
                <a16:creationId xmlns:a16="http://schemas.microsoft.com/office/drawing/2014/main" id="{6049E9B7-C302-47A3-A59F-7D688BDE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68040"/>
            <a:ext cx="10634040" cy="69444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Text 26">
            <a:extLst xmlns:a="http://schemas.openxmlformats.org/drawingml/2006/main">
              <a:ext uri="{FF2B5EF4-FFF2-40B4-BE49-F238E27FC236}">
                <a16:creationId xmlns:a16="http://schemas.microsoft.com/office/drawing/2014/main" id="{4C09B2C6-BD0C-4FF3-8140-A0446743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678280"/>
            <a:ext cx="1142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SAME CODE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Text 27">
            <a:extLst xmlns:a="http://schemas.openxmlformats.org/drawingml/2006/main">
              <a:ext uri="{FF2B5EF4-FFF2-40B4-BE49-F238E27FC236}">
                <a16:creationId xmlns:a16="http://schemas.microsoft.com/office/drawing/2014/main" id="{BE224489-3823-4A86-A978-5C3DDA20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36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3  0.556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Shape 28">
            <a:extLst xmlns:a="http://schemas.openxmlformats.org/drawingml/2006/main">
              <a:ext uri="{FF2B5EF4-FFF2-40B4-BE49-F238E27FC236}">
                <a16:creationId xmlns:a16="http://schemas.microsoft.com/office/drawing/2014/main" id="{B1FDB213-06E0-4DD2-A976-4519115F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60" y="5797080"/>
            <a:ext cx="84132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E2E8F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Text 29">
            <a:extLst xmlns:a="http://schemas.openxmlformats.org/drawingml/2006/main">
              <a:ext uri="{FF2B5EF4-FFF2-40B4-BE49-F238E27FC236}">
                <a16:creationId xmlns:a16="http://schemas.microsoft.com/office/drawing/2014/main" id="{F047F257-4636-4105-B57E-DE069DA0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24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5  0.444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Text 30">
            <a:extLst xmlns:a="http://schemas.openxmlformats.org/drawingml/2006/main">
              <a:ext uri="{FF2B5EF4-FFF2-40B4-BE49-F238E27FC236}">
                <a16:creationId xmlns:a16="http://schemas.microsoft.com/office/drawing/2014/main" id="{1D95A243-1684-425D-9F32-ED7B214E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641920"/>
            <a:ext cx="44434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6947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Same code, different recall: one run is not evidence of improvement.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Text 31">
            <a:extLst xmlns:a="http://schemas.openxmlformats.org/drawingml/2006/main">
              <a:ext uri="{FF2B5EF4-FFF2-40B4-BE49-F238E27FC236}">
                <a16:creationId xmlns:a16="http://schemas.microsoft.com/office/drawing/2014/main" id="{C2FCF663-4561-4B33-8A1D-D78276D7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0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EVALUATION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A0B43A9-585F-428E-BB9F-5CEDFC03C9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BA58DA2A-B818-18A9-29C1-B697728D5BC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8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1113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Text 0">
            <a:extLst xmlns:a="http://schemas.openxmlformats.org/drawingml/2006/main">
              <a:ext uri="{FF2B5EF4-FFF2-40B4-BE49-F238E27FC236}">
                <a16:creationId xmlns:a16="http://schemas.microsoft.com/office/drawing/2014/main" id="{FE84A012-AD9E-4777-B398-0CDD08F3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SCOPE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Text 1">
            <a:extLst xmlns:a="http://schemas.openxmlformats.org/drawingml/2006/main">
              <a:ext uri="{FF2B5EF4-FFF2-40B4-BE49-F238E27FC236}">
                <a16:creationId xmlns:a16="http://schemas.microsoft.com/office/drawing/2014/main" id="{2D8899FC-643B-439D-ADD1-173988E9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19999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Discovery finds facts; the checker applies the law</a:t>
            </a:r>
            <a:endParaRPr sz="3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hape 2">
            <a:extLst xmlns:a="http://schemas.openxmlformats.org/drawingml/2006/main">
              <a:ext uri="{FF2B5EF4-FFF2-40B4-BE49-F238E27FC236}">
                <a16:creationId xmlns:a16="http://schemas.microsoft.com/office/drawing/2014/main" id="{4C88A50C-CE58-4753-B410-8BCD1891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Shape 3">
            <a:extLst xmlns:a="http://schemas.openxmlformats.org/drawingml/2006/main">
              <a:ext uri="{FF2B5EF4-FFF2-40B4-BE49-F238E27FC236}">
                <a16:creationId xmlns:a16="http://schemas.microsoft.com/office/drawing/2014/main" id="{6326EB9D-61AF-4E15-8CFB-07CA4822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Shape 4">
            <a:extLst xmlns:a="http://schemas.openxmlformats.org/drawingml/2006/main">
              <a:ext uri="{FF2B5EF4-FFF2-40B4-BE49-F238E27FC236}">
                <a16:creationId xmlns:a16="http://schemas.microsoft.com/office/drawing/2014/main" id="{0A2276C7-2D87-4201-9A4C-C8FEE27F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892880"/>
            <a:ext cx="422424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Text 5">
            <a:extLst xmlns:a="http://schemas.openxmlformats.org/drawingml/2006/main">
              <a:ext uri="{FF2B5EF4-FFF2-40B4-BE49-F238E27FC236}">
                <a16:creationId xmlns:a16="http://schemas.microsoft.com/office/drawing/2014/main" id="{EBEAECA0-A8AA-4994-A82F-A8D6E9EC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240280"/>
            <a:ext cx="19198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Text 6">
            <a:extLst xmlns:a="http://schemas.openxmlformats.org/drawingml/2006/main">
              <a:ext uri="{FF2B5EF4-FFF2-40B4-BE49-F238E27FC236}">
                <a16:creationId xmlns:a16="http://schemas.microsoft.com/office/drawing/2014/main" id="{27F60434-0AB0-4D70-B071-2A94CED8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670120"/>
            <a:ext cx="349272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Establish candidate facts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Shape 7">
            <a:extLst xmlns:a="http://schemas.openxmlformats.org/drawingml/2006/main">
              <a:ext uri="{FF2B5EF4-FFF2-40B4-BE49-F238E27FC236}">
                <a16:creationId xmlns:a16="http://schemas.microsoft.com/office/drawing/2014/main" id="{7A47C345-683C-433F-A119-EE7C7B1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Text 8">
            <a:extLst xmlns:a="http://schemas.openxmlformats.org/drawingml/2006/main">
              <a:ext uri="{FF2B5EF4-FFF2-40B4-BE49-F238E27FC236}">
                <a16:creationId xmlns:a16="http://schemas.microsoft.com/office/drawing/2014/main" id="{62F51FF9-DBBE-4186-AD8A-2680DDA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Candidate systems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Shape 9">
            <a:extLst xmlns:a="http://schemas.openxmlformats.org/drawingml/2006/main">
              <a:ext uri="{FF2B5EF4-FFF2-40B4-BE49-F238E27FC236}">
                <a16:creationId xmlns:a16="http://schemas.microsoft.com/office/drawing/2014/main" id="{E4E87F43-583E-4CF3-A8DC-4EF4A4CA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Text 10">
            <a:extLst xmlns:a="http://schemas.openxmlformats.org/drawingml/2006/main">
              <a:ext uri="{FF2B5EF4-FFF2-40B4-BE49-F238E27FC236}">
                <a16:creationId xmlns:a16="http://schemas.microsoft.com/office/drawing/2014/main" id="{FAA99820-0616-4587-8C52-28E42C53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Exact quoted evidence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Shape 11">
            <a:extLst xmlns:a="http://schemas.openxmlformats.org/drawingml/2006/main">
              <a:ext uri="{FF2B5EF4-FFF2-40B4-BE49-F238E27FC236}">
                <a16:creationId xmlns:a16="http://schemas.microsoft.com/office/drawing/2014/main" id="{C6106C08-9CAC-485A-BA62-3739E08D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Text 12">
            <a:extLst xmlns:a="http://schemas.openxmlformats.org/drawingml/2006/main">
              <a:ext uri="{FF2B5EF4-FFF2-40B4-BE49-F238E27FC236}">
                <a16:creationId xmlns:a16="http://schemas.microsoft.com/office/drawing/2014/main" id="{66E3F9CA-6DE5-4355-9DDD-CF1B9986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Source provenance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Shape 13">
            <a:extLst xmlns:a="http://schemas.openxmlformats.org/drawingml/2006/main">
              <a:ext uri="{FF2B5EF4-FFF2-40B4-BE49-F238E27FC236}">
                <a16:creationId xmlns:a16="http://schemas.microsoft.com/office/drawing/2014/main" id="{6C4404D9-ACEA-417F-B32C-71802B61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Text 14">
            <a:extLst xmlns:a="http://schemas.openxmlformats.org/drawingml/2006/main">
              <a:ext uri="{FF2B5EF4-FFF2-40B4-BE49-F238E27FC236}">
                <a16:creationId xmlns:a16="http://schemas.microsoft.com/office/drawing/2014/main" id="{F45F05F5-F6AA-4B7F-8F6C-59648FAB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Unresolved questions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Shape 15">
            <a:extLst xmlns:a="http://schemas.openxmlformats.org/drawingml/2006/main">
              <a:ext uri="{FF2B5EF4-FFF2-40B4-BE49-F238E27FC236}">
                <a16:creationId xmlns:a16="http://schemas.microsoft.com/office/drawing/2014/main" id="{B6D66E97-82DC-4F99-9ADB-A530B262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480" y="3136320"/>
            <a:ext cx="585000" cy="58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Text 16">
            <a:extLst xmlns:a="http://schemas.openxmlformats.org/drawingml/2006/main">
              <a:ext uri="{FF2B5EF4-FFF2-40B4-BE49-F238E27FC236}">
                <a16:creationId xmlns:a16="http://schemas.microsoft.com/office/drawing/2014/main" id="{F7FFCB3C-9BB5-48F2-8911-40684D53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3831480"/>
            <a:ext cx="10422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HUMAN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Text 17">
            <a:extLst xmlns:a="http://schemas.openxmlformats.org/drawingml/2006/main">
              <a:ext uri="{FF2B5EF4-FFF2-40B4-BE49-F238E27FC236}">
                <a16:creationId xmlns:a16="http://schemas.microsoft.com/office/drawing/2014/main" id="{185837D8-05FB-447B-9912-019505D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4078080"/>
            <a:ext cx="10422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Shape 18">
            <a:extLst xmlns:a="http://schemas.openxmlformats.org/drawingml/2006/main">
              <a:ext uri="{FF2B5EF4-FFF2-40B4-BE49-F238E27FC236}">
                <a16:creationId xmlns:a16="http://schemas.microsoft.com/office/drawing/2014/main" id="{2C9B8C63-54C6-4397-B9B6-9F30BFE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92880"/>
            <a:ext cx="425160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Text 19">
            <a:extLst xmlns:a="http://schemas.openxmlformats.org/drawingml/2006/main">
              <a:ext uri="{FF2B5EF4-FFF2-40B4-BE49-F238E27FC236}">
                <a16:creationId xmlns:a16="http://schemas.microsoft.com/office/drawing/2014/main" id="{92E944D8-8286-4FAE-A8EF-88616127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240280"/>
            <a:ext cx="251424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DETERMINISTIC CHECKER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Text 20">
            <a:extLst xmlns:a="http://schemas.openxmlformats.org/drawingml/2006/main">
              <a:ext uri="{FF2B5EF4-FFF2-40B4-BE49-F238E27FC236}">
                <a16:creationId xmlns:a16="http://schemas.microsoft.com/office/drawing/2014/main" id="{C238E7F4-CD09-4AA4-8590-2F2D2354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670120"/>
            <a:ext cx="342864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Determine the law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Shape 21">
            <a:extLst xmlns:a="http://schemas.openxmlformats.org/drawingml/2006/main">
              <a:ext uri="{FF2B5EF4-FFF2-40B4-BE49-F238E27FC236}">
                <a16:creationId xmlns:a16="http://schemas.microsoft.com/office/drawing/2014/main" id="{340332C6-573A-4CF6-8D12-1BB9F147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Text 22">
            <a:extLst xmlns:a="http://schemas.openxmlformats.org/drawingml/2006/main">
              <a:ext uri="{FF2B5EF4-FFF2-40B4-BE49-F238E27FC236}">
                <a16:creationId xmlns:a16="http://schemas.microsoft.com/office/drawing/2014/main" id="{43D30892-A717-4014-A01E-709CFC9D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Confirm the facts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Shape 23">
            <a:extLst xmlns:a="http://schemas.openxmlformats.org/drawingml/2006/main">
              <a:ext uri="{FF2B5EF4-FFF2-40B4-BE49-F238E27FC236}">
                <a16:creationId xmlns:a16="http://schemas.microsoft.com/office/drawing/2014/main" id="{1A2A68BD-D836-46A1-9F83-210D88DB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Text 24">
            <a:extLst xmlns:a="http://schemas.openxmlformats.org/drawingml/2006/main">
              <a:ext uri="{FF2B5EF4-FFF2-40B4-BE49-F238E27FC236}">
                <a16:creationId xmlns:a16="http://schemas.microsoft.com/office/drawing/2014/main" id="{79251DEB-21A1-4AAE-90FB-6347080A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Classify risk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Shape 25">
            <a:extLst xmlns:a="http://schemas.openxmlformats.org/drawingml/2006/main">
              <a:ext uri="{FF2B5EF4-FFF2-40B4-BE49-F238E27FC236}">
                <a16:creationId xmlns:a16="http://schemas.microsoft.com/office/drawing/2014/main" id="{F022F9A9-A6F0-4B05-A715-AD21011C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Text 26">
            <a:extLst xmlns:a="http://schemas.openxmlformats.org/drawingml/2006/main">
              <a:ext uri="{FF2B5EF4-FFF2-40B4-BE49-F238E27FC236}">
                <a16:creationId xmlns:a16="http://schemas.microsoft.com/office/drawing/2014/main" id="{61A612F6-FF5D-4157-AB10-85D7676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Determine obligations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Shape 27">
            <a:extLst xmlns:a="http://schemas.openxmlformats.org/drawingml/2006/main">
              <a:ext uri="{FF2B5EF4-FFF2-40B4-BE49-F238E27FC236}">
                <a16:creationId xmlns:a16="http://schemas.microsoft.com/office/drawing/2014/main" id="{EEAC2EC9-1693-48A5-8C55-1D52396B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Text 28">
            <a:extLst xmlns:a="http://schemas.openxmlformats.org/drawingml/2006/main">
              <a:ext uri="{FF2B5EF4-FFF2-40B4-BE49-F238E27FC236}">
                <a16:creationId xmlns:a16="http://schemas.microsoft.com/office/drawing/2014/main" id="{6753719E-65F6-4161-8ED1-F5D1144D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Preserve legal accountability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Shape 29">
            <a:extLst xmlns:a="http://schemas.openxmlformats.org/drawingml/2006/main">
              <a:ext uri="{FF2B5EF4-FFF2-40B4-BE49-F238E27FC236}">
                <a16:creationId xmlns:a16="http://schemas.microsoft.com/office/drawing/2014/main" id="{0F8A7D1A-0CC4-4E3C-975C-4F17E640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41120"/>
            <a:ext cx="10634040" cy="5850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Text 30">
            <a:extLst xmlns:a="http://schemas.openxmlformats.org/drawingml/2006/main">
              <a:ext uri="{FF2B5EF4-FFF2-40B4-BE49-F238E27FC236}">
                <a16:creationId xmlns:a16="http://schemas.microsoft.com/office/drawing/2014/main" id="{8D1E05C0-9AAF-4334-9B86-F553DAE5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733360"/>
            <a:ext cx="1334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NEVER CLAIMED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Text 31">
            <a:extLst xmlns:a="http://schemas.openxmlformats.org/drawingml/2006/main">
              <a:ext uri="{FF2B5EF4-FFF2-40B4-BE49-F238E27FC236}">
                <a16:creationId xmlns:a16="http://schemas.microsoft.com/office/drawing/2014/main" id="{6AF4350F-6A6C-4777-B567-E54797AB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600" y="5687640"/>
            <a:ext cx="83664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complete internal visibility  •  legal advice  •  autonomous compliance decisions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Text 32">
            <a:extLst xmlns:a="http://schemas.openxmlformats.org/drawingml/2006/main">
              <a:ext uri="{FF2B5EF4-FFF2-40B4-BE49-F238E27FC236}">
                <a16:creationId xmlns:a16="http://schemas.microsoft.com/office/drawing/2014/main" id="{C172EFDA-B878-456D-9442-99416620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SCOPE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BF07703-FA62-4737-AF0D-9CF738DA09DF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388657AE-30A1-5A7A-6A7F-315D84436430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9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57503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Text 0">
            <a:extLst xmlns:a="http://schemas.openxmlformats.org/drawingml/2006/main">
              <a:ext uri="{FF2B5EF4-FFF2-40B4-BE49-F238E27FC236}">
                <a16:creationId xmlns:a16="http://schemas.microsoft.com/office/drawing/2014/main" id="{7C4AE6D1-77AB-4314-B324-B27D06A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DELIVERY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Text 1">
            <a:extLst xmlns:a="http://schemas.openxmlformats.org/drawingml/2006/main">
              <a:ext uri="{FF2B5EF4-FFF2-40B4-BE49-F238E27FC236}">
                <a16:creationId xmlns:a16="http://schemas.microsoft.com/office/drawing/2014/main" id="{CFC4C048-08F9-4DEF-90C1-92DD32F4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MVP is built, integrated and tested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Shape 2">
            <a:extLst xmlns:a="http://schemas.openxmlformats.org/drawingml/2006/main">
              <a:ext uri="{FF2B5EF4-FFF2-40B4-BE49-F238E27FC236}">
                <a16:creationId xmlns:a16="http://schemas.microsoft.com/office/drawing/2014/main" id="{CAAED393-0BC2-4706-860B-853F6A2C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Shape 3">
            <a:extLst xmlns:a="http://schemas.openxmlformats.org/drawingml/2006/main">
              <a:ext uri="{FF2B5EF4-FFF2-40B4-BE49-F238E27FC236}">
                <a16:creationId xmlns:a16="http://schemas.microsoft.com/office/drawing/2014/main" id="{136D9F9B-D91F-41F1-84EE-AB592471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Text 4">
            <a:extLst xmlns:a="http://schemas.openxmlformats.org/drawingml/2006/main">
              <a:ext uri="{FF2B5EF4-FFF2-40B4-BE49-F238E27FC236}">
                <a16:creationId xmlns:a16="http://schemas.microsoft.com/office/drawing/2014/main" id="{FDBE1951-85F4-40FB-9A9A-92417313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1911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RUNS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Text 5">
            <a:extLst xmlns:a="http://schemas.openxmlformats.org/drawingml/2006/main">
              <a:ext uri="{FF2B5EF4-FFF2-40B4-BE49-F238E27FC236}">
                <a16:creationId xmlns:a16="http://schemas.microsoft.com/office/drawing/2014/main" id="{168ADAE5-476A-41D3-93BC-7C03595C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1856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Browser UI + CLI from a company-name trigger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Shape 6">
            <a:extLst xmlns:a="http://schemas.openxmlformats.org/drawingml/2006/main">
              <a:ext uri="{FF2B5EF4-FFF2-40B4-BE49-F238E27FC236}">
                <a16:creationId xmlns:a16="http://schemas.microsoft.com/office/drawing/2014/main" id="{99B7567D-5491-4B92-9C5E-9171BF1E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Shape 7">
            <a:extLst xmlns:a="http://schemas.openxmlformats.org/drawingml/2006/main">
              <a:ext uri="{FF2B5EF4-FFF2-40B4-BE49-F238E27FC236}">
                <a16:creationId xmlns:a16="http://schemas.microsoft.com/office/drawing/2014/main" id="{7C69F7CA-61E5-4DF2-A609-65DA045C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Text 8">
            <a:extLst xmlns:a="http://schemas.openxmlformats.org/drawingml/2006/main">
              <a:ext uri="{FF2B5EF4-FFF2-40B4-BE49-F238E27FC236}">
                <a16:creationId xmlns:a16="http://schemas.microsoft.com/office/drawing/2014/main" id="{AEABF63C-C625-42F6-BA0E-7E853AD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2770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3B82F6"/>
                </a:solidFill>
                <a:latin typeface="Aptos"/>
                <a:ea typeface="Aptos"/>
                <a:cs typeface="Aptos"/>
              </a:rPr>
              <a:t>FINDS EVIDENCE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Text 9">
            <a:extLst xmlns:a="http://schemas.openxmlformats.org/drawingml/2006/main">
              <a:ext uri="{FF2B5EF4-FFF2-40B4-BE49-F238E27FC236}">
                <a16:creationId xmlns:a16="http://schemas.microsoft.com/office/drawing/2014/main" id="{D5090502-B11F-4005-8D92-9C4F0E10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2715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Serper · NewsAPI · GLEIF · Wikidata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Shape 10">
            <a:extLst xmlns:a="http://schemas.openxmlformats.org/drawingml/2006/main">
              <a:ext uri="{FF2B5EF4-FFF2-40B4-BE49-F238E27FC236}">
                <a16:creationId xmlns:a16="http://schemas.microsoft.com/office/drawing/2014/main" id="{0EA0FB3D-5C2E-4E9F-8E16-C844934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Shape 11">
            <a:extLst xmlns:a="http://schemas.openxmlformats.org/drawingml/2006/main">
              <a:ext uri="{FF2B5EF4-FFF2-40B4-BE49-F238E27FC236}">
                <a16:creationId xmlns:a16="http://schemas.microsoft.com/office/drawing/2014/main" id="{755BA3E9-469D-4F7E-AA49-2D29BD41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Text 12">
            <a:extLst xmlns:a="http://schemas.openxmlformats.org/drawingml/2006/main">
              <a:ext uri="{FF2B5EF4-FFF2-40B4-BE49-F238E27FC236}">
                <a16:creationId xmlns:a16="http://schemas.microsoft.com/office/drawing/2014/main" id="{C3FB0E0E-2542-4D86-B1CA-86FEF4CB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3630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VERIFIES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2" name="Text 13">
            <a:extLst xmlns:a="http://schemas.openxmlformats.org/drawingml/2006/main">
              <a:ext uri="{FF2B5EF4-FFF2-40B4-BE49-F238E27FC236}">
                <a16:creationId xmlns:a16="http://schemas.microsoft.com/office/drawing/2014/main" id="{F7CA283A-AAA3-4330-ADCF-02449F5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3575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OpenAI extraction · Pinecone evidence store · deterministic gate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3" name="Shape 14">
            <a:extLst xmlns:a="http://schemas.openxmlformats.org/drawingml/2006/main">
              <a:ext uri="{FF2B5EF4-FFF2-40B4-BE49-F238E27FC236}">
                <a16:creationId xmlns:a16="http://schemas.microsoft.com/office/drawing/2014/main" id="{39BA4F69-81BE-4D7B-A27A-8A699C5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4" name="Shape 15">
            <a:extLst xmlns:a="http://schemas.openxmlformats.org/drawingml/2006/main">
              <a:ext uri="{FF2B5EF4-FFF2-40B4-BE49-F238E27FC236}">
                <a16:creationId xmlns:a16="http://schemas.microsoft.com/office/drawing/2014/main" id="{C445623C-520A-4828-98A1-A5CC4FD2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5" name="Text 16">
            <a:extLst xmlns:a="http://schemas.openxmlformats.org/drawingml/2006/main">
              <a:ext uri="{FF2B5EF4-FFF2-40B4-BE49-F238E27FC236}">
                <a16:creationId xmlns:a16="http://schemas.microsoft.com/office/drawing/2014/main" id="{193A7B1C-5209-41B5-AC63-6FEC5C9C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4489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DELIVERS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6" name="Text 17">
            <a:extLst xmlns:a="http://schemas.openxmlformats.org/drawingml/2006/main">
              <a:ext uri="{FF2B5EF4-FFF2-40B4-BE49-F238E27FC236}">
                <a16:creationId xmlns:a16="http://schemas.microsoft.com/office/drawing/2014/main" id="{61B04E95-1158-4800-B894-25F4D5FF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4434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Markdown report · n8n → Notion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7" name="Shape 18">
            <a:extLst xmlns:a="http://schemas.openxmlformats.org/drawingml/2006/main">
              <a:ext uri="{FF2B5EF4-FFF2-40B4-BE49-F238E27FC236}">
                <a16:creationId xmlns:a16="http://schemas.microsoft.com/office/drawing/2014/main" id="{0F33F73C-32C2-4655-AC9E-24608AD9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960" y="3053880"/>
            <a:ext cx="62172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8" name="Shape 19">
            <a:extLst xmlns:a="http://schemas.openxmlformats.org/drawingml/2006/main">
              <a:ext uri="{FF2B5EF4-FFF2-40B4-BE49-F238E27FC236}">
                <a16:creationId xmlns:a16="http://schemas.microsoft.com/office/drawing/2014/main" id="{BF783B1E-8B38-426C-AA09-348731B5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040" y="2322720"/>
            <a:ext cx="1352880" cy="1481040"/>
          </a:xfrm>
          <a:prstGeom xmlns:a="http://schemas.openxmlformats.org/drawingml/2006/main" prst="roundRect">
            <a:avLst>
              <a:gd name="adj" fmla="val 945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9" name="Text 20">
            <a:extLst xmlns:a="http://schemas.openxmlformats.org/drawingml/2006/main">
              <a:ext uri="{FF2B5EF4-FFF2-40B4-BE49-F238E27FC236}">
                <a16:creationId xmlns:a16="http://schemas.microsoft.com/office/drawing/2014/main" id="{352924FC-A129-4E16-ABB1-CCC0430C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633377"/>
            <a:ext cx="1200150" cy="785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BACKED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Shape 21">
            <a:extLst xmlns:a="http://schemas.openxmlformats.org/drawingml/2006/main">
              <a:ext uri="{FF2B5EF4-FFF2-40B4-BE49-F238E27FC236}">
                <a16:creationId xmlns:a16="http://schemas.microsoft.com/office/drawing/2014/main" id="{EE4F0A70-22D2-4146-8481-8D15CFA3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94960"/>
            <a:ext cx="65376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Text 22">
            <a:extLst xmlns:a="http://schemas.openxmlformats.org/drawingml/2006/main">
              <a:ext uri="{FF2B5EF4-FFF2-40B4-BE49-F238E27FC236}">
                <a16:creationId xmlns:a16="http://schemas.microsoft.com/office/drawing/2014/main" id="{A470695E-E76B-48EB-BD7C-7B49E106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120" y="5596200"/>
            <a:ext cx="17827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12-company evaluation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Shape 23">
            <a:extLst xmlns:a="http://schemas.openxmlformats.org/drawingml/2006/main">
              <a:ext uri="{FF2B5EF4-FFF2-40B4-BE49-F238E27FC236}">
                <a16:creationId xmlns:a16="http://schemas.microsoft.com/office/drawing/2014/main" id="{B4B96333-DA51-490F-88B6-E24785E2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Text 24">
            <a:extLst xmlns:a="http://schemas.openxmlformats.org/drawingml/2006/main">
              <a:ext uri="{FF2B5EF4-FFF2-40B4-BE49-F238E27FC236}">
                <a16:creationId xmlns:a16="http://schemas.microsoft.com/office/drawing/2014/main" id="{E086E65B-7A35-4B11-BCD0-FAA7D2B5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596200"/>
            <a:ext cx="20570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2 retained sample reports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Shape 25">
            <a:extLst xmlns:a="http://schemas.openxmlformats.org/drawingml/2006/main">
              <a:ext uri="{FF2B5EF4-FFF2-40B4-BE49-F238E27FC236}">
                <a16:creationId xmlns:a16="http://schemas.microsoft.com/office/drawing/2014/main" id="{DA588051-8909-479C-9F86-D80CD05D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04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Text 26">
            <a:extLst xmlns:a="http://schemas.openxmlformats.org/drawingml/2006/main">
              <a:ext uri="{FF2B5EF4-FFF2-40B4-BE49-F238E27FC236}">
                <a16:creationId xmlns:a16="http://schemas.microsoft.com/office/drawing/2014/main" id="{0097827B-F517-4059-9A4E-5A48292D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640" y="5596200"/>
            <a:ext cx="1325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104 offline tests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6" name="Shape 27">
            <a:extLst xmlns:a="http://schemas.openxmlformats.org/drawingml/2006/main">
              <a:ext uri="{FF2B5EF4-FFF2-40B4-BE49-F238E27FC236}">
                <a16:creationId xmlns:a16="http://schemas.microsoft.com/office/drawing/2014/main" id="{157BB4EA-03FF-4374-A592-9B9FE232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520" y="5394960"/>
            <a:ext cx="37854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Text 28">
            <a:extLst xmlns:a="http://schemas.openxmlformats.org/drawingml/2006/main">
              <a:ext uri="{FF2B5EF4-FFF2-40B4-BE49-F238E27FC236}">
                <a16:creationId xmlns:a16="http://schemas.microsoft.com/office/drawing/2014/main" id="{25E8279F-124B-4CB6-986E-F26D7B39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523120"/>
            <a:ext cx="178272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DESIGNED, NOT BUILT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" name="Text 29">
            <a:extLst xmlns:a="http://schemas.openxmlformats.org/drawingml/2006/main">
              <a:ext uri="{FF2B5EF4-FFF2-40B4-BE49-F238E27FC236}">
                <a16:creationId xmlns:a16="http://schemas.microsoft.com/office/drawing/2014/main" id="{39068CD3-73A7-4B9A-A5EC-15F7AFA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751720"/>
            <a:ext cx="324576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scheduled sweeps · vendor-corpus ingestion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9" name="Text 30">
            <a:extLst xmlns:a="http://schemas.openxmlformats.org/drawingml/2006/main">
              <a:ext uri="{FF2B5EF4-FFF2-40B4-BE49-F238E27FC236}">
                <a16:creationId xmlns:a16="http://schemas.microsoft.com/office/drawing/2014/main" id="{887A6F48-F66C-4176-9340-C658888C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DELIVERY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071EFA8-BCF4-4CE4-BC4B-A1713C7A635E}"/>
              </a:ext>
            </a:extLst>
          </p:cNvPr>
          <p:cNvSpPr>
            <a:spLocks xmlns:a="http://schemas.openxmlformats.org/drawingml/2006/main" noGrp="1"/>
          </p:cNvSpPr>
          <p:nvPr>
            <p:ph type="sldNum" idx="14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B7BEEEC-A170-5376-2B6E-CB54687B0CB1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10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81097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2026-08-14T08:38:27.6610000Z</dcterms:created>
  <dcterms:modified xsi:type="dcterms:W3CDTF">2026-08-14T08:38:27.6610000Z</dcterms:modified>
</coreProperties>
</file>