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d75eb5554fe4c64" /><Relationship Type="http://schemas.openxmlformats.org/officeDocument/2006/relationships/extended-properties" Target="/docProps/app.xml" Id="Rf9f578dd81074cd6" /><Relationship Type="http://schemas.openxmlformats.org/officeDocument/2006/relationships/officeDocument" Target="/ppt/presentation.xml" Id="R25462bec8c3c45f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48a65716b3e4f92"/>
  </p:sldMasterIdLst>
  <p:notesMasterIdLst>
    <p:notesMasterId xmlns:r="http://schemas.openxmlformats.org/officeDocument/2006/relationships" r:id="R5b5f6733174e4b5d"/>
  </p:notesMasterIdLst>
  <p:sldIdLst>
    <p:sldId xmlns:r="http://schemas.openxmlformats.org/officeDocument/2006/relationships" id="256" r:id="Ra12f18d98f844b34"/>
    <p:sldId xmlns:r="http://schemas.openxmlformats.org/officeDocument/2006/relationships" id="257" r:id="R18eeb41c2a9944f0"/>
    <p:sldId xmlns:r="http://schemas.openxmlformats.org/officeDocument/2006/relationships" id="258" r:id="R6c0bda55158d4cf5"/>
    <p:sldId xmlns:r="http://schemas.openxmlformats.org/officeDocument/2006/relationships" id="259" r:id="Rab726b1460e445bc"/>
    <p:sldId xmlns:r="http://schemas.openxmlformats.org/officeDocument/2006/relationships" id="260" r:id="Rdf04b6412d934680"/>
    <p:sldId xmlns:r="http://schemas.openxmlformats.org/officeDocument/2006/relationships" id="261" r:id="Ree4a65eb775d46e3"/>
    <p:sldId xmlns:r="http://schemas.openxmlformats.org/officeDocument/2006/relationships" id="262" r:id="R840e91533dce4774"/>
    <p:sldId xmlns:r="http://schemas.openxmlformats.org/officeDocument/2006/relationships" id="263" r:id="Rd3dc5642fbaa4d6e"/>
    <p:sldId xmlns:r="http://schemas.openxmlformats.org/officeDocument/2006/relationships" id="264" r:id="Ree7b6fc777414f78"/>
    <p:sldId xmlns:r="http://schemas.openxmlformats.org/officeDocument/2006/relationships" id="265" r:id="Rde7afdbcf69e472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609b54263b43f0" /><Relationship Type="http://schemas.openxmlformats.org/officeDocument/2006/relationships/slideMaster" Target="/ppt/slideMasters/slideMaster1.xml" Id="R748a65716b3e4f92" /><Relationship Type="http://schemas.openxmlformats.org/officeDocument/2006/relationships/notesMaster" Target="/ppt/notesMasters/notesMaster1.xml" Id="R5b5f6733174e4b5d" /><Relationship Type="http://schemas.openxmlformats.org/officeDocument/2006/relationships/presProps" Target="/ppt/presProps.xml" Id="R9d16b4f0fa3d47a6" /><Relationship Type="http://schemas.openxmlformats.org/officeDocument/2006/relationships/tableStyles" Target="/ppt/tableStyles.xml" Id="R9072a77a206645f1" /><Relationship Type="http://schemas.openxmlformats.org/officeDocument/2006/relationships/slide" Target="/ppt/slides/slide1.xml" Id="Ra12f18d98f844b34" /><Relationship Type="http://schemas.openxmlformats.org/officeDocument/2006/relationships/slide" Target="/ppt/slides/slide2.xml" Id="R18eeb41c2a9944f0" /><Relationship Type="http://schemas.openxmlformats.org/officeDocument/2006/relationships/slide" Target="/ppt/slides/slide3.xml" Id="R6c0bda55158d4cf5" /><Relationship Type="http://schemas.openxmlformats.org/officeDocument/2006/relationships/slide" Target="/ppt/slides/slide4.xml" Id="Rab726b1460e445bc" /><Relationship Type="http://schemas.openxmlformats.org/officeDocument/2006/relationships/slide" Target="/ppt/slides/slide5.xml" Id="Rdf04b6412d934680" /><Relationship Type="http://schemas.openxmlformats.org/officeDocument/2006/relationships/slide" Target="/ppt/slides/slide6.xml" Id="Ree4a65eb775d46e3" /><Relationship Type="http://schemas.openxmlformats.org/officeDocument/2006/relationships/slide" Target="/ppt/slides/slide7.xml" Id="R840e91533dce4774" /><Relationship Type="http://schemas.openxmlformats.org/officeDocument/2006/relationships/slide" Target="/ppt/slides/slide8.xml" Id="Rd3dc5642fbaa4d6e" /><Relationship Type="http://schemas.openxmlformats.org/officeDocument/2006/relationships/slide" Target="/ppt/slides/slide9.xml" Id="Ree7b6fc777414f78" /><Relationship Type="http://schemas.openxmlformats.org/officeDocument/2006/relationships/slide" Target="/ppt/slides/slide10.xml" Id="Rde7afdbcf69e472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015c79b684645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0458c4a93e248c9" /><Relationship Type="http://schemas.openxmlformats.org/officeDocument/2006/relationships/notesMaster" Target="/ppt/notesMasters/notesMaster1.xml" Id="R12f45b0ac0cd4b5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8cdd5161f444f0" /><Relationship Type="http://schemas.openxmlformats.org/officeDocument/2006/relationships/notesMaster" Target="/ppt/notesMasters/notesMaster1.xml" Id="R31ae174c4437451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401a08314a48b3" /><Relationship Type="http://schemas.openxmlformats.org/officeDocument/2006/relationships/notesMaster" Target="/ppt/notesMasters/notesMaster1.xml" Id="Re7b3e07e593c4e8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edde78d85ea4b55" /><Relationship Type="http://schemas.openxmlformats.org/officeDocument/2006/relationships/notesMaster" Target="/ppt/notesMasters/notesMaster1.xml" Id="Rf157cd2ced65496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7f697859450496f" /><Relationship Type="http://schemas.openxmlformats.org/officeDocument/2006/relationships/notesMaster" Target="/ppt/notesMasters/notesMaster1.xml" Id="R0e06b210f09c489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6f24c1141f04dc0" /><Relationship Type="http://schemas.openxmlformats.org/officeDocument/2006/relationships/notesMaster" Target="/ppt/notesMasters/notesMaster1.xml" Id="R8bec8d731a67442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786e160047d4a64" /><Relationship Type="http://schemas.openxmlformats.org/officeDocument/2006/relationships/notesMaster" Target="/ppt/notesMasters/notesMaster1.xml" Id="Re0b5972c205149c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6a4c360ba8432c" /><Relationship Type="http://schemas.openxmlformats.org/officeDocument/2006/relationships/notesMaster" Target="/ppt/notesMasters/notesMaster1.xml" Id="Rf5f70198c0b748e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de6b51b6fe040b5" /><Relationship Type="http://schemas.openxmlformats.org/officeDocument/2006/relationships/notesMaster" Target="/ppt/notesMasters/notesMaster1.xml" Id="R91b00ad4b9cf4b9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bf6533ac48644e0" /><Relationship Type="http://schemas.openxmlformats.org/officeDocument/2006/relationships/notesMaster" Target="/ppt/notesMasters/notesMaster1.xml" Id="R8a5ea029dad94a9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EU AI Act addresses risks from AI systems through a risk-based approach.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Before a company can assess what rules apply, it must know which AI systems it uses.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AI Pre-Scan turns a company name into an evidence-backed first draft of that inventory.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problem begins before the compliance form opens.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docs/elevator-pitch.md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European Commission, “AI Act”: https://digital-strategy.ec.europa.eu/en/factpages/ai-act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Most compliance tools assess one known system at a time.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That assumes someone has already found the systems.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For many SMEs, that inventory does not exist.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AI can arrive through a vendor update, a team purchase or an employee tool.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So, when the checker asks for each individual AI system, the SME may honestly ask: “Which systems are those?”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AI Pre-Scan fills that missing step.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AI Pre-Scan creates a useful starting point before that meeting.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docs/elevator-pitch.md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docs/demo-plan.md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only input is a company name.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First, the system maps the public footprint: registry, website, careers, vendor references and news.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Second, every candidate finding must pass the evidence gate.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exact quote must exist, the source must be traceable and the timing must fit the claim.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Unsupported findings become undetermined, not facts.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Third, the adviser receives a candidate inventory plus focused client questions.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Human review confirms the facts; a separate deterministic checker applies the law.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fastest way to understand that boundary is to see both kinds of output.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docs/system-overview-slide.pptx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docs/architecture.md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docs/report-spec.md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[Enter Personio and select Scan.]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begin with only a company name.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From here, I take my hands off the keyboard while the workflow researches, extracts and checks the evidence.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[If the workflow loops back to research, point to it.]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That loop-back is intentional: the gate could not support a claim, so the workflow researched again.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[Open the Personio result and point to the highlighted quote.]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Personio has three candidates: one evidenced and two undetermined.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key is this exact supporting sentence—not the model's wording.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two unresolved candidates become focused client questions.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[Switch to the Ballymaloe Foods result.]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Here, the scan found no public evidence, so it claimed zero systems and produced one question.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No public evidence does not mean no AI use; it means the external scan cannot make that claim.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[If the live run is unavailable, open the retained sample reports.]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These reports were generated through the same documented run path.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Those two reports are different because honesty is enforced before a finding ships.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samples/personio.md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samples/ballymaloe-foods.md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docs/demo-plan.md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This gate is the trust mechanism.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 finding ships only when all three checks pass.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One: the exact quote exists in the fetched source.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Two: the source is traceable, with complete identity and retrieval details.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Three: the source is current enough for the claim.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If a check fails, the workflow researches again.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If support still cannot be found, the result becomes undetermined and the uncertainty becomes a client question.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Across five runs: unsupported claims refused, 1.0; false claims on thin-data companies, 0; missing source details, 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trust comes from the gate, not from asking the model to be careful.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That gate also explains the stack choice.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src/ai_prescan/gate.py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eval/results.md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docs/architecture.md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LangGraph keeps the deterministic evidence gate inside the workflow loop.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If the evidence checks pass, supported facts and questions move to the report.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If a check fails and retries remain, the workflow researches again.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If no retries remain, the claim becomes undetermined.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Nothing is forced through.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grey rail is separate: n8n only files the finished report in Notion.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n8n does not research, judge evidence or make compliance decisions.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We verified delivery from the Notion API response—not only from an n8n success message.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same architecture points to a recurring product, not just a one-off scan.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stack_decision.md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docs/architecture.md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workflows/README.md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MVP today is an on-demand scan of one company.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post-MVP opportunity is vendor-drift monitoring.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In May, the client already uses an ATS, but no AI-ranking feature is evidenced.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In June, the vendor adds AI CV ranking; the client buys nothing new.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In July, the adviser receives an alert: the client's AI inventory changed.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That change signal can recur across an adviser portfolio.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commercial test is: adviser pilot, validate useful drift alerts, then test retained monitoring.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This is future validation—not current traction.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AI Pre-Scan can turn a blank-page scan into an auditable, recurring conversation.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[End the timed presentation here. Open the appendix only for questions.]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gtm_future_sprints.md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docs/elevator-pitch.md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evaluation shows a clear split.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honesty controls are stable: honest refusal is 1.0; thin-company false positives are 0; provenance violations are 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Discovery quality is not yet at target.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Recall—how many expected systems were found—is 0.444 against a 0.75 target.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Role correctness—whether company roles were labelled correctly—is 0.739 against 0.90.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over-claim rate—unsupported claims of current use—is 0.333 against a maximum of 0.10.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same code produced recall of 0.556 and 0.444 in two runs.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One run cannot prove an improvement; use repeated runs or a frozen page cache before tuning claims.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eval/results.md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docs/eval-plan.md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boundary is deliberate.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AI Pre-Scan establishes candidate facts from public sources: systems, quoted evidence, provenance and unresolved questions.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It does not classify legal risk.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An adviser confirms the facts with the client at the human-review checkpoint.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Only then does a separate deterministic checker classify risk and determine obligations.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Internal tools, systems behind a login and employee use of consumer AI remain outside the external scan's field of view.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product never claims complete visibility, legal advice or an autonomous compliance decision.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docs/report-spec.md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docs/elevator-pitch.md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MVP works end to end.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It runs in the browser or from the command line with a company-name trigger.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It finds evidence through Serper, NewsAPI, GLEIF and Wikidata.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OpenAI supports extraction, Pinecone stores evidence and the deterministic gate verifies each finding.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output is a Markdown report; n8n can deliver it into Notion.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evidence base includes a twelve-company evaluation, two retained sample reports and 104 passing offline tests.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retained samples are generated artefacts—not hand-edited showcase copy.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Scheduled sweeps and vendor-corpus ingestion are designed next steps, not part of the built MVP.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docs/architecture.md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workflows/README.md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eval/results.md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samples/personio.md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samples/ballymaloe-foods.md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9f9577e3324ee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25b4dd69ba4d7e" /></Relationships>
</file>

<file path=ppt/slideLayouts/slideLayout1.xml><?xml version="1.0" encoding="utf-8"?>
<p:sldLayout xmlns:p="http://schemas.openxmlformats.org/presentationml/2006/main" type="blank" preserve="1">
  <p:cSld name="DEFAUL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blank" preserve="1">
  <p:cSld name="MASTER">
    <p:bg>
      <p:bgPr>
        <a:solidFill xmlns:a="http://schemas.openxmlformats.org/drawingml/2006/main">
          <a:srgbClr val="FB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D166689-95A8-483D-8E18-D9579C37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440" cy="685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BD02B0F-168B-48D7-82C0-1C1D72DD8BBA}"/>
              </a:ext>
            </a:extLst>
          </p:cNvPr>
          <p:cNvSpPr>
            <a:spLocks xmlns:a="http://schemas.openxmlformats.org/drawingml/2006/main" noGrp="1"/>
          </p:cNvSpPr>
          <p:nvPr>
            <p:ph type="sldNum" idx="1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A95547B3-D671-4D4C-B9A9-29366E135E7C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&lt;number&gt;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20FBEA45-2BB8-4D2C-9D8E-BE7A91B9FD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l">
              <a:buNone/>
              <a:defRPr sz="18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l">
              <a:buNone/>
            </a:pPr>
            <a:r>
              <a:rPr sz="18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Click to edit the title text format</a:t>
            </a:r>
            <a:endParaRPr sz="18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CEED2F09-57BF-4B7E-9012-007BC6D6CA7B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32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4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7pPr>
          </a:lstStyle>
          <a:p xmlns:a="http://schemas.openxmlformats.org/drawingml/2006/main"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Click to edit the outline text format</a:t>
            </a:r>
            <a:endParaRPr sz="32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4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Second Outline Level</a:t>
            </a:r>
            <a:endParaRPr sz="24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Third Outline Level</a:t>
            </a:r>
            <a:endParaRPr sz="20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Fourth Outline Level</a:t>
            </a:r>
            <a:endParaRPr sz="20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Fifth Outline Level</a:t>
            </a:r>
            <a:endParaRPr sz="20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Sixth Outline Level</a:t>
            </a:r>
            <a:endParaRPr sz="20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Seventh Outline Level</a:t>
            </a:r>
            <a:endParaRPr sz="20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422971d7aac4761" /><Relationship Type="http://schemas.openxmlformats.org/officeDocument/2006/relationships/slideLayout" Target="/ppt/slideLayouts/slideLayout1.xml" Id="R114454eb44da4509" /><Relationship Type="http://schemas.openxmlformats.org/officeDocument/2006/relationships/slideLayout" Target="/ppt/slideLayouts/slideLayout2.xml" Id="Ra25ed1cd907d4697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14454eb44da4509"/>
    <p:sldLayoutId xmlns:r="http://schemas.openxmlformats.org/officeDocument/2006/relationships" id="2147483650" r:id="Ra25ed1cd907d4697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26a03a04fb448a" /><Relationship Type="http://schemas.openxmlformats.org/officeDocument/2006/relationships/notesSlide" Target="/ppt/notesSlides/notesSlide1.xml" Id="R21422f20970f4d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3fe55dbfa14b11" /><Relationship Type="http://schemas.openxmlformats.org/officeDocument/2006/relationships/notesSlide" Target="/ppt/notesSlides/notesSlide2.xml" Id="R8d5cbb1667e6447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989656ea594925" /><Relationship Type="http://schemas.openxmlformats.org/officeDocument/2006/relationships/notesSlide" Target="/ppt/notesSlides/notesSlide3.xml" Id="R9f0cbaf8fe55408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9034b591e048b1" /><Relationship Type="http://schemas.openxmlformats.org/officeDocument/2006/relationships/notesSlide" Target="/ppt/notesSlides/notesSlide4.xml" Id="R2f7b91fe55a94e3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a3f52d25f54379" /><Relationship Type="http://schemas.openxmlformats.org/officeDocument/2006/relationships/notesSlide" Target="/ppt/notesSlides/notesSlide5.xml" Id="Re26dda5125ba45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db740e97034484" /><Relationship Type="http://schemas.openxmlformats.org/officeDocument/2006/relationships/notesSlide" Target="/ppt/notesSlides/notesSlide6.xml" Id="R94fa280e5f6540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789ca8c286436b" /><Relationship Type="http://schemas.openxmlformats.org/officeDocument/2006/relationships/notesSlide" Target="/ppt/notesSlides/notesSlide7.xml" Id="R3b503cef1c71425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acf400d6884447" /><Relationship Type="http://schemas.openxmlformats.org/officeDocument/2006/relationships/notesSlide" Target="/ppt/notesSlides/notesSlide8.xml" Id="Rde9ee036523645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12c582666b49a8" /><Relationship Type="http://schemas.openxmlformats.org/officeDocument/2006/relationships/notesSlide" Target="/ppt/notesSlides/notesSlide9.xml" Id="Rcd2612031e914ff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e9aec57ff445c6" /><Relationship Type="http://schemas.openxmlformats.org/officeDocument/2006/relationships/notesSlide" Target="/ppt/notesSlides/notesSlide10.xml" Id="Re079f7108fa9447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 0">
            <a:extLst xmlns:a="http://schemas.openxmlformats.org/drawingml/2006/main">
              <a:ext uri="{FF2B5EF4-FFF2-40B4-BE49-F238E27FC236}">
                <a16:creationId xmlns:a16="http://schemas.microsoft.com/office/drawing/2014/main" id="{87FD0AC4-A85F-4062-BF64-BC312293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7000"/>
            <a:ext cx="219420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 spc="221">
                <a:solidFill>
                  <a:srgbClr val="2563EB"/>
                </a:solidFill>
                <a:latin typeface="Aptos"/>
                <a:ea typeface="Aptos"/>
                <a:cs typeface="Aptos"/>
              </a:rPr>
              <a:t>AI PRE-SCAN</a:t>
            </a:r>
            <a:endParaRPr sz="1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Text 1">
            <a:extLst xmlns:a="http://schemas.openxmlformats.org/drawingml/2006/main">
              <a:ext uri="{FF2B5EF4-FFF2-40B4-BE49-F238E27FC236}">
                <a16:creationId xmlns:a16="http://schemas.microsoft.com/office/drawing/2014/main" id="{E7DFE0B7-4D05-495F-BCBB-46AF6E84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161360"/>
            <a:ext cx="5988960" cy="150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5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The missing step</a:t>
            </a:r>
            <a:endParaRPr sz="5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5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before AI Act assessment</a:t>
            </a:r>
            <a:endParaRPr sz="5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Text 2">
            <a:extLst xmlns:a="http://schemas.openxmlformats.org/drawingml/2006/main">
              <a:ext uri="{FF2B5EF4-FFF2-40B4-BE49-F238E27FC236}">
                <a16:creationId xmlns:a16="http://schemas.microsoft.com/office/drawing/2014/main" id="{98374123-18DF-43B2-AE69-45CC83D97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990160"/>
            <a:ext cx="5348880" cy="65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6000"/>
              </a:lnSpc>
              <a:buNone/>
              <a:tabLst>
                <a:tab pos="0" algn="l"/>
              </a:tabLst>
            </a:pPr>
            <a:r>
              <a:rPr sz="21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Company name → evidence-backed first draft → focused client conversation</a:t>
            </a:r>
            <a:endParaRPr sz="2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Shape 3">
            <a:extLst xmlns:a="http://schemas.openxmlformats.org/drawingml/2006/main">
              <a:ext uri="{FF2B5EF4-FFF2-40B4-BE49-F238E27FC236}">
                <a16:creationId xmlns:a16="http://schemas.microsoft.com/office/drawing/2014/main" id="{D48F4F8E-2C3D-4BEE-95E6-304546D3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3474720"/>
            <a:ext cx="1005840" cy="360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Shape 4">
            <a:extLst xmlns:a="http://schemas.openxmlformats.org/drawingml/2006/main">
              <a:ext uri="{FF2B5EF4-FFF2-40B4-BE49-F238E27FC236}">
                <a16:creationId xmlns:a16="http://schemas.microsoft.com/office/drawing/2014/main" id="{4B83DE43-CEE5-4A51-8D91-942D78E3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124640"/>
            <a:ext cx="4388760" cy="4370400"/>
          </a:xfrm>
          <a:prstGeom xmlns:a="http://schemas.openxmlformats.org/drawingml/2006/main" prst="roundRect">
            <a:avLst>
              <a:gd name="adj" fmla="val 33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  <a:effectLst xmlns:a="http://schemas.openxmlformats.org/drawingml/2006/main">
            <a:outerShdw blurRad="19080" dist="50402" dir="2700000" sx="100000" sy="100000" kx="0" ky="0" algn="bl" rotWithShape="0">
              <a:srgbClr val="0B1020">
                <a:alpha val="12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Text 5">
            <a:extLst xmlns:a="http://schemas.openxmlformats.org/drawingml/2006/main">
              <a:ext uri="{FF2B5EF4-FFF2-40B4-BE49-F238E27FC236}">
                <a16:creationId xmlns:a16="http://schemas.microsoft.com/office/drawing/2014/main" id="{4DCDC336-8589-4187-BE2A-BE6D50DF8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480" y="1444680"/>
            <a:ext cx="12798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50">
                <a:solidFill>
                  <a:srgbClr val="2563EB"/>
                </a:solidFill>
                <a:latin typeface="Aptos"/>
                <a:ea typeface="Aptos"/>
                <a:cs typeface="Aptos"/>
              </a:rPr>
              <a:t>PERSONIO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Text 6">
            <a:extLst xmlns:a="http://schemas.openxmlformats.org/drawingml/2006/main">
              <a:ext uri="{FF2B5EF4-FFF2-40B4-BE49-F238E27FC236}">
                <a16:creationId xmlns:a16="http://schemas.microsoft.com/office/drawing/2014/main" id="{B6BFCD2F-2932-4AB5-A3DB-E0DC24CE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440" y="1426320"/>
            <a:ext cx="959760" cy="2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B7E4D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360" tIns="360" rIns="360" bIns="36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>
                <a:solidFill>
                  <a:srgbClr val="0F766E"/>
                </a:solidFill>
                <a:latin typeface="Aptos"/>
                <a:ea typeface="Aptos"/>
                <a:cs typeface="Aptos"/>
              </a:rPr>
              <a:t>EVIDENCED</a:t>
            </a:r>
            <a:endParaRPr sz="1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Text 7">
            <a:extLst xmlns:a="http://schemas.openxmlformats.org/drawingml/2006/main">
              <a:ext uri="{FF2B5EF4-FFF2-40B4-BE49-F238E27FC236}">
                <a16:creationId xmlns:a16="http://schemas.microsoft.com/office/drawing/2014/main" id="{BF52DA37-E023-4BBA-A2D1-8E12E9DC1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480" y="1847160"/>
            <a:ext cx="3611520" cy="392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AI Performance Summaries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Text 8">
            <a:extLst xmlns:a="http://schemas.openxmlformats.org/drawingml/2006/main">
              <a:ext uri="{FF2B5EF4-FFF2-40B4-BE49-F238E27FC236}">
                <a16:creationId xmlns:a16="http://schemas.microsoft.com/office/drawing/2014/main" id="{5C62FE84-FFC5-472D-B712-B45AD9CF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480" y="2541960"/>
            <a:ext cx="3428640" cy="95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360" tIns="360" rIns="360" bIns="36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800" b="0" i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“AI Performance Summaries provide an AI-generated summary of all continuous feedback…”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Shape 9">
            <a:extLst xmlns:a="http://schemas.openxmlformats.org/drawingml/2006/main">
              <a:ext uri="{FF2B5EF4-FFF2-40B4-BE49-F238E27FC236}">
                <a16:creationId xmlns:a16="http://schemas.microsoft.com/office/drawing/2014/main" id="{A400C2A8-7BE8-4F7A-B873-E2535012B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120" y="3712320"/>
            <a:ext cx="3611880" cy="36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Text 10">
            <a:extLst xmlns:a="http://schemas.openxmlformats.org/drawingml/2006/main">
              <a:ext uri="{FF2B5EF4-FFF2-40B4-BE49-F238E27FC236}">
                <a16:creationId xmlns:a16="http://schemas.microsoft.com/office/drawing/2014/main" id="{C154DD58-1B31-466E-AC5B-0D37E0399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480" y="3931920"/>
            <a:ext cx="31543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What public evidence cannot settle</a:t>
            </a:r>
            <a:endParaRPr sz="1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Text 11">
            <a:extLst xmlns:a="http://schemas.openxmlformats.org/drawingml/2006/main">
              <a:ext uri="{FF2B5EF4-FFF2-40B4-BE49-F238E27FC236}">
                <a16:creationId xmlns:a16="http://schemas.microsoft.com/office/drawing/2014/main" id="{C7FD9175-3DE2-4D19-9DAD-C6214EC89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480" y="4297680"/>
            <a:ext cx="3382920" cy="511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Is this in use today, and since when?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Text 12">
            <a:extLst xmlns:a="http://schemas.openxmlformats.org/drawingml/2006/main">
              <a:ext uri="{FF2B5EF4-FFF2-40B4-BE49-F238E27FC236}">
                <a16:creationId xmlns:a16="http://schemas.microsoft.com/office/drawing/2014/main" id="{6E9BDD08-A28B-4EE7-99E7-6153730EB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480" y="4974480"/>
            <a:ext cx="1188360" cy="2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360" tIns="360" rIns="360" bIns="36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>
                <a:solidFill>
                  <a:srgbClr val="B45309"/>
                </a:solidFill>
                <a:latin typeface="Aptos"/>
                <a:ea typeface="Aptos"/>
                <a:cs typeface="Aptos"/>
              </a:rPr>
              <a:t>UNDETERMINED</a:t>
            </a:r>
            <a:endParaRPr sz="1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Text 13">
            <a:extLst xmlns:a="http://schemas.openxmlformats.org/drawingml/2006/main">
              <a:ext uri="{FF2B5EF4-FFF2-40B4-BE49-F238E27FC236}">
                <a16:creationId xmlns:a16="http://schemas.microsoft.com/office/drawing/2014/main" id="{8B2C9EC7-3537-4EA6-ADE0-676736960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254640"/>
            <a:ext cx="420588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Nnanyelugo Ahukannah  •  Ironhack Project 3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AE74680-4B84-4EFF-A0A8-F1131D6F1620}"/>
              </a:ext>
            </a:extLst>
          </p:cNvPr>
          <p:cNvSpPr>
            <a:spLocks xmlns:a="http://schemas.openxmlformats.org/drawingml/2006/main" noGrp="1"/>
          </p:cNvSpPr>
          <p:nvPr>
            <p:ph type="sldNum" idx="5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AD75FED6-38D0-DE9C-92C0-6E7FA635581C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1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8480875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 0">
            <a:extLst xmlns:a="http://schemas.openxmlformats.org/drawingml/2006/main">
              <a:ext uri="{FF2B5EF4-FFF2-40B4-BE49-F238E27FC236}">
                <a16:creationId xmlns:a16="http://schemas.microsoft.com/office/drawing/2014/main" id="{99DB633C-66A2-4ACB-8482-14041BEA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384120"/>
            <a:ext cx="27428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THE GAP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Text 1">
            <a:extLst xmlns:a="http://schemas.openxmlformats.org/drawingml/2006/main">
              <a:ext uri="{FF2B5EF4-FFF2-40B4-BE49-F238E27FC236}">
                <a16:creationId xmlns:a16="http://schemas.microsoft.com/office/drawing/2014/main" id="{B45AE690-4630-4BCA-A68C-156DD6DC0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713160"/>
            <a:ext cx="10743840" cy="84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7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Compliance begins with an inventory most SMEs do not have</a:t>
            </a:r>
            <a:endParaRPr sz="3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Shape 2">
            <a:extLst xmlns:a="http://schemas.openxmlformats.org/drawingml/2006/main">
              <a:ext uri="{FF2B5EF4-FFF2-40B4-BE49-F238E27FC236}">
                <a16:creationId xmlns:a16="http://schemas.microsoft.com/office/drawing/2014/main" id="{D393F70D-20CA-4D29-831C-50CFD499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01880"/>
            <a:ext cx="4160160" cy="3062880"/>
          </a:xfrm>
          <a:prstGeom xmlns:a="http://schemas.openxmlformats.org/drawingml/2006/main" prst="roundRect">
            <a:avLst>
              <a:gd name="adj" fmla="val 47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  <a:effectLst xmlns:a="http://schemas.openxmlformats.org/drawingml/2006/main">
            <a:outerShdw blurRad="241935120" dist="645159960" dir="0" sx="100000" sy="100000" kx="0" ky="0" algn="bl" rotWithShape="0">
              <a:srgbClr val="0B1020"/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Text 3">
            <a:extLst xmlns:a="http://schemas.openxmlformats.org/drawingml/2006/main">
              <a:ext uri="{FF2B5EF4-FFF2-40B4-BE49-F238E27FC236}">
                <a16:creationId xmlns:a16="http://schemas.microsoft.com/office/drawing/2014/main" id="{C91293DA-F46F-4F91-9E52-AC93B4EBD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560" y="2212920"/>
            <a:ext cx="2102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39">
                <a:solidFill>
                  <a:srgbClr val="2563EB"/>
                </a:solidFill>
                <a:latin typeface="Aptos"/>
                <a:ea typeface="Aptos"/>
                <a:cs typeface="Aptos"/>
              </a:rPr>
              <a:t>THE CHECKER ASKS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Text 4">
            <a:extLst xmlns:a="http://schemas.openxmlformats.org/drawingml/2006/main">
              <a:ext uri="{FF2B5EF4-FFF2-40B4-BE49-F238E27FC236}">
                <a16:creationId xmlns:a16="http://schemas.microsoft.com/office/drawing/2014/main" id="{674BE5AA-2B33-4A50-9584-1820C780F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560" y="2706480"/>
            <a:ext cx="3520080" cy="120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7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“Complete this form for each individual AI system used in your organisation.”</a:t>
            </a:r>
            <a:endParaRPr sz="2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Text 5">
            <a:extLst xmlns:a="http://schemas.openxmlformats.org/drawingml/2006/main">
              <a:ext uri="{FF2B5EF4-FFF2-40B4-BE49-F238E27FC236}">
                <a16:creationId xmlns:a16="http://schemas.microsoft.com/office/drawing/2014/main" id="{B8176263-F840-4F1D-8029-0501F8143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560" y="4279320"/>
            <a:ext cx="3428640" cy="3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A reasonable instruction — once the system list exists.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Shape 6">
            <a:extLst xmlns:a="http://schemas.openxmlformats.org/drawingml/2006/main">
              <a:ext uri="{FF2B5EF4-FFF2-40B4-BE49-F238E27FC236}">
                <a16:creationId xmlns:a16="http://schemas.microsoft.com/office/drawing/2014/main" id="{5D8B1B33-9258-4759-8044-328E636C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560" y="3447000"/>
            <a:ext cx="1060560" cy="360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Text 7">
            <a:extLst xmlns:a="http://schemas.openxmlformats.org/drawingml/2006/main">
              <a:ext uri="{FF2B5EF4-FFF2-40B4-BE49-F238E27FC236}">
                <a16:creationId xmlns:a16="http://schemas.microsoft.com/office/drawing/2014/main" id="{229E70B3-635A-4DF0-BDD9-43F4E12C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4480" y="2980800"/>
            <a:ext cx="123408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11">
                <a:solidFill>
                  <a:srgbClr val="2563EB"/>
                </a:solidFill>
                <a:latin typeface="Aptos"/>
                <a:ea typeface="Aptos"/>
                <a:cs typeface="Aptos"/>
              </a:rPr>
              <a:t>THE MISSING STEP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Shape 8">
            <a:extLst xmlns:a="http://schemas.openxmlformats.org/drawingml/2006/main">
              <a:ext uri="{FF2B5EF4-FFF2-40B4-BE49-F238E27FC236}">
                <a16:creationId xmlns:a16="http://schemas.microsoft.com/office/drawing/2014/main" id="{DCE745DA-1630-4418-9FAE-F75A1149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640" y="1901880"/>
            <a:ext cx="5147640" cy="3062880"/>
          </a:xfrm>
          <a:prstGeom xmlns:a="http://schemas.openxmlformats.org/drawingml/2006/main" prst="roundRect">
            <a:avLst>
              <a:gd name="adj" fmla="val 4776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Text 9">
            <a:extLst xmlns:a="http://schemas.openxmlformats.org/drawingml/2006/main">
              <a:ext uri="{FF2B5EF4-FFF2-40B4-BE49-F238E27FC236}">
                <a16:creationId xmlns:a16="http://schemas.microsoft.com/office/drawing/2014/main" id="{7F26E8FE-BCC7-4B11-8243-750E2B31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12920"/>
            <a:ext cx="2102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39">
                <a:solidFill>
                  <a:srgbClr val="64748B"/>
                </a:solidFill>
                <a:latin typeface="Aptos"/>
                <a:ea typeface="Aptos"/>
                <a:cs typeface="Aptos"/>
              </a:rPr>
              <a:t>THE SME ASKS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Text 10">
            <a:extLst xmlns:a="http://schemas.openxmlformats.org/drawingml/2006/main">
              <a:ext uri="{FF2B5EF4-FFF2-40B4-BE49-F238E27FC236}">
                <a16:creationId xmlns:a16="http://schemas.microsoft.com/office/drawing/2014/main" id="{C52252CF-307F-46E2-8468-BD24BB522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724840"/>
            <a:ext cx="4343040" cy="60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1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“Which systems are those?”</a:t>
            </a:r>
            <a:endParaRPr sz="3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Shape 11">
            <a:extLst xmlns:a="http://schemas.openxmlformats.org/drawingml/2006/main">
              <a:ext uri="{FF2B5EF4-FFF2-40B4-BE49-F238E27FC236}">
                <a16:creationId xmlns:a16="http://schemas.microsoft.com/office/drawing/2014/main" id="{A859BB8D-8771-4188-9C40-8D9E5982B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2040" y="3575160"/>
            <a:ext cx="164160" cy="164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Text 12">
            <a:extLst xmlns:a="http://schemas.openxmlformats.org/drawingml/2006/main">
              <a:ext uri="{FF2B5EF4-FFF2-40B4-BE49-F238E27FC236}">
                <a16:creationId xmlns:a16="http://schemas.microsoft.com/office/drawing/2014/main" id="{7C4B16BC-2CE0-4EC2-9AA3-2048A1CA0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720" y="3557160"/>
            <a:ext cx="132552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>
                <a:solidFill>
                  <a:srgbClr val="2563EB"/>
                </a:solidFill>
                <a:latin typeface="Aptos"/>
                <a:ea typeface="Aptos"/>
                <a:cs typeface="Aptos"/>
              </a:rPr>
              <a:t>VENDOR UPDATE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Text 13">
            <a:extLst xmlns:a="http://schemas.openxmlformats.org/drawingml/2006/main">
              <a:ext uri="{FF2B5EF4-FFF2-40B4-BE49-F238E27FC236}">
                <a16:creationId xmlns:a16="http://schemas.microsoft.com/office/drawing/2014/main" id="{993B3D48-4EE7-4DF8-B16A-66D3FAE6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960" y="3557160"/>
            <a:ext cx="27702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AI arrives inside software already owned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Shape 14">
            <a:extLst xmlns:a="http://schemas.openxmlformats.org/drawingml/2006/main">
              <a:ext uri="{FF2B5EF4-FFF2-40B4-BE49-F238E27FC236}">
                <a16:creationId xmlns:a16="http://schemas.microsoft.com/office/drawing/2014/main" id="{670F3C92-1E92-4DFD-9804-0A6C241C8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2040" y="3986640"/>
            <a:ext cx="164160" cy="164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12700">
            <a:solidFill>
              <a:srgbClr val="CBD5E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Text 15">
            <a:extLst xmlns:a="http://schemas.openxmlformats.org/drawingml/2006/main">
              <a:ext uri="{FF2B5EF4-FFF2-40B4-BE49-F238E27FC236}">
                <a16:creationId xmlns:a16="http://schemas.microsoft.com/office/drawing/2014/main" id="{B7035A73-37D2-44B4-B998-E1544708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720" y="3968640"/>
            <a:ext cx="132552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COMPANY CARD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Text 16">
            <a:extLst xmlns:a="http://schemas.openxmlformats.org/drawingml/2006/main">
              <a:ext uri="{FF2B5EF4-FFF2-40B4-BE49-F238E27FC236}">
                <a16:creationId xmlns:a16="http://schemas.microsoft.com/office/drawing/2014/main" id="{DDD97963-3A87-4F5A-BBFA-AB330B15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960" y="3968640"/>
            <a:ext cx="27702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50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A team buys a tool outside central procurement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Shape 17">
            <a:extLst xmlns:a="http://schemas.openxmlformats.org/drawingml/2006/main">
              <a:ext uri="{FF2B5EF4-FFF2-40B4-BE49-F238E27FC236}">
                <a16:creationId xmlns:a16="http://schemas.microsoft.com/office/drawing/2014/main" id="{63D33672-0616-4C57-9CC9-00E7D505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2040" y="4398120"/>
            <a:ext cx="164160" cy="164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12700">
            <a:solidFill>
              <a:srgbClr val="CBD5E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Text 18">
            <a:extLst xmlns:a="http://schemas.openxmlformats.org/drawingml/2006/main">
              <a:ext uri="{FF2B5EF4-FFF2-40B4-BE49-F238E27FC236}">
                <a16:creationId xmlns:a16="http://schemas.microsoft.com/office/drawing/2014/main" id="{FF4D3EF6-E68F-47E1-818E-AEFF4012E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720" y="4380120"/>
            <a:ext cx="132552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EMPLOYEE TOOL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Text 19">
            <a:extLst xmlns:a="http://schemas.openxmlformats.org/drawingml/2006/main">
              <a:ext uri="{FF2B5EF4-FFF2-40B4-BE49-F238E27FC236}">
                <a16:creationId xmlns:a16="http://schemas.microsoft.com/office/drawing/2014/main" id="{7D8F3E3E-6055-4DB6-92DC-0D3E468C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960" y="4380120"/>
            <a:ext cx="27702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Everyday use leaves no public inventory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Text 20">
            <a:extLst xmlns:a="http://schemas.openxmlformats.org/drawingml/2006/main">
              <a:ext uri="{FF2B5EF4-FFF2-40B4-BE49-F238E27FC236}">
                <a16:creationId xmlns:a16="http://schemas.microsoft.com/office/drawing/2014/main" id="{C4514B37-99C6-4474-9B72-706580295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422320"/>
            <a:ext cx="1051524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7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The inventory is often never created.</a:t>
            </a:r>
            <a:endParaRPr sz="2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Text 21">
            <a:extLst xmlns:a="http://schemas.openxmlformats.org/drawingml/2006/main">
              <a:ext uri="{FF2B5EF4-FFF2-40B4-BE49-F238E27FC236}">
                <a16:creationId xmlns:a16="http://schemas.microsoft.com/office/drawing/2014/main" id="{125450FB-675B-4227-A158-6BF501A2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THE GAP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FF50E26B-2627-4FEE-BC65-2F0999CBC524}"/>
              </a:ext>
            </a:extLst>
          </p:cNvPr>
          <p:cNvSpPr>
            <a:spLocks xmlns:a="http://schemas.openxmlformats.org/drawingml/2006/main" noGrp="1"/>
          </p:cNvSpPr>
          <p:nvPr>
            <p:ph type="sldNum" idx="6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E2598689-54C9-18A7-3A19-ED76AA08988F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2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0930347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Text 0">
            <a:extLst xmlns:a="http://schemas.openxmlformats.org/drawingml/2006/main">
              <a:ext uri="{FF2B5EF4-FFF2-40B4-BE49-F238E27FC236}">
                <a16:creationId xmlns:a16="http://schemas.microsoft.com/office/drawing/2014/main" id="{371E5BFF-99A8-44B4-A086-832AE82C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384120"/>
            <a:ext cx="27428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THE SYSTEM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" name="Text 1">
            <a:extLst xmlns:a="http://schemas.openxmlformats.org/drawingml/2006/main">
              <a:ext uri="{FF2B5EF4-FFF2-40B4-BE49-F238E27FC236}">
                <a16:creationId xmlns:a16="http://schemas.microsoft.com/office/drawing/2014/main" id="{353B8F74-AB81-44C2-9639-9C53AAED3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713160"/>
            <a:ext cx="10743840" cy="731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9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One company name becomes an auditable first draft</a:t>
            </a:r>
            <a:endParaRPr sz="3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Shape 2">
            <a:extLst xmlns:a="http://schemas.openxmlformats.org/drawingml/2006/main">
              <a:ext uri="{FF2B5EF4-FFF2-40B4-BE49-F238E27FC236}">
                <a16:creationId xmlns:a16="http://schemas.microsoft.com/office/drawing/2014/main" id="{E086508F-F6DD-4F3B-8295-E5E6F39C3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640" y="3273480"/>
            <a:ext cx="685800" cy="360"/>
          </a:xfrm>
          <a:prstGeom xmlns:a="http://schemas.openxmlformats.org/drawingml/2006/main" prst="line">
            <a:avLst/>
          </a:prstGeom>
          <a:ln xmlns:a="http://schemas.openxmlformats.org/drawingml/2006/main" w="3175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" name="Shape 3">
            <a:extLst xmlns:a="http://schemas.openxmlformats.org/drawingml/2006/main">
              <a:ext uri="{FF2B5EF4-FFF2-40B4-BE49-F238E27FC236}">
                <a16:creationId xmlns:a16="http://schemas.microsoft.com/office/drawing/2014/main" id="{4E122A2F-5A13-428E-956C-0CD5B539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2960" y="3273480"/>
            <a:ext cx="685800" cy="360"/>
          </a:xfrm>
          <a:prstGeom xmlns:a="http://schemas.openxmlformats.org/drawingml/2006/main" prst="line">
            <a:avLst/>
          </a:prstGeom>
          <a:ln xmlns:a="http://schemas.openxmlformats.org/drawingml/2006/main" w="3175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Shape 4">
            <a:extLst xmlns:a="http://schemas.openxmlformats.org/drawingml/2006/main">
              <a:ext uri="{FF2B5EF4-FFF2-40B4-BE49-F238E27FC236}">
                <a16:creationId xmlns:a16="http://schemas.microsoft.com/office/drawing/2014/main" id="{AE3D357C-96CC-4F1E-A597-88AC834F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2560" y="4370760"/>
            <a:ext cx="360" cy="66744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B45309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Shape 5">
            <a:extLst xmlns:a="http://schemas.openxmlformats.org/drawingml/2006/main">
              <a:ext uri="{FF2B5EF4-FFF2-40B4-BE49-F238E27FC236}">
                <a16:creationId xmlns:a16="http://schemas.microsoft.com/office/drawing/2014/main" id="{0312D4AC-0560-48FC-A990-2AE0045FF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057400"/>
            <a:ext cx="2742840" cy="2349720"/>
          </a:xfrm>
          <a:prstGeom xmlns:a="http://schemas.openxmlformats.org/drawingml/2006/main" prst="roundRect">
            <a:avLst>
              <a:gd name="adj" fmla="val 6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Shape 6">
            <a:extLst xmlns:a="http://schemas.openxmlformats.org/drawingml/2006/main">
              <a:ext uri="{FF2B5EF4-FFF2-40B4-BE49-F238E27FC236}">
                <a16:creationId xmlns:a16="http://schemas.microsoft.com/office/drawing/2014/main" id="{DDB105E0-7B31-46A0-8E53-159979FC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480" y="2331720"/>
            <a:ext cx="529920" cy="529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Text 7">
            <a:extLst xmlns:a="http://schemas.openxmlformats.org/drawingml/2006/main">
              <a:ext uri="{FF2B5EF4-FFF2-40B4-BE49-F238E27FC236}">
                <a16:creationId xmlns:a16="http://schemas.microsoft.com/office/drawing/2014/main" id="{A3295D05-162A-4AB0-BBCC-932AB439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480" y="2331720"/>
            <a:ext cx="529920" cy="529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700" b="1" u="none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01</a:t>
            </a:r>
            <a:endParaRPr sz="1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Text 8">
            <a:extLst xmlns:a="http://schemas.openxmlformats.org/drawingml/2006/main">
              <a:ext uri="{FF2B5EF4-FFF2-40B4-BE49-F238E27FC236}">
                <a16:creationId xmlns:a16="http://schemas.microsoft.com/office/drawing/2014/main" id="{147BAFAF-FB23-4817-9910-9C348EDD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80" y="2441520"/>
            <a:ext cx="15541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30">
                <a:solidFill>
                  <a:srgbClr val="2563EB"/>
                </a:solidFill>
                <a:latin typeface="Aptos"/>
                <a:ea typeface="Aptos"/>
                <a:cs typeface="Aptos"/>
              </a:rPr>
              <a:t>RESEARCH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Text 9">
            <a:extLst xmlns:a="http://schemas.openxmlformats.org/drawingml/2006/main">
              <a:ext uri="{FF2B5EF4-FFF2-40B4-BE49-F238E27FC236}">
                <a16:creationId xmlns:a16="http://schemas.microsoft.com/office/drawing/2014/main" id="{EECAEA48-6E7C-4D35-BE03-CEE48D28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980800"/>
            <a:ext cx="223992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Map the public footprint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" name="Text 10">
            <a:extLst xmlns:a="http://schemas.openxmlformats.org/drawingml/2006/main">
              <a:ext uri="{FF2B5EF4-FFF2-40B4-BE49-F238E27FC236}">
                <a16:creationId xmlns:a16="http://schemas.microsoft.com/office/drawing/2014/main" id="{69040ECD-46DB-4A0A-B9E1-BEC5EC5E3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730680"/>
            <a:ext cx="222156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Registry · website · careers · vendors · news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1" name="Shape 11">
            <a:extLst xmlns:a="http://schemas.openxmlformats.org/drawingml/2006/main">
              <a:ext uri="{FF2B5EF4-FFF2-40B4-BE49-F238E27FC236}">
                <a16:creationId xmlns:a16="http://schemas.microsoft.com/office/drawing/2014/main" id="{7706239C-35EB-4EC5-9B3D-4472ABEB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6440" y="2057400"/>
            <a:ext cx="2742840" cy="2349720"/>
          </a:xfrm>
          <a:prstGeom xmlns:a="http://schemas.openxmlformats.org/drawingml/2006/main" prst="roundRect">
            <a:avLst>
              <a:gd name="adj" fmla="val 6226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  <a:effectLst xmlns:a="http://schemas.openxmlformats.org/drawingml/2006/main">
            <a:outerShdw dist="0" dir="0" sx="100000" sy="100000" kx="0" ky="0" algn="bl" rotWithShape="0">
              <a:srgbClr val="0B1020">
                <a:alpha val="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Shape 12">
            <a:extLst xmlns:a="http://schemas.openxmlformats.org/drawingml/2006/main">
              <a:ext uri="{FF2B5EF4-FFF2-40B4-BE49-F238E27FC236}">
                <a16:creationId xmlns:a16="http://schemas.microsoft.com/office/drawing/2014/main" id="{6D86B16C-B6BA-4EC6-977C-E604E791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400" y="2331720"/>
            <a:ext cx="529920" cy="529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Text 13">
            <a:extLst xmlns:a="http://schemas.openxmlformats.org/drawingml/2006/main">
              <a:ext uri="{FF2B5EF4-FFF2-40B4-BE49-F238E27FC236}">
                <a16:creationId xmlns:a16="http://schemas.microsoft.com/office/drawing/2014/main" id="{6C7C5E6F-4E20-4333-86A1-345BBF68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400" y="2331720"/>
            <a:ext cx="529920" cy="529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700" b="1" u="none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02</a:t>
            </a:r>
            <a:endParaRPr sz="1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Text 14">
            <a:extLst xmlns:a="http://schemas.openxmlformats.org/drawingml/2006/main">
              <a:ext uri="{FF2B5EF4-FFF2-40B4-BE49-F238E27FC236}">
                <a16:creationId xmlns:a16="http://schemas.microsoft.com/office/drawing/2014/main" id="{A1FAF686-29FB-4E13-B6F4-8C9D071C2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840" y="2441520"/>
            <a:ext cx="15541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30">
                <a:solidFill>
                  <a:srgbClr val="DCE8FF"/>
                </a:solidFill>
                <a:latin typeface="Aptos"/>
                <a:ea typeface="Aptos"/>
                <a:cs typeface="Aptos"/>
              </a:rPr>
              <a:t>VERIFY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Text 15">
            <a:extLst xmlns:a="http://schemas.openxmlformats.org/drawingml/2006/main">
              <a:ext uri="{FF2B5EF4-FFF2-40B4-BE49-F238E27FC236}">
                <a16:creationId xmlns:a16="http://schemas.microsoft.com/office/drawing/2014/main" id="{355CF3EF-30A8-44A2-B105-576317AF8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400" y="2980800"/>
            <a:ext cx="223992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Test every finding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Text 16">
            <a:extLst xmlns:a="http://schemas.openxmlformats.org/drawingml/2006/main">
              <a:ext uri="{FF2B5EF4-FFF2-40B4-BE49-F238E27FC236}">
                <a16:creationId xmlns:a16="http://schemas.microsoft.com/office/drawing/2014/main" id="{78CEFE59-9470-4478-9E16-B65D3610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400" y="3730680"/>
            <a:ext cx="222156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EAF2FF"/>
                </a:solidFill>
                <a:latin typeface="Aptos"/>
                <a:ea typeface="Aptos"/>
                <a:cs typeface="Aptos"/>
              </a:rPr>
              <a:t>Exact quoted support + source currentness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Shape 17">
            <a:extLst xmlns:a="http://schemas.openxmlformats.org/drawingml/2006/main">
              <a:ext uri="{FF2B5EF4-FFF2-40B4-BE49-F238E27FC236}">
                <a16:creationId xmlns:a16="http://schemas.microsoft.com/office/drawing/2014/main" id="{908AA2E8-1265-4644-9AD6-F1E8CFE3C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9120" y="2057400"/>
            <a:ext cx="2742840" cy="2349720"/>
          </a:xfrm>
          <a:prstGeom xmlns:a="http://schemas.openxmlformats.org/drawingml/2006/main" prst="roundRect">
            <a:avLst>
              <a:gd name="adj" fmla="val 6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Shape 18">
            <a:extLst xmlns:a="http://schemas.openxmlformats.org/drawingml/2006/main">
              <a:ext uri="{FF2B5EF4-FFF2-40B4-BE49-F238E27FC236}">
                <a16:creationId xmlns:a16="http://schemas.microsoft.com/office/drawing/2014/main" id="{D6730576-E882-4732-A795-A1A6933BD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331720"/>
            <a:ext cx="529920" cy="529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Text 19">
            <a:extLst xmlns:a="http://schemas.openxmlformats.org/drawingml/2006/main">
              <a:ext uri="{FF2B5EF4-FFF2-40B4-BE49-F238E27FC236}">
                <a16:creationId xmlns:a16="http://schemas.microsoft.com/office/drawing/2014/main" id="{291208BA-7A2E-439C-86FA-4DD18CCC1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331720"/>
            <a:ext cx="529920" cy="529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700" b="1" u="none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03</a:t>
            </a:r>
            <a:endParaRPr sz="1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Text 20">
            <a:extLst xmlns:a="http://schemas.openxmlformats.org/drawingml/2006/main">
              <a:ext uri="{FF2B5EF4-FFF2-40B4-BE49-F238E27FC236}">
                <a16:creationId xmlns:a16="http://schemas.microsoft.com/office/drawing/2014/main" id="{65DC8F45-D6D5-4AD4-BA97-4B36F868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520" y="2441520"/>
            <a:ext cx="15541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30">
                <a:solidFill>
                  <a:srgbClr val="2563EB"/>
                </a:solidFill>
                <a:latin typeface="Aptos"/>
                <a:ea typeface="Aptos"/>
                <a:cs typeface="Aptos"/>
              </a:rPr>
              <a:t>REVIEW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Text 21">
            <a:extLst xmlns:a="http://schemas.openxmlformats.org/drawingml/2006/main">
              <a:ext uri="{FF2B5EF4-FFF2-40B4-BE49-F238E27FC236}">
                <a16:creationId xmlns:a16="http://schemas.microsoft.com/office/drawing/2014/main" id="{A579706B-F54E-40FC-818A-4AB3B03E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80" y="2980800"/>
            <a:ext cx="223992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Start the client conversation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Text 22">
            <a:extLst xmlns:a="http://schemas.openxmlformats.org/drawingml/2006/main">
              <a:ext uri="{FF2B5EF4-FFF2-40B4-BE49-F238E27FC236}">
                <a16:creationId xmlns:a16="http://schemas.microsoft.com/office/drawing/2014/main" id="{BAE93762-FDD3-4AE5-99ED-1547007DC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80" y="3730680"/>
            <a:ext cx="222156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Candidate inventory + focused questions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Shape 23">
            <a:extLst xmlns:a="http://schemas.openxmlformats.org/drawingml/2006/main">
              <a:ext uri="{FF2B5EF4-FFF2-40B4-BE49-F238E27FC236}">
                <a16:creationId xmlns:a16="http://schemas.microsoft.com/office/drawing/2014/main" id="{00C5A8E8-0D85-4259-B451-BE95B90A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5010840"/>
            <a:ext cx="2742840" cy="56664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Text 24">
            <a:extLst xmlns:a="http://schemas.openxmlformats.org/drawingml/2006/main">
              <a:ext uri="{FF2B5EF4-FFF2-40B4-BE49-F238E27FC236}">
                <a16:creationId xmlns:a16="http://schemas.microsoft.com/office/drawing/2014/main" id="{AA8C83FF-AA4B-43B2-BF07-ACEF073C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480" y="5157360"/>
            <a:ext cx="24138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 spc="79">
                <a:solidFill>
                  <a:srgbClr val="B45309"/>
                </a:solidFill>
                <a:latin typeface="Aptos"/>
                <a:ea typeface="Aptos"/>
                <a:cs typeface="Aptos"/>
              </a:rPr>
              <a:t>UNSUPPORTED → UNDETERMINED</a:t>
            </a:r>
            <a:endParaRPr sz="11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Shape 25">
            <a:extLst xmlns:a="http://schemas.openxmlformats.org/drawingml/2006/main">
              <a:ext uri="{FF2B5EF4-FFF2-40B4-BE49-F238E27FC236}">
                <a16:creationId xmlns:a16="http://schemas.microsoft.com/office/drawing/2014/main" id="{AF6FCD34-2076-4458-8742-FA285252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742360"/>
            <a:ext cx="10670760" cy="40212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2700">
            <a:solidFill>
              <a:srgbClr val="F1F5F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Text 26">
            <a:extLst xmlns:a="http://schemas.openxmlformats.org/drawingml/2006/main">
              <a:ext uri="{FF2B5EF4-FFF2-40B4-BE49-F238E27FC236}">
                <a16:creationId xmlns:a16="http://schemas.microsoft.com/office/drawing/2014/main" id="{C853B119-E828-40B7-A6AF-9B29C907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20" y="5815440"/>
            <a:ext cx="1024092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Human review confirms the facts. A separate deterministic checker applies the law.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Text 27">
            <a:extLst xmlns:a="http://schemas.openxmlformats.org/drawingml/2006/main">
              <a:ext uri="{FF2B5EF4-FFF2-40B4-BE49-F238E27FC236}">
                <a16:creationId xmlns:a16="http://schemas.microsoft.com/office/drawing/2014/main" id="{9B395917-BC08-473F-BE33-9C3FF1F13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THE SYSTEM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1DDA6142-8D10-484E-B18E-4E0AA936C9E0}"/>
              </a:ext>
            </a:extLst>
          </p:cNvPr>
          <p:cNvSpPr>
            <a:spLocks xmlns:a="http://schemas.openxmlformats.org/drawingml/2006/main" noGrp="1"/>
          </p:cNvSpPr>
          <p:nvPr>
            <p:ph type="sldNum" idx="7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202359C0-8A7A-196E-DD58-8E6569619F09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3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262393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Text 0">
            <a:extLst xmlns:a="http://schemas.openxmlformats.org/drawingml/2006/main">
              <a:ext uri="{FF2B5EF4-FFF2-40B4-BE49-F238E27FC236}">
                <a16:creationId xmlns:a16="http://schemas.microsoft.com/office/drawing/2014/main" id="{F9DDF729-6A84-412D-B0D8-F9CAE826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4143"/>
            <a:ext cx="2598706" cy="219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THE DEMO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Text 1">
            <a:extLst xmlns:a="http://schemas.openxmlformats.org/drawingml/2006/main">
              <a:ext uri="{FF2B5EF4-FFF2-40B4-BE49-F238E27FC236}">
                <a16:creationId xmlns:a16="http://schemas.microsoft.com/office/drawing/2014/main" id="{BE0958AE-0D4E-412A-ADDA-EF3B7E44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713160"/>
            <a:ext cx="10743840" cy="71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4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One name in; evidence and questions out</a:t>
            </a:r>
            <a:endParaRPr sz="4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1" name="Text 2">
            <a:extLst xmlns:a="http://schemas.openxmlformats.org/drawingml/2006/main">
              <a:ext uri="{FF2B5EF4-FFF2-40B4-BE49-F238E27FC236}">
                <a16:creationId xmlns:a16="http://schemas.microsoft.com/office/drawing/2014/main" id="{014D6D0C-4E4D-4E08-8307-0CE6E91B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1572840"/>
            <a:ext cx="45716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64748B"/>
                </a:solidFill>
                <a:latin typeface="Aptos"/>
                <a:ea typeface="Aptos"/>
                <a:cs typeface="Aptos"/>
              </a:rPr>
              <a:t>RETAINED SAMPLE  •  GENERATED THROUGH THE DOCUMENTED RUN PATH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2" name="Shape 3">
            <a:extLst xmlns:a="http://schemas.openxmlformats.org/drawingml/2006/main">
              <a:ext uri="{FF2B5EF4-FFF2-40B4-BE49-F238E27FC236}">
                <a16:creationId xmlns:a16="http://schemas.microsoft.com/office/drawing/2014/main" id="{95653D35-B7DB-40C1-8DCB-ACC6F991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1965960"/>
            <a:ext cx="5376240" cy="3794400"/>
          </a:xfrm>
          <a:prstGeom xmlns:a="http://schemas.openxmlformats.org/drawingml/2006/main" prst="roundRect">
            <a:avLst>
              <a:gd name="adj" fmla="val 3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  <a:effectLst xmlns:a="http://schemas.openxmlformats.org/drawingml/2006/main">
            <a:outerShdw dist="0" dir="0" sx="100000" sy="100000" kx="0" ky="0" algn="bl" rotWithShape="0">
              <a:srgbClr val="0B1020">
                <a:alpha val="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Text 4">
            <a:extLst xmlns:a="http://schemas.openxmlformats.org/drawingml/2006/main">
              <a:ext uri="{FF2B5EF4-FFF2-40B4-BE49-F238E27FC236}">
                <a16:creationId xmlns:a16="http://schemas.microsoft.com/office/drawing/2014/main" id="{C895E9BD-7288-4645-B8C0-2EF442B0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258640"/>
            <a:ext cx="1005480" cy="209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39">
                <a:solidFill>
                  <a:srgbClr val="2563EB"/>
                </a:solidFill>
                <a:latin typeface="Aptos"/>
                <a:ea typeface="Aptos"/>
                <a:cs typeface="Aptos"/>
              </a:rPr>
              <a:t>PERSONIO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" name="Text 5">
            <a:extLst xmlns:a="http://schemas.openxmlformats.org/drawingml/2006/main">
              <a:ext uri="{FF2B5EF4-FFF2-40B4-BE49-F238E27FC236}">
                <a16:creationId xmlns:a16="http://schemas.microsoft.com/office/drawing/2014/main" id="{10F5F896-E876-498E-AEC4-D9274811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578680"/>
            <a:ext cx="3565800" cy="383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6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Public evidence found</a:t>
            </a:r>
            <a:endParaRPr sz="2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" name="Text 6">
            <a:extLst xmlns:a="http://schemas.openxmlformats.org/drawingml/2006/main">
              <a:ext uri="{FF2B5EF4-FFF2-40B4-BE49-F238E27FC236}">
                <a16:creationId xmlns:a16="http://schemas.microsoft.com/office/drawing/2014/main" id="{48B4EC36-673C-4B68-88F7-0D86F8E00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035880"/>
            <a:ext cx="448020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3 candidate systems  •  1 evidenced  •  2 undetermined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Shape 7">
            <a:extLst xmlns:a="http://schemas.openxmlformats.org/drawingml/2006/main">
              <a:ext uri="{FF2B5EF4-FFF2-40B4-BE49-F238E27FC236}">
                <a16:creationId xmlns:a16="http://schemas.microsoft.com/office/drawing/2014/main" id="{52B99E8C-4FAD-4852-A47A-FF15DF50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584520"/>
            <a:ext cx="4754520" cy="120672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BED3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Text 8">
            <a:extLst xmlns:a="http://schemas.openxmlformats.org/drawingml/2006/main">
              <a:ext uri="{FF2B5EF4-FFF2-40B4-BE49-F238E27FC236}">
                <a16:creationId xmlns:a16="http://schemas.microsoft.com/office/drawing/2014/main" id="{693C2E7A-2B79-4585-8383-2FC8A21A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520" y="3767400"/>
            <a:ext cx="233136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1" u="none" spc="99">
                <a:solidFill>
                  <a:srgbClr val="2563EB"/>
                </a:solidFill>
                <a:latin typeface="Aptos"/>
                <a:ea typeface="Aptos"/>
                <a:cs typeface="Aptos"/>
              </a:rPr>
              <a:t>EXACT SUPPORTING SENTENCE</a:t>
            </a:r>
            <a:endParaRPr sz="9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8" name="Text 9">
            <a:extLst xmlns:a="http://schemas.openxmlformats.org/drawingml/2006/main">
              <a:ext uri="{FF2B5EF4-FFF2-40B4-BE49-F238E27FC236}">
                <a16:creationId xmlns:a16="http://schemas.microsoft.com/office/drawing/2014/main" id="{278879F8-91B8-4CE6-A455-2A0C2149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520" y="4078080"/>
            <a:ext cx="4160160" cy="529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650" b="0" i="1" u="none">
                <a:solidFill>
                  <a:srgbClr val="0B1020"/>
                </a:solidFill>
                <a:latin typeface="Aptos"/>
                <a:ea typeface="Aptos"/>
                <a:cs typeface="Aptos"/>
              </a:rPr>
              <a:t>“AI Performance Summaries provide an AI-generated summary of all continuous feedback, manager, peer, and upward reviews…”</a:t>
            </a:r>
            <a:endParaRPr sz="16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Text 10">
            <a:extLst xmlns:a="http://schemas.openxmlformats.org/drawingml/2006/main">
              <a:ext uri="{FF2B5EF4-FFF2-40B4-BE49-F238E27FC236}">
                <a16:creationId xmlns:a16="http://schemas.microsoft.com/office/drawing/2014/main" id="{EF13023F-EF52-45D8-95B1-467340A2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093280"/>
            <a:ext cx="4525920" cy="3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50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Question to verify: Is this in use today, and since when?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0" name="Shape 11">
            <a:extLst xmlns:a="http://schemas.openxmlformats.org/drawingml/2006/main">
              <a:ext uri="{FF2B5EF4-FFF2-40B4-BE49-F238E27FC236}">
                <a16:creationId xmlns:a16="http://schemas.microsoft.com/office/drawing/2014/main" id="{CAB61817-52DA-4607-807C-D4473820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65960"/>
            <a:ext cx="5010480" cy="3794400"/>
          </a:xfrm>
          <a:prstGeom xmlns:a="http://schemas.openxmlformats.org/drawingml/2006/main" prst="roundRect">
            <a:avLst>
              <a:gd name="adj" fmla="val 361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1" name="Text 12">
            <a:extLst xmlns:a="http://schemas.openxmlformats.org/drawingml/2006/main">
              <a:ext uri="{FF2B5EF4-FFF2-40B4-BE49-F238E27FC236}">
                <a16:creationId xmlns:a16="http://schemas.microsoft.com/office/drawing/2014/main" id="{5C622183-5235-4283-966B-6C948F1F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840" y="2258640"/>
            <a:ext cx="1828440" cy="209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39">
                <a:solidFill>
                  <a:srgbClr val="64748B"/>
                </a:solidFill>
                <a:latin typeface="Aptos"/>
                <a:ea typeface="Aptos"/>
                <a:cs typeface="Aptos"/>
              </a:rPr>
              <a:t>BALLYMALOE FOODS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Text 13">
            <a:extLst xmlns:a="http://schemas.openxmlformats.org/drawingml/2006/main">
              <a:ext uri="{FF2B5EF4-FFF2-40B4-BE49-F238E27FC236}">
                <a16:creationId xmlns:a16="http://schemas.microsoft.com/office/drawing/2014/main" id="{E2306893-B13C-4C67-97E0-AAF28068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840" y="2578680"/>
            <a:ext cx="4160160" cy="383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6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No public evidence found</a:t>
            </a:r>
            <a:endParaRPr sz="2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3" name="Text 14">
            <a:extLst xmlns:a="http://schemas.openxmlformats.org/drawingml/2006/main">
              <a:ext uri="{FF2B5EF4-FFF2-40B4-BE49-F238E27FC236}">
                <a16:creationId xmlns:a16="http://schemas.microsoft.com/office/drawing/2014/main" id="{FAD7D58D-FE69-4ACF-8522-5DD19AF8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840" y="3035880"/>
            <a:ext cx="416016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0 candidate systems  •  1 question to discuss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4" name="Shape 15">
            <a:extLst xmlns:a="http://schemas.openxmlformats.org/drawingml/2006/main">
              <a:ext uri="{FF2B5EF4-FFF2-40B4-BE49-F238E27FC236}">
                <a16:creationId xmlns:a16="http://schemas.microsoft.com/office/drawing/2014/main" id="{6F96F672-BCB6-4646-9E7D-56A18EC0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840" y="3584520"/>
            <a:ext cx="4388760" cy="120672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5" name="Text 16">
            <a:extLst xmlns:a="http://schemas.openxmlformats.org/drawingml/2006/main">
              <a:ext uri="{FF2B5EF4-FFF2-40B4-BE49-F238E27FC236}">
                <a16:creationId xmlns:a16="http://schemas.microsoft.com/office/drawing/2014/main" id="{04A87919-DB78-4FF7-A58D-11ABEAA62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440" y="3767400"/>
            <a:ext cx="196560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1" u="none" spc="99">
                <a:solidFill>
                  <a:srgbClr val="B45309"/>
                </a:solidFill>
                <a:latin typeface="Aptos"/>
                <a:ea typeface="Aptos"/>
                <a:cs typeface="Aptos"/>
              </a:rPr>
              <a:t>THE HONEST RESULT</a:t>
            </a:r>
            <a:endParaRPr sz="9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6" name="Text 17">
            <a:extLst xmlns:a="http://schemas.openxmlformats.org/drawingml/2006/main">
              <a:ext uri="{FF2B5EF4-FFF2-40B4-BE49-F238E27FC236}">
                <a16:creationId xmlns:a16="http://schemas.microsoft.com/office/drawing/2014/main" id="{63D1E561-E470-410F-9371-CEF075AB8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440" y="4096440"/>
            <a:ext cx="374868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No public evidence is not the same as no AI use.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7" name="Text 18">
            <a:extLst xmlns:a="http://schemas.openxmlformats.org/drawingml/2006/main">
              <a:ext uri="{FF2B5EF4-FFF2-40B4-BE49-F238E27FC236}">
                <a16:creationId xmlns:a16="http://schemas.microsoft.com/office/drawing/2014/main" id="{1CB9528D-9214-4368-AAC2-1A17B0370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840" y="5093280"/>
            <a:ext cx="4205880" cy="3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Question to ask: What AI tools does the business actually use?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8" name="Text 19">
            <a:extLst xmlns:a="http://schemas.openxmlformats.org/drawingml/2006/main">
              <a:ext uri="{FF2B5EF4-FFF2-40B4-BE49-F238E27FC236}">
                <a16:creationId xmlns:a16="http://schemas.microsoft.com/office/drawing/2014/main" id="{7E8AE9B7-C347-407E-9D50-3A39A51A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THE DEMO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43904E9A-545C-40F0-A3FF-C697B21CD680}"/>
              </a:ext>
            </a:extLst>
          </p:cNvPr>
          <p:cNvSpPr>
            <a:spLocks xmlns:a="http://schemas.openxmlformats.org/drawingml/2006/main" noGrp="1"/>
          </p:cNvSpPr>
          <p:nvPr>
            <p:ph type="sldNum" idx="8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EFD6AB9A-5F9E-5F59-51AB-3C8734130965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4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4676685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0" name="Text 0">
            <a:extLst xmlns:a="http://schemas.openxmlformats.org/drawingml/2006/main">
              <a:ext uri="{FF2B5EF4-FFF2-40B4-BE49-F238E27FC236}">
                <a16:creationId xmlns:a16="http://schemas.microsoft.com/office/drawing/2014/main" id="{913DD227-DF10-4E1B-A9F2-4EE96402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384120"/>
            <a:ext cx="27428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THE TRUST BOUNDARY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1" name="Text 1">
            <a:extLst xmlns:a="http://schemas.openxmlformats.org/drawingml/2006/main">
              <a:ext uri="{FF2B5EF4-FFF2-40B4-BE49-F238E27FC236}">
                <a16:creationId xmlns:a16="http://schemas.microsoft.com/office/drawing/2014/main" id="{DDF0F064-490C-4C3C-BEC0-6723229A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37" y="713137"/>
            <a:ext cx="10743819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 defTabSz="914400">
              <a:lnSpc>
                <a:spcPct val="100000"/>
              </a:lnSpc>
              <a:buNone/>
              <a:tabLst>
                <a:tab pos="0" algn="l"/>
              </a:tabLst>
              <a:defRPr sz="3500" b="1">
                <a:solidFill>
                  <a:srgbClr val="0B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5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Trust is enforced at the gate,</a:t>
            </a:r>
            <a:endParaRPr sz="3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l" defTabSz="914400">
              <a:lnSpc>
                <a:spcPct val="100000"/>
              </a:lnSpc>
              <a:buNone/>
              <a:tabLst>
                <a:tab pos="0" algn="l"/>
              </a:tabLst>
              <a:defRPr sz="3500" b="1">
                <a:solidFill>
                  <a:srgbClr val="0B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5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not promised in the prompt</a:t>
            </a:r>
            <a:endParaRPr sz="3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2" name="Text 2">
            <a:extLst xmlns:a="http://schemas.openxmlformats.org/drawingml/2006/main">
              <a:ext uri="{FF2B5EF4-FFF2-40B4-BE49-F238E27FC236}">
                <a16:creationId xmlns:a16="http://schemas.microsoft.com/office/drawing/2014/main" id="{80888F36-0A5F-431F-AA62-0D2EEB9B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903" y="1743075"/>
            <a:ext cx="5851779" cy="319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8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A finding ships only when all three checks pass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3" name="Shape 3">
            <a:extLst xmlns:a="http://schemas.openxmlformats.org/drawingml/2006/main">
              <a:ext uri="{FF2B5EF4-FFF2-40B4-BE49-F238E27FC236}">
                <a16:creationId xmlns:a16="http://schemas.microsoft.com/office/drawing/2014/main" id="{29624A94-E901-41FC-82CB-284DF6FAB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8440" y="3218400"/>
            <a:ext cx="384120" cy="36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4" name="Shape 4">
            <a:extLst xmlns:a="http://schemas.openxmlformats.org/drawingml/2006/main">
              <a:ext uri="{FF2B5EF4-FFF2-40B4-BE49-F238E27FC236}">
                <a16:creationId xmlns:a16="http://schemas.microsoft.com/office/drawing/2014/main" id="{7DB0489C-F24E-499C-B761-17C06BA0E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18400"/>
            <a:ext cx="383760" cy="36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5" name="Shape 5">
            <a:extLst xmlns:a="http://schemas.openxmlformats.org/drawingml/2006/main">
              <a:ext uri="{FF2B5EF4-FFF2-40B4-BE49-F238E27FC236}">
                <a16:creationId xmlns:a16="http://schemas.microsoft.com/office/drawing/2014/main" id="{1E18E3C3-5276-4434-AF0D-7118ABDB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258640"/>
            <a:ext cx="2998800" cy="1938240"/>
          </a:xfrm>
          <a:prstGeom xmlns:a="http://schemas.openxmlformats.org/drawingml/2006/main" prst="roundRect">
            <a:avLst>
              <a:gd name="adj" fmla="val 70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6" name="Shape 6">
            <a:extLst xmlns:a="http://schemas.openxmlformats.org/drawingml/2006/main">
              <a:ext uri="{FF2B5EF4-FFF2-40B4-BE49-F238E27FC236}">
                <a16:creationId xmlns:a16="http://schemas.microsoft.com/office/drawing/2014/main" id="{3A18733D-5672-40EA-802B-23714E53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80" y="2532960"/>
            <a:ext cx="475200" cy="47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" name="Text 7">
            <a:extLst xmlns:a="http://schemas.openxmlformats.org/drawingml/2006/main">
              <a:ext uri="{FF2B5EF4-FFF2-40B4-BE49-F238E27FC236}">
                <a16:creationId xmlns:a16="http://schemas.microsoft.com/office/drawing/2014/main" id="{ED3DF422-06A8-4E6C-8727-43DAC4FCE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80" y="2532960"/>
            <a:ext cx="475200" cy="47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1D4ED8"/>
                </a:solidFill>
                <a:latin typeface="Aptos"/>
                <a:ea typeface="Aptos"/>
                <a:cs typeface="Aptos"/>
              </a:rPr>
              <a:t>01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8" name="Text 8">
            <a:extLst xmlns:a="http://schemas.openxmlformats.org/drawingml/2006/main">
              <a:ext uri="{FF2B5EF4-FFF2-40B4-BE49-F238E27FC236}">
                <a16:creationId xmlns:a16="http://schemas.microsoft.com/office/drawing/2014/main" id="{58C46FEB-D492-4EF2-B4D7-D9268DF7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200" y="2587680"/>
            <a:ext cx="1874160" cy="32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Exact quote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9" name="Text 9">
            <a:extLst xmlns:a="http://schemas.openxmlformats.org/drawingml/2006/main">
              <a:ext uri="{FF2B5EF4-FFF2-40B4-BE49-F238E27FC236}">
                <a16:creationId xmlns:a16="http://schemas.microsoft.com/office/drawing/2014/main" id="{846A4E3C-7926-44F8-A0D8-59ADE386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80" y="3227760"/>
            <a:ext cx="2450160" cy="529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The sentence exists in the fetched source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0" name="Shape 10">
            <a:extLst xmlns:a="http://schemas.openxmlformats.org/drawingml/2006/main">
              <a:ext uri="{FF2B5EF4-FFF2-40B4-BE49-F238E27FC236}">
                <a16:creationId xmlns:a16="http://schemas.microsoft.com/office/drawing/2014/main" id="{67F019D2-D994-410D-A926-3DF168EC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040" y="2258640"/>
            <a:ext cx="2998800" cy="1938240"/>
          </a:xfrm>
          <a:prstGeom xmlns:a="http://schemas.openxmlformats.org/drawingml/2006/main" prst="roundRect">
            <a:avLst>
              <a:gd name="adj" fmla="val 7075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  <a:effectLst xmlns:a="http://schemas.openxmlformats.org/drawingml/2006/main">
            <a:outerShdw dist="0" dir="0" sx="100000" sy="100000" kx="0" ky="0" algn="bl" rotWithShape="0">
              <a:srgbClr val="0B1020">
                <a:alpha val="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1" name="Shape 11">
            <a:extLst xmlns:a="http://schemas.openxmlformats.org/drawingml/2006/main">
              <a:ext uri="{FF2B5EF4-FFF2-40B4-BE49-F238E27FC236}">
                <a16:creationId xmlns:a16="http://schemas.microsoft.com/office/drawing/2014/main" id="{4CDB228B-9C37-4B35-AABB-AE228912E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640" y="2532960"/>
            <a:ext cx="475200" cy="47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2" name="Text 12">
            <a:extLst xmlns:a="http://schemas.openxmlformats.org/drawingml/2006/main">
              <a:ext uri="{FF2B5EF4-FFF2-40B4-BE49-F238E27FC236}">
                <a16:creationId xmlns:a16="http://schemas.microsoft.com/office/drawing/2014/main" id="{952E25AA-0D26-428D-8E94-600ABDF5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640" y="2532960"/>
            <a:ext cx="475200" cy="47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2563EB"/>
                </a:solidFill>
                <a:latin typeface="Aptos"/>
                <a:ea typeface="Aptos"/>
                <a:cs typeface="Aptos"/>
              </a:rPr>
              <a:t>02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3" name="Text 13">
            <a:extLst xmlns:a="http://schemas.openxmlformats.org/drawingml/2006/main">
              <a:ext uri="{FF2B5EF4-FFF2-40B4-BE49-F238E27FC236}">
                <a16:creationId xmlns:a16="http://schemas.microsoft.com/office/drawing/2014/main" id="{270DC1F2-6388-41F0-AF91-A27291DAA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7360" y="2587680"/>
            <a:ext cx="1874160" cy="32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1878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Traceable source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4" name="Text 14">
            <a:extLst xmlns:a="http://schemas.openxmlformats.org/drawingml/2006/main">
              <a:ext uri="{FF2B5EF4-FFF2-40B4-BE49-F238E27FC236}">
                <a16:creationId xmlns:a16="http://schemas.microsoft.com/office/drawing/2014/main" id="{5FC4FE4D-803B-4343-A32C-40A57774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640" y="3227760"/>
            <a:ext cx="2450160" cy="529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EAF2FF"/>
                </a:solidFill>
                <a:latin typeface="Aptos"/>
                <a:ea typeface="Aptos"/>
                <a:cs typeface="Aptos"/>
              </a:rPr>
              <a:t>Source identity and retrieval details are complete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5" name="Shape 15">
            <a:extLst xmlns:a="http://schemas.openxmlformats.org/drawingml/2006/main">
              <a:ext uri="{FF2B5EF4-FFF2-40B4-BE49-F238E27FC236}">
                <a16:creationId xmlns:a16="http://schemas.microsoft.com/office/drawing/2014/main" id="{A7975808-C466-464F-A552-466736FA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200" y="2258640"/>
            <a:ext cx="2998800" cy="1938240"/>
          </a:xfrm>
          <a:prstGeom xmlns:a="http://schemas.openxmlformats.org/drawingml/2006/main" prst="roundRect">
            <a:avLst>
              <a:gd name="adj" fmla="val 70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6" name="Shape 16">
            <a:extLst xmlns:a="http://schemas.openxmlformats.org/drawingml/2006/main">
              <a:ext uri="{FF2B5EF4-FFF2-40B4-BE49-F238E27FC236}">
                <a16:creationId xmlns:a16="http://schemas.microsoft.com/office/drawing/2014/main" id="{49C7BFC3-B212-462B-8447-B8D1AF968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800" y="2532960"/>
            <a:ext cx="475200" cy="47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7" name="Text 17">
            <a:extLst xmlns:a="http://schemas.openxmlformats.org/drawingml/2006/main">
              <a:ext uri="{FF2B5EF4-FFF2-40B4-BE49-F238E27FC236}">
                <a16:creationId xmlns:a16="http://schemas.microsoft.com/office/drawing/2014/main" id="{1B45A50B-4CCF-4C2B-BCC1-4C9B70862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800" y="2532960"/>
            <a:ext cx="475200" cy="47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1D4ED8"/>
                </a:solidFill>
                <a:latin typeface="Aptos"/>
                <a:ea typeface="Aptos"/>
                <a:cs typeface="Aptos"/>
              </a:rPr>
              <a:t>03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8" name="Text 18">
            <a:extLst xmlns:a="http://schemas.openxmlformats.org/drawingml/2006/main">
              <a:ext uri="{FF2B5EF4-FFF2-40B4-BE49-F238E27FC236}">
                <a16:creationId xmlns:a16="http://schemas.microsoft.com/office/drawing/2014/main" id="{95D6FBD7-E312-45BB-8BD0-29ED3F90C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520" y="2587680"/>
            <a:ext cx="1874160" cy="32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962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Current enough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9" name="Text 19">
            <a:extLst xmlns:a="http://schemas.openxmlformats.org/drawingml/2006/main">
              <a:ext uri="{FF2B5EF4-FFF2-40B4-BE49-F238E27FC236}">
                <a16:creationId xmlns:a16="http://schemas.microsoft.com/office/drawing/2014/main" id="{C73FA78E-D11A-4AAA-80CC-757F4133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800" y="3227760"/>
            <a:ext cx="2450160" cy="529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The source supports the claim's timing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0" name="Shape 20">
            <a:extLst xmlns:a="http://schemas.openxmlformats.org/drawingml/2006/main">
              <a:ext uri="{FF2B5EF4-FFF2-40B4-BE49-F238E27FC236}">
                <a16:creationId xmlns:a16="http://schemas.microsoft.com/office/drawing/2014/main" id="{58CB0FC7-0AD1-4CA7-94D0-93AAAD230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880" y="4279320"/>
            <a:ext cx="360" cy="45720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B45309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Shape 21">
            <a:extLst xmlns:a="http://schemas.openxmlformats.org/drawingml/2006/main">
              <a:ext uri="{FF2B5EF4-FFF2-40B4-BE49-F238E27FC236}">
                <a16:creationId xmlns:a16="http://schemas.microsoft.com/office/drawing/2014/main" id="{9FE7AD33-4C2A-4DD0-B137-AEE7EBCF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400" y="4791600"/>
            <a:ext cx="4315680" cy="51156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Text 22">
            <a:extLst xmlns:a="http://schemas.openxmlformats.org/drawingml/2006/main">
              <a:ext uri="{FF2B5EF4-FFF2-40B4-BE49-F238E27FC236}">
                <a16:creationId xmlns:a16="http://schemas.microsoft.com/office/drawing/2014/main" id="{2613651E-14EB-4684-84E6-97F923B4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8640" y="4928760"/>
            <a:ext cx="393156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60">
                <a:solidFill>
                  <a:srgbClr val="B45309"/>
                </a:solidFill>
                <a:latin typeface="Aptos"/>
                <a:ea typeface="Aptos"/>
                <a:cs typeface="Aptos"/>
              </a:rPr>
              <a:t>FAIL → RESEARCH AGAIN → UNDETERMINED → CLIENT QUESTION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Shape 23">
            <a:extLst xmlns:a="http://schemas.openxmlformats.org/drawingml/2006/main">
              <a:ext uri="{FF2B5EF4-FFF2-40B4-BE49-F238E27FC236}">
                <a16:creationId xmlns:a16="http://schemas.microsoft.com/office/drawing/2014/main" id="{4D46ED31-6FDF-4187-97D7-CBCA7061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321880"/>
            <a:ext cx="330984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B7E4D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Text 24">
            <a:extLst xmlns:a="http://schemas.openxmlformats.org/drawingml/2006/main">
              <a:ext uri="{FF2B5EF4-FFF2-40B4-BE49-F238E27FC236}">
                <a16:creationId xmlns:a16="http://schemas.microsoft.com/office/drawing/2014/main" id="{45281EB8-D0C2-42A0-B427-733BF2A11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31680"/>
            <a:ext cx="298044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800" b="1" u="none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1.0</a:t>
            </a:r>
            <a:endParaRPr sz="2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Text 25">
            <a:extLst xmlns:a="http://schemas.openxmlformats.org/drawingml/2006/main">
              <a:ext uri="{FF2B5EF4-FFF2-40B4-BE49-F238E27FC236}">
                <a16:creationId xmlns:a16="http://schemas.microsoft.com/office/drawing/2014/main" id="{A0EBEFAC-04F4-4203-B546-225556DA6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88880"/>
            <a:ext cx="298044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unsupported claims refused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Shape 26">
            <a:extLst xmlns:a="http://schemas.openxmlformats.org/drawingml/2006/main">
              <a:ext uri="{FF2B5EF4-FFF2-40B4-BE49-F238E27FC236}">
                <a16:creationId xmlns:a16="http://schemas.microsoft.com/office/drawing/2014/main" id="{4FB659DA-2550-46F5-A7BB-53443175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7480" y="5321880"/>
            <a:ext cx="330984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B7E4D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Text 27">
            <a:extLst xmlns:a="http://schemas.openxmlformats.org/drawingml/2006/main">
              <a:ext uri="{FF2B5EF4-FFF2-40B4-BE49-F238E27FC236}">
                <a16:creationId xmlns:a16="http://schemas.microsoft.com/office/drawing/2014/main" id="{EAA78822-ED23-4034-AB5D-4EC783E2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31680"/>
            <a:ext cx="298044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800" b="1" u="none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</a:t>
            </a:r>
            <a:endParaRPr sz="2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Text 28">
            <a:extLst xmlns:a="http://schemas.openxmlformats.org/drawingml/2006/main">
              <a:ext uri="{FF2B5EF4-FFF2-40B4-BE49-F238E27FC236}">
                <a16:creationId xmlns:a16="http://schemas.microsoft.com/office/drawing/2014/main" id="{6952121B-3E4D-4D73-8347-B5901FED1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888880"/>
            <a:ext cx="298044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false claims on thin-data companies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Shape 29">
            <a:extLst xmlns:a="http://schemas.openxmlformats.org/drawingml/2006/main">
              <a:ext uri="{FF2B5EF4-FFF2-40B4-BE49-F238E27FC236}">
                <a16:creationId xmlns:a16="http://schemas.microsoft.com/office/drawing/2014/main" id="{75DE2D76-2C78-44EB-80E8-BABBA7C8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80" y="5321880"/>
            <a:ext cx="330984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B7E4D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0" name="Text 30">
            <a:extLst xmlns:a="http://schemas.openxmlformats.org/drawingml/2006/main">
              <a:ext uri="{FF2B5EF4-FFF2-40B4-BE49-F238E27FC236}">
                <a16:creationId xmlns:a16="http://schemas.microsoft.com/office/drawing/2014/main" id="{99D7EB6C-D962-4AD8-8A3E-68305698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431680"/>
            <a:ext cx="298044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800" b="1" u="none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</a:t>
            </a:r>
            <a:endParaRPr sz="2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1" name="Text 31">
            <a:extLst xmlns:a="http://schemas.openxmlformats.org/drawingml/2006/main">
              <a:ext uri="{FF2B5EF4-FFF2-40B4-BE49-F238E27FC236}">
                <a16:creationId xmlns:a16="http://schemas.microsoft.com/office/drawing/2014/main" id="{C6AD46EC-1C3D-4FE8-8B5D-0B0293FD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888880"/>
            <a:ext cx="298044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missing source details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2" name="Text 32">
            <a:extLst xmlns:a="http://schemas.openxmlformats.org/drawingml/2006/main">
              <a:ext uri="{FF2B5EF4-FFF2-40B4-BE49-F238E27FC236}">
                <a16:creationId xmlns:a16="http://schemas.microsoft.com/office/drawing/2014/main" id="{71B15D19-2306-4CAB-B2A1-D702958C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THE TRUST BOUNDARY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3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12786B44-9AE0-418C-AB11-6B72356FA8EA}"/>
              </a:ext>
            </a:extLst>
          </p:cNvPr>
          <p:cNvSpPr>
            <a:spLocks xmlns:a="http://schemas.openxmlformats.org/drawingml/2006/main" noGrp="1"/>
          </p:cNvSpPr>
          <p:nvPr>
            <p:ph type="sldNum" idx="9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EE5B3003-2C54-13C6-9832-7637201064DE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5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8019593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4" name="Text 0">
            <a:extLst xmlns:a="http://schemas.openxmlformats.org/drawingml/2006/main">
              <a:ext uri="{FF2B5EF4-FFF2-40B4-BE49-F238E27FC236}">
                <a16:creationId xmlns:a16="http://schemas.microsoft.com/office/drawing/2014/main" id="{88C77FD8-00A2-4BF0-8626-D77BBC9D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4143"/>
            <a:ext cx="2598706" cy="219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THE ARCHITECTURE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5" name="Text 1">
            <a:extLst xmlns:a="http://schemas.openxmlformats.org/drawingml/2006/main">
              <a:ext uri="{FF2B5EF4-FFF2-40B4-BE49-F238E27FC236}">
                <a16:creationId xmlns:a16="http://schemas.microsoft.com/office/drawing/2014/main" id="{9BB9B35C-3399-44BB-B6A2-D854072F0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713160"/>
            <a:ext cx="10743840" cy="74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4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LangGraph makes the evidence gate operational</a:t>
            </a:r>
            <a:endParaRPr sz="4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6" name="Shape 2">
            <a:extLst xmlns:a="http://schemas.openxmlformats.org/drawingml/2006/main">
              <a:ext uri="{FF2B5EF4-FFF2-40B4-BE49-F238E27FC236}">
                <a16:creationId xmlns:a16="http://schemas.microsoft.com/office/drawing/2014/main" id="{754E6CBB-1BCE-4D4B-AC70-4B2BEFE9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320" y="2816280"/>
            <a:ext cx="749880" cy="360"/>
          </a:xfrm>
          <a:prstGeom xmlns:a="http://schemas.openxmlformats.org/drawingml/2006/main" prst="line">
            <a:avLst/>
          </a:prstGeom>
          <a:ln xmlns:a="http://schemas.openxmlformats.org/drawingml/2006/main" w="2921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7" name="Shape 3">
            <a:extLst xmlns:a="http://schemas.openxmlformats.org/drawingml/2006/main">
              <a:ext uri="{FF2B5EF4-FFF2-40B4-BE49-F238E27FC236}">
                <a16:creationId xmlns:a16="http://schemas.microsoft.com/office/drawing/2014/main" id="{E052E134-CE43-4D80-BF13-70ECF4BAD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816280"/>
            <a:ext cx="804600" cy="360"/>
          </a:xfrm>
          <a:prstGeom xmlns:a="http://schemas.openxmlformats.org/drawingml/2006/main" prst="line">
            <a:avLst/>
          </a:prstGeom>
          <a:ln xmlns:a="http://schemas.openxmlformats.org/drawingml/2006/main" w="2921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8" name="Shape 4">
            <a:extLst xmlns:a="http://schemas.openxmlformats.org/drawingml/2006/main">
              <a:ext uri="{FF2B5EF4-FFF2-40B4-BE49-F238E27FC236}">
                <a16:creationId xmlns:a16="http://schemas.microsoft.com/office/drawing/2014/main" id="{A25E0C70-2ECF-41E8-855A-B3E5175FF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160" y="2816280"/>
            <a:ext cx="786600" cy="360"/>
          </a:xfrm>
          <a:prstGeom xmlns:a="http://schemas.openxmlformats.org/drawingml/2006/main" prst="line">
            <a:avLst/>
          </a:prstGeom>
          <a:ln xmlns:a="http://schemas.openxmlformats.org/drawingml/2006/main" w="29210">
            <a:solidFill>
              <a:srgbClr val="0F766E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9" name="Shape 5">
            <a:extLst xmlns:a="http://schemas.openxmlformats.org/drawingml/2006/main">
              <a:ext uri="{FF2B5EF4-FFF2-40B4-BE49-F238E27FC236}">
                <a16:creationId xmlns:a16="http://schemas.microsoft.com/office/drawing/2014/main" id="{F0CC24A2-DBE9-454D-B0B1-8758109B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4187880" y="3675600"/>
            <a:ext cx="3383280" cy="951120"/>
          </a:xfrm>
          <a:prstGeom xmlns:a="http://schemas.openxmlformats.org/drawingml/2006/main" prst="line">
            <a:avLst/>
          </a:prstGeom>
          <a:ln xmlns:a="http://schemas.openxmlformats.org/drawingml/2006/main" w="22860">
            <a:solidFill>
              <a:srgbClr val="2563EB"/>
            </a:solidFill>
            <a:prstDash val="dash"/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0" name="Shape 6">
            <a:extLst xmlns:a="http://schemas.openxmlformats.org/drawingml/2006/main">
              <a:ext uri="{FF2B5EF4-FFF2-40B4-BE49-F238E27FC236}">
                <a16:creationId xmlns:a16="http://schemas.microsoft.com/office/drawing/2014/main" id="{8C869394-F02E-4A36-A9FA-AE6A3B4B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1160" y="3675600"/>
            <a:ext cx="360" cy="969480"/>
          </a:xfrm>
          <a:prstGeom xmlns:a="http://schemas.openxmlformats.org/drawingml/2006/main" prst="line">
            <a:avLst/>
          </a:prstGeom>
          <a:ln xmlns:a="http://schemas.openxmlformats.org/drawingml/2006/main" w="22860">
            <a:solidFill>
              <a:srgbClr val="B45309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1" name="Shape 7">
            <a:extLst xmlns:a="http://schemas.openxmlformats.org/drawingml/2006/main">
              <a:ext uri="{FF2B5EF4-FFF2-40B4-BE49-F238E27FC236}">
                <a16:creationId xmlns:a16="http://schemas.microsoft.com/office/drawing/2014/main" id="{B85DAE03-BD70-47B6-B929-FC80CC7AD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212920"/>
            <a:ext cx="1828440" cy="120672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2" name="Text 8">
            <a:extLst xmlns:a="http://schemas.openxmlformats.org/drawingml/2006/main">
              <a:ext uri="{FF2B5EF4-FFF2-40B4-BE49-F238E27FC236}">
                <a16:creationId xmlns:a16="http://schemas.microsoft.com/office/drawing/2014/main" id="{E49EAA9B-01C2-4C54-86E5-08A7C9465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4160"/>
            <a:ext cx="149940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99">
                <a:solidFill>
                  <a:srgbClr val="0B1020"/>
                </a:solidFill>
                <a:latin typeface="Aptos"/>
                <a:ea typeface="Aptos"/>
                <a:cs typeface="Aptos"/>
              </a:rPr>
              <a:t>RESEARCH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3" name="Text 9">
            <a:extLst xmlns:a="http://schemas.openxmlformats.org/drawingml/2006/main">
              <a:ext uri="{FF2B5EF4-FFF2-40B4-BE49-F238E27FC236}">
                <a16:creationId xmlns:a16="http://schemas.microsoft.com/office/drawing/2014/main" id="{38BAC738-8E9B-46C5-98DF-463E7D2B7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79920"/>
            <a:ext cx="1499400" cy="520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9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Search + retrieve</a:t>
            </a:r>
            <a:endParaRPr sz="1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4" name="Shape 10">
            <a:extLst xmlns:a="http://schemas.openxmlformats.org/drawingml/2006/main">
              <a:ext uri="{FF2B5EF4-FFF2-40B4-BE49-F238E27FC236}">
                <a16:creationId xmlns:a16="http://schemas.microsoft.com/office/drawing/2014/main" id="{CCC3A136-D28B-4688-92A1-B08C4DCB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2212920"/>
            <a:ext cx="2248920" cy="120672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5" name="Text 11">
            <a:extLst xmlns:a="http://schemas.openxmlformats.org/drawingml/2006/main">
              <a:ext uri="{FF2B5EF4-FFF2-40B4-BE49-F238E27FC236}">
                <a16:creationId xmlns:a16="http://schemas.microsoft.com/office/drawing/2014/main" id="{181DA080-24F2-48EE-8EF0-84FD9F3FB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080" y="2414160"/>
            <a:ext cx="191988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99">
                <a:solidFill>
                  <a:srgbClr val="0B1020"/>
                </a:solidFill>
                <a:latin typeface="Aptos"/>
                <a:ea typeface="Aptos"/>
                <a:cs typeface="Aptos"/>
              </a:rPr>
              <a:t>EXTRACT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6" name="Text 12">
            <a:extLst xmlns:a="http://schemas.openxmlformats.org/drawingml/2006/main">
              <a:ext uri="{FF2B5EF4-FFF2-40B4-BE49-F238E27FC236}">
                <a16:creationId xmlns:a16="http://schemas.microsoft.com/office/drawing/2014/main" id="{3040942F-34DE-4EA6-B94B-ABA8ED52A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080" y="2779920"/>
            <a:ext cx="1919880" cy="520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9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Candidate facts</a:t>
            </a:r>
            <a:endParaRPr sz="1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7" name="Shape 13">
            <a:extLst xmlns:a="http://schemas.openxmlformats.org/drawingml/2006/main">
              <a:ext uri="{FF2B5EF4-FFF2-40B4-BE49-F238E27FC236}">
                <a16:creationId xmlns:a16="http://schemas.microsoft.com/office/drawing/2014/main" id="{8CC321B9-D944-43CC-A423-6F1237A1E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440" y="2011680"/>
            <a:ext cx="2358720" cy="1590840"/>
          </a:xfrm>
          <a:prstGeom xmlns:a="http://schemas.openxmlformats.org/drawingml/2006/main" prst="roundRect">
            <a:avLst>
              <a:gd name="adj" fmla="val 8046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  <a:effectLst xmlns:a="http://schemas.openxmlformats.org/drawingml/2006/main">
            <a:outerShdw dist="0" dir="0" sx="100000" sy="100000" kx="0" ky="0" algn="bl" rotWithShape="0">
              <a:srgbClr val="0B1020">
                <a:alpha val="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8" name="Text 14">
            <a:extLst xmlns:a="http://schemas.openxmlformats.org/drawingml/2006/main">
              <a:ext uri="{FF2B5EF4-FFF2-40B4-BE49-F238E27FC236}">
                <a16:creationId xmlns:a16="http://schemas.microsoft.com/office/drawing/2014/main" id="{8526F5D3-1268-4032-A80E-0257A00B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6960" y="2212920"/>
            <a:ext cx="202968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99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GATE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9" name="Text 15">
            <a:extLst xmlns:a="http://schemas.openxmlformats.org/drawingml/2006/main">
              <a:ext uri="{FF2B5EF4-FFF2-40B4-BE49-F238E27FC236}">
                <a16:creationId xmlns:a16="http://schemas.microsoft.com/office/drawing/2014/main" id="{95691DC1-CDEB-4E3D-9FCA-EE75F3A5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6960" y="2578680"/>
            <a:ext cx="2029680" cy="90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9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quoted support</a:t>
            </a:r>
            <a:endParaRPr sz="1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9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+ source fit</a:t>
            </a:r>
            <a:endParaRPr sz="1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0" name="Shape 16">
            <a:extLst xmlns:a="http://schemas.openxmlformats.org/drawingml/2006/main">
              <a:ext uri="{FF2B5EF4-FFF2-40B4-BE49-F238E27FC236}">
                <a16:creationId xmlns:a16="http://schemas.microsoft.com/office/drawing/2014/main" id="{D50B9FE9-4DFD-4F9D-90B0-3583DCEF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120" y="2212920"/>
            <a:ext cx="1828440" cy="120672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E7F7F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" name="Text 17">
            <a:extLst xmlns:a="http://schemas.openxmlformats.org/drawingml/2006/main">
              <a:ext uri="{FF2B5EF4-FFF2-40B4-BE49-F238E27FC236}">
                <a16:creationId xmlns:a16="http://schemas.microsoft.com/office/drawing/2014/main" id="{1552D616-80EF-4E4D-B833-014B91D5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2414160"/>
            <a:ext cx="149940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99">
                <a:solidFill>
                  <a:srgbClr val="0F766E"/>
                </a:solidFill>
                <a:latin typeface="Aptos"/>
                <a:ea typeface="Aptos"/>
                <a:cs typeface="Aptos"/>
              </a:rPr>
              <a:t>REPORT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2" name="Text 18">
            <a:extLst xmlns:a="http://schemas.openxmlformats.org/drawingml/2006/main">
              <a:ext uri="{FF2B5EF4-FFF2-40B4-BE49-F238E27FC236}">
                <a16:creationId xmlns:a16="http://schemas.microsoft.com/office/drawing/2014/main" id="{D859982C-46A0-48F7-B8CE-234787CF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2779920"/>
            <a:ext cx="1499400" cy="520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1290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900" b="1" u="none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Supported facts
+ questions</a:t>
            </a:r>
            <a:endParaRPr sz="1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3" name="Text 19">
            <a:extLst xmlns:a="http://schemas.openxmlformats.org/drawingml/2006/main">
              <a:ext uri="{FF2B5EF4-FFF2-40B4-BE49-F238E27FC236}">
                <a16:creationId xmlns:a16="http://schemas.microsoft.com/office/drawing/2014/main" id="{FE825CC1-6EE7-4F00-AAB3-75ACBACC5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981450"/>
            <a:ext cx="17145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 spc="99">
                <a:solidFill>
                  <a:srgbClr val="2563EB"/>
                </a:solidFill>
                <a:latin typeface="Aptos"/>
                <a:ea typeface="Aptos"/>
                <a:cs typeface="Aptos"/>
              </a:rPr>
              <a:t>RESEARCH AGAIN</a:t>
            </a:r>
            <a:endParaRPr sz="1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4" name="Shape 20">
            <a:extLst xmlns:a="http://schemas.openxmlformats.org/drawingml/2006/main">
              <a:ext uri="{FF2B5EF4-FFF2-40B4-BE49-F238E27FC236}">
                <a16:creationId xmlns:a16="http://schemas.microsoft.com/office/drawing/2014/main" id="{EC944899-C6E2-44E6-A5AA-F5D6FB17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440" y="4736520"/>
            <a:ext cx="2358720" cy="52992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5" name="Text 21">
            <a:extLst xmlns:a="http://schemas.openxmlformats.org/drawingml/2006/main">
              <a:ext uri="{FF2B5EF4-FFF2-40B4-BE49-F238E27FC236}">
                <a16:creationId xmlns:a16="http://schemas.microsoft.com/office/drawing/2014/main" id="{FBAEC982-E50D-4D6F-BF8A-2C7AB224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6960" y="4883040"/>
            <a:ext cx="2029680" cy="209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6246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>
                <a:solidFill>
                  <a:srgbClr val="B45309"/>
                </a:solidFill>
                <a:latin typeface="Aptos"/>
                <a:ea typeface="Aptos"/>
                <a:cs typeface="Aptos"/>
              </a:rPr>
              <a:t>NO RETRIES → UNDETERMINED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6" name="Shape 22">
            <a:extLst xmlns:a="http://schemas.openxmlformats.org/drawingml/2006/main">
              <a:ext uri="{FF2B5EF4-FFF2-40B4-BE49-F238E27FC236}">
                <a16:creationId xmlns:a16="http://schemas.microsoft.com/office/drawing/2014/main" id="{230BF84D-201F-4CCE-BCCD-EAC9E244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596200"/>
            <a:ext cx="10625040" cy="56664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2700">
            <a:solidFill>
              <a:srgbClr val="F1F5F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7" name="Text 23">
            <a:extLst xmlns:a="http://schemas.openxmlformats.org/drawingml/2006/main">
              <a:ext uri="{FF2B5EF4-FFF2-40B4-BE49-F238E27FC236}">
                <a16:creationId xmlns:a16="http://schemas.microsoft.com/office/drawing/2014/main" id="{741BB1AA-DE08-4755-9147-8634B630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769720"/>
            <a:ext cx="126144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64748B"/>
                </a:solidFill>
                <a:latin typeface="Aptos"/>
                <a:ea typeface="Aptos"/>
                <a:cs typeface="Aptos"/>
              </a:rPr>
              <a:t>DELIVERY ONLY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8" name="Shape 24">
            <a:extLst xmlns:a="http://schemas.openxmlformats.org/drawingml/2006/main">
              <a:ext uri="{FF2B5EF4-FFF2-40B4-BE49-F238E27FC236}">
                <a16:creationId xmlns:a16="http://schemas.microsoft.com/office/drawing/2014/main" id="{A89AA7CD-18C3-4967-983D-60EFDDBA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5870160"/>
            <a:ext cx="914400" cy="360"/>
          </a:xfrm>
          <a:prstGeom xmlns:a="http://schemas.openxmlformats.org/drawingml/2006/main" prst="line">
            <a:avLst/>
          </a:prstGeom>
          <a:ln xmlns:a="http://schemas.openxmlformats.org/drawingml/2006/main" w="17780">
            <a:solidFill>
              <a:srgbClr val="64748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9" name="Text 25">
            <a:extLst xmlns:a="http://schemas.openxmlformats.org/drawingml/2006/main">
              <a:ext uri="{FF2B5EF4-FFF2-40B4-BE49-F238E27FC236}">
                <a16:creationId xmlns:a16="http://schemas.microsoft.com/office/drawing/2014/main" id="{44112745-0E93-4B38-90A9-43B58C39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687640"/>
            <a:ext cx="59400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8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n8n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0" name="Shape 26">
            <a:extLst xmlns:a="http://schemas.openxmlformats.org/drawingml/2006/main">
              <a:ext uri="{FF2B5EF4-FFF2-40B4-BE49-F238E27FC236}">
                <a16:creationId xmlns:a16="http://schemas.microsoft.com/office/drawing/2014/main" id="{F28D05C9-B1F5-4B70-A314-80ED557F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5870160"/>
            <a:ext cx="914400" cy="360"/>
          </a:xfrm>
          <a:prstGeom xmlns:a="http://schemas.openxmlformats.org/drawingml/2006/main" prst="line">
            <a:avLst/>
          </a:prstGeom>
          <a:ln xmlns:a="http://schemas.openxmlformats.org/drawingml/2006/main" w="17780">
            <a:solidFill>
              <a:srgbClr val="64748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1" name="Text 27">
            <a:extLst xmlns:a="http://schemas.openxmlformats.org/drawingml/2006/main">
              <a:ext uri="{FF2B5EF4-FFF2-40B4-BE49-F238E27FC236}">
                <a16:creationId xmlns:a16="http://schemas.microsoft.com/office/drawing/2014/main" id="{A528B397-011E-4133-95E2-BF49887C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6800" y="5687640"/>
            <a:ext cx="123408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5000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8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Notion report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2" name="Text 28">
            <a:extLst xmlns:a="http://schemas.openxmlformats.org/drawingml/2006/main">
              <a:ext uri="{FF2B5EF4-FFF2-40B4-BE49-F238E27FC236}">
                <a16:creationId xmlns:a16="http://schemas.microsoft.com/office/drawing/2014/main" id="{685E5C88-0537-433B-9CE8-5EB0BF39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920" y="5715000"/>
            <a:ext cx="416016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n8n files the finished report. It does not make decisions.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3" name="Text 29">
            <a:extLst xmlns:a="http://schemas.openxmlformats.org/drawingml/2006/main">
              <a:ext uri="{FF2B5EF4-FFF2-40B4-BE49-F238E27FC236}">
                <a16:creationId xmlns:a16="http://schemas.microsoft.com/office/drawing/2014/main" id="{FCC59A14-10DA-4CA7-AED8-95C1A2FB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37" y="6428137"/>
            <a:ext cx="3048000" cy="164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THE ARCHITECTURE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921EEFA-F2AA-41FB-B325-EA328ACA8B2A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8C630A04-5A25-9E0C-9436-126091DB86B3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6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9205956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5" name="Text 0">
            <a:extLst xmlns:a="http://schemas.openxmlformats.org/drawingml/2006/main">
              <a:ext uri="{FF2B5EF4-FFF2-40B4-BE49-F238E27FC236}">
                <a16:creationId xmlns:a16="http://schemas.microsoft.com/office/drawing/2014/main" id="{D31306D0-4594-4E66-BB31-963969EC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384120"/>
            <a:ext cx="27428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POST-MVP • VENDOR DRIFT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6" name="Text 1">
            <a:extLst xmlns:a="http://schemas.openxmlformats.org/drawingml/2006/main">
              <a:ext uri="{FF2B5EF4-FFF2-40B4-BE49-F238E27FC236}">
                <a16:creationId xmlns:a16="http://schemas.microsoft.com/office/drawing/2014/main" id="{B2EA6B29-E353-4856-BB2A-939C6024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713160"/>
            <a:ext cx="10743840" cy="74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881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4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Vendor updates can change a client's AI inventory</a:t>
            </a:r>
            <a:endParaRPr sz="4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7" name="Text 2">
            <a:extLst xmlns:a="http://schemas.openxmlformats.org/drawingml/2006/main">
              <a:ext uri="{FF2B5EF4-FFF2-40B4-BE49-F238E27FC236}">
                <a16:creationId xmlns:a16="http://schemas.microsoft.com/office/drawing/2014/main" id="{0EEB6E1A-E431-4A16-93FA-618FC510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1508760"/>
            <a:ext cx="3245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B45309"/>
                </a:solidFill>
                <a:latin typeface="Aptos"/>
                <a:ea typeface="Aptos"/>
                <a:cs typeface="Aptos"/>
              </a:rPr>
              <a:t>FUTURE VALIDATION — NOT CURRENT TRACTION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8" name="Shape 3">
            <a:extLst xmlns:a="http://schemas.openxmlformats.org/drawingml/2006/main">
              <a:ext uri="{FF2B5EF4-FFF2-40B4-BE49-F238E27FC236}">
                <a16:creationId xmlns:a16="http://schemas.microsoft.com/office/drawing/2014/main" id="{17EF9BA1-3679-48B8-A4AF-C646BA50C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680" y="3447000"/>
            <a:ext cx="8915400" cy="360"/>
          </a:xfrm>
          <a:prstGeom xmlns:a="http://schemas.openxmlformats.org/drawingml/2006/main" prst="line">
            <a:avLst/>
          </a:prstGeom>
          <a:ln xmlns:a="http://schemas.openxmlformats.org/drawingml/2006/main" w="508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9" name="Shape 4">
            <a:extLst xmlns:a="http://schemas.openxmlformats.org/drawingml/2006/main">
              <a:ext uri="{FF2B5EF4-FFF2-40B4-BE49-F238E27FC236}">
                <a16:creationId xmlns:a16="http://schemas.microsoft.com/office/drawing/2014/main" id="{3C6B4316-F3D3-4418-B41A-64B19F54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163680"/>
            <a:ext cx="420120" cy="4201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0" name="Text 5">
            <a:extLst xmlns:a="http://schemas.openxmlformats.org/drawingml/2006/main">
              <a:ext uri="{FF2B5EF4-FFF2-40B4-BE49-F238E27FC236}">
                <a16:creationId xmlns:a16="http://schemas.microsoft.com/office/drawing/2014/main" id="{0BB3DC31-21C0-41D3-B6E4-3C4BB6804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157840"/>
            <a:ext cx="10238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19">
                <a:solidFill>
                  <a:srgbClr val="64748B"/>
                </a:solidFill>
                <a:latin typeface="Aptos"/>
                <a:ea typeface="Aptos"/>
                <a:cs typeface="Aptos"/>
              </a:rPr>
              <a:t>MAY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1" name="Shape 6">
            <a:extLst xmlns:a="http://schemas.openxmlformats.org/drawingml/2006/main">
              <a:ext uri="{FF2B5EF4-FFF2-40B4-BE49-F238E27FC236}">
                <a16:creationId xmlns:a16="http://schemas.microsoft.com/office/drawing/2014/main" id="{5873C6EB-85E7-4F2B-A274-FB8F9EEB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22120"/>
            <a:ext cx="2788560" cy="1161000"/>
          </a:xfrm>
          <a:prstGeom xmlns:a="http://schemas.openxmlformats.org/drawingml/2006/main" prst="roundRect">
            <a:avLst>
              <a:gd name="adj" fmla="val 11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2" name="Text 7">
            <a:extLst xmlns:a="http://schemas.openxmlformats.org/drawingml/2006/main">
              <a:ext uri="{FF2B5EF4-FFF2-40B4-BE49-F238E27FC236}">
                <a16:creationId xmlns:a16="http://schemas.microsoft.com/office/drawing/2014/main" id="{91D862EC-C9EC-402F-838C-B1098F41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069080"/>
            <a:ext cx="2331360" cy="47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No evidenced AI ranking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3" name="Text 8">
            <a:extLst xmlns:a="http://schemas.openxmlformats.org/drawingml/2006/main">
              <a:ext uri="{FF2B5EF4-FFF2-40B4-BE49-F238E27FC236}">
                <a16:creationId xmlns:a16="http://schemas.microsoft.com/office/drawing/2014/main" id="{AE47C620-C1F0-40E2-A939-2AB9E2FC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0"/>
            <a:ext cx="2331360" cy="310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Client already uses the ATS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4" name="Shape 9">
            <a:extLst xmlns:a="http://schemas.openxmlformats.org/drawingml/2006/main">
              <a:ext uri="{FF2B5EF4-FFF2-40B4-BE49-F238E27FC236}">
                <a16:creationId xmlns:a16="http://schemas.microsoft.com/office/drawing/2014/main" id="{A9942CC6-CA00-4F44-8AC2-23BECCBF8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163680"/>
            <a:ext cx="420120" cy="4201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5" name="Text 10">
            <a:extLst xmlns:a="http://schemas.openxmlformats.org/drawingml/2006/main">
              <a:ext uri="{FF2B5EF4-FFF2-40B4-BE49-F238E27FC236}">
                <a16:creationId xmlns:a16="http://schemas.microsoft.com/office/drawing/2014/main" id="{4C63E38B-D579-4FBE-9B2C-D44FC6FE7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157840"/>
            <a:ext cx="10238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19">
                <a:solidFill>
                  <a:srgbClr val="64748B"/>
                </a:solidFill>
                <a:latin typeface="Aptos"/>
                <a:ea typeface="Aptos"/>
                <a:cs typeface="Aptos"/>
              </a:rPr>
              <a:t>JUNE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6" name="Shape 11">
            <a:extLst xmlns:a="http://schemas.openxmlformats.org/drawingml/2006/main">
              <a:ext uri="{FF2B5EF4-FFF2-40B4-BE49-F238E27FC236}">
                <a16:creationId xmlns:a16="http://schemas.microsoft.com/office/drawing/2014/main" id="{BC0B8906-E6B7-4ABA-9B54-93717530F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822120"/>
            <a:ext cx="2788560" cy="1161000"/>
          </a:xfrm>
          <a:prstGeom xmlns:a="http://schemas.openxmlformats.org/drawingml/2006/main" prst="roundRect">
            <a:avLst>
              <a:gd name="adj" fmla="val 11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7" name="Text 12">
            <a:extLst xmlns:a="http://schemas.openxmlformats.org/drawingml/2006/main">
              <a:ext uri="{FF2B5EF4-FFF2-40B4-BE49-F238E27FC236}">
                <a16:creationId xmlns:a16="http://schemas.microsoft.com/office/drawing/2014/main" id="{206C9828-74A4-48D1-AD10-1BA8631C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069080"/>
            <a:ext cx="2331360" cy="47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953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Vendor adds AI CV ranking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8" name="Text 13">
            <a:extLst xmlns:a="http://schemas.openxmlformats.org/drawingml/2006/main">
              <a:ext uri="{FF2B5EF4-FFF2-40B4-BE49-F238E27FC236}">
                <a16:creationId xmlns:a16="http://schemas.microsoft.com/office/drawing/2014/main" id="{47DA6A0C-6EC3-4967-91D8-332AC0E4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572000"/>
            <a:ext cx="2331360" cy="310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No new client purchase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9" name="Shape 14">
            <a:extLst xmlns:a="http://schemas.openxmlformats.org/drawingml/2006/main">
              <a:ext uri="{FF2B5EF4-FFF2-40B4-BE49-F238E27FC236}">
                <a16:creationId xmlns:a16="http://schemas.microsoft.com/office/drawing/2014/main" id="{058C8C15-3A99-4123-A788-D7FDED8C9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090600"/>
            <a:ext cx="566640" cy="56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0" name="Text 15">
            <a:extLst xmlns:a="http://schemas.openxmlformats.org/drawingml/2006/main">
              <a:ext uri="{FF2B5EF4-FFF2-40B4-BE49-F238E27FC236}">
                <a16:creationId xmlns:a16="http://schemas.microsoft.com/office/drawing/2014/main" id="{6F087A88-8B14-487C-809D-99DB9AB8B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157840"/>
            <a:ext cx="10238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19">
                <a:solidFill>
                  <a:srgbClr val="2563EB"/>
                </a:solidFill>
                <a:latin typeface="Aptos"/>
                <a:ea typeface="Aptos"/>
                <a:cs typeface="Aptos"/>
              </a:rPr>
              <a:t>JULY ALERT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1" name="Shape 16">
            <a:extLst xmlns:a="http://schemas.openxmlformats.org/drawingml/2006/main">
              <a:ext uri="{FF2B5EF4-FFF2-40B4-BE49-F238E27FC236}">
                <a16:creationId xmlns:a16="http://schemas.microsoft.com/office/drawing/2014/main" id="{1658AA7A-27BE-4213-A01C-64FCABF3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3822120"/>
            <a:ext cx="3017160" cy="1352880"/>
          </a:xfrm>
          <a:prstGeom xmlns:a="http://schemas.openxmlformats.org/drawingml/2006/main" prst="roundRect">
            <a:avLst>
              <a:gd name="adj" fmla="val 10135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  <a:effectLst xmlns:a="http://schemas.openxmlformats.org/drawingml/2006/main">
            <a:outerShdw dist="0" dir="0" sx="100000" sy="100000" kx="0" ky="0" algn="bl" rotWithShape="0">
              <a:srgbClr val="0B1020">
                <a:alpha val="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2" name="Text 17">
            <a:extLst xmlns:a="http://schemas.openxmlformats.org/drawingml/2006/main">
              <a:ext uri="{FF2B5EF4-FFF2-40B4-BE49-F238E27FC236}">
                <a16:creationId xmlns:a16="http://schemas.microsoft.com/office/drawing/2014/main" id="{B113E239-ED3C-4A03-A253-7243C35C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4069080"/>
            <a:ext cx="2559960" cy="47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5704" lnSpcReduction="1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AI inventory changed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3" name="Text 18">
            <a:extLst xmlns:a="http://schemas.openxmlformats.org/drawingml/2006/main">
              <a:ext uri="{FF2B5EF4-FFF2-40B4-BE49-F238E27FC236}">
                <a16:creationId xmlns:a16="http://schemas.microsoft.com/office/drawing/2014/main" id="{A89862D7-2956-4574-98AC-CE70D2600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4645080"/>
            <a:ext cx="2559960" cy="310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0" u="none">
                <a:solidFill>
                  <a:srgbClr val="EAF2FF"/>
                </a:solidFill>
                <a:latin typeface="Aptos"/>
                <a:ea typeface="Aptos"/>
                <a:cs typeface="Aptos"/>
              </a:rPr>
              <a:t>Alert the adviser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4" name="Text 19">
            <a:extLst xmlns:a="http://schemas.openxmlformats.org/drawingml/2006/main">
              <a:ext uri="{FF2B5EF4-FFF2-40B4-BE49-F238E27FC236}">
                <a16:creationId xmlns:a16="http://schemas.microsoft.com/office/drawing/2014/main" id="{94E770F1-1007-437A-8483-3714290AF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669280"/>
            <a:ext cx="214848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99">
                <a:solidFill>
                  <a:srgbClr val="64748B"/>
                </a:solidFill>
                <a:latin typeface="Aptos"/>
                <a:ea typeface="Aptos"/>
                <a:cs typeface="Aptos"/>
              </a:rPr>
              <a:t>ADVISER PILOT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5" name="Shape 20">
            <a:extLst xmlns:a="http://schemas.openxmlformats.org/drawingml/2006/main">
              <a:ext uri="{FF2B5EF4-FFF2-40B4-BE49-F238E27FC236}">
                <a16:creationId xmlns:a16="http://schemas.microsoft.com/office/drawing/2014/main" id="{1002F08D-4F3F-482E-9EC4-702CE51C9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280" y="5797080"/>
            <a:ext cx="594360" cy="360"/>
          </a:xfrm>
          <a:prstGeom xmlns:a="http://schemas.openxmlformats.org/drawingml/2006/main" prst="line">
            <a:avLst/>
          </a:prstGeom>
          <a:ln xmlns:a="http://schemas.openxmlformats.org/drawingml/2006/main" w="2286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6" name="Text 21">
            <a:extLst xmlns:a="http://schemas.openxmlformats.org/drawingml/2006/main">
              <a:ext uri="{FF2B5EF4-FFF2-40B4-BE49-F238E27FC236}">
                <a16:creationId xmlns:a16="http://schemas.microsoft.com/office/drawing/2014/main" id="{91CE1227-C385-4BA4-B222-1875ED58A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00" y="5669280"/>
            <a:ext cx="246852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99">
                <a:solidFill>
                  <a:srgbClr val="2563EB"/>
                </a:solidFill>
                <a:latin typeface="Aptos"/>
                <a:ea typeface="Aptos"/>
                <a:cs typeface="Aptos"/>
              </a:rPr>
              <a:t>VALIDATE DRIFT ALERTS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7" name="Shape 22">
            <a:extLst xmlns:a="http://schemas.openxmlformats.org/drawingml/2006/main">
              <a:ext uri="{FF2B5EF4-FFF2-40B4-BE49-F238E27FC236}">
                <a16:creationId xmlns:a16="http://schemas.microsoft.com/office/drawing/2014/main" id="{A8C5E434-E906-44BC-A1C5-6568CF89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797080"/>
            <a:ext cx="594360" cy="360"/>
          </a:xfrm>
          <a:prstGeom xmlns:a="http://schemas.openxmlformats.org/drawingml/2006/main" prst="line">
            <a:avLst/>
          </a:prstGeom>
          <a:ln xmlns:a="http://schemas.openxmlformats.org/drawingml/2006/main" w="2286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8" name="Text 23">
            <a:extLst xmlns:a="http://schemas.openxmlformats.org/drawingml/2006/main">
              <a:ext uri="{FF2B5EF4-FFF2-40B4-BE49-F238E27FC236}">
                <a16:creationId xmlns:a16="http://schemas.microsoft.com/office/drawing/2014/main" id="{B9B2584B-4382-4D2C-84F7-D706864ED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4960" y="5669280"/>
            <a:ext cx="242280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99">
                <a:solidFill>
                  <a:srgbClr val="1D4ED8"/>
                </a:solidFill>
                <a:latin typeface="Aptos"/>
                <a:ea typeface="Aptos"/>
                <a:cs typeface="Aptos"/>
              </a:rPr>
              <a:t>RETAINED MONITORING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9" name="Text 24">
            <a:extLst xmlns:a="http://schemas.openxmlformats.org/drawingml/2006/main">
              <a:ext uri="{FF2B5EF4-FFF2-40B4-BE49-F238E27FC236}">
                <a16:creationId xmlns:a16="http://schemas.microsoft.com/office/drawing/2014/main" id="{6B3D67CA-B90E-41E0-B032-E8A38E7B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998320"/>
            <a:ext cx="1060668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1339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1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Turn a blank-page scan into an auditable, recurring conversation.</a:t>
            </a:r>
            <a:endParaRPr sz="2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0" name="Text 25">
            <a:extLst xmlns:a="http://schemas.openxmlformats.org/drawingml/2006/main">
              <a:ext uri="{FF2B5EF4-FFF2-40B4-BE49-F238E27FC236}">
                <a16:creationId xmlns:a16="http://schemas.microsoft.com/office/drawing/2014/main" id="{7ED0E0F8-4801-4D94-8911-FDF05248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THE POST-MVP PATH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1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95379090-48E0-44A1-8D3E-B6BD6BB3C4C8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D3D7D1C8-AE23-AA48-DF65-C742588DBE47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7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3457195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2" name="Text 0">
            <a:extLst xmlns:a="http://schemas.openxmlformats.org/drawingml/2006/main">
              <a:ext uri="{FF2B5EF4-FFF2-40B4-BE49-F238E27FC236}">
                <a16:creationId xmlns:a16="http://schemas.microsoft.com/office/drawing/2014/main" id="{19EFEC4B-93A2-4739-BDFA-4C205ED6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384120"/>
            <a:ext cx="27428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APPENDIX • EVALUATION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3" name="Text 1">
            <a:extLst xmlns:a="http://schemas.openxmlformats.org/drawingml/2006/main">
              <a:ext uri="{FF2B5EF4-FFF2-40B4-BE49-F238E27FC236}">
                <a16:creationId xmlns:a16="http://schemas.microsoft.com/office/drawing/2014/main" id="{D1AE4FFD-D66F-40B9-B1E2-669138525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713160"/>
            <a:ext cx="10743840" cy="84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6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The honesty controls pass; research quality still needs work</a:t>
            </a:r>
            <a:endParaRPr sz="3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4" name="Text 2">
            <a:extLst xmlns:a="http://schemas.openxmlformats.org/drawingml/2006/main">
              <a:ext uri="{FF2B5EF4-FFF2-40B4-BE49-F238E27FC236}">
                <a16:creationId xmlns:a16="http://schemas.microsoft.com/office/drawing/2014/main" id="{B95A86C9-23CF-4478-9CF6-45E3A00E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1664280"/>
            <a:ext cx="21942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19">
                <a:solidFill>
                  <a:srgbClr val="0F766E"/>
                </a:solidFill>
                <a:latin typeface="Aptos"/>
                <a:ea typeface="Aptos"/>
                <a:cs typeface="Aptos"/>
              </a:rPr>
              <a:t>STABLE STRENGTHS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5" name="Text 3">
            <a:extLst xmlns:a="http://schemas.openxmlformats.org/drawingml/2006/main">
              <a:ext uri="{FF2B5EF4-FFF2-40B4-BE49-F238E27FC236}">
                <a16:creationId xmlns:a16="http://schemas.microsoft.com/office/drawing/2014/main" id="{8DBA1692-5C6A-4791-98CB-CE4A7CB35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64280"/>
            <a:ext cx="24685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19">
                <a:solidFill>
                  <a:srgbClr val="B45309"/>
                </a:solidFill>
                <a:latin typeface="Aptos"/>
                <a:ea typeface="Aptos"/>
                <a:cs typeface="Aptos"/>
              </a:rPr>
              <a:t>MEASURED LIMITATIONS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6" name="Shape 4">
            <a:extLst xmlns:a="http://schemas.openxmlformats.org/drawingml/2006/main">
              <a:ext uri="{FF2B5EF4-FFF2-40B4-BE49-F238E27FC236}">
                <a16:creationId xmlns:a16="http://schemas.microsoft.com/office/drawing/2014/main" id="{8196031A-69B5-444D-9F3D-64C15312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030040"/>
            <a:ext cx="489168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B7E4D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7" name="Text 5">
            <a:extLst xmlns:a="http://schemas.openxmlformats.org/drawingml/2006/main">
              <a:ext uri="{FF2B5EF4-FFF2-40B4-BE49-F238E27FC236}">
                <a16:creationId xmlns:a16="http://schemas.microsoft.com/office/drawing/2014/main" id="{BE3A56A1-8028-4C9E-9655-8AF10297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9840"/>
            <a:ext cx="456264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800" b="1" u="none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1.0</a:t>
            </a:r>
            <a:endParaRPr sz="2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8" name="Text 6">
            <a:extLst xmlns:a="http://schemas.openxmlformats.org/drawingml/2006/main">
              <a:ext uri="{FF2B5EF4-FFF2-40B4-BE49-F238E27FC236}">
                <a16:creationId xmlns:a16="http://schemas.microsoft.com/office/drawing/2014/main" id="{265D3931-223D-4EDD-A158-5088DA91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7040"/>
            <a:ext cx="456264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Unsupported claims refused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9" name="Shape 7">
            <a:extLst xmlns:a="http://schemas.openxmlformats.org/drawingml/2006/main">
              <a:ext uri="{FF2B5EF4-FFF2-40B4-BE49-F238E27FC236}">
                <a16:creationId xmlns:a16="http://schemas.microsoft.com/office/drawing/2014/main" id="{B0702F60-B270-4879-9F8C-3C0C3C68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3108960"/>
            <a:ext cx="489168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B7E4D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0" name="Text 8">
            <a:extLst xmlns:a="http://schemas.openxmlformats.org/drawingml/2006/main">
              <a:ext uri="{FF2B5EF4-FFF2-40B4-BE49-F238E27FC236}">
                <a16:creationId xmlns:a16="http://schemas.microsoft.com/office/drawing/2014/main" id="{2FE8C594-B359-4192-B3F6-DC856271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8760"/>
            <a:ext cx="456264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800" b="1" u="none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</a:t>
            </a:r>
            <a:endParaRPr sz="2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1" name="Text 9">
            <a:extLst xmlns:a="http://schemas.openxmlformats.org/drawingml/2006/main">
              <a:ext uri="{FF2B5EF4-FFF2-40B4-BE49-F238E27FC236}">
                <a16:creationId xmlns:a16="http://schemas.microsoft.com/office/drawing/2014/main" id="{D03E132A-3776-49F1-916D-5C98743E2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5960"/>
            <a:ext cx="456264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False claims on thin-data companies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2" name="Shape 10">
            <a:extLst xmlns:a="http://schemas.openxmlformats.org/drawingml/2006/main">
              <a:ext uri="{FF2B5EF4-FFF2-40B4-BE49-F238E27FC236}">
                <a16:creationId xmlns:a16="http://schemas.microsoft.com/office/drawing/2014/main" id="{BC2F9AB4-BEB6-44C5-8031-0CC2037B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4187880"/>
            <a:ext cx="489168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B7E4D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3" name="Text 11">
            <a:extLst xmlns:a="http://schemas.openxmlformats.org/drawingml/2006/main">
              <a:ext uri="{FF2B5EF4-FFF2-40B4-BE49-F238E27FC236}">
                <a16:creationId xmlns:a16="http://schemas.microsoft.com/office/drawing/2014/main" id="{03DC1155-D461-4B82-9F26-25E40D9A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0"/>
            <a:ext cx="456264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800" b="1" u="none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</a:t>
            </a:r>
            <a:endParaRPr sz="2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4" name="Text 12">
            <a:extLst xmlns:a="http://schemas.openxmlformats.org/drawingml/2006/main">
              <a:ext uri="{FF2B5EF4-FFF2-40B4-BE49-F238E27FC236}">
                <a16:creationId xmlns:a16="http://schemas.microsoft.com/office/drawing/2014/main" id="{AA881CBF-E2AF-4429-BE07-971E9E41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456264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Missing source details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5" name="Shape 13">
            <a:extLst xmlns:a="http://schemas.openxmlformats.org/drawingml/2006/main">
              <a:ext uri="{FF2B5EF4-FFF2-40B4-BE49-F238E27FC236}">
                <a16:creationId xmlns:a16="http://schemas.microsoft.com/office/drawing/2014/main" id="{26CE3924-57E1-4EF8-B7B8-B9A460DC7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030040"/>
            <a:ext cx="493740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6" name="Text 14">
            <a:extLst xmlns:a="http://schemas.openxmlformats.org/drawingml/2006/main">
              <a:ext uri="{FF2B5EF4-FFF2-40B4-BE49-F238E27FC236}">
                <a16:creationId xmlns:a16="http://schemas.microsoft.com/office/drawing/2014/main" id="{CFDE188C-C7E5-4322-A97F-5E50BAC1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760" y="2139840"/>
            <a:ext cx="123408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700" b="1" u="none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0.444</a:t>
            </a:r>
            <a:endParaRPr sz="2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7" name="Text 15">
            <a:extLst xmlns:a="http://schemas.openxmlformats.org/drawingml/2006/main">
              <a:ext uri="{FF2B5EF4-FFF2-40B4-BE49-F238E27FC236}">
                <a16:creationId xmlns:a16="http://schemas.microsoft.com/office/drawing/2014/main" id="{8322B8B9-DD0E-4600-9760-940A8452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360" y="2176200"/>
            <a:ext cx="191988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0B1020"/>
                </a:solidFill>
                <a:latin typeface="Aptos"/>
                <a:ea typeface="Aptos"/>
                <a:cs typeface="Aptos"/>
              </a:rPr>
              <a:t>Systems found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8" name="Text 16">
            <a:extLst xmlns:a="http://schemas.openxmlformats.org/drawingml/2006/main">
              <a:ext uri="{FF2B5EF4-FFF2-40B4-BE49-F238E27FC236}">
                <a16:creationId xmlns:a16="http://schemas.microsoft.com/office/drawing/2014/main" id="{C83BDBD6-162B-43A3-9B9F-A2F90719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240" y="2185560"/>
            <a:ext cx="11700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target 0.75</a:t>
            </a:r>
            <a:endParaRPr sz="1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9" name="Shape 17">
            <a:extLst xmlns:a="http://schemas.openxmlformats.org/drawingml/2006/main">
              <a:ext uri="{FF2B5EF4-FFF2-40B4-BE49-F238E27FC236}">
                <a16:creationId xmlns:a16="http://schemas.microsoft.com/office/drawing/2014/main" id="{0DB9825D-7508-4995-95C7-934EDA4F3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108960"/>
            <a:ext cx="493740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0" name="Text 18">
            <a:extLst xmlns:a="http://schemas.openxmlformats.org/drawingml/2006/main">
              <a:ext uri="{FF2B5EF4-FFF2-40B4-BE49-F238E27FC236}">
                <a16:creationId xmlns:a16="http://schemas.microsoft.com/office/drawing/2014/main" id="{17848AE0-FF6F-40E1-98A0-DB4C3639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760" y="3218760"/>
            <a:ext cx="123408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700" b="1" u="none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0.739</a:t>
            </a:r>
            <a:endParaRPr sz="2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1" name="Text 19">
            <a:extLst xmlns:a="http://schemas.openxmlformats.org/drawingml/2006/main">
              <a:ext uri="{FF2B5EF4-FFF2-40B4-BE49-F238E27FC236}">
                <a16:creationId xmlns:a16="http://schemas.microsoft.com/office/drawing/2014/main" id="{8D7682D7-13A7-457B-B39E-C3D67C88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360" y="3255120"/>
            <a:ext cx="191988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0B1020"/>
                </a:solidFill>
                <a:latin typeface="Aptos"/>
                <a:ea typeface="Aptos"/>
                <a:cs typeface="Aptos"/>
              </a:rPr>
              <a:t>Role labels correct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2" name="Text 20">
            <a:extLst xmlns:a="http://schemas.openxmlformats.org/drawingml/2006/main">
              <a:ext uri="{FF2B5EF4-FFF2-40B4-BE49-F238E27FC236}">
                <a16:creationId xmlns:a16="http://schemas.microsoft.com/office/drawing/2014/main" id="{F48EC716-45C8-4BDE-B38C-BEB97565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240" y="3264480"/>
            <a:ext cx="11700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target 0.90</a:t>
            </a:r>
            <a:endParaRPr sz="1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3" name="Shape 21">
            <a:extLst xmlns:a="http://schemas.openxmlformats.org/drawingml/2006/main">
              <a:ext uri="{FF2B5EF4-FFF2-40B4-BE49-F238E27FC236}">
                <a16:creationId xmlns:a16="http://schemas.microsoft.com/office/drawing/2014/main" id="{612E23E4-AB61-4840-9EC1-1E5C1F1B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187880"/>
            <a:ext cx="493740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4" name="Text 22">
            <a:extLst xmlns:a="http://schemas.openxmlformats.org/drawingml/2006/main">
              <a:ext uri="{FF2B5EF4-FFF2-40B4-BE49-F238E27FC236}">
                <a16:creationId xmlns:a16="http://schemas.microsoft.com/office/drawing/2014/main" id="{979C9888-DF46-4225-90BC-23760AD0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760" y="4297680"/>
            <a:ext cx="123408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700" b="1" u="none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0.333</a:t>
            </a:r>
            <a:endParaRPr sz="2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5" name="Text 23">
            <a:extLst xmlns:a="http://schemas.openxmlformats.org/drawingml/2006/main">
              <a:ext uri="{FF2B5EF4-FFF2-40B4-BE49-F238E27FC236}">
                <a16:creationId xmlns:a16="http://schemas.microsoft.com/office/drawing/2014/main" id="{7780F269-F960-4E65-A61F-8069902E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360" y="4334400"/>
            <a:ext cx="191988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6642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0B1020"/>
                </a:solidFill>
                <a:latin typeface="Aptos"/>
                <a:ea typeface="Aptos"/>
                <a:cs typeface="Aptos"/>
              </a:rPr>
              <a:t>Unsupported use claims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6" name="Text 24">
            <a:extLst xmlns:a="http://schemas.openxmlformats.org/drawingml/2006/main">
              <a:ext uri="{FF2B5EF4-FFF2-40B4-BE49-F238E27FC236}">
                <a16:creationId xmlns:a16="http://schemas.microsoft.com/office/drawing/2014/main" id="{FC47EF03-61B4-49CB-AE05-4DA53320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240" y="4343400"/>
            <a:ext cx="11700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target 0.10</a:t>
            </a:r>
            <a:endParaRPr sz="1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7" name="Shape 25">
            <a:extLst xmlns:a="http://schemas.openxmlformats.org/drawingml/2006/main">
              <a:ext uri="{FF2B5EF4-FFF2-40B4-BE49-F238E27FC236}">
                <a16:creationId xmlns:a16="http://schemas.microsoft.com/office/drawing/2014/main" id="{6049E9B7-C302-47A3-A59F-7D688BDEC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468040"/>
            <a:ext cx="10634040" cy="69444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2700">
            <a:solidFill>
              <a:srgbClr val="F1F5F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8" name="Text 26">
            <a:extLst xmlns:a="http://schemas.openxmlformats.org/drawingml/2006/main">
              <a:ext uri="{FF2B5EF4-FFF2-40B4-BE49-F238E27FC236}">
                <a16:creationId xmlns:a16="http://schemas.microsoft.com/office/drawing/2014/main" id="{4C09B2C6-BD0C-4FF3-8140-A0446743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480" y="5678280"/>
            <a:ext cx="11426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64748B"/>
                </a:solidFill>
                <a:latin typeface="Aptos"/>
                <a:ea typeface="Aptos"/>
                <a:cs typeface="Aptos"/>
              </a:rPr>
              <a:t>SAME CODE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9" name="Text 27">
            <a:extLst xmlns:a="http://schemas.openxmlformats.org/drawingml/2006/main">
              <a:ext uri="{FF2B5EF4-FFF2-40B4-BE49-F238E27FC236}">
                <a16:creationId xmlns:a16="http://schemas.microsoft.com/office/drawing/2014/main" id="{BE224489-3823-4A86-A978-5C3DDA20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360" y="5641920"/>
            <a:ext cx="13896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800" b="1" u="none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RUN 3  0.556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0" name="Shape 28">
            <a:extLst xmlns:a="http://schemas.openxmlformats.org/drawingml/2006/main">
              <a:ext uri="{FF2B5EF4-FFF2-40B4-BE49-F238E27FC236}">
                <a16:creationId xmlns:a16="http://schemas.microsoft.com/office/drawing/2014/main" id="{B1FDB213-06E0-4DD2-A976-4519115FE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3760" y="5797080"/>
            <a:ext cx="841320" cy="360"/>
          </a:xfrm>
          <a:prstGeom xmlns:a="http://schemas.openxmlformats.org/drawingml/2006/main" prst="line">
            <a:avLst/>
          </a:prstGeom>
          <a:ln xmlns:a="http://schemas.openxmlformats.org/drawingml/2006/main" w="31750">
            <a:solidFill>
              <a:srgbClr val="E2E8F0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1" name="Text 29">
            <a:extLst xmlns:a="http://schemas.openxmlformats.org/drawingml/2006/main">
              <a:ext uri="{FF2B5EF4-FFF2-40B4-BE49-F238E27FC236}">
                <a16:creationId xmlns:a16="http://schemas.microsoft.com/office/drawing/2014/main" id="{F047F257-4636-4105-B57E-DE069DA0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3240" y="5641920"/>
            <a:ext cx="13896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800" b="1" u="none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RUN 5  0.444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2" name="Text 30">
            <a:extLst xmlns:a="http://schemas.openxmlformats.org/drawingml/2006/main">
              <a:ext uri="{FF2B5EF4-FFF2-40B4-BE49-F238E27FC236}">
                <a16:creationId xmlns:a16="http://schemas.microsoft.com/office/drawing/2014/main" id="{1D95A243-1684-425D-9F32-ED7B214EA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641920"/>
            <a:ext cx="44434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6947" lnSpcReduction="9999"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Same code, different recall: one run is not evidence of improvement.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3" name="Text 31">
            <a:extLst xmlns:a="http://schemas.openxmlformats.org/drawingml/2006/main">
              <a:ext uri="{FF2B5EF4-FFF2-40B4-BE49-F238E27FC236}">
                <a16:creationId xmlns:a16="http://schemas.microsoft.com/office/drawing/2014/main" id="{C2FCF663-4561-4B33-8A1D-D78276D75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0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APPENDIX • EVALUATION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8A0B43A9-585F-428E-BB9F-5CEDFC03C9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BA58DA2A-B818-18A9-29C1-B697728D5BCE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8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9011136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5" name="Text 0">
            <a:extLst xmlns:a="http://schemas.openxmlformats.org/drawingml/2006/main">
              <a:ext uri="{FF2B5EF4-FFF2-40B4-BE49-F238E27FC236}">
                <a16:creationId xmlns:a16="http://schemas.microsoft.com/office/drawing/2014/main" id="{FE84A012-AD9E-4777-B398-0CDD08F3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4143"/>
            <a:ext cx="2598706" cy="219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APPENDIX • SCOPE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6" name="Text 1">
            <a:extLst xmlns:a="http://schemas.openxmlformats.org/drawingml/2006/main">
              <a:ext uri="{FF2B5EF4-FFF2-40B4-BE49-F238E27FC236}">
                <a16:creationId xmlns:a16="http://schemas.microsoft.com/office/drawing/2014/main" id="{2D8899FC-643B-439D-ADD1-173988E9E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37" y="713137"/>
            <a:ext cx="10743819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 lnSpcReduction="19999"/>
          </a:bodyPr>
          <a:lstStyle xmlns:a="http://schemas.openxmlformats.org/drawingml/2006/main"/>
          <a:p xmlns:a="http://schemas.openxmlformats.org/drawingml/2006/main">
            <a:pPr algn="l" defTabSz="914400">
              <a:lnSpc>
                <a:spcPct val="100000"/>
              </a:lnSpc>
              <a:buNone/>
              <a:tabLst>
                <a:tab pos="0" algn="l"/>
              </a:tabLst>
              <a:defRPr sz="3500" b="1">
                <a:solidFill>
                  <a:srgbClr val="0B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5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Discovery finds facts; the checker applies the law</a:t>
            </a:r>
            <a:endParaRPr sz="3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7" name="Shape 2">
            <a:extLst xmlns:a="http://schemas.openxmlformats.org/drawingml/2006/main">
              <a:ext uri="{FF2B5EF4-FFF2-40B4-BE49-F238E27FC236}">
                <a16:creationId xmlns:a16="http://schemas.microsoft.com/office/drawing/2014/main" id="{4C88A50C-CE58-4753-B410-8BCD1891D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5120" y="3456360"/>
            <a:ext cx="804600" cy="360"/>
          </a:xfrm>
          <a:prstGeom xmlns:a="http://schemas.openxmlformats.org/drawingml/2006/main" prst="line">
            <a:avLst/>
          </a:prstGeom>
          <a:ln xmlns:a="http://schemas.openxmlformats.org/drawingml/2006/main" w="2794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8" name="Shape 3">
            <a:extLst xmlns:a="http://schemas.openxmlformats.org/drawingml/2006/main">
              <a:ext uri="{FF2B5EF4-FFF2-40B4-BE49-F238E27FC236}">
                <a16:creationId xmlns:a16="http://schemas.microsoft.com/office/drawing/2014/main" id="{6326EB9D-61AF-4E15-8CFB-07CA4822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20" y="3456360"/>
            <a:ext cx="804600" cy="360"/>
          </a:xfrm>
          <a:prstGeom xmlns:a="http://schemas.openxmlformats.org/drawingml/2006/main" prst="line">
            <a:avLst/>
          </a:prstGeom>
          <a:ln xmlns:a="http://schemas.openxmlformats.org/drawingml/2006/main" w="2794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9" name="Shape 4">
            <a:extLst xmlns:a="http://schemas.openxmlformats.org/drawingml/2006/main">
              <a:ext uri="{FF2B5EF4-FFF2-40B4-BE49-F238E27FC236}">
                <a16:creationId xmlns:a16="http://schemas.microsoft.com/office/drawing/2014/main" id="{0A2276C7-2D87-4201-9A4C-C8FEE27F0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1892880"/>
            <a:ext cx="4224240" cy="3309840"/>
          </a:xfrm>
          <a:prstGeom xmlns:a="http://schemas.openxmlformats.org/drawingml/2006/main" prst="roundRect">
            <a:avLst>
              <a:gd name="adj" fmla="val 442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BED3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0" name="Text 5">
            <a:extLst xmlns:a="http://schemas.openxmlformats.org/drawingml/2006/main">
              <a:ext uri="{FF2B5EF4-FFF2-40B4-BE49-F238E27FC236}">
                <a16:creationId xmlns:a16="http://schemas.microsoft.com/office/drawing/2014/main" id="{EBEAECA0-A8AA-4994-A82F-A8D6E9EC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20" y="2240280"/>
            <a:ext cx="19198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39">
                <a:solidFill>
                  <a:srgbClr val="2563EB"/>
                </a:solidFill>
                <a:latin typeface="Aptos"/>
                <a:ea typeface="Aptos"/>
                <a:cs typeface="Aptos"/>
              </a:rPr>
              <a:t>AI PRE-SCAN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1" name="Text 6">
            <a:extLst xmlns:a="http://schemas.openxmlformats.org/drawingml/2006/main">
              <a:ext uri="{FF2B5EF4-FFF2-40B4-BE49-F238E27FC236}">
                <a16:creationId xmlns:a16="http://schemas.microsoft.com/office/drawing/2014/main" id="{27F60434-0AB0-4D70-B071-2A94CED83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20" y="2670120"/>
            <a:ext cx="349272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7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Establish candidate facts</a:t>
            </a:r>
            <a:endParaRPr sz="2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2" name="Shape 7">
            <a:extLst xmlns:a="http://schemas.openxmlformats.org/drawingml/2006/main">
              <a:ext uri="{FF2B5EF4-FFF2-40B4-BE49-F238E27FC236}">
                <a16:creationId xmlns:a16="http://schemas.microsoft.com/office/drawing/2014/main" id="{7A47C345-683C-433F-A119-EE7C7B11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36492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3" name="Text 8">
            <a:extLst xmlns:a="http://schemas.openxmlformats.org/drawingml/2006/main">
              <a:ext uri="{FF2B5EF4-FFF2-40B4-BE49-F238E27FC236}">
                <a16:creationId xmlns:a16="http://schemas.microsoft.com/office/drawing/2014/main" id="{62F51FF9-DBBE-4186-AD8A-2680DDAB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960" y="330084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Candidate systems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4" name="Shape 9">
            <a:extLst xmlns:a="http://schemas.openxmlformats.org/drawingml/2006/main">
              <a:ext uri="{FF2B5EF4-FFF2-40B4-BE49-F238E27FC236}">
                <a16:creationId xmlns:a16="http://schemas.microsoft.com/office/drawing/2014/main" id="{E4E87F43-583E-4CF3-A8DC-4EF4A4CA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75804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5" name="Text 10">
            <a:extLst xmlns:a="http://schemas.openxmlformats.org/drawingml/2006/main">
              <a:ext uri="{FF2B5EF4-FFF2-40B4-BE49-F238E27FC236}">
                <a16:creationId xmlns:a16="http://schemas.microsoft.com/office/drawing/2014/main" id="{FAA99820-0616-4587-8C52-28E42C53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960" y="369432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Exact quoted evidence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6" name="Shape 11">
            <a:extLst xmlns:a="http://schemas.openxmlformats.org/drawingml/2006/main">
              <a:ext uri="{FF2B5EF4-FFF2-40B4-BE49-F238E27FC236}">
                <a16:creationId xmlns:a16="http://schemas.microsoft.com/office/drawing/2014/main" id="{C6106C08-9CAC-485A-BA62-3739E08DC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15152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7" name="Text 12">
            <a:extLst xmlns:a="http://schemas.openxmlformats.org/drawingml/2006/main">
              <a:ext uri="{FF2B5EF4-FFF2-40B4-BE49-F238E27FC236}">
                <a16:creationId xmlns:a16="http://schemas.microsoft.com/office/drawing/2014/main" id="{66E3F9CA-6DE5-4355-9DDD-CF1B99861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960" y="408744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Source provenance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8" name="Shape 13">
            <a:extLst xmlns:a="http://schemas.openxmlformats.org/drawingml/2006/main">
              <a:ext uri="{FF2B5EF4-FFF2-40B4-BE49-F238E27FC236}">
                <a16:creationId xmlns:a16="http://schemas.microsoft.com/office/drawing/2014/main" id="{6C4404D9-ACEA-417F-B32C-71802B61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4464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9" name="Text 14">
            <a:extLst xmlns:a="http://schemas.openxmlformats.org/drawingml/2006/main">
              <a:ext uri="{FF2B5EF4-FFF2-40B4-BE49-F238E27FC236}">
                <a16:creationId xmlns:a16="http://schemas.microsoft.com/office/drawing/2014/main" id="{F45F05F5-F6AA-4B7F-8F6C-59648FAB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960" y="448056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Unresolved questions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0" name="Shape 15">
            <a:extLst xmlns:a="http://schemas.openxmlformats.org/drawingml/2006/main">
              <a:ext uri="{FF2B5EF4-FFF2-40B4-BE49-F238E27FC236}">
                <a16:creationId xmlns:a16="http://schemas.microsoft.com/office/drawing/2014/main" id="{B6D66E97-82DC-4F99-9ADB-A530B262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0480" y="3136320"/>
            <a:ext cx="585000" cy="58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1" name="Text 16">
            <a:extLst xmlns:a="http://schemas.openxmlformats.org/drawingml/2006/main">
              <a:ext uri="{FF2B5EF4-FFF2-40B4-BE49-F238E27FC236}">
                <a16:creationId xmlns:a16="http://schemas.microsoft.com/office/drawing/2014/main" id="{F7FFCB3C-9BB5-48F2-8911-40684D53A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1880" y="3831480"/>
            <a:ext cx="10422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11">
                <a:solidFill>
                  <a:srgbClr val="2563EB"/>
                </a:solidFill>
                <a:latin typeface="Aptos"/>
                <a:ea typeface="Aptos"/>
                <a:cs typeface="Aptos"/>
              </a:rPr>
              <a:t>HUMAN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2" name="Text 17">
            <a:extLst xmlns:a="http://schemas.openxmlformats.org/drawingml/2006/main">
              <a:ext uri="{FF2B5EF4-FFF2-40B4-BE49-F238E27FC236}">
                <a16:creationId xmlns:a16="http://schemas.microsoft.com/office/drawing/2014/main" id="{185837D8-05FB-447B-9912-019505D0D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1880" y="4078080"/>
            <a:ext cx="10422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11">
                <a:solidFill>
                  <a:srgbClr val="2563EB"/>
                </a:solidFill>
                <a:latin typeface="Aptos"/>
                <a:ea typeface="Aptos"/>
                <a:cs typeface="Aptos"/>
              </a:rPr>
              <a:t>REVIEW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3" name="Shape 18">
            <a:extLst xmlns:a="http://schemas.openxmlformats.org/drawingml/2006/main">
              <a:ext uri="{FF2B5EF4-FFF2-40B4-BE49-F238E27FC236}">
                <a16:creationId xmlns:a16="http://schemas.microsoft.com/office/drawing/2014/main" id="{2C9B8C63-54C6-4397-B9B6-9F30BFEC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892880"/>
            <a:ext cx="4251600" cy="3309840"/>
          </a:xfrm>
          <a:prstGeom xmlns:a="http://schemas.openxmlformats.org/drawingml/2006/main" prst="roundRect">
            <a:avLst>
              <a:gd name="adj" fmla="val 44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  <a:effectLst xmlns:a="http://schemas.openxmlformats.org/drawingml/2006/main">
            <a:outerShdw dist="0" dir="0" sx="100000" sy="100000" kx="0" ky="0" algn="bl" rotWithShape="0">
              <a:srgbClr val="0B1020">
                <a:alpha val="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4" name="Text 19">
            <a:extLst xmlns:a="http://schemas.openxmlformats.org/drawingml/2006/main">
              <a:ext uri="{FF2B5EF4-FFF2-40B4-BE49-F238E27FC236}">
                <a16:creationId xmlns:a16="http://schemas.microsoft.com/office/drawing/2014/main" id="{92E944D8-8286-4FAE-A8EF-886161270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360" y="2240280"/>
            <a:ext cx="251424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19">
                <a:solidFill>
                  <a:srgbClr val="0F766E"/>
                </a:solidFill>
                <a:latin typeface="Aptos"/>
                <a:ea typeface="Aptos"/>
                <a:cs typeface="Aptos"/>
              </a:rPr>
              <a:t>DETERMINISTIC CHECKER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5" name="Text 20">
            <a:extLst xmlns:a="http://schemas.openxmlformats.org/drawingml/2006/main">
              <a:ext uri="{FF2B5EF4-FFF2-40B4-BE49-F238E27FC236}">
                <a16:creationId xmlns:a16="http://schemas.microsoft.com/office/drawing/2014/main" id="{C238E7F4-CD09-4AA4-8590-2F2D23546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360" y="2670120"/>
            <a:ext cx="342864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7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Determine the law</a:t>
            </a:r>
            <a:endParaRPr sz="2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6" name="Shape 21">
            <a:extLst xmlns:a="http://schemas.openxmlformats.org/drawingml/2006/main">
              <a:ext uri="{FF2B5EF4-FFF2-40B4-BE49-F238E27FC236}">
                <a16:creationId xmlns:a16="http://schemas.microsoft.com/office/drawing/2014/main" id="{340332C6-573A-4CF6-8D12-1BB9F147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20" y="336492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7" name="Text 22">
            <a:extLst xmlns:a="http://schemas.openxmlformats.org/drawingml/2006/main">
              <a:ext uri="{FF2B5EF4-FFF2-40B4-BE49-F238E27FC236}">
                <a16:creationId xmlns:a16="http://schemas.microsoft.com/office/drawing/2014/main" id="{43D30892-A717-4014-A01E-709CFC9D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30084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Confirm the facts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8" name="Shape 23">
            <a:extLst xmlns:a="http://schemas.openxmlformats.org/drawingml/2006/main">
              <a:ext uri="{FF2B5EF4-FFF2-40B4-BE49-F238E27FC236}">
                <a16:creationId xmlns:a16="http://schemas.microsoft.com/office/drawing/2014/main" id="{1A2A68BD-D836-46A1-9F83-210D88DB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20" y="375804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9" name="Text 24">
            <a:extLst xmlns:a="http://schemas.openxmlformats.org/drawingml/2006/main">
              <a:ext uri="{FF2B5EF4-FFF2-40B4-BE49-F238E27FC236}">
                <a16:creationId xmlns:a16="http://schemas.microsoft.com/office/drawing/2014/main" id="{79251DEB-21A1-4AAE-90FB-6347080A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69432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Classify risk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0" name="Shape 25">
            <a:extLst xmlns:a="http://schemas.openxmlformats.org/drawingml/2006/main">
              <a:ext uri="{FF2B5EF4-FFF2-40B4-BE49-F238E27FC236}">
                <a16:creationId xmlns:a16="http://schemas.microsoft.com/office/drawing/2014/main" id="{F022F9A9-A6F0-4B05-A715-AD21011C9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20" y="415152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1" name="Text 26">
            <a:extLst xmlns:a="http://schemas.openxmlformats.org/drawingml/2006/main">
              <a:ext uri="{FF2B5EF4-FFF2-40B4-BE49-F238E27FC236}">
                <a16:creationId xmlns:a16="http://schemas.microsoft.com/office/drawing/2014/main" id="{61A612F6-FF5D-4157-AB10-85D7676F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8744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Determine obligations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2" name="Shape 27">
            <a:extLst xmlns:a="http://schemas.openxmlformats.org/drawingml/2006/main">
              <a:ext uri="{FF2B5EF4-FFF2-40B4-BE49-F238E27FC236}">
                <a16:creationId xmlns:a16="http://schemas.microsoft.com/office/drawing/2014/main" id="{EEAC2EC9-1693-48A5-8C55-1D52396B1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20" y="454464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3" name="Text 28">
            <a:extLst xmlns:a="http://schemas.openxmlformats.org/drawingml/2006/main">
              <a:ext uri="{FF2B5EF4-FFF2-40B4-BE49-F238E27FC236}">
                <a16:creationId xmlns:a16="http://schemas.microsoft.com/office/drawing/2014/main" id="{6753719E-65F6-4161-8ED1-F5D1144DF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48056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Preserve legal accountability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4" name="Shape 29">
            <a:extLst xmlns:a="http://schemas.openxmlformats.org/drawingml/2006/main">
              <a:ext uri="{FF2B5EF4-FFF2-40B4-BE49-F238E27FC236}">
                <a16:creationId xmlns:a16="http://schemas.microsoft.com/office/drawing/2014/main" id="{0F8A7D1A-0CC4-4E3C-975C-4F17E640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541120"/>
            <a:ext cx="10634040" cy="5850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5" name="Text 30">
            <a:extLst xmlns:a="http://schemas.openxmlformats.org/drawingml/2006/main">
              <a:ext uri="{FF2B5EF4-FFF2-40B4-BE49-F238E27FC236}">
                <a16:creationId xmlns:a16="http://schemas.microsoft.com/office/drawing/2014/main" id="{8D1E05C0-9AAF-4334-9B86-F553DAE58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480" y="5733360"/>
            <a:ext cx="133452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B45309"/>
                </a:solidFill>
                <a:latin typeface="Aptos"/>
                <a:ea typeface="Aptos"/>
                <a:cs typeface="Aptos"/>
              </a:rPr>
              <a:t>NEVER CLAIMED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6" name="Text 31">
            <a:extLst xmlns:a="http://schemas.openxmlformats.org/drawingml/2006/main">
              <a:ext uri="{FF2B5EF4-FFF2-40B4-BE49-F238E27FC236}">
                <a16:creationId xmlns:a16="http://schemas.microsoft.com/office/drawing/2014/main" id="{6AF4350F-6A6C-4777-B567-E54797AB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600" y="5687640"/>
            <a:ext cx="83664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complete internal visibility  •  legal advice  •  autonomous compliance decisions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7" name="Text 32">
            <a:extLst xmlns:a="http://schemas.openxmlformats.org/drawingml/2006/main">
              <a:ext uri="{FF2B5EF4-FFF2-40B4-BE49-F238E27FC236}">
                <a16:creationId xmlns:a16="http://schemas.microsoft.com/office/drawing/2014/main" id="{C172EFDA-B878-456D-9442-99416620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APPENDIX • SCOPE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8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BF07703-FA62-4737-AF0D-9CF738DA09DF}"/>
              </a:ext>
            </a:extLst>
          </p:cNvPr>
          <p:cNvSpPr>
            <a:spLocks xmlns:a="http://schemas.openxmlformats.org/drawingml/2006/main" noGrp="1"/>
          </p:cNvSpPr>
          <p:nvPr>
            <p:ph type="sldNum" idx="13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388657AE-30A1-5A7A-6A7F-315D84436430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9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7575036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9" name="Text 0">
            <a:extLst xmlns:a="http://schemas.openxmlformats.org/drawingml/2006/main">
              <a:ext uri="{FF2B5EF4-FFF2-40B4-BE49-F238E27FC236}">
                <a16:creationId xmlns:a16="http://schemas.microsoft.com/office/drawing/2014/main" id="{7C4AE6D1-77AB-4314-B324-B27D06A6A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384120"/>
            <a:ext cx="27428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APPENDIX • DELIVERY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0" name="Text 1">
            <a:extLst xmlns:a="http://schemas.openxmlformats.org/drawingml/2006/main">
              <a:ext uri="{FF2B5EF4-FFF2-40B4-BE49-F238E27FC236}">
                <a16:creationId xmlns:a16="http://schemas.microsoft.com/office/drawing/2014/main" id="{CFC4C048-08F9-4DEF-90C1-92DD32F4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713160"/>
            <a:ext cx="10743840" cy="74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4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The MVP is built, integrated and tested</a:t>
            </a:r>
            <a:endParaRPr sz="4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1" name="Shape 2">
            <a:extLst xmlns:a="http://schemas.openxmlformats.org/drawingml/2006/main">
              <a:ext uri="{FF2B5EF4-FFF2-40B4-BE49-F238E27FC236}">
                <a16:creationId xmlns:a16="http://schemas.microsoft.com/office/drawing/2014/main" id="{CAAED393-0BC2-4706-860B-853F6A2C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1719000"/>
            <a:ext cx="8640720" cy="65808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2" name="Shape 3">
            <a:extLst xmlns:a="http://schemas.openxmlformats.org/drawingml/2006/main">
              <a:ext uri="{FF2B5EF4-FFF2-40B4-BE49-F238E27FC236}">
                <a16:creationId xmlns:a16="http://schemas.microsoft.com/office/drawing/2014/main" id="{136D9F9B-D91F-41F1-84EE-AB592471C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1719000"/>
            <a:ext cx="109440" cy="658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3" name="Text 4">
            <a:extLst xmlns:a="http://schemas.openxmlformats.org/drawingml/2006/main">
              <a:ext uri="{FF2B5EF4-FFF2-40B4-BE49-F238E27FC236}">
                <a16:creationId xmlns:a16="http://schemas.microsoft.com/office/drawing/2014/main" id="{FDBE1951-85F4-40FB-9A9A-92417313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560" y="1911240"/>
            <a:ext cx="13896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2563EB"/>
                </a:solidFill>
                <a:latin typeface="Aptos"/>
                <a:ea typeface="Aptos"/>
                <a:cs typeface="Aptos"/>
              </a:rPr>
              <a:t>RUNS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4" name="Text 5">
            <a:extLst xmlns:a="http://schemas.openxmlformats.org/drawingml/2006/main">
              <a:ext uri="{FF2B5EF4-FFF2-40B4-BE49-F238E27FC236}">
                <a16:creationId xmlns:a16="http://schemas.microsoft.com/office/drawing/2014/main" id="{168ADAE5-476A-41D3-93BC-7C03595C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80" y="1856160"/>
            <a:ext cx="6446160" cy="32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Browser UI + CLI from a company-name trigger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5" name="Shape 6">
            <a:extLst xmlns:a="http://schemas.openxmlformats.org/drawingml/2006/main">
              <a:ext uri="{FF2B5EF4-FFF2-40B4-BE49-F238E27FC236}">
                <a16:creationId xmlns:a16="http://schemas.microsoft.com/office/drawing/2014/main" id="{99B7567D-5491-4B92-9C5E-9171BF1E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578680"/>
            <a:ext cx="8640720" cy="65808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6" name="Shape 7">
            <a:extLst xmlns:a="http://schemas.openxmlformats.org/drawingml/2006/main">
              <a:ext uri="{FF2B5EF4-FFF2-40B4-BE49-F238E27FC236}">
                <a16:creationId xmlns:a16="http://schemas.microsoft.com/office/drawing/2014/main" id="{7C69F7CA-61E5-4DF2-A609-65DA045C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578680"/>
            <a:ext cx="109440" cy="658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7" name="Text 8">
            <a:extLst xmlns:a="http://schemas.openxmlformats.org/drawingml/2006/main">
              <a:ext uri="{FF2B5EF4-FFF2-40B4-BE49-F238E27FC236}">
                <a16:creationId xmlns:a16="http://schemas.microsoft.com/office/drawing/2014/main" id="{AEABF63C-C625-42F6-BA0E-7E853AD83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560" y="2770560"/>
            <a:ext cx="13896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3B82F6"/>
                </a:solidFill>
                <a:latin typeface="Aptos"/>
                <a:ea typeface="Aptos"/>
                <a:cs typeface="Aptos"/>
              </a:rPr>
              <a:t>FINDS EVIDENCE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8" name="Text 9">
            <a:extLst xmlns:a="http://schemas.openxmlformats.org/drawingml/2006/main">
              <a:ext uri="{FF2B5EF4-FFF2-40B4-BE49-F238E27FC236}">
                <a16:creationId xmlns:a16="http://schemas.microsoft.com/office/drawing/2014/main" id="{D5090502-B11F-4005-8D92-9C4F0E10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80" y="2715840"/>
            <a:ext cx="6446160" cy="32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Serper · NewsAPI · GLEIF · Wikidata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9" name="Shape 10">
            <a:extLst xmlns:a="http://schemas.openxmlformats.org/drawingml/2006/main">
              <a:ext uri="{FF2B5EF4-FFF2-40B4-BE49-F238E27FC236}">
                <a16:creationId xmlns:a16="http://schemas.microsoft.com/office/drawing/2014/main" id="{0EA0FB3D-5C2E-4E9F-8E16-C8449341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3438000"/>
            <a:ext cx="8640720" cy="65808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0" name="Shape 11">
            <a:extLst xmlns:a="http://schemas.openxmlformats.org/drawingml/2006/main">
              <a:ext uri="{FF2B5EF4-FFF2-40B4-BE49-F238E27FC236}">
                <a16:creationId xmlns:a16="http://schemas.microsoft.com/office/drawing/2014/main" id="{755BA3E9-469D-4F7E-AA49-2D29BD41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3438000"/>
            <a:ext cx="109440" cy="658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1" name="Text 12">
            <a:extLst xmlns:a="http://schemas.openxmlformats.org/drawingml/2006/main">
              <a:ext uri="{FF2B5EF4-FFF2-40B4-BE49-F238E27FC236}">
                <a16:creationId xmlns:a16="http://schemas.microsoft.com/office/drawing/2014/main" id="{C3FB0E0E-2542-4D86-B1CA-86FEF4CB8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560" y="3630240"/>
            <a:ext cx="13896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0F766E"/>
                </a:solidFill>
                <a:latin typeface="Aptos"/>
                <a:ea typeface="Aptos"/>
                <a:cs typeface="Aptos"/>
              </a:rPr>
              <a:t>VERIFIES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2" name="Text 13">
            <a:extLst xmlns:a="http://schemas.openxmlformats.org/drawingml/2006/main">
              <a:ext uri="{FF2B5EF4-FFF2-40B4-BE49-F238E27FC236}">
                <a16:creationId xmlns:a16="http://schemas.microsoft.com/office/drawing/2014/main" id="{F7CA283A-AAA3-4330-ADCF-02449F589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80" y="3575160"/>
            <a:ext cx="6446160" cy="32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OpenAI extraction · Pinecone evidence store · deterministic gate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3" name="Shape 14">
            <a:extLst xmlns:a="http://schemas.openxmlformats.org/drawingml/2006/main">
              <a:ext uri="{FF2B5EF4-FFF2-40B4-BE49-F238E27FC236}">
                <a16:creationId xmlns:a16="http://schemas.microsoft.com/office/drawing/2014/main" id="{39BA4F69-81BE-4D7B-A27A-8A699C5F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4297680"/>
            <a:ext cx="8640720" cy="65808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4" name="Shape 15">
            <a:extLst xmlns:a="http://schemas.openxmlformats.org/drawingml/2006/main">
              <a:ext uri="{FF2B5EF4-FFF2-40B4-BE49-F238E27FC236}">
                <a16:creationId xmlns:a16="http://schemas.microsoft.com/office/drawing/2014/main" id="{C445623C-520A-4828-98A1-A5CC4FD2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4297680"/>
            <a:ext cx="109440" cy="658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5" name="Text 16">
            <a:extLst xmlns:a="http://schemas.openxmlformats.org/drawingml/2006/main">
              <a:ext uri="{FF2B5EF4-FFF2-40B4-BE49-F238E27FC236}">
                <a16:creationId xmlns:a16="http://schemas.microsoft.com/office/drawing/2014/main" id="{193A7B1C-5209-41B5-AC63-6FEC5C9C6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560" y="4489560"/>
            <a:ext cx="13896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0F766E"/>
                </a:solidFill>
                <a:latin typeface="Aptos"/>
                <a:ea typeface="Aptos"/>
                <a:cs typeface="Aptos"/>
              </a:rPr>
              <a:t>DELIVERS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6" name="Text 17">
            <a:extLst xmlns:a="http://schemas.openxmlformats.org/drawingml/2006/main">
              <a:ext uri="{FF2B5EF4-FFF2-40B4-BE49-F238E27FC236}">
                <a16:creationId xmlns:a16="http://schemas.microsoft.com/office/drawing/2014/main" id="{61B04E95-1158-4800-B894-25F4D5FF1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80" y="4434840"/>
            <a:ext cx="6446160" cy="32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Markdown report · n8n → Notion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7" name="Shape 18">
            <a:extLst xmlns:a="http://schemas.openxmlformats.org/drawingml/2006/main">
              <a:ext uri="{FF2B5EF4-FFF2-40B4-BE49-F238E27FC236}">
                <a16:creationId xmlns:a16="http://schemas.microsoft.com/office/drawing/2014/main" id="{0F33F73C-32C2-4655-AC9E-24608AD9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9960" y="3053880"/>
            <a:ext cx="621720" cy="360"/>
          </a:xfrm>
          <a:prstGeom xmlns:a="http://schemas.openxmlformats.org/drawingml/2006/main" prst="line">
            <a:avLst/>
          </a:prstGeom>
          <a:ln xmlns:a="http://schemas.openxmlformats.org/drawingml/2006/main" w="2794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8" name="Shape 19">
            <a:extLst xmlns:a="http://schemas.openxmlformats.org/drawingml/2006/main">
              <a:ext uri="{FF2B5EF4-FFF2-40B4-BE49-F238E27FC236}">
                <a16:creationId xmlns:a16="http://schemas.microsoft.com/office/drawing/2014/main" id="{BF783B1E-8B38-426C-AA09-348731B5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0040" y="2322720"/>
            <a:ext cx="1352880" cy="1481040"/>
          </a:xfrm>
          <a:prstGeom xmlns:a="http://schemas.openxmlformats.org/drawingml/2006/main" prst="roundRect">
            <a:avLst>
              <a:gd name="adj" fmla="val 9459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  <a:effectLst xmlns:a="http://schemas.openxmlformats.org/drawingml/2006/main">
            <a:outerShdw dist="0" dir="0" sx="100000" sy="100000" kx="0" ky="0" algn="bl" rotWithShape="0">
              <a:srgbClr val="0B1020">
                <a:alpha val="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9" name="Text 20">
            <a:extLst xmlns:a="http://schemas.openxmlformats.org/drawingml/2006/main">
              <a:ext uri="{FF2B5EF4-FFF2-40B4-BE49-F238E27FC236}">
                <a16:creationId xmlns:a16="http://schemas.microsoft.com/office/drawing/2014/main" id="{352924FC-A129-4E16-ABB1-CCC0430C4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633377"/>
            <a:ext cx="1200150" cy="785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EVIDENCE-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BACKED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REPORT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0" name="Shape 21">
            <a:extLst xmlns:a="http://schemas.openxmlformats.org/drawingml/2006/main">
              <a:ext uri="{FF2B5EF4-FFF2-40B4-BE49-F238E27FC236}">
                <a16:creationId xmlns:a16="http://schemas.microsoft.com/office/drawing/2014/main" id="{EE4F0A70-22D2-4146-8481-8D15CFA30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394960"/>
            <a:ext cx="6537600" cy="63972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2700">
            <a:solidFill>
              <a:srgbClr val="F1F5F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1" name="Text 22">
            <a:extLst xmlns:a="http://schemas.openxmlformats.org/drawingml/2006/main">
              <a:ext uri="{FF2B5EF4-FFF2-40B4-BE49-F238E27FC236}">
                <a16:creationId xmlns:a16="http://schemas.microsoft.com/office/drawing/2014/main" id="{A470695E-E76B-48EB-BD7C-7B49E106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120" y="5596200"/>
            <a:ext cx="17827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12-company evaluation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2" name="Shape 23">
            <a:extLst xmlns:a="http://schemas.openxmlformats.org/drawingml/2006/main">
              <a:ext uri="{FF2B5EF4-FFF2-40B4-BE49-F238E27FC236}">
                <a16:creationId xmlns:a16="http://schemas.microsoft.com/office/drawing/2014/main" id="{B4B96333-DA51-490F-88B6-E24785E2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577840"/>
            <a:ext cx="360" cy="24660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3" name="Text 24">
            <a:extLst xmlns:a="http://schemas.openxmlformats.org/drawingml/2006/main">
              <a:ext uri="{FF2B5EF4-FFF2-40B4-BE49-F238E27FC236}">
                <a16:creationId xmlns:a16="http://schemas.microsoft.com/office/drawing/2014/main" id="{E086E65B-7A35-4B11-BCD0-FAA7D2B5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596200"/>
            <a:ext cx="20570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2 retained sample reports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4" name="Shape 25">
            <a:extLst xmlns:a="http://schemas.openxmlformats.org/drawingml/2006/main">
              <a:ext uri="{FF2B5EF4-FFF2-40B4-BE49-F238E27FC236}">
                <a16:creationId xmlns:a16="http://schemas.microsoft.com/office/drawing/2014/main" id="{DA588051-8909-479C-9F86-D80CD05D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8040" y="5577840"/>
            <a:ext cx="360" cy="24660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5" name="Text 26">
            <a:extLst xmlns:a="http://schemas.openxmlformats.org/drawingml/2006/main">
              <a:ext uri="{FF2B5EF4-FFF2-40B4-BE49-F238E27FC236}">
                <a16:creationId xmlns:a16="http://schemas.microsoft.com/office/drawing/2014/main" id="{0097827B-F517-4059-9A4E-5A48292D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6640" y="5596200"/>
            <a:ext cx="13255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104 offline tests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6" name="Shape 27">
            <a:extLst xmlns:a="http://schemas.openxmlformats.org/drawingml/2006/main">
              <a:ext uri="{FF2B5EF4-FFF2-40B4-BE49-F238E27FC236}">
                <a16:creationId xmlns:a16="http://schemas.microsoft.com/office/drawing/2014/main" id="{157BB4EA-03FF-4374-A592-9B9FE232E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520" y="5394960"/>
            <a:ext cx="3785400" cy="63972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7" name="Text 28">
            <a:extLst xmlns:a="http://schemas.openxmlformats.org/drawingml/2006/main">
              <a:ext uri="{FF2B5EF4-FFF2-40B4-BE49-F238E27FC236}">
                <a16:creationId xmlns:a16="http://schemas.microsoft.com/office/drawing/2014/main" id="{25E8279F-124B-4CB6-986E-F26D7B393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120" y="5523120"/>
            <a:ext cx="178272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 spc="79">
                <a:solidFill>
                  <a:srgbClr val="B45309"/>
                </a:solidFill>
                <a:latin typeface="Aptos"/>
                <a:ea typeface="Aptos"/>
                <a:cs typeface="Aptos"/>
              </a:rPr>
              <a:t>DESIGNED, NOT BUILT</a:t>
            </a:r>
            <a:endParaRPr sz="1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8" name="Text 29">
            <a:extLst xmlns:a="http://schemas.openxmlformats.org/drawingml/2006/main">
              <a:ext uri="{FF2B5EF4-FFF2-40B4-BE49-F238E27FC236}">
                <a16:creationId xmlns:a16="http://schemas.microsoft.com/office/drawing/2014/main" id="{39068CD3-73A7-4B9A-A5EC-15F7AFA6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120" y="5751720"/>
            <a:ext cx="324576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scheduled sweeps · vendor-corpus ingestion</a:t>
            </a:r>
            <a:endParaRPr sz="11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9" name="Text 30">
            <a:extLst xmlns:a="http://schemas.openxmlformats.org/drawingml/2006/main">
              <a:ext uri="{FF2B5EF4-FFF2-40B4-BE49-F238E27FC236}">
                <a16:creationId xmlns:a16="http://schemas.microsoft.com/office/drawing/2014/main" id="{887A6F48-F66C-4176-9340-C658888CA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APPENDIX • DELIVERY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071EFA8-BCF4-4CE4-BC4B-A1713C7A635E}"/>
              </a:ext>
            </a:extLst>
          </p:cNvPr>
          <p:cNvSpPr>
            <a:spLocks xmlns:a="http://schemas.openxmlformats.org/drawingml/2006/main" noGrp="1"/>
          </p:cNvSpPr>
          <p:nvPr>
            <p:ph type="sldNum" idx="14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DB7BEEEC-A170-5376-2B6E-CB54687B0CB1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10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810978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2026-08-14T08:17:10.8880000Z</dcterms:created>
  <dcterms:modified xsi:type="dcterms:W3CDTF">2026-08-14T08:17:10.8880000Z</dcterms:modified>
</coreProperties>
</file>