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AI Act assessment starts with a basic input: the systems a company actually uses. AI Pre-Scan builds the first draft of that input from public evidence, then shows the adviser exactly what still needs to be verified.
Transition: The problem begins before the compliance form opens.
[Sources]
- docs/elevator-pitch.md
- README.md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compliance tools sensibly assess one known system at a time. The hidden assumption is that someone has already found those systems. For a small company, that list may not exist: a recruitment platform adds an AI feature, marketing buys a tool, or staff use a consumer assistant. So the first meeting begins with a blank page.
Transition: AI Pre-Scan creates a useful starting point before that meeting.
[Sources]
- docs/elevator-pitch.md
- docs/demo-plan.md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input is a company name. The system resolves the company, searches its public footprint, extracts candidate systems and checks every proposed finding against the retrieved passage and its currentness. The outputs are an evidence-backed candidate inventory and the questions the public web cannot answer. It stops before legal judgement.
Transition: The fastest way to understand that boundary is to see both kinds of output.
[Sources]
- docs/system-overview-slide.pptx
- docs/architecture.md
- docs/report-spec.md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a company name, press Scan and take your hands off the keyboard. Narrate one loop-back if it appears. On Personio, land on the quoted sentence and then the verification question. Move to Ballymaloe Foods: the system found no public evidence and claimed no systems. If the live run is unavailable, say that these retained samples were pre-generated through the documented run path.
Transition: Those two reports are different because honesty is enforced before a finding ships.
[Sources]
- samples/personio.md
- samples/ballymaloe-foods.md
- docs/demo-plan.md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cannot emit a finding merely because it sounds plausible. The quote has to exist in the fetched source, the provenance has to be complete and the source has to fit the claim's time. If those checks fail, the graph researches again or turns the uncertainty into a question. Across all five evaluation runs, the three honesty controls stayed stable.
Transition: That gate also explains the stack choice.
[Sources]
- src/ai_prescan/gate.py
- eval/results.md
- docs/architecture.md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LangGraph is primary because the deterministic gate must sit inside the loop, where it can redirect research rather than merely observe a bad result. n8n has a narrower job: receive the completed report and file it in Notion. The delivery path was verified from the Notion API response, not just from n8n reporting success.
Transition: The same architecture points to a recurring product, not just a one-off scan.
[Sources]
- stack_decision.md
- docs/architecture.md
- workflows/README.md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MVP is an on-demand single-company scan. The sharper post-MVP path is vendor-drift monitoring: repeat the scan and report only what changed. A vendor can add AI to software the client already owns, so the client's system landscape changes without a purchase or internal project. That signal recurs, which is the subscription hypothesis to test with compliance advisers after the pilot.
Close: AI Pre-Scan turns AI discovery from a blank-page investigation into an auditable conversation. End here and open the appendix only for questions.
[Sources]
- gtm_future_sprints.md
- docs/elevator-pitch.md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is already strong at refusing unsupported claims, but it is not yet a high-recall discovery engine. Recall, role correctness and over-claiming miss their targets. Retrieval variance also means the evaluation needs repeated runs per configuration or a frozen page cache before it can support tuning claims.
[Sources]
- eval/results.md
- docs/eval-plan.md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Pre-Scan discovers and documents candidate facts from public sources. An adviser confirms those facts, then a separate deterministic checker applies the law. Internal tools, anything behind a login and employee use of consumer AI remain outside the external scan's field of view.
[Sources]
- README.md
- docs/report-spec.md
- docs/elevator-pitch.md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MVP runs through both browser and command-line interfaces. It integrates public search, news and company identity sources, uses OpenAI and Pinecone for extraction and evidence storage, enforces a deterministic gate and can deliver the finished report through n8n into Notion. The retained samples and evaluation results are generated artefacts, not hand-edited showcase copy. Scheduled sweeps and vendor-corpus ingestion remain future work.
[Sources]
- README.md
- docs/architecture.md
- workflows/README.md
- eval/results.md
- samples/personio.md
- samples/ballymaloe-foods.md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BFCFE"/>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563EB"/>
          </a:solidFill>
          <a:ln w="12700">
            <a:solidFill>
              <a:srgbClr val="2563EB"/>
            </a:solidFill>
            <a:prstDash val="solid"/>
          </a:ln>
        </p:spPr>
      </p:sp>
      <p:sp>
        <p:nvSpPr>
          <p:cNvPr id="25" name="Slide Number Placeholder 0"/>
          <p:cNvSpPr>
            <a:spLocks noGrp="1"/>
          </p:cNvSpPr>
          <p:nvPr>
            <p:ph type="sldNum" sz="quarter" idx="4294967295"/>
          </p:nvPr>
        </p:nvSpPr>
        <p:spPr>
          <a:xfrm>
            <a:off x="11292840" y="642823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4A3B8"/>
                </a:solidFill>
                <a:latin typeface="Aptos"/>
                <a:ea typeface="Aptos"/>
                <a:cs typeface="Apto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2823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4A3B8"/>
                </a:solidFill>
                <a:latin typeface="Aptos"/>
                <a:ea typeface="Aptos"/>
                <a:cs typeface="Apto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CFE"/>
        </a:solidFill>
      </p:bgPr>
    </p:bg>
    <p:spTree>
      <p:nvGrpSpPr>
        <p:cNvPr id="1" name=""/>
        <p:cNvGrpSpPr/>
        <p:nvPr/>
      </p:nvGrpSpPr>
      <p:grpSpPr>
        <a:xfrm>
          <a:off x="0" y="0"/>
          <a:ext cx="0" cy="0"/>
          <a:chOff x="0" y="0"/>
          <a:chExt cx="0" cy="0"/>
        </a:xfrm>
      </p:grpSpPr>
      <p:sp>
        <p:nvSpPr>
          <p:cNvPr id="2" name="Text 0"/>
          <p:cNvSpPr txBox="1"/>
          <p:nvPr/>
        </p:nvSpPr>
        <p:spPr>
          <a:xfrm>
            <a:off x="731520" y="566928"/>
            <a:ext cx="2194560" cy="256032"/>
          </a:xfrm>
          <a:prstGeom prst="rect">
            <a:avLst/>
          </a:prstGeom>
          <a:noFill/>
          <a:ln/>
        </p:spPr>
        <p:txBody>
          <a:bodyPr wrap="square" lIns="0" tIns="0" rIns="0" bIns="0" rtlCol="0" anchor="ctr">
            <a:normAutofit/>
          </a:bodyPr>
          <a:lstStyle/>
          <a:p>
            <a:pPr algn="l" indent="0" marL="0">
              <a:lnSpc>
                <a:spcPct val="100000"/>
              </a:lnSpc>
              <a:buNone/>
            </a:pPr>
            <a:r>
              <a:rPr lang="en-US" sz="1200" b="1" spc="220" kern="0" dirty="0">
                <a:solidFill>
                  <a:srgbClr val="2563EB"/>
                </a:solidFill>
                <a:latin typeface="Aptos" pitchFamily="34" charset="0"/>
                <a:ea typeface="Aptos" pitchFamily="34" charset="-122"/>
                <a:cs typeface="Aptos" pitchFamily="34" charset="-120"/>
              </a:rPr>
              <a:t>AI PRE-SCAN</a:t>
            </a:r>
            <a:endParaRPr lang="en-US" sz="1200" dirty="0"/>
          </a:p>
        </p:txBody>
      </p:sp>
      <p:sp>
        <p:nvSpPr>
          <p:cNvPr id="3" name="Text 1"/>
          <p:cNvSpPr txBox="1"/>
          <p:nvPr/>
        </p:nvSpPr>
        <p:spPr>
          <a:xfrm>
            <a:off x="731520" y="1161288"/>
            <a:ext cx="5989320" cy="1508760"/>
          </a:xfrm>
          <a:prstGeom prst="rect">
            <a:avLst/>
          </a:prstGeom>
          <a:noFill/>
          <a:ln/>
        </p:spPr>
        <p:txBody>
          <a:bodyPr wrap="square" lIns="0" tIns="0" rIns="0" bIns="0" rtlCol="0" anchor="t">
            <a:normAutofit/>
          </a:bodyPr>
          <a:lstStyle/>
          <a:p>
            <a:pPr algn="l" indent="0" marL="0">
              <a:lnSpc>
                <a:spcPct val="100000"/>
              </a:lnSpc>
              <a:buNone/>
            </a:pPr>
            <a:r>
              <a:rPr lang="en-US" sz="5200" b="1" dirty="0">
                <a:solidFill>
                  <a:srgbClr val="0B1020"/>
                </a:solidFill>
                <a:latin typeface="Aptos Display" pitchFamily="34" charset="0"/>
                <a:ea typeface="Aptos Display" pitchFamily="34" charset="-122"/>
                <a:cs typeface="Aptos Display" pitchFamily="34" charset="-120"/>
              </a:rPr>
              <a:t>The missing step</a:t>
            </a:r>
            <a:endParaRPr lang="en-US" sz="5200" dirty="0"/>
          </a:p>
          <a:p>
            <a:pPr algn="l" indent="0" marL="0">
              <a:lnSpc>
                <a:spcPct val="100000"/>
              </a:lnSpc>
              <a:buNone/>
            </a:pPr>
            <a:r>
              <a:rPr lang="en-US" sz="5200" b="1" dirty="0">
                <a:solidFill>
                  <a:srgbClr val="0B1020"/>
                </a:solidFill>
                <a:latin typeface="Aptos Display" pitchFamily="34" charset="0"/>
                <a:ea typeface="Aptos Display" pitchFamily="34" charset="-122"/>
                <a:cs typeface="Aptos Display" pitchFamily="34" charset="-120"/>
              </a:rPr>
              <a:t>before AI Act assessment</a:t>
            </a:r>
            <a:endParaRPr lang="en-US" sz="5200" dirty="0"/>
          </a:p>
        </p:txBody>
      </p:sp>
      <p:sp>
        <p:nvSpPr>
          <p:cNvPr id="4" name="Text 2"/>
          <p:cNvSpPr txBox="1"/>
          <p:nvPr/>
        </p:nvSpPr>
        <p:spPr>
          <a:xfrm>
            <a:off x="749808" y="2990088"/>
            <a:ext cx="5349240" cy="658368"/>
          </a:xfrm>
          <a:prstGeom prst="rect">
            <a:avLst/>
          </a:prstGeom>
          <a:noFill/>
          <a:ln/>
        </p:spPr>
        <p:txBody>
          <a:bodyPr wrap="square" lIns="0" tIns="0" rIns="0" bIns="0" rtlCol="0" anchor="t">
            <a:normAutofit/>
          </a:bodyPr>
          <a:lstStyle/>
          <a:p>
            <a:pPr algn="l" indent="0" marL="0">
              <a:lnSpc>
                <a:spcPct val="106000"/>
              </a:lnSpc>
              <a:buNone/>
            </a:pPr>
            <a:r>
              <a:rPr lang="en-US" sz="2100" dirty="0">
                <a:solidFill>
                  <a:srgbClr val="64748B"/>
                </a:solidFill>
                <a:latin typeface="Aptos" pitchFamily="34" charset="0"/>
                <a:ea typeface="Aptos" pitchFamily="34" charset="-122"/>
                <a:cs typeface="Aptos" pitchFamily="34" charset="-120"/>
              </a:rPr>
              <a:t>Company name → evidence-backed first draft → focused client conversation</a:t>
            </a:r>
            <a:endParaRPr lang="en-US" sz="2100" dirty="0"/>
          </a:p>
        </p:txBody>
      </p:sp>
      <p:sp>
        <p:nvSpPr>
          <p:cNvPr id="5" name="Shape 3"/>
          <p:cNvSpPr/>
          <p:nvPr/>
        </p:nvSpPr>
        <p:spPr>
          <a:xfrm>
            <a:off x="6080760" y="3474720"/>
            <a:ext cx="1005840" cy="0"/>
          </a:xfrm>
          <a:prstGeom prst="line">
            <a:avLst/>
          </a:prstGeom>
          <a:noFill/>
          <a:ln w="38100">
            <a:solidFill>
              <a:srgbClr val="2563EB"/>
            </a:solidFill>
            <a:prstDash val="solid"/>
            <a:tailEnd type="triangle"/>
          </a:ln>
        </p:spPr>
      </p:sp>
      <p:sp>
        <p:nvSpPr>
          <p:cNvPr id="6" name="Shape 4"/>
          <p:cNvSpPr/>
          <p:nvPr/>
        </p:nvSpPr>
        <p:spPr>
          <a:xfrm>
            <a:off x="6903720" y="1124712"/>
            <a:ext cx="4389120" cy="4370832"/>
          </a:xfrm>
          <a:prstGeom prst="roundRect">
            <a:avLst>
              <a:gd name="adj" fmla="val 3347"/>
            </a:avLst>
          </a:prstGeom>
          <a:solidFill>
            <a:srgbClr val="FFFFFF"/>
          </a:solidFill>
          <a:ln w="12700">
            <a:solidFill>
              <a:srgbClr val="D8E2F2"/>
            </a:solidFill>
            <a:prstDash val="solid"/>
          </a:ln>
          <a:effectLst>
            <a:outerShdw sx="100000" sy="100000" kx="0" ky="0" algn="bl" rotWithShape="0" blurRad="19050" dist="50800" dir="2700000">
              <a:srgbClr val="0B1020">
                <a:alpha val="12000"/>
              </a:srgbClr>
            </a:outerShdw>
          </a:effectLst>
        </p:spPr>
      </p:sp>
      <p:sp>
        <p:nvSpPr>
          <p:cNvPr id="7" name="Text 5"/>
          <p:cNvSpPr txBox="1"/>
          <p:nvPr/>
        </p:nvSpPr>
        <p:spPr>
          <a:xfrm>
            <a:off x="7260336" y="1444752"/>
            <a:ext cx="1280160" cy="219456"/>
          </a:xfrm>
          <a:prstGeom prst="rect">
            <a:avLst/>
          </a:prstGeom>
          <a:noFill/>
          <a:ln/>
        </p:spPr>
        <p:txBody>
          <a:bodyPr wrap="square" lIns="0" tIns="0" rIns="0" bIns="0" rtlCol="0" anchor="ctr">
            <a:normAutofit/>
          </a:bodyPr>
          <a:lstStyle/>
          <a:p>
            <a:pPr algn="l" indent="0" marL="0">
              <a:lnSpc>
                <a:spcPct val="100000"/>
              </a:lnSpc>
              <a:buNone/>
            </a:pPr>
            <a:r>
              <a:rPr lang="en-US" sz="1100" b="1" spc="150" kern="0" dirty="0">
                <a:solidFill>
                  <a:srgbClr val="2563EB"/>
                </a:solidFill>
                <a:latin typeface="Aptos" pitchFamily="34" charset="0"/>
                <a:ea typeface="Aptos" pitchFamily="34" charset="-122"/>
                <a:cs typeface="Aptos" pitchFamily="34" charset="-120"/>
              </a:rPr>
              <a:t>PERSONIO</a:t>
            </a:r>
            <a:endParaRPr lang="en-US" sz="1100" dirty="0"/>
          </a:p>
        </p:txBody>
      </p:sp>
      <p:sp>
        <p:nvSpPr>
          <p:cNvPr id="8" name="Text 6"/>
          <p:cNvSpPr txBox="1"/>
          <p:nvPr/>
        </p:nvSpPr>
        <p:spPr>
          <a:xfrm>
            <a:off x="9802368" y="1426464"/>
            <a:ext cx="960120" cy="256032"/>
          </a:xfrm>
          <a:prstGeom prst="rect">
            <a:avLst/>
          </a:prstGeom>
          <a:solidFill>
            <a:srgbClr val="E7F7F4"/>
          </a:solidFill>
          <a:ln w="12700">
            <a:solidFill>
              <a:srgbClr val="B7E4DC"/>
            </a:solidFill>
          </a:ln>
        </p:spPr>
        <p:txBody>
          <a:bodyPr wrap="square" lIns="508" tIns="508" rIns="508" bIns="508" rtlCol="0" anchor="ctr">
            <a:normAutofit/>
          </a:bodyPr>
          <a:lstStyle/>
          <a:p>
            <a:pPr algn="ctr" indent="0" marL="0">
              <a:lnSpc>
                <a:spcPct val="100000"/>
              </a:lnSpc>
              <a:buNone/>
            </a:pPr>
            <a:r>
              <a:rPr lang="en-US" sz="1000" b="1" dirty="0">
                <a:solidFill>
                  <a:srgbClr val="0F766E"/>
                </a:solidFill>
                <a:latin typeface="Aptos" pitchFamily="34" charset="0"/>
                <a:ea typeface="Aptos" pitchFamily="34" charset="-122"/>
                <a:cs typeface="Aptos" pitchFamily="34" charset="-120"/>
              </a:rPr>
              <a:t>EVIDENCED</a:t>
            </a:r>
            <a:endParaRPr lang="en-US" sz="1000" dirty="0"/>
          </a:p>
        </p:txBody>
      </p:sp>
      <p:sp>
        <p:nvSpPr>
          <p:cNvPr id="9" name="Text 7"/>
          <p:cNvSpPr txBox="1"/>
          <p:nvPr/>
        </p:nvSpPr>
        <p:spPr>
          <a:xfrm>
            <a:off x="7260336" y="1847088"/>
            <a:ext cx="3611880" cy="393192"/>
          </a:xfrm>
          <a:prstGeom prst="rect">
            <a:avLst/>
          </a:prstGeom>
          <a:noFill/>
          <a:ln/>
        </p:spPr>
        <p:txBody>
          <a:bodyPr wrap="square" lIns="0" tIns="0" rIns="0" bIns="0" rtlCol="0" anchor="ctr">
            <a:normAutofit/>
          </a:bodyPr>
          <a:lstStyle/>
          <a:p>
            <a:pPr algn="l" indent="0" marL="0">
              <a:lnSpc>
                <a:spcPct val="100000"/>
              </a:lnSpc>
              <a:buNone/>
            </a:pPr>
            <a:r>
              <a:rPr lang="en-US" sz="2200" b="1" dirty="0">
                <a:solidFill>
                  <a:srgbClr val="0B1020"/>
                </a:solidFill>
                <a:latin typeface="Aptos Display" pitchFamily="34" charset="0"/>
                <a:ea typeface="Aptos Display" pitchFamily="34" charset="-122"/>
                <a:cs typeface="Aptos Display" pitchFamily="34" charset="-120"/>
              </a:rPr>
              <a:t>AI Performance Summaries</a:t>
            </a:r>
            <a:endParaRPr lang="en-US" sz="2200" dirty="0"/>
          </a:p>
        </p:txBody>
      </p:sp>
      <p:sp>
        <p:nvSpPr>
          <p:cNvPr id="10" name="Text 8"/>
          <p:cNvSpPr txBox="1"/>
          <p:nvPr/>
        </p:nvSpPr>
        <p:spPr>
          <a:xfrm>
            <a:off x="7260336" y="2542032"/>
            <a:ext cx="3429000" cy="950976"/>
          </a:xfrm>
          <a:prstGeom prst="rect">
            <a:avLst/>
          </a:prstGeom>
          <a:noFill/>
          <a:ln/>
        </p:spPr>
        <p:txBody>
          <a:bodyPr wrap="square" lIns="254" tIns="254" rIns="254" bIns="254" rtlCol="0" anchor="t">
            <a:normAutofit/>
          </a:bodyPr>
          <a:lstStyle/>
          <a:p>
            <a:pPr algn="l" indent="0" marL="0">
              <a:lnSpc>
                <a:spcPct val="100000"/>
              </a:lnSpc>
              <a:buNone/>
            </a:pPr>
            <a:r>
              <a:rPr lang="en-US" sz="1800" i="1" dirty="0">
                <a:solidFill>
                  <a:srgbClr val="273244"/>
                </a:solidFill>
                <a:latin typeface="Aptos" pitchFamily="34" charset="0"/>
                <a:ea typeface="Aptos" pitchFamily="34" charset="-122"/>
                <a:cs typeface="Aptos" pitchFamily="34" charset="-120"/>
              </a:rPr>
              <a:t>“AI Performance Summaries provide an AI-generated summary of all continuous feedback…”</a:t>
            </a:r>
            <a:endParaRPr lang="en-US" sz="1800" dirty="0"/>
          </a:p>
        </p:txBody>
      </p:sp>
      <p:sp>
        <p:nvSpPr>
          <p:cNvPr id="11" name="Shape 9"/>
          <p:cNvSpPr/>
          <p:nvPr/>
        </p:nvSpPr>
        <p:spPr>
          <a:xfrm>
            <a:off x="7260336" y="3712464"/>
            <a:ext cx="3611880" cy="0"/>
          </a:xfrm>
          <a:prstGeom prst="line">
            <a:avLst/>
          </a:prstGeom>
          <a:noFill/>
          <a:ln w="12700">
            <a:solidFill>
              <a:srgbClr val="E2E8F0"/>
            </a:solidFill>
            <a:prstDash val="solid"/>
          </a:ln>
        </p:spPr>
      </p:sp>
      <p:sp>
        <p:nvSpPr>
          <p:cNvPr id="12" name="Text 10"/>
          <p:cNvSpPr txBox="1"/>
          <p:nvPr/>
        </p:nvSpPr>
        <p:spPr>
          <a:xfrm>
            <a:off x="7260336" y="3931920"/>
            <a:ext cx="3154680" cy="228600"/>
          </a:xfrm>
          <a:prstGeom prst="rect">
            <a:avLst/>
          </a:prstGeom>
          <a:noFill/>
          <a:ln/>
        </p:spPr>
        <p:txBody>
          <a:bodyPr wrap="square" lIns="0" tIns="0" rIns="0" bIns="0" rtlCol="0" anchor="ctr">
            <a:normAutofit/>
          </a:bodyPr>
          <a:lstStyle/>
          <a:p>
            <a:pPr algn="l" indent="0" marL="0">
              <a:lnSpc>
                <a:spcPct val="100000"/>
              </a:lnSpc>
              <a:buNone/>
            </a:pPr>
            <a:r>
              <a:rPr lang="en-US" sz="1200" b="1" dirty="0">
                <a:solidFill>
                  <a:srgbClr val="64748B"/>
                </a:solidFill>
                <a:latin typeface="Aptos" pitchFamily="34" charset="0"/>
                <a:ea typeface="Aptos" pitchFamily="34" charset="-122"/>
                <a:cs typeface="Aptos" pitchFamily="34" charset="-120"/>
              </a:rPr>
              <a:t>What public evidence cannot settle</a:t>
            </a:r>
            <a:endParaRPr lang="en-US" sz="1200" dirty="0"/>
          </a:p>
        </p:txBody>
      </p:sp>
      <p:sp>
        <p:nvSpPr>
          <p:cNvPr id="13" name="Text 11"/>
          <p:cNvSpPr txBox="1"/>
          <p:nvPr/>
        </p:nvSpPr>
        <p:spPr>
          <a:xfrm>
            <a:off x="7260336" y="4297680"/>
            <a:ext cx="3383280" cy="512064"/>
          </a:xfrm>
          <a:prstGeom prst="rect">
            <a:avLst/>
          </a:prstGeom>
          <a:noFill/>
          <a:ln/>
        </p:spPr>
        <p:txBody>
          <a:bodyPr wrap="square" lIns="0" tIns="0" rIns="0" bIns="0" rtlCol="0" anchor="t">
            <a:normAutofit/>
          </a:bodyPr>
          <a:lstStyle/>
          <a:p>
            <a:pPr algn="l" indent="0" marL="0">
              <a:lnSpc>
                <a:spcPct val="100000"/>
              </a:lnSpc>
              <a:buNone/>
            </a:pPr>
            <a:r>
              <a:rPr lang="en-US" sz="2200" b="1" dirty="0">
                <a:solidFill>
                  <a:srgbClr val="0B1020"/>
                </a:solidFill>
                <a:latin typeface="Aptos Display" pitchFamily="34" charset="0"/>
                <a:ea typeface="Aptos Display" pitchFamily="34" charset="-122"/>
                <a:cs typeface="Aptos Display" pitchFamily="34" charset="-120"/>
              </a:rPr>
              <a:t>Is this in use today, and since when?</a:t>
            </a:r>
            <a:endParaRPr lang="en-US" sz="2200" dirty="0"/>
          </a:p>
        </p:txBody>
      </p:sp>
      <p:sp>
        <p:nvSpPr>
          <p:cNvPr id="14" name="Text 12"/>
          <p:cNvSpPr txBox="1"/>
          <p:nvPr/>
        </p:nvSpPr>
        <p:spPr>
          <a:xfrm>
            <a:off x="7260336" y="4974336"/>
            <a:ext cx="1188720" cy="256032"/>
          </a:xfrm>
          <a:prstGeom prst="rect">
            <a:avLst/>
          </a:prstGeom>
          <a:solidFill>
            <a:srgbClr val="FFF5E6"/>
          </a:solidFill>
          <a:ln w="12700">
            <a:solidFill>
              <a:srgbClr val="F7D6A4"/>
            </a:solidFill>
          </a:ln>
        </p:spPr>
        <p:txBody>
          <a:bodyPr wrap="square" lIns="508" tIns="508" rIns="508" bIns="508" rtlCol="0" anchor="ctr">
            <a:normAutofit/>
          </a:bodyPr>
          <a:lstStyle/>
          <a:p>
            <a:pPr algn="ctr" indent="0" marL="0">
              <a:lnSpc>
                <a:spcPct val="100000"/>
              </a:lnSpc>
              <a:buNone/>
            </a:pPr>
            <a:r>
              <a:rPr lang="en-US" sz="1000" b="1" dirty="0">
                <a:solidFill>
                  <a:srgbClr val="B45309"/>
                </a:solidFill>
                <a:latin typeface="Aptos" pitchFamily="34" charset="0"/>
                <a:ea typeface="Aptos" pitchFamily="34" charset="-122"/>
                <a:cs typeface="Aptos" pitchFamily="34" charset="-120"/>
              </a:rPr>
              <a:t>UNDETERMINED</a:t>
            </a:r>
            <a:endParaRPr lang="en-US" sz="1000" dirty="0"/>
          </a:p>
        </p:txBody>
      </p:sp>
      <p:sp>
        <p:nvSpPr>
          <p:cNvPr id="15" name="Text 13"/>
          <p:cNvSpPr txBox="1"/>
          <p:nvPr/>
        </p:nvSpPr>
        <p:spPr>
          <a:xfrm>
            <a:off x="731520" y="6254496"/>
            <a:ext cx="4206240" cy="201168"/>
          </a:xfrm>
          <a:prstGeom prst="rect">
            <a:avLst/>
          </a:prstGeom>
          <a:noFill/>
          <a:ln/>
        </p:spPr>
        <p:txBody>
          <a:bodyPr wrap="square" lIns="0" tIns="0" rIns="0" bIns="0" rtlCol="0" anchor="ctr">
            <a:normAutofit/>
          </a:bodyPr>
          <a:lstStyle/>
          <a:p>
            <a:pPr algn="l" indent="0" marL="0">
              <a:lnSpc>
                <a:spcPct val="100000"/>
              </a:lnSpc>
              <a:buNone/>
            </a:pPr>
            <a:r>
              <a:rPr lang="en-US" sz="1050" dirty="0">
                <a:solidFill>
                  <a:srgbClr val="64748B"/>
                </a:solidFill>
                <a:latin typeface="Aptos" pitchFamily="34" charset="0"/>
                <a:ea typeface="Aptos" pitchFamily="34" charset="-122"/>
                <a:cs typeface="Aptos" pitchFamily="34" charset="-120"/>
              </a:rPr>
              <a:t>Nnanyelugo Ahukannah  •  Ironhack Project 3</a:t>
            </a:r>
            <a:endParaRPr lang="en-US" sz="1050" dirty="0"/>
          </a:p>
        </p:txBody>
      </p:sp>
      <p:sp>
        <p:nvSpPr>
          <p:cNvPr id="25" name="Slide Number Placeholder 0"/>
          <p:cNvSpPr>
            <a:spLocks noGrp="1"/>
          </p:cNvSpPr>
          <p:nvPr>
            <p:ph type="sldNum" sz="quarter" idx="4294967295"/>
          </p:nvPr>
        </p:nvSpPr>
        <p:spPr>
          <a:xfrm>
            <a:off x="11292840" y="642823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4A3B8"/>
                </a:solidFill>
                <a:latin typeface="Aptos"/>
                <a:ea typeface="Aptos"/>
                <a:cs typeface="Apto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13232" y="384048"/>
            <a:ext cx="2743200" cy="219456"/>
          </a:xfrm>
          <a:prstGeom prst="rect">
            <a:avLst/>
          </a:prstGeom>
          <a:noFill/>
          <a:ln/>
        </p:spPr>
        <p:txBody>
          <a:bodyPr wrap="square" lIns="0" tIns="0" rIns="0" bIns="0" rtlCol="0" anchor="ctr">
            <a:normAutofit/>
          </a:bodyPr>
          <a:lstStyle/>
          <a:p>
            <a:pPr algn="l" indent="0" marL="0">
              <a:lnSpc>
                <a:spcPct val="100000"/>
              </a:lnSpc>
              <a:buNone/>
            </a:pPr>
            <a:r>
              <a:rPr lang="en-US" sz="1100" b="1" spc="180" kern="0" dirty="0">
                <a:solidFill>
                  <a:srgbClr val="2563EB"/>
                </a:solidFill>
                <a:latin typeface="Aptos" pitchFamily="34" charset="0"/>
                <a:ea typeface="Aptos" pitchFamily="34" charset="-122"/>
                <a:cs typeface="Aptos" pitchFamily="34" charset="-120"/>
              </a:rPr>
              <a:t>THE GAP</a:t>
            </a:r>
            <a:endParaRPr lang="en-US" sz="1100" dirty="0"/>
          </a:p>
        </p:txBody>
      </p:sp>
      <p:sp>
        <p:nvSpPr>
          <p:cNvPr id="3" name="Text 1"/>
          <p:cNvSpPr txBox="1"/>
          <p:nvPr/>
        </p:nvSpPr>
        <p:spPr>
          <a:xfrm>
            <a:off x="713232" y="713232"/>
            <a:ext cx="10744200" cy="841248"/>
          </a:xfrm>
          <a:prstGeom prst="rect">
            <a:avLst/>
          </a:prstGeom>
          <a:noFill/>
          <a:ln/>
        </p:spPr>
        <p:txBody>
          <a:bodyPr wrap="square" lIns="0" tIns="0" rIns="0" bIns="0" rtlCol="0" anchor="t">
            <a:normAutofit/>
          </a:bodyPr>
          <a:lstStyle/>
          <a:p>
            <a:pPr algn="l" indent="0" marL="0">
              <a:lnSpc>
                <a:spcPct val="100000"/>
              </a:lnSpc>
              <a:buNone/>
            </a:pPr>
            <a:r>
              <a:rPr lang="en-US" sz="3700" b="1" dirty="0">
                <a:solidFill>
                  <a:srgbClr val="0B1020"/>
                </a:solidFill>
                <a:latin typeface="Aptos Display" pitchFamily="34" charset="0"/>
                <a:ea typeface="Aptos Display" pitchFamily="34" charset="-122"/>
                <a:cs typeface="Aptos Display" pitchFamily="34" charset="-120"/>
              </a:rPr>
              <a:t>Compliance begins with an inventory most SMEs do not have</a:t>
            </a:r>
            <a:endParaRPr lang="en-US" sz="3700" dirty="0"/>
          </a:p>
        </p:txBody>
      </p:sp>
      <p:sp>
        <p:nvSpPr>
          <p:cNvPr id="4" name="Shape 2"/>
          <p:cNvSpPr/>
          <p:nvPr/>
        </p:nvSpPr>
        <p:spPr>
          <a:xfrm>
            <a:off x="731520" y="1901952"/>
            <a:ext cx="4160520" cy="3063240"/>
          </a:xfrm>
          <a:prstGeom prst="roundRect">
            <a:avLst>
              <a:gd name="adj" fmla="val 4776"/>
            </a:avLst>
          </a:prstGeom>
          <a:solidFill>
            <a:srgbClr val="FFFFFF"/>
          </a:solidFill>
          <a:ln w="12700">
            <a:solidFill>
              <a:srgbClr val="D8E2F2"/>
            </a:solidFill>
            <a:prstDash val="solid"/>
          </a:ln>
          <a:effectLst>
            <a:outerShdw sx="100000" sy="100000" kx="0" ky="0" algn="bl" rotWithShape="0" blurRad="241935000" dist="645160000" dir="162000000000">
              <a:srgbClr val="0B1020">
                <a:alpha val="1200000000"/>
              </a:srgbClr>
            </a:outerShdw>
          </a:effectLst>
        </p:spPr>
      </p:sp>
      <p:sp>
        <p:nvSpPr>
          <p:cNvPr id="5" name="Text 3"/>
          <p:cNvSpPr txBox="1"/>
          <p:nvPr/>
        </p:nvSpPr>
        <p:spPr>
          <a:xfrm>
            <a:off x="1042416" y="2212848"/>
            <a:ext cx="2103120" cy="228600"/>
          </a:xfrm>
          <a:prstGeom prst="rect">
            <a:avLst/>
          </a:prstGeom>
          <a:noFill/>
          <a:ln/>
        </p:spPr>
        <p:txBody>
          <a:bodyPr wrap="square" lIns="0" tIns="0" rIns="0" bIns="0" rtlCol="0" anchor="ctr">
            <a:normAutofit/>
          </a:bodyPr>
          <a:lstStyle/>
          <a:p>
            <a:pPr algn="l" indent="0" marL="0">
              <a:lnSpc>
                <a:spcPct val="100000"/>
              </a:lnSpc>
              <a:buNone/>
            </a:pPr>
            <a:r>
              <a:rPr lang="en-US" sz="1100" b="1" spc="140" kern="0" dirty="0">
                <a:solidFill>
                  <a:srgbClr val="2563EB"/>
                </a:solidFill>
                <a:latin typeface="Aptos" pitchFamily="34" charset="0"/>
                <a:ea typeface="Aptos" pitchFamily="34" charset="-122"/>
                <a:cs typeface="Aptos" pitchFamily="34" charset="-120"/>
              </a:rPr>
              <a:t>THE CHECKER ASKS</a:t>
            </a:r>
            <a:endParaRPr lang="en-US" sz="1100" dirty="0"/>
          </a:p>
        </p:txBody>
      </p:sp>
      <p:sp>
        <p:nvSpPr>
          <p:cNvPr id="6" name="Text 4"/>
          <p:cNvSpPr txBox="1"/>
          <p:nvPr/>
        </p:nvSpPr>
        <p:spPr>
          <a:xfrm>
            <a:off x="1042416" y="2706624"/>
            <a:ext cx="3520440" cy="1207008"/>
          </a:xfrm>
          <a:prstGeom prst="rect">
            <a:avLst/>
          </a:prstGeom>
          <a:noFill/>
          <a:ln/>
        </p:spPr>
        <p:txBody>
          <a:bodyPr wrap="square" lIns="0" tIns="0" rIns="0" bIns="0" rtlCol="0" anchor="t">
            <a:normAutofit/>
          </a:bodyPr>
          <a:lstStyle/>
          <a:p>
            <a:pPr algn="l" indent="0" marL="0">
              <a:lnSpc>
                <a:spcPct val="100000"/>
              </a:lnSpc>
              <a:buNone/>
            </a:pPr>
            <a:r>
              <a:rPr lang="en-US" sz="2700" b="1" dirty="0">
                <a:solidFill>
                  <a:srgbClr val="0B1020"/>
                </a:solidFill>
                <a:latin typeface="Aptos Display" pitchFamily="34" charset="0"/>
                <a:ea typeface="Aptos Display" pitchFamily="34" charset="-122"/>
                <a:cs typeface="Aptos Display" pitchFamily="34" charset="-120"/>
              </a:rPr>
              <a:t>“Complete this form for each individual AI system used in your organisation.”</a:t>
            </a:r>
            <a:endParaRPr lang="en-US" sz="2700" dirty="0"/>
          </a:p>
        </p:txBody>
      </p:sp>
      <p:sp>
        <p:nvSpPr>
          <p:cNvPr id="7" name="Text 5"/>
          <p:cNvSpPr txBox="1"/>
          <p:nvPr/>
        </p:nvSpPr>
        <p:spPr>
          <a:xfrm>
            <a:off x="1042416" y="4279392"/>
            <a:ext cx="3429000" cy="347472"/>
          </a:xfrm>
          <a:prstGeom prst="rect">
            <a:avLst/>
          </a:prstGeom>
          <a:noFill/>
          <a:ln/>
        </p:spPr>
        <p:txBody>
          <a:bodyPr wrap="square" lIns="0" tIns="0" rIns="0" bIns="0" rtlCol="0" anchor="ctr">
            <a:normAutofit/>
          </a:bodyPr>
          <a:lstStyle/>
          <a:p>
            <a:pPr algn="l" indent="0" marL="0">
              <a:lnSpc>
                <a:spcPct val="100000"/>
              </a:lnSpc>
              <a:buNone/>
            </a:pPr>
            <a:r>
              <a:rPr lang="en-US" sz="1500" dirty="0">
                <a:solidFill>
                  <a:srgbClr val="64748B"/>
                </a:solidFill>
                <a:latin typeface="Aptos" pitchFamily="34" charset="0"/>
                <a:ea typeface="Aptos" pitchFamily="34" charset="-122"/>
                <a:cs typeface="Aptos" pitchFamily="34" charset="-120"/>
              </a:rPr>
              <a:t>A reasonable instruction — once the system list exists.</a:t>
            </a:r>
            <a:endParaRPr lang="en-US" sz="1500" dirty="0"/>
          </a:p>
        </p:txBody>
      </p:sp>
      <p:sp>
        <p:nvSpPr>
          <p:cNvPr id="8" name="Shape 6"/>
          <p:cNvSpPr/>
          <p:nvPr/>
        </p:nvSpPr>
        <p:spPr>
          <a:xfrm>
            <a:off x="5056632" y="3447288"/>
            <a:ext cx="1060704" cy="0"/>
          </a:xfrm>
          <a:prstGeom prst="line">
            <a:avLst/>
          </a:prstGeom>
          <a:noFill/>
          <a:ln w="38100">
            <a:solidFill>
              <a:srgbClr val="2563EB"/>
            </a:solidFill>
            <a:prstDash val="solid"/>
          </a:ln>
        </p:spPr>
      </p:sp>
      <p:sp>
        <p:nvSpPr>
          <p:cNvPr id="9" name="Text 7"/>
          <p:cNvSpPr txBox="1"/>
          <p:nvPr/>
        </p:nvSpPr>
        <p:spPr>
          <a:xfrm>
            <a:off x="4974336" y="2980944"/>
            <a:ext cx="1234440" cy="292608"/>
          </a:xfrm>
          <a:prstGeom prst="rect">
            <a:avLst/>
          </a:prstGeom>
          <a:noFill/>
          <a:ln/>
        </p:spPr>
        <p:txBody>
          <a:bodyPr wrap="square" lIns="0" tIns="0" rIns="0" bIns="0" rtlCol="0" anchor="ctr">
            <a:normAutofit/>
          </a:bodyPr>
          <a:lstStyle/>
          <a:p>
            <a:pPr algn="ctr" indent="0" marL="0">
              <a:lnSpc>
                <a:spcPct val="100000"/>
              </a:lnSpc>
              <a:buNone/>
            </a:pPr>
            <a:r>
              <a:rPr lang="en-US" sz="1050" b="1" spc="110" kern="0" dirty="0">
                <a:solidFill>
                  <a:srgbClr val="2563EB"/>
                </a:solidFill>
                <a:latin typeface="Aptos" pitchFamily="34" charset="0"/>
                <a:ea typeface="Aptos" pitchFamily="34" charset="-122"/>
                <a:cs typeface="Aptos" pitchFamily="34" charset="-120"/>
              </a:rPr>
              <a:t>THE MISSING STEP</a:t>
            </a:r>
            <a:endParaRPr lang="en-US" sz="1050" dirty="0"/>
          </a:p>
        </p:txBody>
      </p:sp>
      <p:sp>
        <p:nvSpPr>
          <p:cNvPr id="10" name="Shape 8"/>
          <p:cNvSpPr/>
          <p:nvPr/>
        </p:nvSpPr>
        <p:spPr>
          <a:xfrm>
            <a:off x="6272784" y="1901952"/>
            <a:ext cx="5148072" cy="3063240"/>
          </a:xfrm>
          <a:prstGeom prst="roundRect">
            <a:avLst>
              <a:gd name="adj" fmla="val 4776"/>
            </a:avLst>
          </a:prstGeom>
          <a:solidFill>
            <a:srgbClr val="F1F5F9"/>
          </a:solidFill>
          <a:ln w="12700">
            <a:solidFill>
              <a:srgbClr val="E2E8F0"/>
            </a:solidFill>
            <a:prstDash val="solid"/>
          </a:ln>
        </p:spPr>
      </p:sp>
      <p:sp>
        <p:nvSpPr>
          <p:cNvPr id="11" name="Text 9"/>
          <p:cNvSpPr txBox="1"/>
          <p:nvPr/>
        </p:nvSpPr>
        <p:spPr>
          <a:xfrm>
            <a:off x="6583680" y="2212848"/>
            <a:ext cx="2103120" cy="228600"/>
          </a:xfrm>
          <a:prstGeom prst="rect">
            <a:avLst/>
          </a:prstGeom>
          <a:noFill/>
          <a:ln/>
        </p:spPr>
        <p:txBody>
          <a:bodyPr wrap="square" lIns="0" tIns="0" rIns="0" bIns="0" rtlCol="0" anchor="ctr">
            <a:normAutofit/>
          </a:bodyPr>
          <a:lstStyle/>
          <a:p>
            <a:pPr algn="l" indent="0" marL="0">
              <a:lnSpc>
                <a:spcPct val="100000"/>
              </a:lnSpc>
              <a:buNone/>
            </a:pPr>
            <a:r>
              <a:rPr lang="en-US" sz="1100" b="1" spc="140" kern="0" dirty="0">
                <a:solidFill>
                  <a:srgbClr val="64748B"/>
                </a:solidFill>
                <a:latin typeface="Aptos" pitchFamily="34" charset="0"/>
                <a:ea typeface="Aptos" pitchFamily="34" charset="-122"/>
                <a:cs typeface="Aptos" pitchFamily="34" charset="-120"/>
              </a:rPr>
              <a:t>THE SME ASKS</a:t>
            </a:r>
            <a:endParaRPr lang="en-US" sz="1100" dirty="0"/>
          </a:p>
        </p:txBody>
      </p:sp>
      <p:sp>
        <p:nvSpPr>
          <p:cNvPr id="12" name="Text 10"/>
          <p:cNvSpPr txBox="1"/>
          <p:nvPr/>
        </p:nvSpPr>
        <p:spPr>
          <a:xfrm>
            <a:off x="6583680" y="2724912"/>
            <a:ext cx="4343400" cy="603504"/>
          </a:xfrm>
          <a:prstGeom prst="rect">
            <a:avLst/>
          </a:prstGeom>
          <a:noFill/>
          <a:ln/>
        </p:spPr>
        <p:txBody>
          <a:bodyPr wrap="square" lIns="0" tIns="0" rIns="0" bIns="0" rtlCol="0" anchor="ctr">
            <a:normAutofit/>
          </a:bodyPr>
          <a:lstStyle/>
          <a:p>
            <a:pPr algn="l" indent="0" marL="0">
              <a:lnSpc>
                <a:spcPct val="100000"/>
              </a:lnSpc>
              <a:buNone/>
            </a:pPr>
            <a:r>
              <a:rPr lang="en-US" sz="3100" b="1" dirty="0">
                <a:solidFill>
                  <a:srgbClr val="0B1020"/>
                </a:solidFill>
                <a:latin typeface="Aptos Display" pitchFamily="34" charset="0"/>
                <a:ea typeface="Aptos Display" pitchFamily="34" charset="-122"/>
                <a:cs typeface="Aptos Display" pitchFamily="34" charset="-120"/>
              </a:rPr>
              <a:t>“Which systems are those?”</a:t>
            </a:r>
            <a:endParaRPr lang="en-US" sz="3100" dirty="0"/>
          </a:p>
        </p:txBody>
      </p:sp>
      <p:sp>
        <p:nvSpPr>
          <p:cNvPr id="13" name="Shape 11"/>
          <p:cNvSpPr/>
          <p:nvPr/>
        </p:nvSpPr>
        <p:spPr>
          <a:xfrm>
            <a:off x="6601968" y="3575304"/>
            <a:ext cx="164592" cy="164592"/>
          </a:xfrm>
          <a:prstGeom prst="ellipse">
            <a:avLst/>
          </a:prstGeom>
          <a:solidFill>
            <a:srgbClr val="2563EB"/>
          </a:solidFill>
          <a:ln w="12700">
            <a:solidFill>
              <a:srgbClr val="2563EB"/>
            </a:solidFill>
            <a:prstDash val="solid"/>
          </a:ln>
        </p:spPr>
      </p:sp>
      <p:sp>
        <p:nvSpPr>
          <p:cNvPr id="14" name="Text 12"/>
          <p:cNvSpPr txBox="1"/>
          <p:nvPr/>
        </p:nvSpPr>
        <p:spPr>
          <a:xfrm>
            <a:off x="6894576" y="3557016"/>
            <a:ext cx="1325880" cy="201168"/>
          </a:xfrm>
          <a:prstGeom prst="rect">
            <a:avLst/>
          </a:prstGeom>
          <a:noFill/>
          <a:ln/>
        </p:spPr>
        <p:txBody>
          <a:bodyPr wrap="square" lIns="0" tIns="0" rIns="0" bIns="0" rtlCol="0" anchor="ctr">
            <a:normAutofit/>
          </a:bodyPr>
          <a:lstStyle/>
          <a:p>
            <a:pPr algn="l" indent="0" marL="0">
              <a:lnSpc>
                <a:spcPct val="100000"/>
              </a:lnSpc>
              <a:buNone/>
            </a:pPr>
            <a:r>
              <a:rPr lang="en-US" sz="1050" b="1" dirty="0">
                <a:solidFill>
                  <a:srgbClr val="2563EB"/>
                </a:solidFill>
                <a:latin typeface="Aptos" pitchFamily="34" charset="0"/>
                <a:ea typeface="Aptos" pitchFamily="34" charset="-122"/>
                <a:cs typeface="Aptos" pitchFamily="34" charset="-120"/>
              </a:rPr>
              <a:t>VENDOR UPDATE</a:t>
            </a:r>
            <a:endParaRPr lang="en-US" sz="1050" dirty="0"/>
          </a:p>
        </p:txBody>
      </p:sp>
      <p:sp>
        <p:nvSpPr>
          <p:cNvPr id="15" name="Text 13"/>
          <p:cNvSpPr txBox="1"/>
          <p:nvPr/>
        </p:nvSpPr>
        <p:spPr>
          <a:xfrm>
            <a:off x="8247888" y="3557016"/>
            <a:ext cx="2770632" cy="228600"/>
          </a:xfrm>
          <a:prstGeom prst="rect">
            <a:avLst/>
          </a:prstGeom>
          <a:noFill/>
          <a:ln/>
        </p:spPr>
        <p:txBody>
          <a:bodyPr wrap="square" lIns="0" tIns="0" rIns="0" bIns="0" rtlCol="0" anchor="ctr">
            <a:normAutofit/>
          </a:bodyPr>
          <a:lstStyle/>
          <a:p>
            <a:pPr algn="l" indent="0" marL="0">
              <a:lnSpc>
                <a:spcPct val="100000"/>
              </a:lnSpc>
              <a:buNone/>
            </a:pPr>
            <a:r>
              <a:rPr lang="en-US" sz="1250" dirty="0">
                <a:solidFill>
                  <a:srgbClr val="273244"/>
                </a:solidFill>
                <a:latin typeface="Aptos" pitchFamily="34" charset="0"/>
                <a:ea typeface="Aptos" pitchFamily="34" charset="-122"/>
                <a:cs typeface="Aptos" pitchFamily="34" charset="-120"/>
              </a:rPr>
              <a:t>AI arrives inside software already owned</a:t>
            </a:r>
            <a:endParaRPr lang="en-US" sz="1250" dirty="0"/>
          </a:p>
        </p:txBody>
      </p:sp>
      <p:sp>
        <p:nvSpPr>
          <p:cNvPr id="16" name="Shape 14"/>
          <p:cNvSpPr/>
          <p:nvPr/>
        </p:nvSpPr>
        <p:spPr>
          <a:xfrm>
            <a:off x="6601968" y="3986784"/>
            <a:ext cx="164592" cy="164592"/>
          </a:xfrm>
          <a:prstGeom prst="ellipse">
            <a:avLst/>
          </a:prstGeom>
          <a:solidFill>
            <a:srgbClr val="CBD5E1"/>
          </a:solidFill>
          <a:ln w="12700">
            <a:solidFill>
              <a:srgbClr val="CBD5E1"/>
            </a:solidFill>
            <a:prstDash val="solid"/>
          </a:ln>
        </p:spPr>
      </p:sp>
      <p:sp>
        <p:nvSpPr>
          <p:cNvPr id="17" name="Text 15"/>
          <p:cNvSpPr txBox="1"/>
          <p:nvPr/>
        </p:nvSpPr>
        <p:spPr>
          <a:xfrm>
            <a:off x="6894576" y="3968496"/>
            <a:ext cx="1325880" cy="201168"/>
          </a:xfrm>
          <a:prstGeom prst="rect">
            <a:avLst/>
          </a:prstGeom>
          <a:noFill/>
          <a:ln/>
        </p:spPr>
        <p:txBody>
          <a:bodyPr wrap="square" lIns="0" tIns="0" rIns="0" bIns="0" rtlCol="0" anchor="ctr">
            <a:normAutofit/>
          </a:bodyPr>
          <a:lstStyle/>
          <a:p>
            <a:pPr algn="l" indent="0" marL="0">
              <a:lnSpc>
                <a:spcPct val="100000"/>
              </a:lnSpc>
              <a:buNone/>
            </a:pPr>
            <a:r>
              <a:rPr lang="en-US" sz="1050" b="1" dirty="0">
                <a:solidFill>
                  <a:srgbClr val="64748B"/>
                </a:solidFill>
                <a:latin typeface="Aptos" pitchFamily="34" charset="0"/>
                <a:ea typeface="Aptos" pitchFamily="34" charset="-122"/>
                <a:cs typeface="Aptos" pitchFamily="34" charset="-120"/>
              </a:rPr>
              <a:t>COMPANY CARD</a:t>
            </a:r>
            <a:endParaRPr lang="en-US" sz="1050" dirty="0"/>
          </a:p>
        </p:txBody>
      </p:sp>
      <p:sp>
        <p:nvSpPr>
          <p:cNvPr id="18" name="Text 16"/>
          <p:cNvSpPr txBox="1"/>
          <p:nvPr/>
        </p:nvSpPr>
        <p:spPr>
          <a:xfrm>
            <a:off x="8247888" y="3968496"/>
            <a:ext cx="2770632" cy="228600"/>
          </a:xfrm>
          <a:prstGeom prst="rect">
            <a:avLst/>
          </a:prstGeom>
          <a:noFill/>
          <a:ln/>
        </p:spPr>
        <p:txBody>
          <a:bodyPr wrap="square" lIns="0" tIns="0" rIns="0" bIns="0" rtlCol="0" anchor="ctr">
            <a:normAutofit/>
          </a:bodyPr>
          <a:lstStyle/>
          <a:p>
            <a:pPr algn="l" indent="0" marL="0">
              <a:lnSpc>
                <a:spcPct val="100000"/>
              </a:lnSpc>
              <a:buNone/>
            </a:pPr>
            <a:r>
              <a:rPr lang="en-US" sz="1250" dirty="0">
                <a:solidFill>
                  <a:srgbClr val="273244"/>
                </a:solidFill>
                <a:latin typeface="Aptos" pitchFamily="34" charset="0"/>
                <a:ea typeface="Aptos" pitchFamily="34" charset="-122"/>
                <a:cs typeface="Aptos" pitchFamily="34" charset="-120"/>
              </a:rPr>
              <a:t>A team buys a tool outside central procurement</a:t>
            </a:r>
            <a:endParaRPr lang="en-US" sz="1250" dirty="0"/>
          </a:p>
        </p:txBody>
      </p:sp>
      <p:sp>
        <p:nvSpPr>
          <p:cNvPr id="19" name="Shape 17"/>
          <p:cNvSpPr/>
          <p:nvPr/>
        </p:nvSpPr>
        <p:spPr>
          <a:xfrm>
            <a:off x="6601968" y="4398264"/>
            <a:ext cx="164592" cy="164592"/>
          </a:xfrm>
          <a:prstGeom prst="ellipse">
            <a:avLst/>
          </a:prstGeom>
          <a:solidFill>
            <a:srgbClr val="CBD5E1"/>
          </a:solidFill>
          <a:ln w="12700">
            <a:solidFill>
              <a:srgbClr val="CBD5E1"/>
            </a:solidFill>
            <a:prstDash val="solid"/>
          </a:ln>
        </p:spPr>
      </p:sp>
      <p:sp>
        <p:nvSpPr>
          <p:cNvPr id="20" name="Text 18"/>
          <p:cNvSpPr txBox="1"/>
          <p:nvPr/>
        </p:nvSpPr>
        <p:spPr>
          <a:xfrm>
            <a:off x="6894576" y="4379976"/>
            <a:ext cx="1325880" cy="201168"/>
          </a:xfrm>
          <a:prstGeom prst="rect">
            <a:avLst/>
          </a:prstGeom>
          <a:noFill/>
          <a:ln/>
        </p:spPr>
        <p:txBody>
          <a:bodyPr wrap="square" lIns="0" tIns="0" rIns="0" bIns="0" rtlCol="0" anchor="ctr">
            <a:normAutofit/>
          </a:bodyPr>
          <a:lstStyle/>
          <a:p>
            <a:pPr algn="l" indent="0" marL="0">
              <a:lnSpc>
                <a:spcPct val="100000"/>
              </a:lnSpc>
              <a:buNone/>
            </a:pPr>
            <a:r>
              <a:rPr lang="en-US" sz="1050" b="1" dirty="0">
                <a:solidFill>
                  <a:srgbClr val="64748B"/>
                </a:solidFill>
                <a:latin typeface="Aptos" pitchFamily="34" charset="0"/>
                <a:ea typeface="Aptos" pitchFamily="34" charset="-122"/>
                <a:cs typeface="Aptos" pitchFamily="34" charset="-120"/>
              </a:rPr>
              <a:t>EMPLOYEE TOOL</a:t>
            </a:r>
            <a:endParaRPr lang="en-US" sz="1050" dirty="0"/>
          </a:p>
        </p:txBody>
      </p:sp>
      <p:sp>
        <p:nvSpPr>
          <p:cNvPr id="21" name="Text 19"/>
          <p:cNvSpPr txBox="1"/>
          <p:nvPr/>
        </p:nvSpPr>
        <p:spPr>
          <a:xfrm>
            <a:off x="8247888" y="4379976"/>
            <a:ext cx="2770632" cy="228600"/>
          </a:xfrm>
          <a:prstGeom prst="rect">
            <a:avLst/>
          </a:prstGeom>
          <a:noFill/>
          <a:ln/>
        </p:spPr>
        <p:txBody>
          <a:bodyPr wrap="square" lIns="0" tIns="0" rIns="0" bIns="0" rtlCol="0" anchor="ctr">
            <a:normAutofit/>
          </a:bodyPr>
          <a:lstStyle/>
          <a:p>
            <a:pPr algn="l" indent="0" marL="0">
              <a:lnSpc>
                <a:spcPct val="100000"/>
              </a:lnSpc>
              <a:buNone/>
            </a:pPr>
            <a:r>
              <a:rPr lang="en-US" sz="1250" dirty="0">
                <a:solidFill>
                  <a:srgbClr val="273244"/>
                </a:solidFill>
                <a:latin typeface="Aptos" pitchFamily="34" charset="0"/>
                <a:ea typeface="Aptos" pitchFamily="34" charset="-122"/>
                <a:cs typeface="Aptos" pitchFamily="34" charset="-120"/>
              </a:rPr>
              <a:t>Everyday use leaves no public inventory</a:t>
            </a:r>
            <a:endParaRPr lang="en-US" sz="1250" dirty="0"/>
          </a:p>
        </p:txBody>
      </p:sp>
      <p:sp>
        <p:nvSpPr>
          <p:cNvPr id="22" name="Text 20"/>
          <p:cNvSpPr txBox="1"/>
          <p:nvPr/>
        </p:nvSpPr>
        <p:spPr>
          <a:xfrm>
            <a:off x="749808" y="5422392"/>
            <a:ext cx="10515600" cy="502920"/>
          </a:xfrm>
          <a:prstGeom prst="rect">
            <a:avLst/>
          </a:prstGeom>
          <a:noFill/>
          <a:ln/>
        </p:spPr>
        <p:txBody>
          <a:bodyPr wrap="square" lIns="0" tIns="0" rIns="0" bIns="0" rtlCol="0" anchor="ctr">
            <a:normAutofit/>
          </a:bodyPr>
          <a:lstStyle/>
          <a:p>
            <a:pPr algn="ctr" indent="0" marL="0">
              <a:lnSpc>
                <a:spcPct val="100000"/>
              </a:lnSpc>
              <a:buNone/>
            </a:pPr>
            <a:r>
              <a:rPr lang="en-US" sz="2700" b="1" dirty="0">
                <a:solidFill>
                  <a:srgbClr val="0B1020"/>
                </a:solidFill>
                <a:latin typeface="Aptos Display" pitchFamily="34" charset="0"/>
                <a:ea typeface="Aptos Display" pitchFamily="34" charset="-122"/>
                <a:cs typeface="Aptos Display" pitchFamily="34" charset="-120"/>
              </a:rPr>
              <a:t>The inventory is often never created.</a:t>
            </a:r>
            <a:endParaRPr lang="en-US" sz="2700" dirty="0"/>
          </a:p>
        </p:txBody>
      </p:sp>
      <p:sp>
        <p:nvSpPr>
          <p:cNvPr id="23" name="Text 21"/>
          <p:cNvSpPr txBox="1"/>
          <p:nvPr/>
        </p:nvSpPr>
        <p:spPr>
          <a:xfrm>
            <a:off x="713232" y="6428232"/>
            <a:ext cx="2286000" cy="164592"/>
          </a:xfrm>
          <a:prstGeom prst="rect">
            <a:avLst/>
          </a:prstGeom>
          <a:noFill/>
          <a:ln/>
        </p:spPr>
        <p:txBody>
          <a:bodyPr wrap="square" lIns="0" tIns="0" rIns="0" bIns="0" rtlCol="0" anchor="ctr">
            <a:normAutofit/>
          </a:bodyPr>
          <a:lstStyle/>
          <a:p>
            <a:pPr algn="l" indent="0" marL="0">
              <a:lnSpc>
                <a:spcPct val="100000"/>
              </a:lnSpc>
              <a:buNone/>
            </a:pPr>
            <a:r>
              <a:rPr lang="en-US" sz="900" b="1" spc="110" kern="0" dirty="0">
                <a:solidFill>
                  <a:srgbClr val="64748B"/>
                </a:solidFill>
                <a:latin typeface="Aptos" pitchFamily="34" charset="0"/>
                <a:ea typeface="Aptos" pitchFamily="34" charset="-122"/>
                <a:cs typeface="Aptos" pitchFamily="34" charset="-120"/>
              </a:rPr>
              <a:t>AI PRE-SCAN  •  THE GAP</a:t>
            </a:r>
            <a:endParaRPr lang="en-US" sz="900" dirty="0"/>
          </a:p>
        </p:txBody>
      </p:sp>
      <p:sp>
        <p:nvSpPr>
          <p:cNvPr id="25" name="Slide Number Placeholder 0"/>
          <p:cNvSpPr>
            <a:spLocks noGrp="1"/>
          </p:cNvSpPr>
          <p:nvPr>
            <p:ph type="sldNum" sz="quarter" idx="4294967295"/>
          </p:nvPr>
        </p:nvSpPr>
        <p:spPr>
          <a:xfrm>
            <a:off x="11292840" y="642823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4A3B8"/>
                </a:solidFill>
                <a:latin typeface="Aptos"/>
                <a:ea typeface="Aptos"/>
                <a:cs typeface="Apto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13232" y="384048"/>
            <a:ext cx="2743200" cy="219456"/>
          </a:xfrm>
          <a:prstGeom prst="rect">
            <a:avLst/>
          </a:prstGeom>
          <a:noFill/>
          <a:ln/>
        </p:spPr>
        <p:txBody>
          <a:bodyPr wrap="square" lIns="0" tIns="0" rIns="0" bIns="0" rtlCol="0" anchor="ctr">
            <a:normAutofit/>
          </a:bodyPr>
          <a:lstStyle/>
          <a:p>
            <a:pPr algn="l" indent="0" marL="0">
              <a:lnSpc>
                <a:spcPct val="100000"/>
              </a:lnSpc>
              <a:buNone/>
            </a:pPr>
            <a:r>
              <a:rPr lang="en-US" sz="1100" b="1" spc="180" kern="0" dirty="0">
                <a:solidFill>
                  <a:srgbClr val="2563EB"/>
                </a:solidFill>
                <a:latin typeface="Aptos" pitchFamily="34" charset="0"/>
                <a:ea typeface="Aptos" pitchFamily="34" charset="-122"/>
                <a:cs typeface="Aptos" pitchFamily="34" charset="-120"/>
              </a:rPr>
              <a:t>THE SYSTEM</a:t>
            </a:r>
            <a:endParaRPr lang="en-US" sz="1100" dirty="0"/>
          </a:p>
        </p:txBody>
      </p:sp>
      <p:sp>
        <p:nvSpPr>
          <p:cNvPr id="3" name="Text 1"/>
          <p:cNvSpPr txBox="1"/>
          <p:nvPr/>
        </p:nvSpPr>
        <p:spPr>
          <a:xfrm>
            <a:off x="713232" y="713232"/>
            <a:ext cx="10744200" cy="731520"/>
          </a:xfrm>
          <a:prstGeom prst="rect">
            <a:avLst/>
          </a:prstGeom>
          <a:noFill/>
          <a:ln/>
        </p:spPr>
        <p:txBody>
          <a:bodyPr wrap="square" lIns="0" tIns="0" rIns="0" bIns="0" rtlCol="0" anchor="t">
            <a:normAutofit/>
          </a:bodyPr>
          <a:lstStyle/>
          <a:p>
            <a:pPr algn="l" indent="0" marL="0">
              <a:lnSpc>
                <a:spcPct val="100000"/>
              </a:lnSpc>
              <a:buNone/>
            </a:pPr>
            <a:r>
              <a:rPr lang="en-US" sz="3900" b="1" dirty="0">
                <a:solidFill>
                  <a:srgbClr val="0B1020"/>
                </a:solidFill>
                <a:latin typeface="Aptos Display" pitchFamily="34" charset="0"/>
                <a:ea typeface="Aptos Display" pitchFamily="34" charset="-122"/>
                <a:cs typeface="Aptos Display" pitchFamily="34" charset="-120"/>
              </a:rPr>
              <a:t>One company name becomes an auditable first draft</a:t>
            </a:r>
            <a:endParaRPr lang="en-US" sz="3900" dirty="0"/>
          </a:p>
        </p:txBody>
      </p:sp>
      <p:sp>
        <p:nvSpPr>
          <p:cNvPr id="4" name="Shape 2"/>
          <p:cNvSpPr/>
          <p:nvPr/>
        </p:nvSpPr>
        <p:spPr>
          <a:xfrm>
            <a:off x="3419856" y="3273552"/>
            <a:ext cx="685800" cy="0"/>
          </a:xfrm>
          <a:prstGeom prst="line">
            <a:avLst/>
          </a:prstGeom>
          <a:noFill/>
          <a:ln w="31750">
            <a:solidFill>
              <a:srgbClr val="2563EB"/>
            </a:solidFill>
            <a:prstDash val="solid"/>
            <a:tailEnd type="triangle"/>
          </a:ln>
        </p:spPr>
      </p:sp>
      <p:sp>
        <p:nvSpPr>
          <p:cNvPr id="5" name="Shape 3"/>
          <p:cNvSpPr/>
          <p:nvPr/>
        </p:nvSpPr>
        <p:spPr>
          <a:xfrm>
            <a:off x="7123176" y="3273552"/>
            <a:ext cx="685800" cy="0"/>
          </a:xfrm>
          <a:prstGeom prst="line">
            <a:avLst/>
          </a:prstGeom>
          <a:noFill/>
          <a:ln w="31750">
            <a:solidFill>
              <a:srgbClr val="2563EB"/>
            </a:solidFill>
            <a:prstDash val="solid"/>
            <a:tailEnd type="triangle"/>
          </a:ln>
        </p:spPr>
      </p:sp>
      <p:sp>
        <p:nvSpPr>
          <p:cNvPr id="6" name="Shape 4"/>
          <p:cNvSpPr/>
          <p:nvPr/>
        </p:nvSpPr>
        <p:spPr>
          <a:xfrm>
            <a:off x="5632704" y="4370832"/>
            <a:ext cx="0" cy="667512"/>
          </a:xfrm>
          <a:prstGeom prst="line">
            <a:avLst/>
          </a:prstGeom>
          <a:noFill/>
          <a:ln w="25400">
            <a:solidFill>
              <a:srgbClr val="B45309"/>
            </a:solidFill>
            <a:prstDash val="solid"/>
            <a:tailEnd type="triangle"/>
          </a:ln>
        </p:spPr>
      </p:sp>
      <p:sp>
        <p:nvSpPr>
          <p:cNvPr id="7" name="Shape 5"/>
          <p:cNvSpPr/>
          <p:nvPr/>
        </p:nvSpPr>
        <p:spPr>
          <a:xfrm>
            <a:off x="749808" y="2057400"/>
            <a:ext cx="2743200" cy="2350008"/>
          </a:xfrm>
          <a:prstGeom prst="roundRect">
            <a:avLst>
              <a:gd name="adj" fmla="val 6226"/>
            </a:avLst>
          </a:prstGeom>
          <a:solidFill>
            <a:srgbClr val="FFFFFF"/>
          </a:solidFill>
          <a:ln w="12700">
            <a:solidFill>
              <a:srgbClr val="D8E2F2"/>
            </a:solidFill>
            <a:prstDash val="solid"/>
          </a:ln>
        </p:spPr>
      </p:sp>
      <p:sp>
        <p:nvSpPr>
          <p:cNvPr id="8" name="Shape 6"/>
          <p:cNvSpPr/>
          <p:nvPr/>
        </p:nvSpPr>
        <p:spPr>
          <a:xfrm>
            <a:off x="987552" y="2331720"/>
            <a:ext cx="530352" cy="530352"/>
          </a:xfrm>
          <a:prstGeom prst="ellipse">
            <a:avLst/>
          </a:prstGeom>
          <a:solidFill>
            <a:srgbClr val="EAF2FF"/>
          </a:solidFill>
          <a:ln w="12700">
            <a:solidFill>
              <a:srgbClr val="EAF2FF"/>
            </a:solidFill>
            <a:prstDash val="solid"/>
          </a:ln>
        </p:spPr>
      </p:sp>
      <p:sp>
        <p:nvSpPr>
          <p:cNvPr id="9" name="Text 7"/>
          <p:cNvSpPr txBox="1"/>
          <p:nvPr/>
        </p:nvSpPr>
        <p:spPr>
          <a:xfrm>
            <a:off x="987552" y="2331720"/>
            <a:ext cx="530352" cy="530352"/>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2563EB"/>
                </a:solidFill>
                <a:latin typeface="Aptos Display" pitchFamily="34" charset="0"/>
                <a:ea typeface="Aptos Display" pitchFamily="34" charset="-122"/>
                <a:cs typeface="Aptos Display" pitchFamily="34" charset="-120"/>
              </a:rPr>
              <a:t>01</a:t>
            </a:r>
            <a:endParaRPr lang="en-US" sz="1700" dirty="0"/>
          </a:p>
        </p:txBody>
      </p:sp>
      <p:sp>
        <p:nvSpPr>
          <p:cNvPr id="10" name="Text 8"/>
          <p:cNvSpPr txBox="1"/>
          <p:nvPr/>
        </p:nvSpPr>
        <p:spPr>
          <a:xfrm>
            <a:off x="1664208" y="2441448"/>
            <a:ext cx="1554480" cy="228600"/>
          </a:xfrm>
          <a:prstGeom prst="rect">
            <a:avLst/>
          </a:prstGeom>
          <a:noFill/>
          <a:ln/>
        </p:spPr>
        <p:txBody>
          <a:bodyPr wrap="square" lIns="0" tIns="0" rIns="0" bIns="0" rtlCol="0" anchor="ctr">
            <a:normAutofit/>
          </a:bodyPr>
          <a:lstStyle/>
          <a:p>
            <a:pPr algn="l" indent="0" marL="0">
              <a:lnSpc>
                <a:spcPct val="100000"/>
              </a:lnSpc>
              <a:buNone/>
            </a:pPr>
            <a:r>
              <a:rPr lang="en-US" sz="1050" b="1" spc="130" kern="0" dirty="0">
                <a:solidFill>
                  <a:srgbClr val="2563EB"/>
                </a:solidFill>
                <a:latin typeface="Aptos" pitchFamily="34" charset="0"/>
                <a:ea typeface="Aptos" pitchFamily="34" charset="-122"/>
                <a:cs typeface="Aptos" pitchFamily="34" charset="-120"/>
              </a:rPr>
              <a:t>RESEARCH</a:t>
            </a:r>
            <a:endParaRPr lang="en-US" sz="1050" dirty="0"/>
          </a:p>
        </p:txBody>
      </p:sp>
      <p:sp>
        <p:nvSpPr>
          <p:cNvPr id="11" name="Text 9"/>
          <p:cNvSpPr txBox="1"/>
          <p:nvPr/>
        </p:nvSpPr>
        <p:spPr>
          <a:xfrm>
            <a:off x="1005840" y="2980944"/>
            <a:ext cx="2240280" cy="566928"/>
          </a:xfrm>
          <a:prstGeom prst="rect">
            <a:avLst/>
          </a:prstGeom>
          <a:noFill/>
          <a:ln/>
        </p:spPr>
        <p:txBody>
          <a:bodyPr wrap="square" lIns="0" tIns="0" rIns="0" bIns="0" rtlCol="0" anchor="t">
            <a:normAutofit/>
          </a:bodyPr>
          <a:lstStyle/>
          <a:p>
            <a:pPr algn="l" indent="0" marL="0">
              <a:lnSpc>
                <a:spcPct val="100000"/>
              </a:lnSpc>
              <a:buNone/>
            </a:pPr>
            <a:r>
              <a:rPr lang="en-US" sz="2200" b="1" dirty="0">
                <a:solidFill>
                  <a:srgbClr val="0B1020"/>
                </a:solidFill>
                <a:latin typeface="Aptos Display" pitchFamily="34" charset="0"/>
                <a:ea typeface="Aptos Display" pitchFamily="34" charset="-122"/>
                <a:cs typeface="Aptos Display" pitchFamily="34" charset="-120"/>
              </a:rPr>
              <a:t>Map the public footprint</a:t>
            </a:r>
            <a:endParaRPr lang="en-US" sz="2200" dirty="0"/>
          </a:p>
        </p:txBody>
      </p:sp>
      <p:sp>
        <p:nvSpPr>
          <p:cNvPr id="12" name="Text 10"/>
          <p:cNvSpPr txBox="1"/>
          <p:nvPr/>
        </p:nvSpPr>
        <p:spPr>
          <a:xfrm>
            <a:off x="1005840" y="3730752"/>
            <a:ext cx="2221992" cy="411480"/>
          </a:xfrm>
          <a:prstGeom prst="rect">
            <a:avLst/>
          </a:prstGeom>
          <a:noFill/>
          <a:ln/>
        </p:spPr>
        <p:txBody>
          <a:bodyPr wrap="square" lIns="0" tIns="0" rIns="0" bIns="0" rtlCol="0" anchor="t">
            <a:normAutofit/>
          </a:bodyPr>
          <a:lstStyle/>
          <a:p>
            <a:pPr algn="l" indent="0" marL="0">
              <a:lnSpc>
                <a:spcPct val="100000"/>
              </a:lnSpc>
              <a:buNone/>
            </a:pPr>
            <a:r>
              <a:rPr lang="en-US" sz="1400" dirty="0">
                <a:solidFill>
                  <a:srgbClr val="64748B"/>
                </a:solidFill>
                <a:latin typeface="Aptos" pitchFamily="34" charset="0"/>
                <a:ea typeface="Aptos" pitchFamily="34" charset="-122"/>
                <a:cs typeface="Aptos" pitchFamily="34" charset="-120"/>
              </a:rPr>
              <a:t>Registry · website · careers · vendors · news</a:t>
            </a:r>
            <a:endParaRPr lang="en-US" sz="1400" dirty="0"/>
          </a:p>
        </p:txBody>
      </p:sp>
      <p:sp>
        <p:nvSpPr>
          <p:cNvPr id="13" name="Shape 11"/>
          <p:cNvSpPr/>
          <p:nvPr/>
        </p:nvSpPr>
        <p:spPr>
          <a:xfrm>
            <a:off x="4096512" y="2057400"/>
            <a:ext cx="2743200" cy="2350008"/>
          </a:xfrm>
          <a:prstGeom prst="roundRect">
            <a:avLst>
              <a:gd name="adj" fmla="val 6226"/>
            </a:avLst>
          </a:prstGeom>
          <a:solidFill>
            <a:srgbClr val="2563EB"/>
          </a:solidFill>
          <a:ln w="12700">
            <a:solidFill>
              <a:srgbClr val="2563EB"/>
            </a:solidFill>
            <a:prstDash val="solid"/>
          </a:ln>
          <a:effectLst>
            <a:outerShdw sx="100000" sy="100000" kx="0" ky="0" algn="bl" rotWithShape="0" blurRad="3072574500000" dist="8193532000000" dir="9720000000000000">
              <a:srgbClr val="0B1020">
                <a:alpha val="120000000000000"/>
              </a:srgbClr>
            </a:outerShdw>
          </a:effectLst>
        </p:spPr>
      </p:sp>
      <p:sp>
        <p:nvSpPr>
          <p:cNvPr id="14" name="Shape 12"/>
          <p:cNvSpPr/>
          <p:nvPr/>
        </p:nvSpPr>
        <p:spPr>
          <a:xfrm>
            <a:off x="4334256" y="2331720"/>
            <a:ext cx="530352" cy="530352"/>
          </a:xfrm>
          <a:prstGeom prst="ellipse">
            <a:avLst/>
          </a:prstGeom>
          <a:solidFill>
            <a:srgbClr val="FFFFFF"/>
          </a:solidFill>
          <a:ln w="12700">
            <a:solidFill>
              <a:srgbClr val="FFFFFF"/>
            </a:solidFill>
            <a:prstDash val="solid"/>
          </a:ln>
        </p:spPr>
      </p:sp>
      <p:sp>
        <p:nvSpPr>
          <p:cNvPr id="15" name="Text 13"/>
          <p:cNvSpPr txBox="1"/>
          <p:nvPr/>
        </p:nvSpPr>
        <p:spPr>
          <a:xfrm>
            <a:off x="4334256" y="2331720"/>
            <a:ext cx="530352" cy="530352"/>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2563EB"/>
                </a:solidFill>
                <a:latin typeface="Aptos Display" pitchFamily="34" charset="0"/>
                <a:ea typeface="Aptos Display" pitchFamily="34" charset="-122"/>
                <a:cs typeface="Aptos Display" pitchFamily="34" charset="-120"/>
              </a:rPr>
              <a:t>02</a:t>
            </a:r>
            <a:endParaRPr lang="en-US" sz="1700" dirty="0"/>
          </a:p>
        </p:txBody>
      </p:sp>
      <p:sp>
        <p:nvSpPr>
          <p:cNvPr id="16" name="Text 14"/>
          <p:cNvSpPr txBox="1"/>
          <p:nvPr/>
        </p:nvSpPr>
        <p:spPr>
          <a:xfrm>
            <a:off x="5010912" y="2441448"/>
            <a:ext cx="1554480" cy="228600"/>
          </a:xfrm>
          <a:prstGeom prst="rect">
            <a:avLst/>
          </a:prstGeom>
          <a:noFill/>
          <a:ln/>
        </p:spPr>
        <p:txBody>
          <a:bodyPr wrap="square" lIns="0" tIns="0" rIns="0" bIns="0" rtlCol="0" anchor="ctr">
            <a:normAutofit/>
          </a:bodyPr>
          <a:lstStyle/>
          <a:p>
            <a:pPr algn="l" indent="0" marL="0">
              <a:lnSpc>
                <a:spcPct val="100000"/>
              </a:lnSpc>
              <a:buNone/>
            </a:pPr>
            <a:r>
              <a:rPr lang="en-US" sz="1050" b="1" spc="130" kern="0" dirty="0">
                <a:solidFill>
                  <a:srgbClr val="DCE8FF"/>
                </a:solidFill>
                <a:latin typeface="Aptos" pitchFamily="34" charset="0"/>
                <a:ea typeface="Aptos" pitchFamily="34" charset="-122"/>
                <a:cs typeface="Aptos" pitchFamily="34" charset="-120"/>
              </a:rPr>
              <a:t>VERIFY</a:t>
            </a:r>
            <a:endParaRPr lang="en-US" sz="1050" dirty="0"/>
          </a:p>
        </p:txBody>
      </p:sp>
      <p:sp>
        <p:nvSpPr>
          <p:cNvPr id="17" name="Text 15"/>
          <p:cNvSpPr txBox="1"/>
          <p:nvPr/>
        </p:nvSpPr>
        <p:spPr>
          <a:xfrm>
            <a:off x="4352544" y="2980944"/>
            <a:ext cx="2240280" cy="566928"/>
          </a:xfrm>
          <a:prstGeom prst="rect">
            <a:avLst/>
          </a:prstGeom>
          <a:noFill/>
          <a:ln/>
        </p:spPr>
        <p:txBody>
          <a:bodyPr wrap="square" lIns="0" tIns="0" rIns="0" bIns="0" rtlCol="0" anchor="t">
            <a:normAutofit/>
          </a:bodyPr>
          <a:lstStyle/>
          <a:p>
            <a:pPr algn="l" indent="0" marL="0">
              <a:lnSpc>
                <a:spcPct val="100000"/>
              </a:lnSpc>
              <a:buNone/>
            </a:pPr>
            <a:r>
              <a:rPr lang="en-US" sz="2200" b="1" dirty="0">
                <a:solidFill>
                  <a:srgbClr val="FFFFFF"/>
                </a:solidFill>
                <a:latin typeface="Aptos Display" pitchFamily="34" charset="0"/>
                <a:ea typeface="Aptos Display" pitchFamily="34" charset="-122"/>
                <a:cs typeface="Aptos Display" pitchFamily="34" charset="-120"/>
              </a:rPr>
              <a:t>Test every finding</a:t>
            </a:r>
            <a:endParaRPr lang="en-US" sz="2200" dirty="0"/>
          </a:p>
        </p:txBody>
      </p:sp>
      <p:sp>
        <p:nvSpPr>
          <p:cNvPr id="18" name="Text 16"/>
          <p:cNvSpPr txBox="1"/>
          <p:nvPr/>
        </p:nvSpPr>
        <p:spPr>
          <a:xfrm>
            <a:off x="4352544" y="3730752"/>
            <a:ext cx="2221992" cy="411480"/>
          </a:xfrm>
          <a:prstGeom prst="rect">
            <a:avLst/>
          </a:prstGeom>
          <a:noFill/>
          <a:ln/>
        </p:spPr>
        <p:txBody>
          <a:bodyPr wrap="square" lIns="0" tIns="0" rIns="0" bIns="0" rtlCol="0" anchor="t">
            <a:normAutofit/>
          </a:bodyPr>
          <a:lstStyle/>
          <a:p>
            <a:pPr algn="l" indent="0" marL="0">
              <a:lnSpc>
                <a:spcPct val="100000"/>
              </a:lnSpc>
              <a:buNone/>
            </a:pPr>
            <a:r>
              <a:rPr lang="en-US" sz="1400" dirty="0">
                <a:solidFill>
                  <a:srgbClr val="EAF2FF"/>
                </a:solidFill>
                <a:latin typeface="Aptos" pitchFamily="34" charset="0"/>
                <a:ea typeface="Aptos" pitchFamily="34" charset="-122"/>
                <a:cs typeface="Aptos" pitchFamily="34" charset="-120"/>
              </a:rPr>
              <a:t>Exact quoted support + source currentness</a:t>
            </a:r>
            <a:endParaRPr lang="en-US" sz="1400" dirty="0"/>
          </a:p>
        </p:txBody>
      </p:sp>
      <p:sp>
        <p:nvSpPr>
          <p:cNvPr id="19" name="Shape 17"/>
          <p:cNvSpPr/>
          <p:nvPr/>
        </p:nvSpPr>
        <p:spPr>
          <a:xfrm>
            <a:off x="7808976" y="2057400"/>
            <a:ext cx="2743200" cy="2350008"/>
          </a:xfrm>
          <a:prstGeom prst="roundRect">
            <a:avLst>
              <a:gd name="adj" fmla="val 6226"/>
            </a:avLst>
          </a:prstGeom>
          <a:solidFill>
            <a:srgbClr val="FFFFFF"/>
          </a:solidFill>
          <a:ln w="12700">
            <a:solidFill>
              <a:srgbClr val="D8E2F2"/>
            </a:solidFill>
            <a:prstDash val="solid"/>
          </a:ln>
        </p:spPr>
      </p:sp>
      <p:sp>
        <p:nvSpPr>
          <p:cNvPr id="20" name="Shape 18"/>
          <p:cNvSpPr/>
          <p:nvPr/>
        </p:nvSpPr>
        <p:spPr>
          <a:xfrm>
            <a:off x="8046720" y="2331720"/>
            <a:ext cx="530352" cy="530352"/>
          </a:xfrm>
          <a:prstGeom prst="ellipse">
            <a:avLst/>
          </a:prstGeom>
          <a:solidFill>
            <a:srgbClr val="EAF2FF"/>
          </a:solidFill>
          <a:ln w="12700">
            <a:solidFill>
              <a:srgbClr val="EAF2FF"/>
            </a:solidFill>
            <a:prstDash val="solid"/>
          </a:ln>
        </p:spPr>
      </p:sp>
      <p:sp>
        <p:nvSpPr>
          <p:cNvPr id="21" name="Text 19"/>
          <p:cNvSpPr txBox="1"/>
          <p:nvPr/>
        </p:nvSpPr>
        <p:spPr>
          <a:xfrm>
            <a:off x="8046720" y="2331720"/>
            <a:ext cx="530352" cy="530352"/>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2563EB"/>
                </a:solidFill>
                <a:latin typeface="Aptos Display" pitchFamily="34" charset="0"/>
                <a:ea typeface="Aptos Display" pitchFamily="34" charset="-122"/>
                <a:cs typeface="Aptos Display" pitchFamily="34" charset="-120"/>
              </a:rPr>
              <a:t>03</a:t>
            </a:r>
            <a:endParaRPr lang="en-US" sz="1700" dirty="0"/>
          </a:p>
        </p:txBody>
      </p:sp>
      <p:sp>
        <p:nvSpPr>
          <p:cNvPr id="22" name="Text 20"/>
          <p:cNvSpPr txBox="1"/>
          <p:nvPr/>
        </p:nvSpPr>
        <p:spPr>
          <a:xfrm>
            <a:off x="8723376" y="2441448"/>
            <a:ext cx="1554480" cy="228600"/>
          </a:xfrm>
          <a:prstGeom prst="rect">
            <a:avLst/>
          </a:prstGeom>
          <a:noFill/>
          <a:ln/>
        </p:spPr>
        <p:txBody>
          <a:bodyPr wrap="square" lIns="0" tIns="0" rIns="0" bIns="0" rtlCol="0" anchor="ctr">
            <a:normAutofit/>
          </a:bodyPr>
          <a:lstStyle/>
          <a:p>
            <a:pPr algn="l" indent="0" marL="0">
              <a:lnSpc>
                <a:spcPct val="100000"/>
              </a:lnSpc>
              <a:buNone/>
            </a:pPr>
            <a:r>
              <a:rPr lang="en-US" sz="1050" b="1" spc="130" kern="0" dirty="0">
                <a:solidFill>
                  <a:srgbClr val="2563EB"/>
                </a:solidFill>
                <a:latin typeface="Aptos" pitchFamily="34" charset="0"/>
                <a:ea typeface="Aptos" pitchFamily="34" charset="-122"/>
                <a:cs typeface="Aptos" pitchFamily="34" charset="-120"/>
              </a:rPr>
              <a:t>HAND OFF</a:t>
            </a:r>
            <a:endParaRPr lang="en-US" sz="1050" dirty="0"/>
          </a:p>
        </p:txBody>
      </p:sp>
      <p:sp>
        <p:nvSpPr>
          <p:cNvPr id="23" name="Text 21"/>
          <p:cNvSpPr txBox="1"/>
          <p:nvPr/>
        </p:nvSpPr>
        <p:spPr>
          <a:xfrm>
            <a:off x="8065008" y="2980944"/>
            <a:ext cx="2240280" cy="566928"/>
          </a:xfrm>
          <a:prstGeom prst="rect">
            <a:avLst/>
          </a:prstGeom>
          <a:noFill/>
          <a:ln/>
        </p:spPr>
        <p:txBody>
          <a:bodyPr wrap="square" lIns="0" tIns="0" rIns="0" bIns="0" rtlCol="0" anchor="t">
            <a:normAutofit/>
          </a:bodyPr>
          <a:lstStyle/>
          <a:p>
            <a:pPr algn="l" indent="0" marL="0">
              <a:lnSpc>
                <a:spcPct val="100000"/>
              </a:lnSpc>
              <a:buNone/>
            </a:pPr>
            <a:r>
              <a:rPr lang="en-US" sz="2200" b="1" dirty="0">
                <a:solidFill>
                  <a:srgbClr val="0B1020"/>
                </a:solidFill>
                <a:latin typeface="Aptos Display" pitchFamily="34" charset="0"/>
                <a:ea typeface="Aptos Display" pitchFamily="34" charset="-122"/>
                <a:cs typeface="Aptos Display" pitchFamily="34" charset="-120"/>
              </a:rPr>
              <a:t>Start the client conversation</a:t>
            </a:r>
            <a:endParaRPr lang="en-US" sz="2200" dirty="0"/>
          </a:p>
        </p:txBody>
      </p:sp>
      <p:sp>
        <p:nvSpPr>
          <p:cNvPr id="24" name="Text 22"/>
          <p:cNvSpPr txBox="1"/>
          <p:nvPr/>
        </p:nvSpPr>
        <p:spPr>
          <a:xfrm>
            <a:off x="8065008" y="3730752"/>
            <a:ext cx="2221992" cy="411480"/>
          </a:xfrm>
          <a:prstGeom prst="rect">
            <a:avLst/>
          </a:prstGeom>
          <a:noFill/>
          <a:ln/>
        </p:spPr>
        <p:txBody>
          <a:bodyPr wrap="square" lIns="0" tIns="0" rIns="0" bIns="0" rtlCol="0" anchor="t">
            <a:normAutofit/>
          </a:bodyPr>
          <a:lstStyle/>
          <a:p>
            <a:pPr algn="l" indent="0" marL="0">
              <a:lnSpc>
                <a:spcPct val="100000"/>
              </a:lnSpc>
              <a:buNone/>
            </a:pPr>
            <a:r>
              <a:rPr lang="en-US" sz="1400" dirty="0">
                <a:solidFill>
                  <a:srgbClr val="64748B"/>
                </a:solidFill>
                <a:latin typeface="Aptos" pitchFamily="34" charset="0"/>
                <a:ea typeface="Aptos" pitchFamily="34" charset="-122"/>
                <a:cs typeface="Aptos" pitchFamily="34" charset="-120"/>
              </a:rPr>
              <a:t>Candidate inventory + focused questions</a:t>
            </a:r>
            <a:endParaRPr lang="en-US" sz="1400" dirty="0"/>
          </a:p>
        </p:txBody>
      </p:sp>
      <p:sp>
        <p:nvSpPr>
          <p:cNvPr id="25" name="Shape 23"/>
          <p:cNvSpPr/>
          <p:nvPr/>
        </p:nvSpPr>
        <p:spPr>
          <a:xfrm>
            <a:off x="4251960" y="5010912"/>
            <a:ext cx="2743200" cy="566928"/>
          </a:xfrm>
          <a:prstGeom prst="roundRect">
            <a:avLst>
              <a:gd name="adj" fmla="val 19355"/>
            </a:avLst>
          </a:prstGeom>
          <a:solidFill>
            <a:srgbClr val="FFF5E6"/>
          </a:solidFill>
          <a:ln w="12700">
            <a:solidFill>
              <a:srgbClr val="F7D6A4"/>
            </a:solidFill>
            <a:prstDash val="solid"/>
          </a:ln>
        </p:spPr>
      </p:sp>
      <p:sp>
        <p:nvSpPr>
          <p:cNvPr id="26" name="Text 24"/>
          <p:cNvSpPr txBox="1"/>
          <p:nvPr/>
        </p:nvSpPr>
        <p:spPr>
          <a:xfrm>
            <a:off x="4416552" y="5157216"/>
            <a:ext cx="2414016" cy="219456"/>
          </a:xfrm>
          <a:prstGeom prst="rect">
            <a:avLst/>
          </a:prstGeom>
          <a:noFill/>
          <a:ln/>
        </p:spPr>
        <p:txBody>
          <a:bodyPr wrap="square" lIns="0" tIns="0" rIns="0" bIns="0" rtlCol="0" anchor="ctr">
            <a:normAutofit/>
          </a:bodyPr>
          <a:lstStyle/>
          <a:p>
            <a:pPr algn="ctr" indent="0" marL="0">
              <a:lnSpc>
                <a:spcPct val="100000"/>
              </a:lnSpc>
              <a:buNone/>
            </a:pPr>
            <a:r>
              <a:rPr lang="en-US" sz="1150" b="1" spc="80" kern="0" dirty="0">
                <a:solidFill>
                  <a:srgbClr val="B45309"/>
                </a:solidFill>
                <a:latin typeface="Aptos" pitchFamily="34" charset="0"/>
                <a:ea typeface="Aptos" pitchFamily="34" charset="-122"/>
                <a:cs typeface="Aptos" pitchFamily="34" charset="-120"/>
              </a:rPr>
              <a:t>UNSUPPORTED → UNDETERMINED</a:t>
            </a:r>
            <a:endParaRPr lang="en-US" sz="1150" dirty="0"/>
          </a:p>
        </p:txBody>
      </p:sp>
      <p:sp>
        <p:nvSpPr>
          <p:cNvPr id="27" name="Shape 25"/>
          <p:cNvSpPr/>
          <p:nvPr/>
        </p:nvSpPr>
        <p:spPr>
          <a:xfrm>
            <a:off x="749808" y="5742432"/>
            <a:ext cx="10671048" cy="402336"/>
          </a:xfrm>
          <a:prstGeom prst="roundRect">
            <a:avLst>
              <a:gd name="adj" fmla="val 13636"/>
            </a:avLst>
          </a:prstGeom>
          <a:solidFill>
            <a:srgbClr val="F1F5F9"/>
          </a:solidFill>
          <a:ln w="12700">
            <a:solidFill>
              <a:srgbClr val="F1F5F9"/>
            </a:solidFill>
            <a:prstDash val="solid"/>
          </a:ln>
        </p:spPr>
      </p:sp>
      <p:sp>
        <p:nvSpPr>
          <p:cNvPr id="28" name="Text 26"/>
          <p:cNvSpPr txBox="1"/>
          <p:nvPr/>
        </p:nvSpPr>
        <p:spPr>
          <a:xfrm>
            <a:off x="950976" y="5815584"/>
            <a:ext cx="10241280" cy="219456"/>
          </a:xfrm>
          <a:prstGeom prst="rect">
            <a:avLst/>
          </a:prstGeom>
          <a:noFill/>
          <a:ln/>
        </p:spPr>
        <p:txBody>
          <a:bodyPr wrap="square" lIns="0" tIns="0" rIns="0" bIns="0" rtlCol="0" anchor="ctr">
            <a:normAutofit/>
          </a:bodyPr>
          <a:lstStyle/>
          <a:p>
            <a:pPr algn="ctr" indent="0" marL="0">
              <a:lnSpc>
                <a:spcPct val="100000"/>
              </a:lnSpc>
              <a:buNone/>
            </a:pPr>
            <a:r>
              <a:rPr lang="en-US" sz="1350" b="1" dirty="0">
                <a:solidFill>
                  <a:srgbClr val="273244"/>
                </a:solidFill>
                <a:latin typeface="Aptos" pitchFamily="34" charset="0"/>
                <a:ea typeface="Aptos" pitchFamily="34" charset="-122"/>
                <a:cs typeface="Aptos" pitchFamily="34" charset="-120"/>
              </a:rPr>
              <a:t>Human review confirms the facts. A separate deterministic checker applies the law.</a:t>
            </a:r>
            <a:endParaRPr lang="en-US" sz="1350" dirty="0"/>
          </a:p>
        </p:txBody>
      </p:sp>
      <p:sp>
        <p:nvSpPr>
          <p:cNvPr id="29" name="Text 27"/>
          <p:cNvSpPr txBox="1"/>
          <p:nvPr/>
        </p:nvSpPr>
        <p:spPr>
          <a:xfrm>
            <a:off x="713232" y="6428232"/>
            <a:ext cx="2286000" cy="164592"/>
          </a:xfrm>
          <a:prstGeom prst="rect">
            <a:avLst/>
          </a:prstGeom>
          <a:noFill/>
          <a:ln/>
        </p:spPr>
        <p:txBody>
          <a:bodyPr wrap="square" lIns="0" tIns="0" rIns="0" bIns="0" rtlCol="0" anchor="ctr">
            <a:normAutofit/>
          </a:bodyPr>
          <a:lstStyle/>
          <a:p>
            <a:pPr algn="l" indent="0" marL="0">
              <a:lnSpc>
                <a:spcPct val="100000"/>
              </a:lnSpc>
              <a:buNone/>
            </a:pPr>
            <a:r>
              <a:rPr lang="en-US" sz="900" b="1" spc="110" kern="0" dirty="0">
                <a:solidFill>
                  <a:srgbClr val="64748B"/>
                </a:solidFill>
                <a:latin typeface="Aptos" pitchFamily="34" charset="0"/>
                <a:ea typeface="Aptos" pitchFamily="34" charset="-122"/>
                <a:cs typeface="Aptos" pitchFamily="34" charset="-120"/>
              </a:rPr>
              <a:t>AI PRE-SCAN  •  THE SYSTEM</a:t>
            </a:r>
            <a:endParaRPr lang="en-US" sz="900" dirty="0"/>
          </a:p>
        </p:txBody>
      </p:sp>
      <p:sp>
        <p:nvSpPr>
          <p:cNvPr id="25" name="Slide Number Placeholder 0"/>
          <p:cNvSpPr>
            <a:spLocks noGrp="1"/>
          </p:cNvSpPr>
          <p:nvPr>
            <p:ph type="sldNum" sz="quarter" idx="4294967295"/>
          </p:nvPr>
        </p:nvSpPr>
        <p:spPr>
          <a:xfrm>
            <a:off x="11292840" y="642823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4A3B8"/>
                </a:solidFill>
                <a:latin typeface="Aptos"/>
                <a:ea typeface="Aptos"/>
                <a:cs typeface="Apto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13232" y="384048"/>
            <a:ext cx="2743200" cy="219456"/>
          </a:xfrm>
          <a:prstGeom prst="rect">
            <a:avLst/>
          </a:prstGeom>
          <a:noFill/>
          <a:ln/>
        </p:spPr>
        <p:txBody>
          <a:bodyPr wrap="square" lIns="0" tIns="0" rIns="0" bIns="0" rtlCol="0" anchor="ctr">
            <a:normAutofit/>
          </a:bodyPr>
          <a:lstStyle/>
          <a:p>
            <a:pPr algn="l" indent="0" marL="0">
              <a:lnSpc>
                <a:spcPct val="100000"/>
              </a:lnSpc>
              <a:buNone/>
            </a:pPr>
            <a:r>
              <a:rPr lang="en-US" sz="1100" b="1" spc="180" kern="0" dirty="0">
                <a:solidFill>
                  <a:srgbClr val="2563EB"/>
                </a:solidFill>
                <a:latin typeface="Aptos" pitchFamily="34" charset="0"/>
                <a:ea typeface="Aptos" pitchFamily="34" charset="-122"/>
                <a:cs typeface="Aptos" pitchFamily="34" charset="-120"/>
              </a:rPr>
              <a:t>THE DEMO</a:t>
            </a:r>
            <a:endParaRPr lang="en-US" sz="1100" dirty="0"/>
          </a:p>
        </p:txBody>
      </p:sp>
      <p:sp>
        <p:nvSpPr>
          <p:cNvPr id="3" name="Text 1"/>
          <p:cNvSpPr txBox="1"/>
          <p:nvPr/>
        </p:nvSpPr>
        <p:spPr>
          <a:xfrm>
            <a:off x="713232" y="713232"/>
            <a:ext cx="10744200" cy="713232"/>
          </a:xfrm>
          <a:prstGeom prst="rect">
            <a:avLst/>
          </a:prstGeom>
          <a:noFill/>
          <a:ln/>
        </p:spPr>
        <p:txBody>
          <a:bodyPr wrap="square" lIns="0" tIns="0" rIns="0" bIns="0" rtlCol="0" anchor="t">
            <a:normAutofit/>
          </a:bodyPr>
          <a:lstStyle/>
          <a:p>
            <a:pPr algn="l" indent="0" marL="0">
              <a:lnSpc>
                <a:spcPct val="100000"/>
              </a:lnSpc>
              <a:buNone/>
            </a:pPr>
            <a:r>
              <a:rPr lang="en-US" sz="4000" b="1" dirty="0">
                <a:solidFill>
                  <a:srgbClr val="0B1020"/>
                </a:solidFill>
                <a:latin typeface="Aptos Display" pitchFamily="34" charset="0"/>
                <a:ea typeface="Aptos Display" pitchFamily="34" charset="-122"/>
                <a:cs typeface="Aptos Display" pitchFamily="34" charset="-120"/>
              </a:rPr>
              <a:t>One name in; evidence and questions out</a:t>
            </a:r>
            <a:endParaRPr lang="en-US" sz="4000" dirty="0"/>
          </a:p>
        </p:txBody>
      </p:sp>
      <p:sp>
        <p:nvSpPr>
          <p:cNvPr id="4" name="Text 2"/>
          <p:cNvSpPr txBox="1"/>
          <p:nvPr/>
        </p:nvSpPr>
        <p:spPr>
          <a:xfrm>
            <a:off x="749808" y="1572768"/>
            <a:ext cx="4572000" cy="219456"/>
          </a:xfrm>
          <a:prstGeom prst="rect">
            <a:avLst/>
          </a:prstGeom>
          <a:noFill/>
          <a:ln/>
        </p:spPr>
        <p:txBody>
          <a:bodyPr wrap="square" lIns="0" tIns="0" rIns="0" bIns="0" rtlCol="0" anchor="ctr">
            <a:normAutofit/>
          </a:bodyPr>
          <a:lstStyle/>
          <a:p>
            <a:pPr algn="l" indent="0" marL="0">
              <a:lnSpc>
                <a:spcPct val="100000"/>
              </a:lnSpc>
              <a:buNone/>
            </a:pPr>
            <a:r>
              <a:rPr lang="en-US" sz="1050" b="1" spc="100" kern="0" dirty="0">
                <a:solidFill>
                  <a:srgbClr val="64748B"/>
                </a:solidFill>
                <a:latin typeface="Aptos" pitchFamily="34" charset="0"/>
                <a:ea typeface="Aptos" pitchFamily="34" charset="-122"/>
                <a:cs typeface="Aptos" pitchFamily="34" charset="-120"/>
              </a:rPr>
              <a:t>RETAINED SAMPLE  •  GENERATED THROUGH THE DOCUMENTED RUN PATH</a:t>
            </a:r>
            <a:endParaRPr lang="en-US" sz="1050" dirty="0"/>
          </a:p>
        </p:txBody>
      </p:sp>
      <p:sp>
        <p:nvSpPr>
          <p:cNvPr id="5" name="Shape 3"/>
          <p:cNvSpPr/>
          <p:nvPr/>
        </p:nvSpPr>
        <p:spPr>
          <a:xfrm>
            <a:off x="749808" y="1965960"/>
            <a:ext cx="5376672" cy="3794760"/>
          </a:xfrm>
          <a:prstGeom prst="roundRect">
            <a:avLst>
              <a:gd name="adj" fmla="val 3614"/>
            </a:avLst>
          </a:prstGeom>
          <a:solidFill>
            <a:srgbClr val="FFFFFF"/>
          </a:solidFill>
          <a:ln w="12700">
            <a:solidFill>
              <a:srgbClr val="D8E2F2"/>
            </a:solidFill>
            <a:prstDash val="solid"/>
          </a:ln>
          <a:effectLst>
            <a:outerShdw sx="100000" sy="100000" kx="0" ky="0" algn="bl" rotWithShape="0" blurRad="39021696150000000" dist="104057856400000000" dir="583200000000000000000">
              <a:srgbClr val="0B1020">
                <a:alpha val="12000000000000000000"/>
              </a:srgbClr>
            </a:outerShdw>
          </a:effectLst>
        </p:spPr>
      </p:sp>
      <p:sp>
        <p:nvSpPr>
          <p:cNvPr id="6" name="Text 4"/>
          <p:cNvSpPr txBox="1"/>
          <p:nvPr/>
        </p:nvSpPr>
        <p:spPr>
          <a:xfrm>
            <a:off x="1051560" y="2258568"/>
            <a:ext cx="1005840" cy="210312"/>
          </a:xfrm>
          <a:prstGeom prst="rect">
            <a:avLst/>
          </a:prstGeom>
          <a:noFill/>
          <a:ln/>
        </p:spPr>
        <p:txBody>
          <a:bodyPr wrap="square" lIns="0" tIns="0" rIns="0" bIns="0" rtlCol="0" anchor="ctr">
            <a:normAutofit/>
          </a:bodyPr>
          <a:lstStyle/>
          <a:p>
            <a:pPr algn="l" indent="0" marL="0">
              <a:lnSpc>
                <a:spcPct val="100000"/>
              </a:lnSpc>
              <a:buNone/>
            </a:pPr>
            <a:r>
              <a:rPr lang="en-US" sz="1050" b="1" spc="140" kern="0" dirty="0">
                <a:solidFill>
                  <a:srgbClr val="2563EB"/>
                </a:solidFill>
                <a:latin typeface="Aptos" pitchFamily="34" charset="0"/>
                <a:ea typeface="Aptos" pitchFamily="34" charset="-122"/>
                <a:cs typeface="Aptos" pitchFamily="34" charset="-120"/>
              </a:rPr>
              <a:t>PERSONIO</a:t>
            </a:r>
            <a:endParaRPr lang="en-US" sz="1050" dirty="0"/>
          </a:p>
        </p:txBody>
      </p:sp>
      <p:sp>
        <p:nvSpPr>
          <p:cNvPr id="7" name="Text 5"/>
          <p:cNvSpPr txBox="1"/>
          <p:nvPr/>
        </p:nvSpPr>
        <p:spPr>
          <a:xfrm>
            <a:off x="1051560" y="2578608"/>
            <a:ext cx="3566160" cy="384048"/>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0B1020"/>
                </a:solidFill>
                <a:latin typeface="Aptos Display" pitchFamily="34" charset="0"/>
                <a:ea typeface="Aptos Display" pitchFamily="34" charset="-122"/>
                <a:cs typeface="Aptos Display" pitchFamily="34" charset="-120"/>
              </a:rPr>
              <a:t>Public evidence found</a:t>
            </a:r>
            <a:endParaRPr lang="en-US" sz="2600" dirty="0"/>
          </a:p>
        </p:txBody>
      </p:sp>
      <p:sp>
        <p:nvSpPr>
          <p:cNvPr id="8" name="Text 6"/>
          <p:cNvSpPr txBox="1"/>
          <p:nvPr/>
        </p:nvSpPr>
        <p:spPr>
          <a:xfrm>
            <a:off x="1051560" y="3035808"/>
            <a:ext cx="4480560" cy="292608"/>
          </a:xfrm>
          <a:prstGeom prst="rect">
            <a:avLst/>
          </a:prstGeom>
          <a:noFill/>
          <a:ln/>
        </p:spPr>
        <p:txBody>
          <a:bodyPr wrap="square" lIns="0" tIns="0" rIns="0" bIns="0" rtlCol="0" anchor="ctr">
            <a:normAutofit/>
          </a:bodyPr>
          <a:lstStyle/>
          <a:p>
            <a:pPr algn="l" indent="0" marL="0">
              <a:lnSpc>
                <a:spcPct val="100000"/>
              </a:lnSpc>
              <a:buNone/>
            </a:pPr>
            <a:r>
              <a:rPr lang="en-US" sz="1400" dirty="0">
                <a:solidFill>
                  <a:srgbClr val="64748B"/>
                </a:solidFill>
                <a:latin typeface="Aptos" pitchFamily="34" charset="0"/>
                <a:ea typeface="Aptos" pitchFamily="34" charset="-122"/>
                <a:cs typeface="Aptos" pitchFamily="34" charset="-120"/>
              </a:rPr>
              <a:t>3 candidate systems  •  1 evidenced  •  2 undetermined</a:t>
            </a:r>
            <a:endParaRPr lang="en-US" sz="1400" dirty="0"/>
          </a:p>
        </p:txBody>
      </p:sp>
      <p:sp>
        <p:nvSpPr>
          <p:cNvPr id="9" name="Shape 7"/>
          <p:cNvSpPr/>
          <p:nvPr/>
        </p:nvSpPr>
        <p:spPr>
          <a:xfrm>
            <a:off x="1051560" y="3584448"/>
            <a:ext cx="4754880" cy="1207008"/>
          </a:xfrm>
          <a:prstGeom prst="roundRect">
            <a:avLst>
              <a:gd name="adj" fmla="val 7576"/>
            </a:avLst>
          </a:prstGeom>
          <a:solidFill>
            <a:srgbClr val="EAF2FF"/>
          </a:solidFill>
          <a:ln w="12700">
            <a:solidFill>
              <a:srgbClr val="BED3FF"/>
            </a:solidFill>
            <a:prstDash val="solid"/>
          </a:ln>
        </p:spPr>
      </p:sp>
      <p:sp>
        <p:nvSpPr>
          <p:cNvPr id="10" name="Text 8"/>
          <p:cNvSpPr txBox="1"/>
          <p:nvPr/>
        </p:nvSpPr>
        <p:spPr>
          <a:xfrm>
            <a:off x="1298448" y="3767328"/>
            <a:ext cx="2331720" cy="201168"/>
          </a:xfrm>
          <a:prstGeom prst="rect">
            <a:avLst/>
          </a:prstGeom>
          <a:noFill/>
          <a:ln/>
        </p:spPr>
        <p:txBody>
          <a:bodyPr wrap="square" lIns="0" tIns="0" rIns="0" bIns="0" rtlCol="0" anchor="ctr">
            <a:normAutofit/>
          </a:bodyPr>
          <a:lstStyle/>
          <a:p>
            <a:pPr algn="l" indent="0" marL="0">
              <a:lnSpc>
                <a:spcPct val="100000"/>
              </a:lnSpc>
              <a:buNone/>
            </a:pPr>
            <a:r>
              <a:rPr lang="en-US" sz="950" b="1" spc="100" kern="0" dirty="0">
                <a:solidFill>
                  <a:srgbClr val="2563EB"/>
                </a:solidFill>
                <a:latin typeface="Aptos" pitchFamily="34" charset="0"/>
                <a:ea typeface="Aptos" pitchFamily="34" charset="-122"/>
                <a:cs typeface="Aptos" pitchFamily="34" charset="-120"/>
              </a:rPr>
              <a:t>EXACT SUPPORTING SENTENCE</a:t>
            </a:r>
            <a:endParaRPr lang="en-US" sz="950" dirty="0"/>
          </a:p>
        </p:txBody>
      </p:sp>
      <p:sp>
        <p:nvSpPr>
          <p:cNvPr id="11" name="Text 9"/>
          <p:cNvSpPr txBox="1"/>
          <p:nvPr/>
        </p:nvSpPr>
        <p:spPr>
          <a:xfrm>
            <a:off x="1298448" y="4078224"/>
            <a:ext cx="4160520" cy="530352"/>
          </a:xfrm>
          <a:prstGeom prst="rect">
            <a:avLst/>
          </a:prstGeom>
          <a:noFill/>
          <a:ln/>
        </p:spPr>
        <p:txBody>
          <a:bodyPr wrap="square" lIns="0" tIns="0" rIns="0" bIns="0" rtlCol="0" anchor="t">
            <a:normAutofit/>
          </a:bodyPr>
          <a:lstStyle/>
          <a:p>
            <a:pPr algn="l" indent="0" marL="0">
              <a:lnSpc>
                <a:spcPct val="100000"/>
              </a:lnSpc>
              <a:buNone/>
            </a:pPr>
            <a:r>
              <a:rPr lang="en-US" sz="1650" i="1" dirty="0">
                <a:solidFill>
                  <a:srgbClr val="0B1020"/>
                </a:solidFill>
                <a:latin typeface="Aptos" pitchFamily="34" charset="0"/>
                <a:ea typeface="Aptos" pitchFamily="34" charset="-122"/>
                <a:cs typeface="Aptos" pitchFamily="34" charset="-120"/>
              </a:rPr>
              <a:t>“AI Performance Summaries provide an AI-generated summary of all continuous feedback, manager, peer, and upward reviews…”</a:t>
            </a:r>
            <a:endParaRPr lang="en-US" sz="1650" dirty="0"/>
          </a:p>
        </p:txBody>
      </p:sp>
      <p:sp>
        <p:nvSpPr>
          <p:cNvPr id="12" name="Text 10"/>
          <p:cNvSpPr txBox="1"/>
          <p:nvPr/>
        </p:nvSpPr>
        <p:spPr>
          <a:xfrm>
            <a:off x="1051560" y="5093208"/>
            <a:ext cx="4526280" cy="347472"/>
          </a:xfrm>
          <a:prstGeom prst="rect">
            <a:avLst/>
          </a:prstGeom>
          <a:noFill/>
          <a:ln/>
        </p:spPr>
        <p:txBody>
          <a:bodyPr wrap="square" lIns="0" tIns="0" rIns="0" bIns="0" rtlCol="0" anchor="ctr">
            <a:normAutofit/>
          </a:bodyPr>
          <a:lstStyle/>
          <a:p>
            <a:pPr algn="l" indent="0" marL="0">
              <a:lnSpc>
                <a:spcPct val="100000"/>
              </a:lnSpc>
              <a:buNone/>
            </a:pPr>
            <a:r>
              <a:rPr lang="en-US" sz="1500" b="1" dirty="0">
                <a:solidFill>
                  <a:srgbClr val="273244"/>
                </a:solidFill>
                <a:latin typeface="Aptos" pitchFamily="34" charset="0"/>
                <a:ea typeface="Aptos" pitchFamily="34" charset="-122"/>
                <a:cs typeface="Aptos" pitchFamily="34" charset="-120"/>
              </a:rPr>
              <a:t>Question to verify: Is this in use today, and since when?</a:t>
            </a:r>
            <a:endParaRPr lang="en-US" sz="1500" dirty="0"/>
          </a:p>
        </p:txBody>
      </p:sp>
      <p:sp>
        <p:nvSpPr>
          <p:cNvPr id="13" name="Shape 11"/>
          <p:cNvSpPr/>
          <p:nvPr/>
        </p:nvSpPr>
        <p:spPr>
          <a:xfrm>
            <a:off x="6400800" y="1965960"/>
            <a:ext cx="5010912" cy="3794760"/>
          </a:xfrm>
          <a:prstGeom prst="roundRect">
            <a:avLst>
              <a:gd name="adj" fmla="val 3614"/>
            </a:avLst>
          </a:prstGeom>
          <a:solidFill>
            <a:srgbClr val="F1F5F9"/>
          </a:solidFill>
          <a:ln w="12700">
            <a:solidFill>
              <a:srgbClr val="E2E8F0"/>
            </a:solidFill>
            <a:prstDash val="solid"/>
          </a:ln>
        </p:spPr>
      </p:sp>
      <p:sp>
        <p:nvSpPr>
          <p:cNvPr id="14" name="Text 12"/>
          <p:cNvSpPr txBox="1"/>
          <p:nvPr/>
        </p:nvSpPr>
        <p:spPr>
          <a:xfrm>
            <a:off x="6711696" y="2258568"/>
            <a:ext cx="1828800" cy="210312"/>
          </a:xfrm>
          <a:prstGeom prst="rect">
            <a:avLst/>
          </a:prstGeom>
          <a:noFill/>
          <a:ln/>
        </p:spPr>
        <p:txBody>
          <a:bodyPr wrap="square" lIns="0" tIns="0" rIns="0" bIns="0" rtlCol="0" anchor="ctr">
            <a:normAutofit/>
          </a:bodyPr>
          <a:lstStyle/>
          <a:p>
            <a:pPr algn="l" indent="0" marL="0">
              <a:lnSpc>
                <a:spcPct val="100000"/>
              </a:lnSpc>
              <a:buNone/>
            </a:pPr>
            <a:r>
              <a:rPr lang="en-US" sz="1050" b="1" spc="140" kern="0" dirty="0">
                <a:solidFill>
                  <a:srgbClr val="64748B"/>
                </a:solidFill>
                <a:latin typeface="Aptos" pitchFamily="34" charset="0"/>
                <a:ea typeface="Aptos" pitchFamily="34" charset="-122"/>
                <a:cs typeface="Aptos" pitchFamily="34" charset="-120"/>
              </a:rPr>
              <a:t>BALLYMALOE FOODS</a:t>
            </a:r>
            <a:endParaRPr lang="en-US" sz="1050" dirty="0"/>
          </a:p>
        </p:txBody>
      </p:sp>
      <p:sp>
        <p:nvSpPr>
          <p:cNvPr id="15" name="Text 13"/>
          <p:cNvSpPr txBox="1"/>
          <p:nvPr/>
        </p:nvSpPr>
        <p:spPr>
          <a:xfrm>
            <a:off x="6711696" y="2578608"/>
            <a:ext cx="4160520" cy="384048"/>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0B1020"/>
                </a:solidFill>
                <a:latin typeface="Aptos Display" pitchFamily="34" charset="0"/>
                <a:ea typeface="Aptos Display" pitchFamily="34" charset="-122"/>
                <a:cs typeface="Aptos Display" pitchFamily="34" charset="-120"/>
              </a:rPr>
              <a:t>No public evidence found</a:t>
            </a:r>
            <a:endParaRPr lang="en-US" sz="2600" dirty="0"/>
          </a:p>
        </p:txBody>
      </p:sp>
      <p:sp>
        <p:nvSpPr>
          <p:cNvPr id="16" name="Text 14"/>
          <p:cNvSpPr txBox="1"/>
          <p:nvPr/>
        </p:nvSpPr>
        <p:spPr>
          <a:xfrm>
            <a:off x="6711696" y="3035808"/>
            <a:ext cx="4160520" cy="292608"/>
          </a:xfrm>
          <a:prstGeom prst="rect">
            <a:avLst/>
          </a:prstGeom>
          <a:noFill/>
          <a:ln/>
        </p:spPr>
        <p:txBody>
          <a:bodyPr wrap="square" lIns="0" tIns="0" rIns="0" bIns="0" rtlCol="0" anchor="ctr">
            <a:normAutofit/>
          </a:bodyPr>
          <a:lstStyle/>
          <a:p>
            <a:pPr algn="l" indent="0" marL="0">
              <a:lnSpc>
                <a:spcPct val="100000"/>
              </a:lnSpc>
              <a:buNone/>
            </a:pPr>
            <a:r>
              <a:rPr lang="en-US" sz="1400" dirty="0">
                <a:solidFill>
                  <a:srgbClr val="64748B"/>
                </a:solidFill>
                <a:latin typeface="Aptos" pitchFamily="34" charset="0"/>
                <a:ea typeface="Aptos" pitchFamily="34" charset="-122"/>
                <a:cs typeface="Aptos" pitchFamily="34" charset="-120"/>
              </a:rPr>
              <a:t>0 candidate systems  •  1 question to discuss</a:t>
            </a:r>
            <a:endParaRPr lang="en-US" sz="1400" dirty="0"/>
          </a:p>
        </p:txBody>
      </p:sp>
      <p:sp>
        <p:nvSpPr>
          <p:cNvPr id="17" name="Shape 15"/>
          <p:cNvSpPr/>
          <p:nvPr/>
        </p:nvSpPr>
        <p:spPr>
          <a:xfrm>
            <a:off x="6711696" y="3584448"/>
            <a:ext cx="4389120" cy="1207008"/>
          </a:xfrm>
          <a:prstGeom prst="roundRect">
            <a:avLst>
              <a:gd name="adj" fmla="val 7576"/>
            </a:avLst>
          </a:prstGeom>
          <a:solidFill>
            <a:srgbClr val="FFFFFF"/>
          </a:solidFill>
          <a:ln w="12700">
            <a:solidFill>
              <a:srgbClr val="D8E2F2"/>
            </a:solidFill>
            <a:prstDash val="solid"/>
          </a:ln>
        </p:spPr>
      </p:sp>
      <p:sp>
        <p:nvSpPr>
          <p:cNvPr id="18" name="Text 16"/>
          <p:cNvSpPr txBox="1"/>
          <p:nvPr/>
        </p:nvSpPr>
        <p:spPr>
          <a:xfrm>
            <a:off x="6958584" y="3767328"/>
            <a:ext cx="1965960" cy="201168"/>
          </a:xfrm>
          <a:prstGeom prst="rect">
            <a:avLst/>
          </a:prstGeom>
          <a:noFill/>
          <a:ln/>
        </p:spPr>
        <p:txBody>
          <a:bodyPr wrap="square" lIns="0" tIns="0" rIns="0" bIns="0" rtlCol="0" anchor="ctr">
            <a:normAutofit/>
          </a:bodyPr>
          <a:lstStyle/>
          <a:p>
            <a:pPr algn="l" indent="0" marL="0">
              <a:lnSpc>
                <a:spcPct val="100000"/>
              </a:lnSpc>
              <a:buNone/>
            </a:pPr>
            <a:r>
              <a:rPr lang="en-US" sz="950" b="1" spc="100" kern="0" dirty="0">
                <a:solidFill>
                  <a:srgbClr val="B45309"/>
                </a:solidFill>
                <a:latin typeface="Aptos" pitchFamily="34" charset="0"/>
                <a:ea typeface="Aptos" pitchFamily="34" charset="-122"/>
                <a:cs typeface="Aptos" pitchFamily="34" charset="-120"/>
              </a:rPr>
              <a:t>THE HONEST RESULT</a:t>
            </a:r>
            <a:endParaRPr lang="en-US" sz="950" dirty="0"/>
          </a:p>
        </p:txBody>
      </p:sp>
      <p:sp>
        <p:nvSpPr>
          <p:cNvPr id="19" name="Text 17"/>
          <p:cNvSpPr txBox="1"/>
          <p:nvPr/>
        </p:nvSpPr>
        <p:spPr>
          <a:xfrm>
            <a:off x="6958584" y="4096512"/>
            <a:ext cx="3749040" cy="502920"/>
          </a:xfrm>
          <a:prstGeom prst="rect">
            <a:avLst/>
          </a:prstGeom>
          <a:noFill/>
          <a:ln/>
        </p:spPr>
        <p:txBody>
          <a:bodyPr wrap="square" lIns="0" tIns="0" rIns="0" bIns="0" rtlCol="0" anchor="t">
            <a:normAutofit/>
          </a:bodyPr>
          <a:lstStyle/>
          <a:p>
            <a:pPr algn="l" indent="0" marL="0">
              <a:lnSpc>
                <a:spcPct val="100000"/>
              </a:lnSpc>
              <a:buNone/>
            </a:pPr>
            <a:r>
              <a:rPr lang="en-US" sz="2200" b="1" dirty="0">
                <a:solidFill>
                  <a:srgbClr val="0B1020"/>
                </a:solidFill>
                <a:latin typeface="Aptos Display" pitchFamily="34" charset="0"/>
                <a:ea typeface="Aptos Display" pitchFamily="34" charset="-122"/>
                <a:cs typeface="Aptos Display" pitchFamily="34" charset="-120"/>
              </a:rPr>
              <a:t>No public evidence is not the same as no AI use.</a:t>
            </a:r>
            <a:endParaRPr lang="en-US" sz="2200" dirty="0"/>
          </a:p>
        </p:txBody>
      </p:sp>
      <p:sp>
        <p:nvSpPr>
          <p:cNvPr id="20" name="Text 18"/>
          <p:cNvSpPr txBox="1"/>
          <p:nvPr/>
        </p:nvSpPr>
        <p:spPr>
          <a:xfrm>
            <a:off x="6711696" y="5093208"/>
            <a:ext cx="4206240" cy="347472"/>
          </a:xfrm>
          <a:prstGeom prst="rect">
            <a:avLst/>
          </a:prstGeom>
          <a:noFill/>
          <a:ln/>
        </p:spPr>
        <p:txBody>
          <a:bodyPr wrap="square" lIns="0" tIns="0" rIns="0" bIns="0" rtlCol="0" anchor="ctr">
            <a:normAutofit/>
          </a:bodyPr>
          <a:lstStyle/>
          <a:p>
            <a:pPr algn="l" indent="0" marL="0">
              <a:lnSpc>
                <a:spcPct val="100000"/>
              </a:lnSpc>
              <a:buNone/>
            </a:pPr>
            <a:r>
              <a:rPr lang="en-US" sz="1500" b="1" dirty="0">
                <a:solidFill>
                  <a:srgbClr val="273244"/>
                </a:solidFill>
                <a:latin typeface="Aptos" pitchFamily="34" charset="0"/>
                <a:ea typeface="Aptos" pitchFamily="34" charset="-122"/>
                <a:cs typeface="Aptos" pitchFamily="34" charset="-120"/>
              </a:rPr>
              <a:t>Question to ask: What AI tools does the business actually use?</a:t>
            </a:r>
            <a:endParaRPr lang="en-US" sz="1500" dirty="0"/>
          </a:p>
        </p:txBody>
      </p:sp>
      <p:sp>
        <p:nvSpPr>
          <p:cNvPr id="21" name="Text 19"/>
          <p:cNvSpPr txBox="1"/>
          <p:nvPr/>
        </p:nvSpPr>
        <p:spPr>
          <a:xfrm>
            <a:off x="713232" y="6428232"/>
            <a:ext cx="2286000" cy="164592"/>
          </a:xfrm>
          <a:prstGeom prst="rect">
            <a:avLst/>
          </a:prstGeom>
          <a:noFill/>
          <a:ln/>
        </p:spPr>
        <p:txBody>
          <a:bodyPr wrap="square" lIns="0" tIns="0" rIns="0" bIns="0" rtlCol="0" anchor="ctr">
            <a:normAutofit/>
          </a:bodyPr>
          <a:lstStyle/>
          <a:p>
            <a:pPr algn="l" indent="0" marL="0">
              <a:lnSpc>
                <a:spcPct val="100000"/>
              </a:lnSpc>
              <a:buNone/>
            </a:pPr>
            <a:r>
              <a:rPr lang="en-US" sz="900" b="1" spc="110" kern="0" dirty="0">
                <a:solidFill>
                  <a:srgbClr val="64748B"/>
                </a:solidFill>
                <a:latin typeface="Aptos" pitchFamily="34" charset="0"/>
                <a:ea typeface="Aptos" pitchFamily="34" charset="-122"/>
                <a:cs typeface="Aptos" pitchFamily="34" charset="-120"/>
              </a:rPr>
              <a:t>AI PRE-SCAN  •  THE DEMO</a:t>
            </a:r>
            <a:endParaRPr lang="en-US" sz="900" dirty="0"/>
          </a:p>
        </p:txBody>
      </p:sp>
      <p:sp>
        <p:nvSpPr>
          <p:cNvPr id="25" name="Slide Number Placeholder 0"/>
          <p:cNvSpPr>
            <a:spLocks noGrp="1"/>
          </p:cNvSpPr>
          <p:nvPr>
            <p:ph type="sldNum" sz="quarter" idx="4294967295"/>
          </p:nvPr>
        </p:nvSpPr>
        <p:spPr>
          <a:xfrm>
            <a:off x="11292840" y="642823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4A3B8"/>
                </a:solidFill>
                <a:latin typeface="Aptos"/>
                <a:ea typeface="Aptos"/>
                <a:cs typeface="Apto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13232" y="384048"/>
            <a:ext cx="2743200" cy="219456"/>
          </a:xfrm>
          <a:prstGeom prst="rect">
            <a:avLst/>
          </a:prstGeom>
          <a:noFill/>
          <a:ln/>
        </p:spPr>
        <p:txBody>
          <a:bodyPr wrap="square" lIns="0" tIns="0" rIns="0" bIns="0" rtlCol="0" anchor="ctr">
            <a:normAutofit/>
          </a:bodyPr>
          <a:lstStyle/>
          <a:p>
            <a:pPr algn="l" indent="0" marL="0">
              <a:lnSpc>
                <a:spcPct val="100000"/>
              </a:lnSpc>
              <a:buNone/>
            </a:pPr>
            <a:r>
              <a:rPr lang="en-US" sz="1100" b="1" spc="180" kern="0" dirty="0">
                <a:solidFill>
                  <a:srgbClr val="2563EB"/>
                </a:solidFill>
                <a:latin typeface="Aptos" pitchFamily="34" charset="0"/>
                <a:ea typeface="Aptos" pitchFamily="34" charset="-122"/>
                <a:cs typeface="Aptos" pitchFamily="34" charset="-120"/>
              </a:rPr>
              <a:t>THE TRUST BOUNDARY</a:t>
            </a:r>
            <a:endParaRPr lang="en-US" sz="1100" dirty="0"/>
          </a:p>
        </p:txBody>
      </p:sp>
      <p:sp>
        <p:nvSpPr>
          <p:cNvPr id="3" name="Text 1"/>
          <p:cNvSpPr txBox="1"/>
          <p:nvPr/>
        </p:nvSpPr>
        <p:spPr>
          <a:xfrm>
            <a:off x="713232" y="713232"/>
            <a:ext cx="10744200" cy="822960"/>
          </a:xfrm>
          <a:prstGeom prst="rect">
            <a:avLst/>
          </a:prstGeom>
          <a:noFill/>
          <a:ln/>
        </p:spPr>
        <p:txBody>
          <a:bodyPr wrap="square" lIns="0" tIns="0" rIns="0" bIns="0" rtlCol="0" anchor="t">
            <a:normAutofit/>
          </a:bodyPr>
          <a:lstStyle/>
          <a:p>
            <a:pPr algn="l" indent="0" marL="0">
              <a:lnSpc>
                <a:spcPct val="100000"/>
              </a:lnSpc>
              <a:buNone/>
            </a:pPr>
            <a:r>
              <a:rPr lang="en-US" sz="3700" b="1" dirty="0">
                <a:solidFill>
                  <a:srgbClr val="0B1020"/>
                </a:solidFill>
                <a:latin typeface="Aptos Display" pitchFamily="34" charset="0"/>
                <a:ea typeface="Aptos Display" pitchFamily="34" charset="-122"/>
                <a:cs typeface="Aptos Display" pitchFamily="34" charset="-120"/>
              </a:rPr>
              <a:t>Trust is enforced at the gate, not promised in the prompt</a:t>
            </a:r>
            <a:endParaRPr lang="en-US" sz="3700" dirty="0"/>
          </a:p>
        </p:txBody>
      </p:sp>
      <p:sp>
        <p:nvSpPr>
          <p:cNvPr id="4" name="Text 2"/>
          <p:cNvSpPr txBox="1"/>
          <p:nvPr/>
        </p:nvSpPr>
        <p:spPr>
          <a:xfrm>
            <a:off x="749808" y="1664208"/>
            <a:ext cx="5852160" cy="320040"/>
          </a:xfrm>
          <a:prstGeom prst="rect">
            <a:avLst/>
          </a:prstGeom>
          <a:noFill/>
          <a:ln/>
        </p:spPr>
        <p:txBody>
          <a:bodyPr wrap="square" lIns="0" tIns="0" rIns="0" bIns="0" rtlCol="0" anchor="ctr">
            <a:normAutofit/>
          </a:bodyPr>
          <a:lstStyle/>
          <a:p>
            <a:pPr algn="l" indent="0" marL="0">
              <a:lnSpc>
                <a:spcPct val="100000"/>
              </a:lnSpc>
              <a:buNone/>
            </a:pPr>
            <a:r>
              <a:rPr lang="en-US" sz="1800" dirty="0">
                <a:solidFill>
                  <a:srgbClr val="64748B"/>
                </a:solidFill>
                <a:latin typeface="Aptos" pitchFamily="34" charset="0"/>
                <a:ea typeface="Aptos" pitchFamily="34" charset="-122"/>
                <a:cs typeface="Aptos" pitchFamily="34" charset="-120"/>
              </a:rPr>
              <a:t>A finding ships only when all three checks pass</a:t>
            </a:r>
            <a:endParaRPr lang="en-US" sz="1800" dirty="0"/>
          </a:p>
        </p:txBody>
      </p:sp>
      <p:sp>
        <p:nvSpPr>
          <p:cNvPr id="5" name="Shape 3"/>
          <p:cNvSpPr/>
          <p:nvPr/>
        </p:nvSpPr>
        <p:spPr>
          <a:xfrm>
            <a:off x="3538728" y="3218688"/>
            <a:ext cx="384048" cy="0"/>
          </a:xfrm>
          <a:prstGeom prst="line">
            <a:avLst/>
          </a:prstGeom>
          <a:noFill/>
          <a:ln w="25400">
            <a:solidFill>
              <a:srgbClr val="2563EB"/>
            </a:solidFill>
            <a:prstDash val="solid"/>
            <a:tailEnd type="triangle"/>
          </a:ln>
        </p:spPr>
      </p:sp>
      <p:sp>
        <p:nvSpPr>
          <p:cNvPr id="6" name="Shape 4"/>
          <p:cNvSpPr/>
          <p:nvPr/>
        </p:nvSpPr>
        <p:spPr>
          <a:xfrm>
            <a:off x="7086600" y="3218688"/>
            <a:ext cx="384048" cy="0"/>
          </a:xfrm>
          <a:prstGeom prst="line">
            <a:avLst/>
          </a:prstGeom>
          <a:noFill/>
          <a:ln w="25400">
            <a:solidFill>
              <a:srgbClr val="2563EB"/>
            </a:solidFill>
            <a:prstDash val="solid"/>
            <a:tailEnd type="triangle"/>
          </a:ln>
        </p:spPr>
      </p:sp>
      <p:sp>
        <p:nvSpPr>
          <p:cNvPr id="7" name="Shape 5"/>
          <p:cNvSpPr/>
          <p:nvPr/>
        </p:nvSpPr>
        <p:spPr>
          <a:xfrm>
            <a:off x="749808" y="2258568"/>
            <a:ext cx="2999232" cy="1938528"/>
          </a:xfrm>
          <a:prstGeom prst="roundRect">
            <a:avLst>
              <a:gd name="adj" fmla="val 7075"/>
            </a:avLst>
          </a:prstGeom>
          <a:solidFill>
            <a:srgbClr val="FFFFFF"/>
          </a:solidFill>
          <a:ln w="12700">
            <a:solidFill>
              <a:srgbClr val="D8E2F2"/>
            </a:solidFill>
            <a:prstDash val="solid"/>
          </a:ln>
        </p:spPr>
      </p:sp>
      <p:sp>
        <p:nvSpPr>
          <p:cNvPr id="8" name="Shape 6"/>
          <p:cNvSpPr/>
          <p:nvPr/>
        </p:nvSpPr>
        <p:spPr>
          <a:xfrm>
            <a:off x="978408" y="2532888"/>
            <a:ext cx="475488" cy="475488"/>
          </a:xfrm>
          <a:prstGeom prst="ellipse">
            <a:avLst/>
          </a:prstGeom>
          <a:solidFill>
            <a:srgbClr val="EAF2FF"/>
          </a:solidFill>
          <a:ln w="12700">
            <a:solidFill>
              <a:srgbClr val="EAF2FF"/>
            </a:solidFill>
            <a:prstDash val="solid"/>
          </a:ln>
        </p:spPr>
      </p:sp>
      <p:sp>
        <p:nvSpPr>
          <p:cNvPr id="9" name="Text 7"/>
          <p:cNvSpPr txBox="1"/>
          <p:nvPr/>
        </p:nvSpPr>
        <p:spPr>
          <a:xfrm>
            <a:off x="978408" y="2532888"/>
            <a:ext cx="475488" cy="475488"/>
          </a:xfrm>
          <a:prstGeom prst="rect">
            <a:avLst/>
          </a:prstGeom>
          <a:noFill/>
          <a:ln/>
        </p:spPr>
        <p:txBody>
          <a:bodyPr wrap="square" lIns="0" tIns="0" rIns="0" bIns="0" rtlCol="0" anchor="ctr">
            <a:normAutofit/>
          </a:bodyPr>
          <a:lstStyle/>
          <a:p>
            <a:pPr algn="ctr" indent="0" marL="0">
              <a:lnSpc>
                <a:spcPct val="100000"/>
              </a:lnSpc>
              <a:buNone/>
            </a:pPr>
            <a:r>
              <a:rPr lang="en-US" sz="1500" b="1" dirty="0">
                <a:solidFill>
                  <a:srgbClr val="1D4ED8"/>
                </a:solidFill>
                <a:latin typeface="Aptos" pitchFamily="34" charset="0"/>
                <a:ea typeface="Aptos" pitchFamily="34" charset="-122"/>
                <a:cs typeface="Aptos" pitchFamily="34" charset="-120"/>
              </a:rPr>
              <a:t>01</a:t>
            </a:r>
            <a:endParaRPr lang="en-US" sz="1500" dirty="0"/>
          </a:p>
        </p:txBody>
      </p:sp>
      <p:sp>
        <p:nvSpPr>
          <p:cNvPr id="10" name="Text 8"/>
          <p:cNvSpPr txBox="1"/>
          <p:nvPr/>
        </p:nvSpPr>
        <p:spPr>
          <a:xfrm>
            <a:off x="1591056" y="2587752"/>
            <a:ext cx="1874520" cy="329184"/>
          </a:xfrm>
          <a:prstGeom prst="rect">
            <a:avLst/>
          </a:prstGeom>
          <a:noFill/>
          <a:ln/>
        </p:spPr>
        <p:txBody>
          <a:bodyPr wrap="square" lIns="0" tIns="0" rIns="0" bIns="0" rtlCol="0" anchor="ctr">
            <a:normAutofit/>
          </a:bodyPr>
          <a:lstStyle/>
          <a:p>
            <a:pPr algn="l" indent="0" marL="0">
              <a:lnSpc>
                <a:spcPct val="100000"/>
              </a:lnSpc>
              <a:buNone/>
            </a:pPr>
            <a:r>
              <a:rPr lang="en-US" sz="2200" b="1" dirty="0">
                <a:solidFill>
                  <a:srgbClr val="0B1020"/>
                </a:solidFill>
                <a:latin typeface="Aptos Display" pitchFamily="34" charset="0"/>
                <a:ea typeface="Aptos Display" pitchFamily="34" charset="-122"/>
                <a:cs typeface="Aptos Display" pitchFamily="34" charset="-120"/>
              </a:rPr>
              <a:t>Exact quote</a:t>
            </a:r>
            <a:endParaRPr lang="en-US" sz="2200" dirty="0"/>
          </a:p>
        </p:txBody>
      </p:sp>
      <p:sp>
        <p:nvSpPr>
          <p:cNvPr id="11" name="Text 9"/>
          <p:cNvSpPr txBox="1"/>
          <p:nvPr/>
        </p:nvSpPr>
        <p:spPr>
          <a:xfrm>
            <a:off x="978408" y="3227832"/>
            <a:ext cx="2450592" cy="530352"/>
          </a:xfrm>
          <a:prstGeom prst="rect">
            <a:avLst/>
          </a:prstGeom>
          <a:noFill/>
          <a:ln/>
        </p:spPr>
        <p:txBody>
          <a:bodyPr wrap="square" lIns="0" tIns="0" rIns="0" bIns="0" rtlCol="0" anchor="t">
            <a:normAutofit/>
          </a:bodyPr>
          <a:lstStyle/>
          <a:p>
            <a:pPr algn="l" indent="0" marL="0">
              <a:lnSpc>
                <a:spcPct val="100000"/>
              </a:lnSpc>
              <a:buNone/>
            </a:pPr>
            <a:r>
              <a:rPr lang="en-US" sz="1400" dirty="0">
                <a:solidFill>
                  <a:srgbClr val="64748B"/>
                </a:solidFill>
                <a:latin typeface="Aptos" pitchFamily="34" charset="0"/>
                <a:ea typeface="Aptos" pitchFamily="34" charset="-122"/>
                <a:cs typeface="Aptos" pitchFamily="34" charset="-120"/>
              </a:rPr>
              <a:t>The sentence exists in the fetched source</a:t>
            </a:r>
            <a:endParaRPr lang="en-US" sz="1400" dirty="0"/>
          </a:p>
        </p:txBody>
      </p:sp>
      <p:sp>
        <p:nvSpPr>
          <p:cNvPr id="12" name="Shape 10"/>
          <p:cNvSpPr/>
          <p:nvPr/>
        </p:nvSpPr>
        <p:spPr>
          <a:xfrm>
            <a:off x="4315968" y="2258568"/>
            <a:ext cx="2999232" cy="1938528"/>
          </a:xfrm>
          <a:prstGeom prst="roundRect">
            <a:avLst>
              <a:gd name="adj" fmla="val 7075"/>
            </a:avLst>
          </a:prstGeom>
          <a:solidFill>
            <a:srgbClr val="2563EB"/>
          </a:solidFill>
          <a:ln w="12700">
            <a:solidFill>
              <a:srgbClr val="2563EB"/>
            </a:solidFill>
            <a:prstDash val="solid"/>
          </a:ln>
          <a:effectLst>
            <a:outerShdw sx="100000" sy="100000" kx="0" ky="0" algn="bl" rotWithShape="0" blurRad="495575541105000000000" dist="1.32153477628e+21" dir="3.4992e+25">
              <a:srgbClr val="0B1020">
                <a:alpha val="1.2e+24"/>
              </a:srgbClr>
            </a:outerShdw>
          </a:effectLst>
        </p:spPr>
      </p:sp>
      <p:sp>
        <p:nvSpPr>
          <p:cNvPr id="13" name="Shape 11"/>
          <p:cNvSpPr/>
          <p:nvPr/>
        </p:nvSpPr>
        <p:spPr>
          <a:xfrm>
            <a:off x="4544568" y="2532888"/>
            <a:ext cx="475488" cy="475488"/>
          </a:xfrm>
          <a:prstGeom prst="ellipse">
            <a:avLst/>
          </a:prstGeom>
          <a:solidFill>
            <a:srgbClr val="FFFFFF"/>
          </a:solidFill>
          <a:ln w="12700">
            <a:solidFill>
              <a:srgbClr val="FFFFFF"/>
            </a:solidFill>
            <a:prstDash val="solid"/>
          </a:ln>
        </p:spPr>
      </p:sp>
      <p:sp>
        <p:nvSpPr>
          <p:cNvPr id="14" name="Text 12"/>
          <p:cNvSpPr txBox="1"/>
          <p:nvPr/>
        </p:nvSpPr>
        <p:spPr>
          <a:xfrm>
            <a:off x="4544568" y="2532888"/>
            <a:ext cx="475488" cy="475488"/>
          </a:xfrm>
          <a:prstGeom prst="rect">
            <a:avLst/>
          </a:prstGeom>
          <a:noFill/>
          <a:ln/>
        </p:spPr>
        <p:txBody>
          <a:bodyPr wrap="square" lIns="0" tIns="0" rIns="0" bIns="0" rtlCol="0" anchor="ctr">
            <a:normAutofit/>
          </a:bodyPr>
          <a:lstStyle/>
          <a:p>
            <a:pPr algn="ctr" indent="0" marL="0">
              <a:lnSpc>
                <a:spcPct val="100000"/>
              </a:lnSpc>
              <a:buNone/>
            </a:pPr>
            <a:r>
              <a:rPr lang="en-US" sz="1500" b="1" dirty="0">
                <a:solidFill>
                  <a:srgbClr val="2563EB"/>
                </a:solidFill>
                <a:latin typeface="Aptos" pitchFamily="34" charset="0"/>
                <a:ea typeface="Aptos" pitchFamily="34" charset="-122"/>
                <a:cs typeface="Aptos" pitchFamily="34" charset="-120"/>
              </a:rPr>
              <a:t>02</a:t>
            </a:r>
            <a:endParaRPr lang="en-US" sz="1500" dirty="0"/>
          </a:p>
        </p:txBody>
      </p:sp>
      <p:sp>
        <p:nvSpPr>
          <p:cNvPr id="15" name="Text 13"/>
          <p:cNvSpPr txBox="1"/>
          <p:nvPr/>
        </p:nvSpPr>
        <p:spPr>
          <a:xfrm>
            <a:off x="5157216" y="2587752"/>
            <a:ext cx="1874520" cy="329184"/>
          </a:xfrm>
          <a:prstGeom prst="rect">
            <a:avLst/>
          </a:prstGeom>
          <a:noFill/>
          <a:ln/>
        </p:spPr>
        <p:txBody>
          <a:bodyPr wrap="square" lIns="0" tIns="0" rIns="0" bIns="0" rtlCol="0" anchor="ctr">
            <a:normAutofit/>
          </a:bodyPr>
          <a:lstStyle/>
          <a:p>
            <a:pPr algn="l" indent="0" marL="0">
              <a:lnSpc>
                <a:spcPct val="100000"/>
              </a:lnSpc>
              <a:buNone/>
            </a:pPr>
            <a:r>
              <a:rPr lang="en-US" sz="2200" b="1" dirty="0">
                <a:solidFill>
                  <a:srgbClr val="FFFFFF"/>
                </a:solidFill>
                <a:latin typeface="Aptos Display" pitchFamily="34" charset="0"/>
                <a:ea typeface="Aptos Display" pitchFamily="34" charset="-122"/>
                <a:cs typeface="Aptos Display" pitchFamily="34" charset="-120"/>
              </a:rPr>
              <a:t>Provenance</a:t>
            </a:r>
            <a:endParaRPr lang="en-US" sz="2200" dirty="0"/>
          </a:p>
        </p:txBody>
      </p:sp>
      <p:sp>
        <p:nvSpPr>
          <p:cNvPr id="16" name="Text 14"/>
          <p:cNvSpPr txBox="1"/>
          <p:nvPr/>
        </p:nvSpPr>
        <p:spPr>
          <a:xfrm>
            <a:off x="4544568" y="3227832"/>
            <a:ext cx="2450592" cy="530352"/>
          </a:xfrm>
          <a:prstGeom prst="rect">
            <a:avLst/>
          </a:prstGeom>
          <a:noFill/>
          <a:ln/>
        </p:spPr>
        <p:txBody>
          <a:bodyPr wrap="square" lIns="0" tIns="0" rIns="0" bIns="0" rtlCol="0" anchor="t">
            <a:normAutofit/>
          </a:bodyPr>
          <a:lstStyle/>
          <a:p>
            <a:pPr algn="l" indent="0" marL="0">
              <a:lnSpc>
                <a:spcPct val="100000"/>
              </a:lnSpc>
              <a:buNone/>
            </a:pPr>
            <a:r>
              <a:rPr lang="en-US" sz="1400" dirty="0">
                <a:solidFill>
                  <a:srgbClr val="EAF2FF"/>
                </a:solidFill>
                <a:latin typeface="Aptos" pitchFamily="34" charset="0"/>
                <a:ea typeface="Aptos" pitchFamily="34" charset="-122"/>
                <a:cs typeface="Aptos" pitchFamily="34" charset="-120"/>
              </a:rPr>
              <a:t>Source identity and retrieval metadata are complete</a:t>
            </a:r>
            <a:endParaRPr lang="en-US" sz="1400" dirty="0"/>
          </a:p>
        </p:txBody>
      </p:sp>
      <p:sp>
        <p:nvSpPr>
          <p:cNvPr id="17" name="Shape 15"/>
          <p:cNvSpPr/>
          <p:nvPr/>
        </p:nvSpPr>
        <p:spPr>
          <a:xfrm>
            <a:off x="7882128" y="2258568"/>
            <a:ext cx="2999232" cy="1938528"/>
          </a:xfrm>
          <a:prstGeom prst="roundRect">
            <a:avLst>
              <a:gd name="adj" fmla="val 7075"/>
            </a:avLst>
          </a:prstGeom>
          <a:solidFill>
            <a:srgbClr val="FFFFFF"/>
          </a:solidFill>
          <a:ln w="12700">
            <a:solidFill>
              <a:srgbClr val="D8E2F2"/>
            </a:solidFill>
            <a:prstDash val="solid"/>
          </a:ln>
        </p:spPr>
      </p:sp>
      <p:sp>
        <p:nvSpPr>
          <p:cNvPr id="18" name="Shape 16"/>
          <p:cNvSpPr/>
          <p:nvPr/>
        </p:nvSpPr>
        <p:spPr>
          <a:xfrm>
            <a:off x="8110728" y="2532888"/>
            <a:ext cx="475488" cy="475488"/>
          </a:xfrm>
          <a:prstGeom prst="ellipse">
            <a:avLst/>
          </a:prstGeom>
          <a:solidFill>
            <a:srgbClr val="EAF2FF"/>
          </a:solidFill>
          <a:ln w="12700">
            <a:solidFill>
              <a:srgbClr val="EAF2FF"/>
            </a:solidFill>
            <a:prstDash val="solid"/>
          </a:ln>
        </p:spPr>
      </p:sp>
      <p:sp>
        <p:nvSpPr>
          <p:cNvPr id="19" name="Text 17"/>
          <p:cNvSpPr txBox="1"/>
          <p:nvPr/>
        </p:nvSpPr>
        <p:spPr>
          <a:xfrm>
            <a:off x="8110728" y="2532888"/>
            <a:ext cx="475488" cy="475488"/>
          </a:xfrm>
          <a:prstGeom prst="rect">
            <a:avLst/>
          </a:prstGeom>
          <a:noFill/>
          <a:ln/>
        </p:spPr>
        <p:txBody>
          <a:bodyPr wrap="square" lIns="0" tIns="0" rIns="0" bIns="0" rtlCol="0" anchor="ctr">
            <a:normAutofit/>
          </a:bodyPr>
          <a:lstStyle/>
          <a:p>
            <a:pPr algn="ctr" indent="0" marL="0">
              <a:lnSpc>
                <a:spcPct val="100000"/>
              </a:lnSpc>
              <a:buNone/>
            </a:pPr>
            <a:r>
              <a:rPr lang="en-US" sz="1500" b="1" dirty="0">
                <a:solidFill>
                  <a:srgbClr val="1D4ED8"/>
                </a:solidFill>
                <a:latin typeface="Aptos" pitchFamily="34" charset="0"/>
                <a:ea typeface="Aptos" pitchFamily="34" charset="-122"/>
                <a:cs typeface="Aptos" pitchFamily="34" charset="-120"/>
              </a:rPr>
              <a:t>03</a:t>
            </a:r>
            <a:endParaRPr lang="en-US" sz="1500" dirty="0"/>
          </a:p>
        </p:txBody>
      </p:sp>
      <p:sp>
        <p:nvSpPr>
          <p:cNvPr id="20" name="Text 18"/>
          <p:cNvSpPr txBox="1"/>
          <p:nvPr/>
        </p:nvSpPr>
        <p:spPr>
          <a:xfrm>
            <a:off x="8723376" y="2587752"/>
            <a:ext cx="1874520" cy="329184"/>
          </a:xfrm>
          <a:prstGeom prst="rect">
            <a:avLst/>
          </a:prstGeom>
          <a:noFill/>
          <a:ln/>
        </p:spPr>
        <p:txBody>
          <a:bodyPr wrap="square" lIns="0" tIns="0" rIns="0" bIns="0" rtlCol="0" anchor="ctr">
            <a:normAutofit/>
          </a:bodyPr>
          <a:lstStyle/>
          <a:p>
            <a:pPr algn="l" indent="0" marL="0">
              <a:lnSpc>
                <a:spcPct val="100000"/>
              </a:lnSpc>
              <a:buNone/>
            </a:pPr>
            <a:r>
              <a:rPr lang="en-US" sz="2200" b="1" dirty="0">
                <a:solidFill>
                  <a:srgbClr val="0B1020"/>
                </a:solidFill>
                <a:latin typeface="Aptos Display" pitchFamily="34" charset="0"/>
                <a:ea typeface="Aptos Display" pitchFamily="34" charset="-122"/>
                <a:cs typeface="Aptos Display" pitchFamily="34" charset="-120"/>
              </a:rPr>
              <a:t>Currentness fit</a:t>
            </a:r>
            <a:endParaRPr lang="en-US" sz="2200" dirty="0"/>
          </a:p>
        </p:txBody>
      </p:sp>
      <p:sp>
        <p:nvSpPr>
          <p:cNvPr id="21" name="Text 19"/>
          <p:cNvSpPr txBox="1"/>
          <p:nvPr/>
        </p:nvSpPr>
        <p:spPr>
          <a:xfrm>
            <a:off x="8110728" y="3227832"/>
            <a:ext cx="2450592" cy="530352"/>
          </a:xfrm>
          <a:prstGeom prst="rect">
            <a:avLst/>
          </a:prstGeom>
          <a:noFill/>
          <a:ln/>
        </p:spPr>
        <p:txBody>
          <a:bodyPr wrap="square" lIns="0" tIns="0" rIns="0" bIns="0" rtlCol="0" anchor="t">
            <a:normAutofit/>
          </a:bodyPr>
          <a:lstStyle/>
          <a:p>
            <a:pPr algn="l" indent="0" marL="0">
              <a:lnSpc>
                <a:spcPct val="100000"/>
              </a:lnSpc>
              <a:buNone/>
            </a:pPr>
            <a:r>
              <a:rPr lang="en-US" sz="1400" dirty="0">
                <a:solidFill>
                  <a:srgbClr val="64748B"/>
                </a:solidFill>
                <a:latin typeface="Aptos" pitchFamily="34" charset="0"/>
                <a:ea typeface="Aptos" pitchFamily="34" charset="-122"/>
                <a:cs typeface="Aptos" pitchFamily="34" charset="-120"/>
              </a:rPr>
              <a:t>The source can support the claim's time</a:t>
            </a:r>
            <a:endParaRPr lang="en-US" sz="1400" dirty="0"/>
          </a:p>
        </p:txBody>
      </p:sp>
      <p:sp>
        <p:nvSpPr>
          <p:cNvPr id="22" name="Shape 20"/>
          <p:cNvSpPr/>
          <p:nvPr/>
        </p:nvSpPr>
        <p:spPr>
          <a:xfrm>
            <a:off x="5916168" y="4279392"/>
            <a:ext cx="0" cy="457200"/>
          </a:xfrm>
          <a:prstGeom prst="line">
            <a:avLst/>
          </a:prstGeom>
          <a:noFill/>
          <a:ln w="25400">
            <a:solidFill>
              <a:srgbClr val="B45309"/>
            </a:solidFill>
            <a:prstDash val="solid"/>
            <a:tailEnd type="triangle"/>
          </a:ln>
        </p:spPr>
      </p:sp>
      <p:sp>
        <p:nvSpPr>
          <p:cNvPr id="23" name="Shape 21"/>
          <p:cNvSpPr/>
          <p:nvPr/>
        </p:nvSpPr>
        <p:spPr>
          <a:xfrm>
            <a:off x="3767328" y="4791456"/>
            <a:ext cx="4315968" cy="512064"/>
          </a:xfrm>
          <a:prstGeom prst="roundRect">
            <a:avLst>
              <a:gd name="adj" fmla="val 17857"/>
            </a:avLst>
          </a:prstGeom>
          <a:solidFill>
            <a:srgbClr val="FFF5E6"/>
          </a:solidFill>
          <a:ln w="12700">
            <a:solidFill>
              <a:srgbClr val="F7D6A4"/>
            </a:solidFill>
            <a:prstDash val="solid"/>
          </a:ln>
        </p:spPr>
      </p:sp>
      <p:sp>
        <p:nvSpPr>
          <p:cNvPr id="24" name="Text 22"/>
          <p:cNvSpPr txBox="1"/>
          <p:nvPr/>
        </p:nvSpPr>
        <p:spPr>
          <a:xfrm>
            <a:off x="3968496" y="4928616"/>
            <a:ext cx="3931920" cy="219456"/>
          </a:xfrm>
          <a:prstGeom prst="rect">
            <a:avLst/>
          </a:prstGeom>
          <a:noFill/>
          <a:ln/>
        </p:spPr>
        <p:txBody>
          <a:bodyPr wrap="square" lIns="0" tIns="0" rIns="0" bIns="0" rtlCol="0" anchor="ctr">
            <a:normAutofit/>
          </a:bodyPr>
          <a:lstStyle/>
          <a:p>
            <a:pPr algn="ctr" indent="0" marL="0">
              <a:lnSpc>
                <a:spcPct val="100000"/>
              </a:lnSpc>
              <a:buNone/>
            </a:pPr>
            <a:r>
              <a:rPr lang="en-US" sz="1050" b="1" spc="60" kern="0" dirty="0">
                <a:solidFill>
                  <a:srgbClr val="B45309"/>
                </a:solidFill>
                <a:latin typeface="Aptos" pitchFamily="34" charset="0"/>
                <a:ea typeface="Aptos" pitchFamily="34" charset="-122"/>
                <a:cs typeface="Aptos" pitchFamily="34" charset="-120"/>
              </a:rPr>
              <a:t>FAIL → RESEARCH AGAIN → UNDETERMINED → CLIENT QUESTION</a:t>
            </a:r>
            <a:endParaRPr lang="en-US" sz="1050" dirty="0"/>
          </a:p>
        </p:txBody>
      </p:sp>
      <p:sp>
        <p:nvSpPr>
          <p:cNvPr id="25" name="Shape 23"/>
          <p:cNvSpPr/>
          <p:nvPr/>
        </p:nvSpPr>
        <p:spPr>
          <a:xfrm>
            <a:off x="749808" y="5321808"/>
            <a:ext cx="3310128" cy="987552"/>
          </a:xfrm>
          <a:prstGeom prst="roundRect">
            <a:avLst>
              <a:gd name="adj" fmla="val 11111"/>
            </a:avLst>
          </a:prstGeom>
          <a:solidFill>
            <a:srgbClr val="E7F7F4"/>
          </a:solidFill>
          <a:ln w="12700">
            <a:solidFill>
              <a:srgbClr val="B7E4DC"/>
            </a:solidFill>
            <a:prstDash val="solid"/>
          </a:ln>
        </p:spPr>
      </p:sp>
      <p:sp>
        <p:nvSpPr>
          <p:cNvPr id="26" name="Text 24"/>
          <p:cNvSpPr txBox="1"/>
          <p:nvPr/>
        </p:nvSpPr>
        <p:spPr>
          <a:xfrm>
            <a:off x="914400" y="5431536"/>
            <a:ext cx="2980944" cy="402336"/>
          </a:xfrm>
          <a:prstGeom prst="rect">
            <a:avLst/>
          </a:prstGeom>
          <a:noFill/>
          <a:ln/>
        </p:spPr>
        <p:txBody>
          <a:bodyPr wrap="square" lIns="0" tIns="0" rIns="0" bIns="0" rtlCol="0" anchor="t">
            <a:normAutofit/>
          </a:bodyPr>
          <a:lstStyle/>
          <a:p>
            <a:pPr algn="l" indent="0" marL="0">
              <a:lnSpc>
                <a:spcPct val="100000"/>
              </a:lnSpc>
              <a:buNone/>
            </a:pPr>
            <a:r>
              <a:rPr lang="en-US" sz="2800" b="1" dirty="0">
                <a:solidFill>
                  <a:srgbClr val="0F766E"/>
                </a:solidFill>
                <a:latin typeface="Aptos Display" pitchFamily="34" charset="0"/>
                <a:ea typeface="Aptos Display" pitchFamily="34" charset="-122"/>
                <a:cs typeface="Aptos Display" pitchFamily="34" charset="-120"/>
              </a:rPr>
              <a:t>1.0</a:t>
            </a:r>
            <a:endParaRPr lang="en-US" sz="2800" dirty="0"/>
          </a:p>
        </p:txBody>
      </p:sp>
      <p:sp>
        <p:nvSpPr>
          <p:cNvPr id="27" name="Text 25"/>
          <p:cNvSpPr txBox="1"/>
          <p:nvPr/>
        </p:nvSpPr>
        <p:spPr>
          <a:xfrm>
            <a:off x="914400" y="5888736"/>
            <a:ext cx="2980944" cy="246888"/>
          </a:xfrm>
          <a:prstGeom prst="rect">
            <a:avLst/>
          </a:prstGeom>
          <a:noFill/>
          <a:ln/>
        </p:spPr>
        <p:txBody>
          <a:bodyPr wrap="square" lIns="0" tIns="0" rIns="0" bIns="0" rtlCol="0" anchor="t">
            <a:normAutofit/>
          </a:bodyPr>
          <a:lstStyle/>
          <a:p>
            <a:pPr algn="l" indent="0" marL="0">
              <a:lnSpc>
                <a:spcPct val="100000"/>
              </a:lnSpc>
              <a:buNone/>
            </a:pPr>
            <a:r>
              <a:rPr lang="en-US" sz="1250" dirty="0">
                <a:solidFill>
                  <a:srgbClr val="273244"/>
                </a:solidFill>
                <a:latin typeface="Aptos" pitchFamily="34" charset="0"/>
                <a:ea typeface="Aptos" pitchFamily="34" charset="-122"/>
                <a:cs typeface="Aptos" pitchFamily="34" charset="-120"/>
              </a:rPr>
              <a:t>honest refusal rate</a:t>
            </a:r>
            <a:endParaRPr lang="en-US" sz="1250" dirty="0"/>
          </a:p>
        </p:txBody>
      </p:sp>
      <p:sp>
        <p:nvSpPr>
          <p:cNvPr id="28" name="Shape 26"/>
          <p:cNvSpPr/>
          <p:nvPr/>
        </p:nvSpPr>
        <p:spPr>
          <a:xfrm>
            <a:off x="4407408" y="5321808"/>
            <a:ext cx="3310128" cy="987552"/>
          </a:xfrm>
          <a:prstGeom prst="roundRect">
            <a:avLst>
              <a:gd name="adj" fmla="val 11111"/>
            </a:avLst>
          </a:prstGeom>
          <a:solidFill>
            <a:srgbClr val="E7F7F4"/>
          </a:solidFill>
          <a:ln w="12700">
            <a:solidFill>
              <a:srgbClr val="B7E4DC"/>
            </a:solidFill>
            <a:prstDash val="solid"/>
          </a:ln>
        </p:spPr>
      </p:sp>
      <p:sp>
        <p:nvSpPr>
          <p:cNvPr id="29" name="Text 27"/>
          <p:cNvSpPr txBox="1"/>
          <p:nvPr/>
        </p:nvSpPr>
        <p:spPr>
          <a:xfrm>
            <a:off x="4572000" y="5431536"/>
            <a:ext cx="2980944" cy="402336"/>
          </a:xfrm>
          <a:prstGeom prst="rect">
            <a:avLst/>
          </a:prstGeom>
          <a:noFill/>
          <a:ln/>
        </p:spPr>
        <p:txBody>
          <a:bodyPr wrap="square" lIns="0" tIns="0" rIns="0" bIns="0" rtlCol="0" anchor="t">
            <a:normAutofit/>
          </a:bodyPr>
          <a:lstStyle/>
          <a:p>
            <a:pPr algn="l" indent="0" marL="0">
              <a:lnSpc>
                <a:spcPct val="100000"/>
              </a:lnSpc>
              <a:buNone/>
            </a:pPr>
            <a:r>
              <a:rPr lang="en-US" sz="2800" b="1" dirty="0">
                <a:solidFill>
                  <a:srgbClr val="0F766E"/>
                </a:solidFill>
                <a:latin typeface="Aptos Display" pitchFamily="34" charset="0"/>
                <a:ea typeface="Aptos Display" pitchFamily="34" charset="-122"/>
                <a:cs typeface="Aptos Display" pitchFamily="34" charset="-120"/>
              </a:rPr>
              <a:t>0</a:t>
            </a:r>
            <a:endParaRPr lang="en-US" sz="2800" dirty="0"/>
          </a:p>
        </p:txBody>
      </p:sp>
      <p:sp>
        <p:nvSpPr>
          <p:cNvPr id="30" name="Text 28"/>
          <p:cNvSpPr txBox="1"/>
          <p:nvPr/>
        </p:nvSpPr>
        <p:spPr>
          <a:xfrm>
            <a:off x="4572000" y="5888736"/>
            <a:ext cx="2980944" cy="246888"/>
          </a:xfrm>
          <a:prstGeom prst="rect">
            <a:avLst/>
          </a:prstGeom>
          <a:noFill/>
          <a:ln/>
        </p:spPr>
        <p:txBody>
          <a:bodyPr wrap="square" lIns="0" tIns="0" rIns="0" bIns="0" rtlCol="0" anchor="t">
            <a:normAutofit/>
          </a:bodyPr>
          <a:lstStyle/>
          <a:p>
            <a:pPr algn="l" indent="0" marL="0">
              <a:lnSpc>
                <a:spcPct val="100000"/>
              </a:lnSpc>
              <a:buNone/>
            </a:pPr>
            <a:r>
              <a:rPr lang="en-US" sz="1250" dirty="0">
                <a:solidFill>
                  <a:srgbClr val="273244"/>
                </a:solidFill>
                <a:latin typeface="Aptos" pitchFamily="34" charset="0"/>
                <a:ea typeface="Aptos" pitchFamily="34" charset="-122"/>
                <a:cs typeface="Aptos" pitchFamily="34" charset="-120"/>
              </a:rPr>
              <a:t>thin-company false positives</a:t>
            </a:r>
            <a:endParaRPr lang="en-US" sz="1250" dirty="0"/>
          </a:p>
        </p:txBody>
      </p:sp>
      <p:sp>
        <p:nvSpPr>
          <p:cNvPr id="31" name="Shape 29"/>
          <p:cNvSpPr/>
          <p:nvPr/>
        </p:nvSpPr>
        <p:spPr>
          <a:xfrm>
            <a:off x="8065008" y="5321808"/>
            <a:ext cx="3310128" cy="987552"/>
          </a:xfrm>
          <a:prstGeom prst="roundRect">
            <a:avLst>
              <a:gd name="adj" fmla="val 11111"/>
            </a:avLst>
          </a:prstGeom>
          <a:solidFill>
            <a:srgbClr val="E7F7F4"/>
          </a:solidFill>
          <a:ln w="12700">
            <a:solidFill>
              <a:srgbClr val="B7E4DC"/>
            </a:solidFill>
            <a:prstDash val="solid"/>
          </a:ln>
        </p:spPr>
      </p:sp>
      <p:sp>
        <p:nvSpPr>
          <p:cNvPr id="32" name="Text 30"/>
          <p:cNvSpPr txBox="1"/>
          <p:nvPr/>
        </p:nvSpPr>
        <p:spPr>
          <a:xfrm>
            <a:off x="8229600" y="5431536"/>
            <a:ext cx="2980944" cy="402336"/>
          </a:xfrm>
          <a:prstGeom prst="rect">
            <a:avLst/>
          </a:prstGeom>
          <a:noFill/>
          <a:ln/>
        </p:spPr>
        <p:txBody>
          <a:bodyPr wrap="square" lIns="0" tIns="0" rIns="0" bIns="0" rtlCol="0" anchor="t">
            <a:normAutofit/>
          </a:bodyPr>
          <a:lstStyle/>
          <a:p>
            <a:pPr algn="l" indent="0" marL="0">
              <a:lnSpc>
                <a:spcPct val="100000"/>
              </a:lnSpc>
              <a:buNone/>
            </a:pPr>
            <a:r>
              <a:rPr lang="en-US" sz="2800" b="1" dirty="0">
                <a:solidFill>
                  <a:srgbClr val="0F766E"/>
                </a:solidFill>
                <a:latin typeface="Aptos Display" pitchFamily="34" charset="0"/>
                <a:ea typeface="Aptos Display" pitchFamily="34" charset="-122"/>
                <a:cs typeface="Aptos Display" pitchFamily="34" charset="-120"/>
              </a:rPr>
              <a:t>0</a:t>
            </a:r>
            <a:endParaRPr lang="en-US" sz="2800" dirty="0"/>
          </a:p>
        </p:txBody>
      </p:sp>
      <p:sp>
        <p:nvSpPr>
          <p:cNvPr id="33" name="Text 31"/>
          <p:cNvSpPr txBox="1"/>
          <p:nvPr/>
        </p:nvSpPr>
        <p:spPr>
          <a:xfrm>
            <a:off x="8229600" y="5888736"/>
            <a:ext cx="2980944" cy="246888"/>
          </a:xfrm>
          <a:prstGeom prst="rect">
            <a:avLst/>
          </a:prstGeom>
          <a:noFill/>
          <a:ln/>
        </p:spPr>
        <p:txBody>
          <a:bodyPr wrap="square" lIns="0" tIns="0" rIns="0" bIns="0" rtlCol="0" anchor="t">
            <a:normAutofit/>
          </a:bodyPr>
          <a:lstStyle/>
          <a:p>
            <a:pPr algn="l" indent="0" marL="0">
              <a:lnSpc>
                <a:spcPct val="100000"/>
              </a:lnSpc>
              <a:buNone/>
            </a:pPr>
            <a:r>
              <a:rPr lang="en-US" sz="1250" dirty="0">
                <a:solidFill>
                  <a:srgbClr val="273244"/>
                </a:solidFill>
                <a:latin typeface="Aptos" pitchFamily="34" charset="0"/>
                <a:ea typeface="Aptos" pitchFamily="34" charset="-122"/>
                <a:cs typeface="Aptos" pitchFamily="34" charset="-120"/>
              </a:rPr>
              <a:t>provenance violations</a:t>
            </a:r>
            <a:endParaRPr lang="en-US" sz="1250" dirty="0"/>
          </a:p>
        </p:txBody>
      </p:sp>
      <p:sp>
        <p:nvSpPr>
          <p:cNvPr id="34" name="Text 32"/>
          <p:cNvSpPr txBox="1"/>
          <p:nvPr/>
        </p:nvSpPr>
        <p:spPr>
          <a:xfrm>
            <a:off x="713232" y="6428232"/>
            <a:ext cx="2286000" cy="164592"/>
          </a:xfrm>
          <a:prstGeom prst="rect">
            <a:avLst/>
          </a:prstGeom>
          <a:noFill/>
          <a:ln/>
        </p:spPr>
        <p:txBody>
          <a:bodyPr wrap="square" lIns="0" tIns="0" rIns="0" bIns="0" rtlCol="0" anchor="ctr">
            <a:normAutofit/>
          </a:bodyPr>
          <a:lstStyle/>
          <a:p>
            <a:pPr algn="l" indent="0" marL="0">
              <a:lnSpc>
                <a:spcPct val="100000"/>
              </a:lnSpc>
              <a:buNone/>
            </a:pPr>
            <a:r>
              <a:rPr lang="en-US" sz="900" b="1" spc="110" kern="0" dirty="0">
                <a:solidFill>
                  <a:srgbClr val="64748B"/>
                </a:solidFill>
                <a:latin typeface="Aptos" pitchFamily="34" charset="0"/>
                <a:ea typeface="Aptos" pitchFamily="34" charset="-122"/>
                <a:cs typeface="Aptos" pitchFamily="34" charset="-120"/>
              </a:rPr>
              <a:t>AI PRE-SCAN  •  THE TRUST BOUNDARY</a:t>
            </a:r>
            <a:endParaRPr lang="en-US" sz="900" dirty="0"/>
          </a:p>
        </p:txBody>
      </p:sp>
      <p:sp>
        <p:nvSpPr>
          <p:cNvPr id="25" name="Slide Number Placeholder 0"/>
          <p:cNvSpPr>
            <a:spLocks noGrp="1"/>
          </p:cNvSpPr>
          <p:nvPr>
            <p:ph type="sldNum" sz="quarter" idx="4294967295"/>
          </p:nvPr>
        </p:nvSpPr>
        <p:spPr>
          <a:xfrm>
            <a:off x="11292840" y="642823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4A3B8"/>
                </a:solidFill>
                <a:latin typeface="Aptos"/>
                <a:ea typeface="Aptos"/>
                <a:cs typeface="Apto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13232" y="384048"/>
            <a:ext cx="2743200" cy="219456"/>
          </a:xfrm>
          <a:prstGeom prst="rect">
            <a:avLst/>
          </a:prstGeom>
          <a:noFill/>
          <a:ln/>
        </p:spPr>
        <p:txBody>
          <a:bodyPr wrap="square" lIns="0" tIns="0" rIns="0" bIns="0" rtlCol="0" anchor="ctr">
            <a:normAutofit/>
          </a:bodyPr>
          <a:lstStyle/>
          <a:p>
            <a:pPr algn="l" indent="0" marL="0">
              <a:lnSpc>
                <a:spcPct val="100000"/>
              </a:lnSpc>
              <a:buNone/>
            </a:pPr>
            <a:r>
              <a:rPr lang="en-US" sz="1100" b="1" spc="180" kern="0" dirty="0">
                <a:solidFill>
                  <a:srgbClr val="2563EB"/>
                </a:solidFill>
                <a:latin typeface="Aptos" pitchFamily="34" charset="0"/>
                <a:ea typeface="Aptos" pitchFamily="34" charset="-122"/>
                <a:cs typeface="Aptos" pitchFamily="34" charset="-120"/>
              </a:rPr>
              <a:t>THE ARCHITECTURE</a:t>
            </a:r>
            <a:endParaRPr lang="en-US" sz="1100" dirty="0"/>
          </a:p>
        </p:txBody>
      </p:sp>
      <p:sp>
        <p:nvSpPr>
          <p:cNvPr id="3" name="Text 1"/>
          <p:cNvSpPr txBox="1"/>
          <p:nvPr/>
        </p:nvSpPr>
        <p:spPr>
          <a:xfrm>
            <a:off x="713232" y="713232"/>
            <a:ext cx="10744200" cy="749808"/>
          </a:xfrm>
          <a:prstGeom prst="rect">
            <a:avLst/>
          </a:prstGeom>
          <a:noFill/>
          <a:ln/>
        </p:spPr>
        <p:txBody>
          <a:bodyPr wrap="square" lIns="0" tIns="0" rIns="0" bIns="0" rtlCol="0" anchor="t">
            <a:normAutofit/>
          </a:bodyPr>
          <a:lstStyle/>
          <a:p>
            <a:pPr algn="l" indent="0" marL="0">
              <a:lnSpc>
                <a:spcPct val="100000"/>
              </a:lnSpc>
              <a:buNone/>
            </a:pPr>
            <a:r>
              <a:rPr lang="en-US" sz="4000" b="1" dirty="0">
                <a:solidFill>
                  <a:srgbClr val="0B1020"/>
                </a:solidFill>
                <a:latin typeface="Aptos Display" pitchFamily="34" charset="0"/>
                <a:ea typeface="Aptos Display" pitchFamily="34" charset="-122"/>
                <a:cs typeface="Aptos Display" pitchFamily="34" charset="-120"/>
              </a:rPr>
              <a:t>LangGraph makes the evidence gate operational</a:t>
            </a:r>
            <a:endParaRPr lang="en-US" sz="4000" dirty="0"/>
          </a:p>
        </p:txBody>
      </p:sp>
      <p:sp>
        <p:nvSpPr>
          <p:cNvPr id="4" name="Shape 2"/>
          <p:cNvSpPr/>
          <p:nvPr/>
        </p:nvSpPr>
        <p:spPr>
          <a:xfrm>
            <a:off x="2578608" y="2816352"/>
            <a:ext cx="749808" cy="0"/>
          </a:xfrm>
          <a:prstGeom prst="line">
            <a:avLst/>
          </a:prstGeom>
          <a:noFill/>
          <a:ln w="29210">
            <a:solidFill>
              <a:srgbClr val="2563EB"/>
            </a:solidFill>
            <a:prstDash val="solid"/>
            <a:tailEnd type="triangle"/>
          </a:ln>
        </p:spPr>
      </p:sp>
      <p:sp>
        <p:nvSpPr>
          <p:cNvPr id="5" name="Shape 3"/>
          <p:cNvSpPr/>
          <p:nvPr/>
        </p:nvSpPr>
        <p:spPr>
          <a:xfrm>
            <a:off x="5577840" y="2816352"/>
            <a:ext cx="804672" cy="0"/>
          </a:xfrm>
          <a:prstGeom prst="line">
            <a:avLst/>
          </a:prstGeom>
          <a:noFill/>
          <a:ln w="29210">
            <a:solidFill>
              <a:srgbClr val="2563EB"/>
            </a:solidFill>
            <a:prstDash val="solid"/>
            <a:tailEnd type="triangle"/>
          </a:ln>
        </p:spPr>
      </p:sp>
      <p:sp>
        <p:nvSpPr>
          <p:cNvPr id="6" name="Shape 4"/>
          <p:cNvSpPr/>
          <p:nvPr/>
        </p:nvSpPr>
        <p:spPr>
          <a:xfrm>
            <a:off x="8723376" y="2816352"/>
            <a:ext cx="786384" cy="0"/>
          </a:xfrm>
          <a:prstGeom prst="line">
            <a:avLst/>
          </a:prstGeom>
          <a:noFill/>
          <a:ln w="29210">
            <a:solidFill>
              <a:srgbClr val="0F766E"/>
            </a:solidFill>
            <a:prstDash val="solid"/>
            <a:tailEnd type="triangle"/>
          </a:ln>
        </p:spPr>
      </p:sp>
      <p:sp>
        <p:nvSpPr>
          <p:cNvPr id="7" name="Shape 5"/>
          <p:cNvSpPr/>
          <p:nvPr/>
        </p:nvSpPr>
        <p:spPr>
          <a:xfrm>
            <a:off x="7571232" y="3675888"/>
            <a:ext cx="-3383280" cy="950976"/>
          </a:xfrm>
          <a:prstGeom prst="line">
            <a:avLst/>
          </a:prstGeom>
          <a:noFill/>
          <a:ln w="22860">
            <a:solidFill>
              <a:srgbClr val="2563EB"/>
            </a:solidFill>
            <a:prstDash val="dash"/>
            <a:tailEnd type="triangle"/>
          </a:ln>
        </p:spPr>
      </p:sp>
      <p:sp>
        <p:nvSpPr>
          <p:cNvPr id="8" name="Shape 6"/>
          <p:cNvSpPr/>
          <p:nvPr/>
        </p:nvSpPr>
        <p:spPr>
          <a:xfrm>
            <a:off x="7571232" y="3675888"/>
            <a:ext cx="0" cy="969264"/>
          </a:xfrm>
          <a:prstGeom prst="line">
            <a:avLst/>
          </a:prstGeom>
          <a:noFill/>
          <a:ln w="22860">
            <a:solidFill>
              <a:srgbClr val="B45309"/>
            </a:solidFill>
            <a:prstDash val="solid"/>
            <a:tailEnd type="triangle"/>
          </a:ln>
        </p:spPr>
      </p:sp>
      <p:sp>
        <p:nvSpPr>
          <p:cNvPr id="9" name="Shape 7"/>
          <p:cNvSpPr/>
          <p:nvPr/>
        </p:nvSpPr>
        <p:spPr>
          <a:xfrm>
            <a:off x="749808" y="2212848"/>
            <a:ext cx="1828800" cy="1207008"/>
          </a:xfrm>
          <a:prstGeom prst="roundRect">
            <a:avLst>
              <a:gd name="adj" fmla="val 10606"/>
            </a:avLst>
          </a:prstGeom>
          <a:solidFill>
            <a:srgbClr val="FFFFFF"/>
          </a:solidFill>
          <a:ln w="12700">
            <a:solidFill>
              <a:srgbClr val="D8E2F2"/>
            </a:solidFill>
            <a:prstDash val="solid"/>
          </a:ln>
        </p:spPr>
      </p:sp>
      <p:sp>
        <p:nvSpPr>
          <p:cNvPr id="10" name="Text 8"/>
          <p:cNvSpPr txBox="1"/>
          <p:nvPr/>
        </p:nvSpPr>
        <p:spPr>
          <a:xfrm>
            <a:off x="914400" y="2414016"/>
            <a:ext cx="1499616" cy="246888"/>
          </a:xfrm>
          <a:prstGeom prst="rect">
            <a:avLst/>
          </a:prstGeom>
          <a:noFill/>
          <a:ln/>
        </p:spPr>
        <p:txBody>
          <a:bodyPr wrap="square" lIns="0" tIns="0" rIns="0" bIns="0" rtlCol="0" anchor="ctr">
            <a:normAutofit/>
          </a:bodyPr>
          <a:lstStyle/>
          <a:p>
            <a:pPr algn="ctr" indent="0" marL="0">
              <a:lnSpc>
                <a:spcPct val="100000"/>
              </a:lnSpc>
              <a:buNone/>
            </a:pPr>
            <a:r>
              <a:rPr lang="en-US" sz="1100" b="1" spc="100" kern="0" dirty="0">
                <a:solidFill>
                  <a:srgbClr val="0B1020"/>
                </a:solidFill>
                <a:latin typeface="Aptos" pitchFamily="34" charset="0"/>
                <a:ea typeface="Aptos" pitchFamily="34" charset="-122"/>
                <a:cs typeface="Aptos" pitchFamily="34" charset="-120"/>
              </a:rPr>
              <a:t>RESEARCH</a:t>
            </a:r>
            <a:endParaRPr lang="en-US" sz="1100" dirty="0"/>
          </a:p>
        </p:txBody>
      </p:sp>
      <p:sp>
        <p:nvSpPr>
          <p:cNvPr id="11" name="Text 9"/>
          <p:cNvSpPr txBox="1"/>
          <p:nvPr/>
        </p:nvSpPr>
        <p:spPr>
          <a:xfrm>
            <a:off x="914400" y="2779776"/>
            <a:ext cx="1499616" cy="521208"/>
          </a:xfrm>
          <a:prstGeom prst="rect">
            <a:avLst/>
          </a:prstGeom>
          <a:noFill/>
          <a:ln/>
        </p:spPr>
        <p:txBody>
          <a:bodyPr wrap="square" lIns="0" tIns="0" rIns="0" bIns="0" rtlCol="0" anchor="t">
            <a:normAutofit/>
          </a:bodyPr>
          <a:lstStyle/>
          <a:p>
            <a:pPr algn="ctr" indent="0" marL="0">
              <a:lnSpc>
                <a:spcPct val="100000"/>
              </a:lnSpc>
              <a:buNone/>
            </a:pPr>
            <a:r>
              <a:rPr lang="en-US" sz="1900" b="1" dirty="0">
                <a:solidFill>
                  <a:srgbClr val="0B1020"/>
                </a:solidFill>
                <a:latin typeface="Aptos Display" pitchFamily="34" charset="0"/>
                <a:ea typeface="Aptos Display" pitchFamily="34" charset="-122"/>
                <a:cs typeface="Aptos Display" pitchFamily="34" charset="-120"/>
              </a:rPr>
              <a:t>Search + retrieve</a:t>
            </a:r>
            <a:endParaRPr lang="en-US" sz="1900" dirty="0"/>
          </a:p>
        </p:txBody>
      </p:sp>
      <p:sp>
        <p:nvSpPr>
          <p:cNvPr id="12" name="Shape 10"/>
          <p:cNvSpPr/>
          <p:nvPr/>
        </p:nvSpPr>
        <p:spPr>
          <a:xfrm>
            <a:off x="3337560" y="2212848"/>
            <a:ext cx="2249424" cy="1207008"/>
          </a:xfrm>
          <a:prstGeom prst="roundRect">
            <a:avLst>
              <a:gd name="adj" fmla="val 10606"/>
            </a:avLst>
          </a:prstGeom>
          <a:solidFill>
            <a:srgbClr val="FFFFFF"/>
          </a:solidFill>
          <a:ln w="12700">
            <a:solidFill>
              <a:srgbClr val="D8E2F2"/>
            </a:solidFill>
            <a:prstDash val="solid"/>
          </a:ln>
        </p:spPr>
      </p:sp>
      <p:sp>
        <p:nvSpPr>
          <p:cNvPr id="13" name="Text 11"/>
          <p:cNvSpPr txBox="1"/>
          <p:nvPr/>
        </p:nvSpPr>
        <p:spPr>
          <a:xfrm>
            <a:off x="3502152" y="2414016"/>
            <a:ext cx="1920240" cy="246888"/>
          </a:xfrm>
          <a:prstGeom prst="rect">
            <a:avLst/>
          </a:prstGeom>
          <a:noFill/>
          <a:ln/>
        </p:spPr>
        <p:txBody>
          <a:bodyPr wrap="square" lIns="0" tIns="0" rIns="0" bIns="0" rtlCol="0" anchor="ctr">
            <a:normAutofit/>
          </a:bodyPr>
          <a:lstStyle/>
          <a:p>
            <a:pPr algn="ctr" indent="0" marL="0">
              <a:lnSpc>
                <a:spcPct val="100000"/>
              </a:lnSpc>
              <a:buNone/>
            </a:pPr>
            <a:r>
              <a:rPr lang="en-US" sz="1100" b="1" spc="100" kern="0" dirty="0">
                <a:solidFill>
                  <a:srgbClr val="0B1020"/>
                </a:solidFill>
                <a:latin typeface="Aptos" pitchFamily="34" charset="0"/>
                <a:ea typeface="Aptos" pitchFamily="34" charset="-122"/>
                <a:cs typeface="Aptos" pitchFamily="34" charset="-120"/>
              </a:rPr>
              <a:t>EXTRACT</a:t>
            </a:r>
            <a:endParaRPr lang="en-US" sz="1100" dirty="0"/>
          </a:p>
        </p:txBody>
      </p:sp>
      <p:sp>
        <p:nvSpPr>
          <p:cNvPr id="14" name="Text 12"/>
          <p:cNvSpPr txBox="1"/>
          <p:nvPr/>
        </p:nvSpPr>
        <p:spPr>
          <a:xfrm>
            <a:off x="3502152" y="2779776"/>
            <a:ext cx="1920240" cy="521208"/>
          </a:xfrm>
          <a:prstGeom prst="rect">
            <a:avLst/>
          </a:prstGeom>
          <a:noFill/>
          <a:ln/>
        </p:spPr>
        <p:txBody>
          <a:bodyPr wrap="square" lIns="0" tIns="0" rIns="0" bIns="0" rtlCol="0" anchor="t">
            <a:normAutofit/>
          </a:bodyPr>
          <a:lstStyle/>
          <a:p>
            <a:pPr algn="ctr" indent="0" marL="0">
              <a:lnSpc>
                <a:spcPct val="100000"/>
              </a:lnSpc>
              <a:buNone/>
            </a:pPr>
            <a:r>
              <a:rPr lang="en-US" sz="1900" b="1" dirty="0">
                <a:solidFill>
                  <a:srgbClr val="0B1020"/>
                </a:solidFill>
                <a:latin typeface="Aptos Display" pitchFamily="34" charset="0"/>
                <a:ea typeface="Aptos Display" pitchFamily="34" charset="-122"/>
                <a:cs typeface="Aptos Display" pitchFamily="34" charset="-120"/>
              </a:rPr>
              <a:t>Candidate facts</a:t>
            </a:r>
            <a:endParaRPr lang="en-US" sz="1900" dirty="0"/>
          </a:p>
        </p:txBody>
      </p:sp>
      <p:sp>
        <p:nvSpPr>
          <p:cNvPr id="15" name="Shape 13"/>
          <p:cNvSpPr/>
          <p:nvPr/>
        </p:nvSpPr>
        <p:spPr>
          <a:xfrm>
            <a:off x="6382512" y="2011680"/>
            <a:ext cx="2359152" cy="1591056"/>
          </a:xfrm>
          <a:prstGeom prst="roundRect">
            <a:avLst>
              <a:gd name="adj" fmla="val 8046"/>
            </a:avLst>
          </a:prstGeom>
          <a:solidFill>
            <a:srgbClr val="2563EB"/>
          </a:solidFill>
          <a:ln w="12700">
            <a:solidFill>
              <a:srgbClr val="2563EB"/>
            </a:solidFill>
            <a:prstDash val="solid"/>
          </a:ln>
          <a:effectLst>
            <a:outerShdw sx="100000" sy="100000" kx="0" ky="0" algn="bl" rotWithShape="0" blurRad="6.2938093720335e+24" dist="1.6783491658756e+25" dir="2.09952e+30">
              <a:srgbClr val="0B1020">
                <a:alpha val="1.2e+29"/>
              </a:srgbClr>
            </a:outerShdw>
          </a:effectLst>
        </p:spPr>
      </p:sp>
      <p:sp>
        <p:nvSpPr>
          <p:cNvPr id="16" name="Text 14"/>
          <p:cNvSpPr txBox="1"/>
          <p:nvPr/>
        </p:nvSpPr>
        <p:spPr>
          <a:xfrm>
            <a:off x="6547104" y="2212848"/>
            <a:ext cx="2029968" cy="246888"/>
          </a:xfrm>
          <a:prstGeom prst="rect">
            <a:avLst/>
          </a:prstGeom>
          <a:noFill/>
          <a:ln/>
        </p:spPr>
        <p:txBody>
          <a:bodyPr wrap="square" lIns="0" tIns="0" rIns="0" bIns="0" rtlCol="0" anchor="ctr">
            <a:normAutofit/>
          </a:bodyPr>
          <a:lstStyle/>
          <a:p>
            <a:pPr algn="ctr" indent="0" marL="0">
              <a:lnSpc>
                <a:spcPct val="100000"/>
              </a:lnSpc>
              <a:buNone/>
            </a:pPr>
            <a:r>
              <a:rPr lang="en-US" sz="1100" b="1" spc="100" kern="0" dirty="0">
                <a:solidFill>
                  <a:srgbClr val="FFFFFF"/>
                </a:solidFill>
                <a:latin typeface="Aptos" pitchFamily="34" charset="0"/>
                <a:ea typeface="Aptos" pitchFamily="34" charset="-122"/>
                <a:cs typeface="Aptos" pitchFamily="34" charset="-120"/>
              </a:rPr>
              <a:t>EVIDENCE GATE</a:t>
            </a:r>
            <a:endParaRPr lang="en-US" sz="1100" dirty="0"/>
          </a:p>
        </p:txBody>
      </p:sp>
      <p:sp>
        <p:nvSpPr>
          <p:cNvPr id="17" name="Text 15"/>
          <p:cNvSpPr txBox="1"/>
          <p:nvPr/>
        </p:nvSpPr>
        <p:spPr>
          <a:xfrm>
            <a:off x="6547104" y="2578608"/>
            <a:ext cx="2029968" cy="905256"/>
          </a:xfrm>
          <a:prstGeom prst="rect">
            <a:avLst/>
          </a:prstGeom>
          <a:noFill/>
          <a:ln/>
        </p:spPr>
        <p:txBody>
          <a:bodyPr wrap="square" lIns="0" tIns="0" rIns="0" bIns="0" rtlCol="0" anchor="t">
            <a:normAutofit/>
          </a:bodyPr>
          <a:lstStyle/>
          <a:p>
            <a:pPr algn="ctr" indent="0" marL="0">
              <a:lnSpc>
                <a:spcPct val="100000"/>
              </a:lnSpc>
              <a:buNone/>
            </a:pPr>
            <a:r>
              <a:rPr lang="en-US" sz="1900" b="1" dirty="0">
                <a:solidFill>
                  <a:srgbClr val="FFFFFF"/>
                </a:solidFill>
                <a:latin typeface="Aptos Display" pitchFamily="34" charset="0"/>
                <a:ea typeface="Aptos Display" pitchFamily="34" charset="-122"/>
                <a:cs typeface="Aptos Display" pitchFamily="34" charset="-120"/>
              </a:rPr>
              <a:t>quoted support</a:t>
            </a:r>
            <a:endParaRPr lang="en-US" sz="1900" dirty="0"/>
          </a:p>
          <a:p>
            <a:pPr algn="ctr" indent="0" marL="0">
              <a:lnSpc>
                <a:spcPct val="100000"/>
              </a:lnSpc>
              <a:buNone/>
            </a:pPr>
            <a:r>
              <a:rPr lang="en-US" sz="1900" b="1" dirty="0">
                <a:solidFill>
                  <a:srgbClr val="FFFFFF"/>
                </a:solidFill>
                <a:latin typeface="Aptos Display" pitchFamily="34" charset="0"/>
                <a:ea typeface="Aptos Display" pitchFamily="34" charset="-122"/>
                <a:cs typeface="Aptos Display" pitchFamily="34" charset="-120"/>
              </a:rPr>
              <a:t>+ source fit</a:t>
            </a:r>
            <a:endParaRPr lang="en-US" sz="1900" dirty="0"/>
          </a:p>
        </p:txBody>
      </p:sp>
      <p:sp>
        <p:nvSpPr>
          <p:cNvPr id="18" name="Shape 16"/>
          <p:cNvSpPr/>
          <p:nvPr/>
        </p:nvSpPr>
        <p:spPr>
          <a:xfrm>
            <a:off x="9528048" y="2212848"/>
            <a:ext cx="1828800" cy="1207008"/>
          </a:xfrm>
          <a:prstGeom prst="roundRect">
            <a:avLst>
              <a:gd name="adj" fmla="val 10606"/>
            </a:avLst>
          </a:prstGeom>
          <a:solidFill>
            <a:srgbClr val="E7F7F4"/>
          </a:solidFill>
          <a:ln w="12700">
            <a:solidFill>
              <a:srgbClr val="E7F7F4"/>
            </a:solidFill>
            <a:prstDash val="solid"/>
          </a:ln>
        </p:spPr>
      </p:sp>
      <p:sp>
        <p:nvSpPr>
          <p:cNvPr id="19" name="Text 17"/>
          <p:cNvSpPr txBox="1"/>
          <p:nvPr/>
        </p:nvSpPr>
        <p:spPr>
          <a:xfrm>
            <a:off x="9692640" y="2414016"/>
            <a:ext cx="1499616" cy="246888"/>
          </a:xfrm>
          <a:prstGeom prst="rect">
            <a:avLst/>
          </a:prstGeom>
          <a:noFill/>
          <a:ln/>
        </p:spPr>
        <p:txBody>
          <a:bodyPr wrap="square" lIns="0" tIns="0" rIns="0" bIns="0" rtlCol="0" anchor="ctr">
            <a:normAutofit/>
          </a:bodyPr>
          <a:lstStyle/>
          <a:p>
            <a:pPr algn="ctr" indent="0" marL="0">
              <a:lnSpc>
                <a:spcPct val="100000"/>
              </a:lnSpc>
              <a:buNone/>
            </a:pPr>
            <a:r>
              <a:rPr lang="en-US" sz="1100" b="1" spc="100" kern="0" dirty="0">
                <a:solidFill>
                  <a:srgbClr val="0F766E"/>
                </a:solidFill>
                <a:latin typeface="Aptos" pitchFamily="34" charset="0"/>
                <a:ea typeface="Aptos" pitchFamily="34" charset="-122"/>
                <a:cs typeface="Aptos" pitchFamily="34" charset="-120"/>
              </a:rPr>
              <a:t>REPORT</a:t>
            </a:r>
            <a:endParaRPr lang="en-US" sz="1100" dirty="0"/>
          </a:p>
        </p:txBody>
      </p:sp>
      <p:sp>
        <p:nvSpPr>
          <p:cNvPr id="20" name="Text 18"/>
          <p:cNvSpPr txBox="1"/>
          <p:nvPr/>
        </p:nvSpPr>
        <p:spPr>
          <a:xfrm>
            <a:off x="9692640" y="2779776"/>
            <a:ext cx="1499616" cy="521208"/>
          </a:xfrm>
          <a:prstGeom prst="rect">
            <a:avLst/>
          </a:prstGeom>
          <a:noFill/>
          <a:ln/>
        </p:spPr>
        <p:txBody>
          <a:bodyPr wrap="square" lIns="0" tIns="0" rIns="0" bIns="0" rtlCol="0" anchor="t">
            <a:normAutofit/>
          </a:bodyPr>
          <a:lstStyle/>
          <a:p>
            <a:pPr algn="ctr" indent="0" marL="0">
              <a:lnSpc>
                <a:spcPct val="100000"/>
              </a:lnSpc>
              <a:buNone/>
            </a:pPr>
            <a:r>
              <a:rPr lang="en-US" sz="1900" b="1" dirty="0">
                <a:solidFill>
                  <a:srgbClr val="0F766E"/>
                </a:solidFill>
                <a:latin typeface="Aptos Display" pitchFamily="34" charset="0"/>
                <a:ea typeface="Aptos Display" pitchFamily="34" charset="-122"/>
                <a:cs typeface="Aptos Display" pitchFamily="34" charset="-120"/>
              </a:rPr>
              <a:t>Facts + questions</a:t>
            </a:r>
            <a:endParaRPr lang="en-US" sz="1900" dirty="0"/>
          </a:p>
        </p:txBody>
      </p:sp>
      <p:sp>
        <p:nvSpPr>
          <p:cNvPr id="21" name="Text 19"/>
          <p:cNvSpPr txBox="1"/>
          <p:nvPr/>
        </p:nvSpPr>
        <p:spPr>
          <a:xfrm>
            <a:off x="4846320" y="4325112"/>
            <a:ext cx="749808" cy="219456"/>
          </a:xfrm>
          <a:prstGeom prst="rect">
            <a:avLst/>
          </a:prstGeom>
          <a:noFill/>
          <a:ln/>
        </p:spPr>
        <p:txBody>
          <a:bodyPr wrap="square" lIns="0" tIns="0" rIns="0" bIns="0" rtlCol="0" anchor="ctr">
            <a:normAutofit/>
          </a:bodyPr>
          <a:lstStyle/>
          <a:p>
            <a:pPr algn="ctr" indent="0" marL="0">
              <a:lnSpc>
                <a:spcPct val="100000"/>
              </a:lnSpc>
              <a:buNone/>
            </a:pPr>
            <a:r>
              <a:rPr lang="en-US" sz="1000" b="1" spc="100" kern="0" dirty="0">
                <a:solidFill>
                  <a:srgbClr val="2563EB"/>
                </a:solidFill>
                <a:latin typeface="Aptos" pitchFamily="34" charset="0"/>
                <a:ea typeface="Aptos" pitchFamily="34" charset="-122"/>
                <a:cs typeface="Aptos" pitchFamily="34" charset="-120"/>
              </a:rPr>
              <a:t>RETRY</a:t>
            </a:r>
            <a:endParaRPr lang="en-US" sz="1000" dirty="0"/>
          </a:p>
        </p:txBody>
      </p:sp>
      <p:sp>
        <p:nvSpPr>
          <p:cNvPr id="22" name="Shape 20"/>
          <p:cNvSpPr/>
          <p:nvPr/>
        </p:nvSpPr>
        <p:spPr>
          <a:xfrm>
            <a:off x="6382512" y="4736592"/>
            <a:ext cx="2359152" cy="530352"/>
          </a:xfrm>
          <a:prstGeom prst="roundRect">
            <a:avLst>
              <a:gd name="adj" fmla="val 17241"/>
            </a:avLst>
          </a:prstGeom>
          <a:solidFill>
            <a:srgbClr val="FFF5E6"/>
          </a:solidFill>
          <a:ln w="12700">
            <a:solidFill>
              <a:srgbClr val="F7D6A4"/>
            </a:solidFill>
            <a:prstDash val="solid"/>
          </a:ln>
        </p:spPr>
      </p:sp>
      <p:sp>
        <p:nvSpPr>
          <p:cNvPr id="23" name="Text 21"/>
          <p:cNvSpPr txBox="1"/>
          <p:nvPr/>
        </p:nvSpPr>
        <p:spPr>
          <a:xfrm>
            <a:off x="6547104" y="4882896"/>
            <a:ext cx="2029968" cy="210312"/>
          </a:xfrm>
          <a:prstGeom prst="rect">
            <a:avLst/>
          </a:prstGeom>
          <a:noFill/>
          <a:ln/>
        </p:spPr>
        <p:txBody>
          <a:bodyPr wrap="square" lIns="0" tIns="0" rIns="0" bIns="0" rtlCol="0" anchor="ctr">
            <a:normAutofit/>
          </a:bodyPr>
          <a:lstStyle/>
          <a:p>
            <a:pPr algn="ctr" indent="0" marL="0">
              <a:lnSpc>
                <a:spcPct val="100000"/>
              </a:lnSpc>
              <a:buNone/>
            </a:pPr>
            <a:r>
              <a:rPr lang="en-US" sz="1050" b="1" dirty="0">
                <a:solidFill>
                  <a:srgbClr val="B45309"/>
                </a:solidFill>
                <a:latin typeface="Aptos" pitchFamily="34" charset="0"/>
                <a:ea typeface="Aptos" pitchFamily="34" charset="-122"/>
                <a:cs typeface="Aptos" pitchFamily="34" charset="-120"/>
              </a:rPr>
              <a:t>EXHAUSTED → UNDETERMINED</a:t>
            </a:r>
            <a:endParaRPr lang="en-US" sz="1050" dirty="0"/>
          </a:p>
        </p:txBody>
      </p:sp>
      <p:sp>
        <p:nvSpPr>
          <p:cNvPr id="24" name="Shape 22"/>
          <p:cNvSpPr/>
          <p:nvPr/>
        </p:nvSpPr>
        <p:spPr>
          <a:xfrm>
            <a:off x="749808" y="5596128"/>
            <a:ext cx="10625328" cy="566928"/>
          </a:xfrm>
          <a:prstGeom prst="roundRect">
            <a:avLst>
              <a:gd name="adj" fmla="val 12903"/>
            </a:avLst>
          </a:prstGeom>
          <a:solidFill>
            <a:srgbClr val="F1F5F9"/>
          </a:solidFill>
          <a:ln w="12700">
            <a:solidFill>
              <a:srgbClr val="F1F5F9"/>
            </a:solidFill>
            <a:prstDash val="solid"/>
          </a:ln>
        </p:spPr>
      </p:sp>
      <p:sp>
        <p:nvSpPr>
          <p:cNvPr id="25" name="Text 23"/>
          <p:cNvSpPr txBox="1"/>
          <p:nvPr/>
        </p:nvSpPr>
        <p:spPr>
          <a:xfrm>
            <a:off x="1005840" y="5769864"/>
            <a:ext cx="1261872" cy="201168"/>
          </a:xfrm>
          <a:prstGeom prst="rect">
            <a:avLst/>
          </a:prstGeom>
          <a:noFill/>
          <a:ln/>
        </p:spPr>
        <p:txBody>
          <a:bodyPr wrap="square" lIns="0" tIns="0" rIns="0" bIns="0" rtlCol="0" anchor="ctr">
            <a:normAutofit/>
          </a:bodyPr>
          <a:lstStyle/>
          <a:p>
            <a:pPr algn="l" indent="0" marL="0">
              <a:lnSpc>
                <a:spcPct val="100000"/>
              </a:lnSpc>
              <a:buNone/>
            </a:pPr>
            <a:r>
              <a:rPr lang="en-US" sz="1050" b="1" spc="100" kern="0" dirty="0">
                <a:solidFill>
                  <a:srgbClr val="64748B"/>
                </a:solidFill>
                <a:latin typeface="Aptos" pitchFamily="34" charset="0"/>
                <a:ea typeface="Aptos" pitchFamily="34" charset="-122"/>
                <a:cs typeface="Aptos" pitchFamily="34" charset="-120"/>
              </a:rPr>
              <a:t>DELIVERY ONLY</a:t>
            </a:r>
            <a:endParaRPr lang="en-US" sz="1050" dirty="0"/>
          </a:p>
        </p:txBody>
      </p:sp>
      <p:sp>
        <p:nvSpPr>
          <p:cNvPr id="26" name="Shape 24"/>
          <p:cNvSpPr/>
          <p:nvPr/>
        </p:nvSpPr>
        <p:spPr>
          <a:xfrm>
            <a:off x="2331720" y="5870448"/>
            <a:ext cx="914400" cy="0"/>
          </a:xfrm>
          <a:prstGeom prst="line">
            <a:avLst/>
          </a:prstGeom>
          <a:noFill/>
          <a:ln w="17780">
            <a:solidFill>
              <a:srgbClr val="64748B"/>
            </a:solidFill>
            <a:prstDash val="solid"/>
            <a:tailEnd type="triangle"/>
          </a:ln>
        </p:spPr>
      </p:sp>
      <p:sp>
        <p:nvSpPr>
          <p:cNvPr id="27" name="Text 25"/>
          <p:cNvSpPr txBox="1"/>
          <p:nvPr/>
        </p:nvSpPr>
        <p:spPr>
          <a:xfrm>
            <a:off x="3429000" y="5687568"/>
            <a:ext cx="594360" cy="292608"/>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0B1020"/>
                </a:solidFill>
                <a:latin typeface="Aptos Display" pitchFamily="34" charset="0"/>
                <a:ea typeface="Aptos Display" pitchFamily="34" charset="-122"/>
                <a:cs typeface="Aptos Display" pitchFamily="34" charset="-120"/>
              </a:rPr>
              <a:t>n8n</a:t>
            </a:r>
            <a:endParaRPr lang="en-US" sz="1800" dirty="0"/>
          </a:p>
        </p:txBody>
      </p:sp>
      <p:sp>
        <p:nvSpPr>
          <p:cNvPr id="28" name="Shape 26"/>
          <p:cNvSpPr/>
          <p:nvPr/>
        </p:nvSpPr>
        <p:spPr>
          <a:xfrm>
            <a:off x="4160520" y="5870448"/>
            <a:ext cx="914400" cy="0"/>
          </a:xfrm>
          <a:prstGeom prst="line">
            <a:avLst/>
          </a:prstGeom>
          <a:noFill/>
          <a:ln w="17780">
            <a:solidFill>
              <a:srgbClr val="64748B"/>
            </a:solidFill>
            <a:prstDash val="solid"/>
            <a:tailEnd type="triangle"/>
          </a:ln>
        </p:spPr>
      </p:sp>
      <p:sp>
        <p:nvSpPr>
          <p:cNvPr id="29" name="Text 27"/>
          <p:cNvSpPr txBox="1"/>
          <p:nvPr/>
        </p:nvSpPr>
        <p:spPr>
          <a:xfrm>
            <a:off x="5266944" y="5687568"/>
            <a:ext cx="1234440" cy="292608"/>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0B1020"/>
                </a:solidFill>
                <a:latin typeface="Aptos Display" pitchFamily="34" charset="0"/>
                <a:ea typeface="Aptos Display" pitchFamily="34" charset="-122"/>
                <a:cs typeface="Aptos Display" pitchFamily="34" charset="-120"/>
              </a:rPr>
              <a:t>Notion report</a:t>
            </a:r>
            <a:endParaRPr lang="en-US" sz="1800" dirty="0"/>
          </a:p>
        </p:txBody>
      </p:sp>
      <p:sp>
        <p:nvSpPr>
          <p:cNvPr id="30" name="Text 28"/>
          <p:cNvSpPr txBox="1"/>
          <p:nvPr/>
        </p:nvSpPr>
        <p:spPr>
          <a:xfrm>
            <a:off x="6784848" y="5715000"/>
            <a:ext cx="4160520" cy="256032"/>
          </a:xfrm>
          <a:prstGeom prst="rect">
            <a:avLst/>
          </a:prstGeom>
          <a:noFill/>
          <a:ln/>
        </p:spPr>
        <p:txBody>
          <a:bodyPr wrap="square" lIns="0" tIns="0" rIns="0" bIns="0" rtlCol="0" anchor="ctr">
            <a:normAutofit/>
          </a:bodyPr>
          <a:lstStyle/>
          <a:p>
            <a:pPr algn="r" indent="0" marL="0">
              <a:lnSpc>
                <a:spcPct val="100000"/>
              </a:lnSpc>
              <a:buNone/>
            </a:pPr>
            <a:r>
              <a:rPr lang="en-US" sz="1350" dirty="0">
                <a:solidFill>
                  <a:srgbClr val="64748B"/>
                </a:solidFill>
                <a:latin typeface="Aptos" pitchFamily="34" charset="0"/>
                <a:ea typeface="Aptos" pitchFamily="34" charset="-122"/>
                <a:cs typeface="Aptos" pitchFamily="34" charset="-120"/>
              </a:rPr>
              <a:t>n8n files the finished report. It does not make decisions.</a:t>
            </a:r>
            <a:endParaRPr lang="en-US" sz="1350" dirty="0"/>
          </a:p>
        </p:txBody>
      </p:sp>
      <p:sp>
        <p:nvSpPr>
          <p:cNvPr id="31" name="Text 29"/>
          <p:cNvSpPr txBox="1"/>
          <p:nvPr/>
        </p:nvSpPr>
        <p:spPr>
          <a:xfrm>
            <a:off x="713232" y="6428232"/>
            <a:ext cx="2286000" cy="164592"/>
          </a:xfrm>
          <a:prstGeom prst="rect">
            <a:avLst/>
          </a:prstGeom>
          <a:noFill/>
          <a:ln/>
        </p:spPr>
        <p:txBody>
          <a:bodyPr wrap="square" lIns="0" tIns="0" rIns="0" bIns="0" rtlCol="0" anchor="ctr">
            <a:normAutofit/>
          </a:bodyPr>
          <a:lstStyle/>
          <a:p>
            <a:pPr algn="l" indent="0" marL="0">
              <a:lnSpc>
                <a:spcPct val="100000"/>
              </a:lnSpc>
              <a:buNone/>
            </a:pPr>
            <a:r>
              <a:rPr lang="en-US" sz="900" b="1" spc="110" kern="0" dirty="0">
                <a:solidFill>
                  <a:srgbClr val="64748B"/>
                </a:solidFill>
                <a:latin typeface="Aptos" pitchFamily="34" charset="0"/>
                <a:ea typeface="Aptos" pitchFamily="34" charset="-122"/>
                <a:cs typeface="Aptos" pitchFamily="34" charset="-120"/>
              </a:rPr>
              <a:t>AI PRE-SCAN  •  THE ARCHITECTURE</a:t>
            </a:r>
            <a:endParaRPr lang="en-US" sz="900" dirty="0"/>
          </a:p>
        </p:txBody>
      </p:sp>
      <p:sp>
        <p:nvSpPr>
          <p:cNvPr id="25" name="Slide Number Placeholder 0"/>
          <p:cNvSpPr>
            <a:spLocks noGrp="1"/>
          </p:cNvSpPr>
          <p:nvPr>
            <p:ph type="sldNum" sz="quarter" idx="4294967295"/>
          </p:nvPr>
        </p:nvSpPr>
        <p:spPr>
          <a:xfrm>
            <a:off x="11292840" y="642823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4A3B8"/>
                </a:solidFill>
                <a:latin typeface="Aptos"/>
                <a:ea typeface="Aptos"/>
                <a:cs typeface="Apto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13232" y="384048"/>
            <a:ext cx="2743200" cy="219456"/>
          </a:xfrm>
          <a:prstGeom prst="rect">
            <a:avLst/>
          </a:prstGeom>
          <a:noFill/>
          <a:ln/>
        </p:spPr>
        <p:txBody>
          <a:bodyPr wrap="square" lIns="0" tIns="0" rIns="0" bIns="0" rtlCol="0" anchor="ctr">
            <a:normAutofit/>
          </a:bodyPr>
          <a:lstStyle/>
          <a:p>
            <a:pPr algn="l" indent="0" marL="0">
              <a:lnSpc>
                <a:spcPct val="100000"/>
              </a:lnSpc>
              <a:buNone/>
            </a:pPr>
            <a:r>
              <a:rPr lang="en-US" sz="1100" b="1" spc="180" kern="0" dirty="0">
                <a:solidFill>
                  <a:srgbClr val="2563EB"/>
                </a:solidFill>
                <a:latin typeface="Aptos" pitchFamily="34" charset="0"/>
                <a:ea typeface="Aptos" pitchFamily="34" charset="-122"/>
                <a:cs typeface="Aptos" pitchFamily="34" charset="-120"/>
              </a:rPr>
              <a:t>THE POST-MVP PATH</a:t>
            </a:r>
            <a:endParaRPr lang="en-US" sz="1100" dirty="0"/>
          </a:p>
        </p:txBody>
      </p:sp>
      <p:sp>
        <p:nvSpPr>
          <p:cNvPr id="3" name="Text 1"/>
          <p:cNvSpPr txBox="1"/>
          <p:nvPr/>
        </p:nvSpPr>
        <p:spPr>
          <a:xfrm>
            <a:off x="713232" y="713232"/>
            <a:ext cx="10744200" cy="749808"/>
          </a:xfrm>
          <a:prstGeom prst="rect">
            <a:avLst/>
          </a:prstGeom>
          <a:noFill/>
          <a:ln/>
        </p:spPr>
        <p:txBody>
          <a:bodyPr wrap="square" lIns="0" tIns="0" rIns="0" bIns="0" rtlCol="0" anchor="t">
            <a:normAutofit/>
          </a:bodyPr>
          <a:lstStyle/>
          <a:p>
            <a:pPr algn="l" indent="0" marL="0">
              <a:lnSpc>
                <a:spcPct val="100000"/>
              </a:lnSpc>
              <a:buNone/>
            </a:pPr>
            <a:r>
              <a:rPr lang="en-US" sz="4000" b="1" dirty="0">
                <a:solidFill>
                  <a:srgbClr val="0B1020"/>
                </a:solidFill>
                <a:latin typeface="Aptos Display" pitchFamily="34" charset="0"/>
                <a:ea typeface="Aptos Display" pitchFamily="34" charset="-122"/>
                <a:cs typeface="Aptos Display" pitchFamily="34" charset="-120"/>
              </a:rPr>
              <a:t>The recurring product is vendor-drift monitoring</a:t>
            </a:r>
            <a:endParaRPr lang="en-US" sz="4000" dirty="0"/>
          </a:p>
        </p:txBody>
      </p:sp>
      <p:sp>
        <p:nvSpPr>
          <p:cNvPr id="4" name="Text 2"/>
          <p:cNvSpPr txBox="1"/>
          <p:nvPr/>
        </p:nvSpPr>
        <p:spPr>
          <a:xfrm>
            <a:off x="749808" y="1508760"/>
            <a:ext cx="3246120" cy="228600"/>
          </a:xfrm>
          <a:prstGeom prst="rect">
            <a:avLst/>
          </a:prstGeom>
          <a:noFill/>
          <a:ln/>
        </p:spPr>
        <p:txBody>
          <a:bodyPr wrap="square" lIns="0" tIns="0" rIns="0" bIns="0" rtlCol="0" anchor="ctr">
            <a:normAutofit/>
          </a:bodyPr>
          <a:lstStyle/>
          <a:p>
            <a:pPr algn="l" indent="0" marL="0">
              <a:lnSpc>
                <a:spcPct val="100000"/>
              </a:lnSpc>
              <a:buNone/>
            </a:pPr>
            <a:r>
              <a:rPr lang="en-US" sz="1050" b="1" spc="100" kern="0" dirty="0">
                <a:solidFill>
                  <a:srgbClr val="B45309"/>
                </a:solidFill>
                <a:latin typeface="Aptos" pitchFamily="34" charset="0"/>
                <a:ea typeface="Aptos" pitchFamily="34" charset="-122"/>
                <a:cs typeface="Aptos" pitchFamily="34" charset="-120"/>
              </a:rPr>
              <a:t>FUTURE VALIDATION — NOT CURRENT TRACTION</a:t>
            </a:r>
            <a:endParaRPr lang="en-US" sz="1050" dirty="0"/>
          </a:p>
        </p:txBody>
      </p:sp>
      <p:sp>
        <p:nvSpPr>
          <p:cNvPr id="5" name="Shape 3"/>
          <p:cNvSpPr/>
          <p:nvPr/>
        </p:nvSpPr>
        <p:spPr>
          <a:xfrm>
            <a:off x="1444752" y="3447288"/>
            <a:ext cx="8915400" cy="0"/>
          </a:xfrm>
          <a:prstGeom prst="line">
            <a:avLst/>
          </a:prstGeom>
          <a:noFill/>
          <a:ln w="50800">
            <a:solidFill>
              <a:srgbClr val="E2E8F0"/>
            </a:solidFill>
            <a:prstDash val="solid"/>
          </a:ln>
        </p:spPr>
      </p:sp>
      <p:sp>
        <p:nvSpPr>
          <p:cNvPr id="6" name="Shape 4"/>
          <p:cNvSpPr/>
          <p:nvPr/>
        </p:nvSpPr>
        <p:spPr>
          <a:xfrm>
            <a:off x="1234440" y="3163824"/>
            <a:ext cx="420624" cy="420624"/>
          </a:xfrm>
          <a:prstGeom prst="ellipse">
            <a:avLst/>
          </a:prstGeom>
          <a:solidFill>
            <a:srgbClr val="FFFFFF"/>
          </a:solidFill>
          <a:ln w="12700">
            <a:solidFill>
              <a:srgbClr val="E2E8F0"/>
            </a:solidFill>
            <a:prstDash val="solid"/>
          </a:ln>
        </p:spPr>
      </p:sp>
      <p:sp>
        <p:nvSpPr>
          <p:cNvPr id="7" name="Text 5"/>
          <p:cNvSpPr txBox="1"/>
          <p:nvPr/>
        </p:nvSpPr>
        <p:spPr>
          <a:xfrm>
            <a:off x="1005840" y="2157984"/>
            <a:ext cx="1024128" cy="228600"/>
          </a:xfrm>
          <a:prstGeom prst="rect">
            <a:avLst/>
          </a:prstGeom>
          <a:noFill/>
          <a:ln/>
        </p:spPr>
        <p:txBody>
          <a:bodyPr wrap="square" lIns="0" tIns="0" rIns="0" bIns="0" rtlCol="0" anchor="ctr">
            <a:normAutofit/>
          </a:bodyPr>
          <a:lstStyle/>
          <a:p>
            <a:pPr algn="ctr" indent="0" marL="0">
              <a:lnSpc>
                <a:spcPct val="100000"/>
              </a:lnSpc>
              <a:buNone/>
            </a:pPr>
            <a:r>
              <a:rPr lang="en-US" sz="1100" b="1" spc="120" kern="0" dirty="0">
                <a:solidFill>
                  <a:srgbClr val="64748B"/>
                </a:solidFill>
                <a:latin typeface="Aptos" pitchFamily="34" charset="0"/>
                <a:ea typeface="Aptos" pitchFamily="34" charset="-122"/>
                <a:cs typeface="Aptos" pitchFamily="34" charset="-120"/>
              </a:rPr>
              <a:t>MAY</a:t>
            </a:r>
            <a:endParaRPr lang="en-US" sz="1100" dirty="0"/>
          </a:p>
        </p:txBody>
      </p:sp>
      <p:sp>
        <p:nvSpPr>
          <p:cNvPr id="8" name="Shape 6"/>
          <p:cNvSpPr/>
          <p:nvPr/>
        </p:nvSpPr>
        <p:spPr>
          <a:xfrm>
            <a:off x="731520" y="3822192"/>
            <a:ext cx="2788920" cy="1161288"/>
          </a:xfrm>
          <a:prstGeom prst="roundRect">
            <a:avLst>
              <a:gd name="adj" fmla="val 11811"/>
            </a:avLst>
          </a:prstGeom>
          <a:solidFill>
            <a:srgbClr val="FFFFFF"/>
          </a:solidFill>
          <a:ln w="12700">
            <a:solidFill>
              <a:srgbClr val="D8E2F2"/>
            </a:solidFill>
            <a:prstDash val="solid"/>
          </a:ln>
        </p:spPr>
      </p:sp>
      <p:sp>
        <p:nvSpPr>
          <p:cNvPr id="9" name="Text 7"/>
          <p:cNvSpPr txBox="1"/>
          <p:nvPr/>
        </p:nvSpPr>
        <p:spPr>
          <a:xfrm>
            <a:off x="960120" y="4069080"/>
            <a:ext cx="2331720" cy="475488"/>
          </a:xfrm>
          <a:prstGeom prst="rect">
            <a:avLst/>
          </a:prstGeom>
          <a:noFill/>
          <a:ln/>
        </p:spPr>
        <p:txBody>
          <a:bodyPr wrap="square" lIns="0" tIns="0" rIns="0" bIns="0" rtlCol="0" anchor="t">
            <a:normAutofit/>
          </a:bodyPr>
          <a:lstStyle/>
          <a:p>
            <a:pPr algn="ctr" indent="0" marL="0">
              <a:lnSpc>
                <a:spcPct val="100000"/>
              </a:lnSpc>
              <a:buNone/>
            </a:pPr>
            <a:r>
              <a:rPr lang="en-US" sz="2000" b="1" dirty="0">
                <a:solidFill>
                  <a:srgbClr val="0B1020"/>
                </a:solidFill>
                <a:latin typeface="Aptos Display" pitchFamily="34" charset="0"/>
                <a:ea typeface="Aptos Display" pitchFamily="34" charset="-122"/>
                <a:cs typeface="Aptos Display" pitchFamily="34" charset="-120"/>
              </a:rPr>
              <a:t>No evidenced AI ranking</a:t>
            </a:r>
            <a:endParaRPr lang="en-US" sz="2000" dirty="0"/>
          </a:p>
        </p:txBody>
      </p:sp>
      <p:sp>
        <p:nvSpPr>
          <p:cNvPr id="10" name="Text 8"/>
          <p:cNvSpPr txBox="1"/>
          <p:nvPr/>
        </p:nvSpPr>
        <p:spPr>
          <a:xfrm>
            <a:off x="960120" y="4572000"/>
            <a:ext cx="2331720" cy="310896"/>
          </a:xfrm>
          <a:prstGeom prst="rect">
            <a:avLst/>
          </a:prstGeom>
          <a:noFill/>
          <a:ln/>
        </p:spPr>
        <p:txBody>
          <a:bodyPr wrap="square" lIns="0" tIns="0" rIns="0" bIns="0" rtlCol="0" anchor="t">
            <a:normAutofit/>
          </a:bodyPr>
          <a:lstStyle/>
          <a:p>
            <a:pPr algn="ctr" indent="0" marL="0">
              <a:lnSpc>
                <a:spcPct val="100000"/>
              </a:lnSpc>
              <a:buNone/>
            </a:pPr>
            <a:r>
              <a:rPr lang="en-US" sz="1350" dirty="0">
                <a:solidFill>
                  <a:srgbClr val="64748B"/>
                </a:solidFill>
                <a:latin typeface="Aptos" pitchFamily="34" charset="0"/>
                <a:ea typeface="Aptos" pitchFamily="34" charset="-122"/>
                <a:cs typeface="Aptos" pitchFamily="34" charset="-120"/>
              </a:rPr>
              <a:t>Client's ATS is outside the inventory</a:t>
            </a:r>
            <a:endParaRPr lang="en-US" sz="1350" dirty="0"/>
          </a:p>
        </p:txBody>
      </p:sp>
      <p:sp>
        <p:nvSpPr>
          <p:cNvPr id="11" name="Shape 9"/>
          <p:cNvSpPr/>
          <p:nvPr/>
        </p:nvSpPr>
        <p:spPr>
          <a:xfrm>
            <a:off x="4754880" y="3163824"/>
            <a:ext cx="420624" cy="420624"/>
          </a:xfrm>
          <a:prstGeom prst="ellipse">
            <a:avLst/>
          </a:prstGeom>
          <a:solidFill>
            <a:srgbClr val="FFFFFF"/>
          </a:solidFill>
          <a:ln w="12700">
            <a:solidFill>
              <a:srgbClr val="E2E8F0"/>
            </a:solidFill>
            <a:prstDash val="solid"/>
          </a:ln>
        </p:spPr>
      </p:sp>
      <p:sp>
        <p:nvSpPr>
          <p:cNvPr id="12" name="Text 10"/>
          <p:cNvSpPr txBox="1"/>
          <p:nvPr/>
        </p:nvSpPr>
        <p:spPr>
          <a:xfrm>
            <a:off x="4526280" y="2157984"/>
            <a:ext cx="1024128" cy="228600"/>
          </a:xfrm>
          <a:prstGeom prst="rect">
            <a:avLst/>
          </a:prstGeom>
          <a:noFill/>
          <a:ln/>
        </p:spPr>
        <p:txBody>
          <a:bodyPr wrap="square" lIns="0" tIns="0" rIns="0" bIns="0" rtlCol="0" anchor="ctr">
            <a:normAutofit/>
          </a:bodyPr>
          <a:lstStyle/>
          <a:p>
            <a:pPr algn="ctr" indent="0" marL="0">
              <a:lnSpc>
                <a:spcPct val="100000"/>
              </a:lnSpc>
              <a:buNone/>
            </a:pPr>
            <a:r>
              <a:rPr lang="en-US" sz="1100" b="1" spc="120" kern="0" dirty="0">
                <a:solidFill>
                  <a:srgbClr val="64748B"/>
                </a:solidFill>
                <a:latin typeface="Aptos" pitchFamily="34" charset="0"/>
                <a:ea typeface="Aptos" pitchFamily="34" charset="-122"/>
                <a:cs typeface="Aptos" pitchFamily="34" charset="-120"/>
              </a:rPr>
              <a:t>JUNE</a:t>
            </a:r>
            <a:endParaRPr lang="en-US" sz="1100" dirty="0"/>
          </a:p>
        </p:txBody>
      </p:sp>
      <p:sp>
        <p:nvSpPr>
          <p:cNvPr id="13" name="Shape 11"/>
          <p:cNvSpPr/>
          <p:nvPr/>
        </p:nvSpPr>
        <p:spPr>
          <a:xfrm>
            <a:off x="4251960" y="3822192"/>
            <a:ext cx="2788920" cy="1161288"/>
          </a:xfrm>
          <a:prstGeom prst="roundRect">
            <a:avLst>
              <a:gd name="adj" fmla="val 11811"/>
            </a:avLst>
          </a:prstGeom>
          <a:solidFill>
            <a:srgbClr val="FFFFFF"/>
          </a:solidFill>
          <a:ln w="12700">
            <a:solidFill>
              <a:srgbClr val="D8E2F2"/>
            </a:solidFill>
            <a:prstDash val="solid"/>
          </a:ln>
        </p:spPr>
      </p:sp>
      <p:sp>
        <p:nvSpPr>
          <p:cNvPr id="14" name="Text 12"/>
          <p:cNvSpPr txBox="1"/>
          <p:nvPr/>
        </p:nvSpPr>
        <p:spPr>
          <a:xfrm>
            <a:off x="4480560" y="4069080"/>
            <a:ext cx="2331720" cy="475488"/>
          </a:xfrm>
          <a:prstGeom prst="rect">
            <a:avLst/>
          </a:prstGeom>
          <a:noFill/>
          <a:ln/>
        </p:spPr>
        <p:txBody>
          <a:bodyPr wrap="square" lIns="0" tIns="0" rIns="0" bIns="0" rtlCol="0" anchor="t">
            <a:normAutofit/>
          </a:bodyPr>
          <a:lstStyle/>
          <a:p>
            <a:pPr algn="ctr" indent="0" marL="0">
              <a:lnSpc>
                <a:spcPct val="100000"/>
              </a:lnSpc>
              <a:buNone/>
            </a:pPr>
            <a:r>
              <a:rPr lang="en-US" sz="2000" b="1" dirty="0">
                <a:solidFill>
                  <a:srgbClr val="0B1020"/>
                </a:solidFill>
                <a:latin typeface="Aptos Display" pitchFamily="34" charset="0"/>
                <a:ea typeface="Aptos Display" pitchFamily="34" charset="-122"/>
                <a:cs typeface="Aptos Display" pitchFamily="34" charset="-120"/>
              </a:rPr>
              <a:t>Vendor ships AI CV ranking</a:t>
            </a:r>
            <a:endParaRPr lang="en-US" sz="2000" dirty="0"/>
          </a:p>
        </p:txBody>
      </p:sp>
      <p:sp>
        <p:nvSpPr>
          <p:cNvPr id="15" name="Text 13"/>
          <p:cNvSpPr txBox="1"/>
          <p:nvPr/>
        </p:nvSpPr>
        <p:spPr>
          <a:xfrm>
            <a:off x="4480560" y="4572000"/>
            <a:ext cx="2331720" cy="310896"/>
          </a:xfrm>
          <a:prstGeom prst="rect">
            <a:avLst/>
          </a:prstGeom>
          <a:noFill/>
          <a:ln/>
        </p:spPr>
        <p:txBody>
          <a:bodyPr wrap="square" lIns="0" tIns="0" rIns="0" bIns="0" rtlCol="0" anchor="t">
            <a:normAutofit/>
          </a:bodyPr>
          <a:lstStyle/>
          <a:p>
            <a:pPr algn="ctr" indent="0" marL="0">
              <a:lnSpc>
                <a:spcPct val="100000"/>
              </a:lnSpc>
              <a:buNone/>
            </a:pPr>
            <a:r>
              <a:rPr lang="en-US" sz="1350" dirty="0">
                <a:solidFill>
                  <a:srgbClr val="64748B"/>
                </a:solidFill>
                <a:latin typeface="Aptos" pitchFamily="34" charset="0"/>
                <a:ea typeface="Aptos" pitchFamily="34" charset="-122"/>
                <a:cs typeface="Aptos" pitchFamily="34" charset="-120"/>
              </a:rPr>
              <a:t>The software changes without a new purchase</a:t>
            </a:r>
            <a:endParaRPr lang="en-US" sz="1350" dirty="0"/>
          </a:p>
        </p:txBody>
      </p:sp>
      <p:sp>
        <p:nvSpPr>
          <p:cNvPr id="16" name="Shape 14"/>
          <p:cNvSpPr/>
          <p:nvPr/>
        </p:nvSpPr>
        <p:spPr>
          <a:xfrm>
            <a:off x="8321040" y="3090672"/>
            <a:ext cx="566928" cy="566928"/>
          </a:xfrm>
          <a:prstGeom prst="ellipse">
            <a:avLst/>
          </a:prstGeom>
          <a:solidFill>
            <a:srgbClr val="2563EB"/>
          </a:solidFill>
          <a:ln w="12700">
            <a:solidFill>
              <a:srgbClr val="2563EB"/>
            </a:solidFill>
            <a:prstDash val="solid"/>
          </a:ln>
        </p:spPr>
      </p:sp>
      <p:sp>
        <p:nvSpPr>
          <p:cNvPr id="17" name="Text 15"/>
          <p:cNvSpPr txBox="1"/>
          <p:nvPr/>
        </p:nvSpPr>
        <p:spPr>
          <a:xfrm>
            <a:off x="8092440" y="2157984"/>
            <a:ext cx="1024128" cy="228600"/>
          </a:xfrm>
          <a:prstGeom prst="rect">
            <a:avLst/>
          </a:prstGeom>
          <a:noFill/>
          <a:ln/>
        </p:spPr>
        <p:txBody>
          <a:bodyPr wrap="square" lIns="0" tIns="0" rIns="0" bIns="0" rtlCol="0" anchor="ctr">
            <a:normAutofit/>
          </a:bodyPr>
          <a:lstStyle/>
          <a:p>
            <a:pPr algn="ctr" indent="0" marL="0">
              <a:lnSpc>
                <a:spcPct val="100000"/>
              </a:lnSpc>
              <a:buNone/>
            </a:pPr>
            <a:r>
              <a:rPr lang="en-US" sz="1100" b="1" spc="120" kern="0" dirty="0">
                <a:solidFill>
                  <a:srgbClr val="2563EB"/>
                </a:solidFill>
                <a:latin typeface="Aptos" pitchFamily="34" charset="0"/>
                <a:ea typeface="Aptos" pitchFamily="34" charset="-122"/>
                <a:cs typeface="Aptos" pitchFamily="34" charset="-120"/>
              </a:rPr>
              <a:t>JULY ALERT</a:t>
            </a:r>
            <a:endParaRPr lang="en-US" sz="1100" dirty="0"/>
          </a:p>
        </p:txBody>
      </p:sp>
      <p:sp>
        <p:nvSpPr>
          <p:cNvPr id="18" name="Shape 16"/>
          <p:cNvSpPr/>
          <p:nvPr/>
        </p:nvSpPr>
        <p:spPr>
          <a:xfrm>
            <a:off x="7818120" y="3822192"/>
            <a:ext cx="3017520" cy="1353312"/>
          </a:xfrm>
          <a:prstGeom prst="roundRect">
            <a:avLst>
              <a:gd name="adj" fmla="val 10135"/>
            </a:avLst>
          </a:prstGeom>
          <a:solidFill>
            <a:srgbClr val="2563EB"/>
          </a:solidFill>
          <a:ln w="12700">
            <a:solidFill>
              <a:srgbClr val="2563EB"/>
            </a:solidFill>
            <a:prstDash val="solid"/>
          </a:ln>
          <a:effectLst>
            <a:outerShdw sx="100000" sy="100000" kx="0" ky="0" algn="bl" rotWithShape="0" blurRad="7.993137902482545e+28" dist="2.1315034406620118e+29" dir="1.259712e+35">
              <a:srgbClr val="0B1020">
                <a:alpha val="1.2e+34"/>
              </a:srgbClr>
            </a:outerShdw>
          </a:effectLst>
        </p:spPr>
      </p:sp>
      <p:sp>
        <p:nvSpPr>
          <p:cNvPr id="19" name="Text 17"/>
          <p:cNvSpPr txBox="1"/>
          <p:nvPr/>
        </p:nvSpPr>
        <p:spPr>
          <a:xfrm>
            <a:off x="8046720" y="4069080"/>
            <a:ext cx="2560320" cy="475488"/>
          </a:xfrm>
          <a:prstGeom prst="rect">
            <a:avLst/>
          </a:prstGeom>
          <a:noFill/>
          <a:ln/>
        </p:spPr>
        <p:txBody>
          <a:bodyPr wrap="square" lIns="0" tIns="0" rIns="0" bIns="0" rtlCol="0" anchor="t">
            <a:normAutofit/>
          </a:bodyPr>
          <a:lstStyle/>
          <a:p>
            <a:pPr algn="ctr" indent="0" marL="0">
              <a:lnSpc>
                <a:spcPct val="100000"/>
              </a:lnSpc>
              <a:buNone/>
            </a:pPr>
            <a:r>
              <a:rPr lang="en-US" sz="2200" b="1" dirty="0">
                <a:solidFill>
                  <a:srgbClr val="FFFFFF"/>
                </a:solidFill>
                <a:latin typeface="Aptos Display" pitchFamily="34" charset="0"/>
                <a:ea typeface="Aptos Display" pitchFamily="34" charset="-122"/>
                <a:cs typeface="Aptos Display" pitchFamily="34" charset="-120"/>
              </a:rPr>
              <a:t>The client's systems changed</a:t>
            </a:r>
            <a:endParaRPr lang="en-US" sz="2200" dirty="0"/>
          </a:p>
        </p:txBody>
      </p:sp>
      <p:sp>
        <p:nvSpPr>
          <p:cNvPr id="20" name="Text 18"/>
          <p:cNvSpPr txBox="1"/>
          <p:nvPr/>
        </p:nvSpPr>
        <p:spPr>
          <a:xfrm>
            <a:off x="8046720" y="4645152"/>
            <a:ext cx="2560320" cy="310896"/>
          </a:xfrm>
          <a:prstGeom prst="rect">
            <a:avLst/>
          </a:prstGeom>
          <a:noFill/>
          <a:ln/>
        </p:spPr>
        <p:txBody>
          <a:bodyPr wrap="square" lIns="0" tIns="0" rIns="0" bIns="0" rtlCol="0" anchor="t">
            <a:normAutofit/>
          </a:bodyPr>
          <a:lstStyle/>
          <a:p>
            <a:pPr algn="ctr" indent="0" marL="0">
              <a:lnSpc>
                <a:spcPct val="100000"/>
              </a:lnSpc>
              <a:buNone/>
            </a:pPr>
            <a:r>
              <a:rPr lang="en-US" sz="1350" dirty="0">
                <a:solidFill>
                  <a:srgbClr val="EAF2FF"/>
                </a:solidFill>
                <a:latin typeface="Aptos" pitchFamily="34" charset="0"/>
                <a:ea typeface="Aptos" pitchFamily="34" charset="-122"/>
                <a:cs typeface="Aptos" pitchFamily="34" charset="-120"/>
              </a:rPr>
              <a:t>even though the client did nothing</a:t>
            </a:r>
            <a:endParaRPr lang="en-US" sz="1350" dirty="0"/>
          </a:p>
        </p:txBody>
      </p:sp>
      <p:sp>
        <p:nvSpPr>
          <p:cNvPr id="21" name="Text 19"/>
          <p:cNvSpPr txBox="1"/>
          <p:nvPr/>
        </p:nvSpPr>
        <p:spPr>
          <a:xfrm>
            <a:off x="1234440" y="5669280"/>
            <a:ext cx="2148840" cy="256032"/>
          </a:xfrm>
          <a:prstGeom prst="rect">
            <a:avLst/>
          </a:prstGeom>
          <a:noFill/>
          <a:ln/>
        </p:spPr>
        <p:txBody>
          <a:bodyPr wrap="square" lIns="0" tIns="0" rIns="0" bIns="0" rtlCol="0" anchor="ctr">
            <a:normAutofit/>
          </a:bodyPr>
          <a:lstStyle/>
          <a:p>
            <a:pPr algn="ctr" indent="0" marL="0">
              <a:lnSpc>
                <a:spcPct val="100000"/>
              </a:lnSpc>
              <a:buNone/>
            </a:pPr>
            <a:r>
              <a:rPr lang="en-US" sz="1100" b="1" spc="100" kern="0" dirty="0">
                <a:solidFill>
                  <a:srgbClr val="64748B"/>
                </a:solidFill>
                <a:latin typeface="Aptos" pitchFamily="34" charset="0"/>
                <a:ea typeface="Aptos" pitchFamily="34" charset="-122"/>
                <a:cs typeface="Aptos" pitchFamily="34" charset="-120"/>
              </a:rPr>
              <a:t>ADVISER PILOT</a:t>
            </a:r>
            <a:endParaRPr lang="en-US" sz="1100" dirty="0"/>
          </a:p>
        </p:txBody>
      </p:sp>
      <p:sp>
        <p:nvSpPr>
          <p:cNvPr id="22" name="Shape 20"/>
          <p:cNvSpPr/>
          <p:nvPr/>
        </p:nvSpPr>
        <p:spPr>
          <a:xfrm>
            <a:off x="3401568" y="5797296"/>
            <a:ext cx="594360" cy="0"/>
          </a:xfrm>
          <a:prstGeom prst="line">
            <a:avLst/>
          </a:prstGeom>
          <a:noFill/>
          <a:ln w="22860">
            <a:solidFill>
              <a:srgbClr val="2563EB"/>
            </a:solidFill>
            <a:prstDash val="solid"/>
            <a:tailEnd type="triangle"/>
          </a:ln>
        </p:spPr>
      </p:sp>
      <p:sp>
        <p:nvSpPr>
          <p:cNvPr id="23" name="Text 21"/>
          <p:cNvSpPr txBox="1"/>
          <p:nvPr/>
        </p:nvSpPr>
        <p:spPr>
          <a:xfrm>
            <a:off x="4005072" y="5669280"/>
            <a:ext cx="2468880" cy="256032"/>
          </a:xfrm>
          <a:prstGeom prst="rect">
            <a:avLst/>
          </a:prstGeom>
          <a:noFill/>
          <a:ln/>
        </p:spPr>
        <p:txBody>
          <a:bodyPr wrap="square" lIns="0" tIns="0" rIns="0" bIns="0" rtlCol="0" anchor="ctr">
            <a:normAutofit/>
          </a:bodyPr>
          <a:lstStyle/>
          <a:p>
            <a:pPr algn="ctr" indent="0" marL="0">
              <a:lnSpc>
                <a:spcPct val="100000"/>
              </a:lnSpc>
              <a:buNone/>
            </a:pPr>
            <a:r>
              <a:rPr lang="en-US" sz="1100" b="1" spc="100" kern="0" dirty="0">
                <a:solidFill>
                  <a:srgbClr val="2563EB"/>
                </a:solidFill>
                <a:latin typeface="Aptos" pitchFamily="34" charset="0"/>
                <a:ea typeface="Aptos" pitchFamily="34" charset="-122"/>
                <a:cs typeface="Aptos" pitchFamily="34" charset="-120"/>
              </a:rPr>
              <a:t>CONFIRMED DRIFT ALERTS</a:t>
            </a:r>
            <a:endParaRPr lang="en-US" sz="1100" dirty="0"/>
          </a:p>
        </p:txBody>
      </p:sp>
      <p:sp>
        <p:nvSpPr>
          <p:cNvPr id="24" name="Shape 22"/>
          <p:cNvSpPr/>
          <p:nvPr/>
        </p:nvSpPr>
        <p:spPr>
          <a:xfrm>
            <a:off x="6492240" y="5797296"/>
            <a:ext cx="594360" cy="0"/>
          </a:xfrm>
          <a:prstGeom prst="line">
            <a:avLst/>
          </a:prstGeom>
          <a:noFill/>
          <a:ln w="22860">
            <a:solidFill>
              <a:srgbClr val="2563EB"/>
            </a:solidFill>
            <a:prstDash val="solid"/>
            <a:tailEnd type="triangle"/>
          </a:ln>
        </p:spPr>
      </p:sp>
      <p:sp>
        <p:nvSpPr>
          <p:cNvPr id="25" name="Text 23"/>
          <p:cNvSpPr txBox="1"/>
          <p:nvPr/>
        </p:nvSpPr>
        <p:spPr>
          <a:xfrm>
            <a:off x="7104888" y="5669280"/>
            <a:ext cx="2423160" cy="256032"/>
          </a:xfrm>
          <a:prstGeom prst="rect">
            <a:avLst/>
          </a:prstGeom>
          <a:noFill/>
          <a:ln/>
        </p:spPr>
        <p:txBody>
          <a:bodyPr wrap="square" lIns="0" tIns="0" rIns="0" bIns="0" rtlCol="0" anchor="ctr">
            <a:normAutofit/>
          </a:bodyPr>
          <a:lstStyle/>
          <a:p>
            <a:pPr algn="ctr" indent="0" marL="0">
              <a:lnSpc>
                <a:spcPct val="100000"/>
              </a:lnSpc>
              <a:buNone/>
            </a:pPr>
            <a:r>
              <a:rPr lang="en-US" sz="1100" b="1" spc="100" kern="0" dirty="0">
                <a:solidFill>
                  <a:srgbClr val="1D4ED8"/>
                </a:solidFill>
                <a:latin typeface="Aptos" pitchFamily="34" charset="0"/>
                <a:ea typeface="Aptos" pitchFamily="34" charset="-122"/>
                <a:cs typeface="Aptos" pitchFamily="34" charset="-120"/>
              </a:rPr>
              <a:t>RETAINED MONITORING</a:t>
            </a:r>
            <a:endParaRPr lang="en-US" sz="1100" dirty="0"/>
          </a:p>
        </p:txBody>
      </p:sp>
      <p:sp>
        <p:nvSpPr>
          <p:cNvPr id="26" name="Text 24"/>
          <p:cNvSpPr txBox="1"/>
          <p:nvPr/>
        </p:nvSpPr>
        <p:spPr>
          <a:xfrm>
            <a:off x="749808" y="5998464"/>
            <a:ext cx="10607040" cy="292608"/>
          </a:xfrm>
          <a:prstGeom prst="rect">
            <a:avLst/>
          </a:prstGeom>
          <a:noFill/>
          <a:ln/>
        </p:spPr>
        <p:txBody>
          <a:bodyPr wrap="square" lIns="0" tIns="0" rIns="0" bIns="0" rtlCol="0" anchor="ctr">
            <a:normAutofit/>
          </a:bodyPr>
          <a:lstStyle/>
          <a:p>
            <a:pPr algn="ctr" indent="0" marL="0">
              <a:lnSpc>
                <a:spcPct val="100000"/>
              </a:lnSpc>
              <a:buNone/>
            </a:pPr>
            <a:r>
              <a:rPr lang="en-US" sz="2100" b="1" dirty="0">
                <a:solidFill>
                  <a:srgbClr val="0B1020"/>
                </a:solidFill>
                <a:latin typeface="Aptos Display" pitchFamily="34" charset="0"/>
                <a:ea typeface="Aptos Display" pitchFamily="34" charset="-122"/>
                <a:cs typeface="Aptos Display" pitchFamily="34" charset="-120"/>
              </a:rPr>
              <a:t>From a blank-page investigation to an auditable, recurring conversation.</a:t>
            </a:r>
            <a:endParaRPr lang="en-US" sz="2100" dirty="0"/>
          </a:p>
        </p:txBody>
      </p:sp>
      <p:sp>
        <p:nvSpPr>
          <p:cNvPr id="27" name="Text 25"/>
          <p:cNvSpPr txBox="1"/>
          <p:nvPr/>
        </p:nvSpPr>
        <p:spPr>
          <a:xfrm>
            <a:off x="713232" y="6428232"/>
            <a:ext cx="2286000" cy="164592"/>
          </a:xfrm>
          <a:prstGeom prst="rect">
            <a:avLst/>
          </a:prstGeom>
          <a:noFill/>
          <a:ln/>
        </p:spPr>
        <p:txBody>
          <a:bodyPr wrap="square" lIns="0" tIns="0" rIns="0" bIns="0" rtlCol="0" anchor="ctr">
            <a:normAutofit/>
          </a:bodyPr>
          <a:lstStyle/>
          <a:p>
            <a:pPr algn="l" indent="0" marL="0">
              <a:lnSpc>
                <a:spcPct val="100000"/>
              </a:lnSpc>
              <a:buNone/>
            </a:pPr>
            <a:r>
              <a:rPr lang="en-US" sz="900" b="1" spc="110" kern="0" dirty="0">
                <a:solidFill>
                  <a:srgbClr val="64748B"/>
                </a:solidFill>
                <a:latin typeface="Aptos" pitchFamily="34" charset="0"/>
                <a:ea typeface="Aptos" pitchFamily="34" charset="-122"/>
                <a:cs typeface="Aptos" pitchFamily="34" charset="-120"/>
              </a:rPr>
              <a:t>AI PRE-SCAN  •  THE POST-MVP PATH</a:t>
            </a:r>
            <a:endParaRPr lang="en-US" sz="900" dirty="0"/>
          </a:p>
        </p:txBody>
      </p:sp>
      <p:sp>
        <p:nvSpPr>
          <p:cNvPr id="25" name="Slide Number Placeholder 0"/>
          <p:cNvSpPr>
            <a:spLocks noGrp="1"/>
          </p:cNvSpPr>
          <p:nvPr>
            <p:ph type="sldNum" sz="quarter" idx="4294967295"/>
          </p:nvPr>
        </p:nvSpPr>
        <p:spPr>
          <a:xfrm>
            <a:off x="11292840" y="642823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4A3B8"/>
                </a:solidFill>
                <a:latin typeface="Aptos"/>
                <a:ea typeface="Aptos"/>
                <a:cs typeface="Apto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13232" y="384048"/>
            <a:ext cx="2743200" cy="219456"/>
          </a:xfrm>
          <a:prstGeom prst="rect">
            <a:avLst/>
          </a:prstGeom>
          <a:noFill/>
          <a:ln/>
        </p:spPr>
        <p:txBody>
          <a:bodyPr wrap="square" lIns="0" tIns="0" rIns="0" bIns="0" rtlCol="0" anchor="ctr">
            <a:normAutofit/>
          </a:bodyPr>
          <a:lstStyle/>
          <a:p>
            <a:pPr algn="l" indent="0" marL="0">
              <a:lnSpc>
                <a:spcPct val="100000"/>
              </a:lnSpc>
              <a:buNone/>
            </a:pPr>
            <a:r>
              <a:rPr lang="en-US" sz="1100" b="1" spc="180" kern="0" dirty="0">
                <a:solidFill>
                  <a:srgbClr val="2563EB"/>
                </a:solidFill>
                <a:latin typeface="Aptos" pitchFamily="34" charset="0"/>
                <a:ea typeface="Aptos" pitchFamily="34" charset="-122"/>
                <a:cs typeface="Aptos" pitchFamily="34" charset="-120"/>
              </a:rPr>
              <a:t>APPENDIX • EVALUATION</a:t>
            </a:r>
            <a:endParaRPr lang="en-US" sz="1100" dirty="0"/>
          </a:p>
        </p:txBody>
      </p:sp>
      <p:sp>
        <p:nvSpPr>
          <p:cNvPr id="3" name="Text 1"/>
          <p:cNvSpPr txBox="1"/>
          <p:nvPr/>
        </p:nvSpPr>
        <p:spPr>
          <a:xfrm>
            <a:off x="713232" y="713232"/>
            <a:ext cx="10744200" cy="841248"/>
          </a:xfrm>
          <a:prstGeom prst="rect">
            <a:avLst/>
          </a:prstGeom>
          <a:noFill/>
          <a:ln/>
        </p:spPr>
        <p:txBody>
          <a:bodyPr wrap="square" lIns="0" tIns="0" rIns="0" bIns="0" rtlCol="0" anchor="t">
            <a:normAutofit/>
          </a:bodyPr>
          <a:lstStyle/>
          <a:p>
            <a:pPr algn="l" indent="0" marL="0">
              <a:lnSpc>
                <a:spcPct val="100000"/>
              </a:lnSpc>
              <a:buNone/>
            </a:pPr>
            <a:r>
              <a:rPr lang="en-US" sz="3600" b="1" dirty="0">
                <a:solidFill>
                  <a:srgbClr val="0B1020"/>
                </a:solidFill>
                <a:latin typeface="Aptos Display" pitchFamily="34" charset="0"/>
                <a:ea typeface="Aptos Display" pitchFamily="34" charset="-122"/>
                <a:cs typeface="Aptos Display" pitchFamily="34" charset="-120"/>
              </a:rPr>
              <a:t>The honesty controls pass; research quality still needs work</a:t>
            </a:r>
            <a:endParaRPr lang="en-US" sz="3600" dirty="0"/>
          </a:p>
        </p:txBody>
      </p:sp>
      <p:sp>
        <p:nvSpPr>
          <p:cNvPr id="4" name="Text 2"/>
          <p:cNvSpPr txBox="1"/>
          <p:nvPr/>
        </p:nvSpPr>
        <p:spPr>
          <a:xfrm>
            <a:off x="749808" y="1664208"/>
            <a:ext cx="2194560" cy="228600"/>
          </a:xfrm>
          <a:prstGeom prst="rect">
            <a:avLst/>
          </a:prstGeom>
          <a:noFill/>
          <a:ln/>
        </p:spPr>
        <p:txBody>
          <a:bodyPr wrap="square" lIns="0" tIns="0" rIns="0" bIns="0" rtlCol="0" anchor="ctr">
            <a:normAutofit/>
          </a:bodyPr>
          <a:lstStyle/>
          <a:p>
            <a:pPr algn="l" indent="0" marL="0">
              <a:lnSpc>
                <a:spcPct val="100000"/>
              </a:lnSpc>
              <a:buNone/>
            </a:pPr>
            <a:r>
              <a:rPr lang="en-US" sz="1100" b="1" spc="120" kern="0" dirty="0">
                <a:solidFill>
                  <a:srgbClr val="0F766E"/>
                </a:solidFill>
                <a:latin typeface="Aptos" pitchFamily="34" charset="0"/>
                <a:ea typeface="Aptos" pitchFamily="34" charset="-122"/>
                <a:cs typeface="Aptos" pitchFamily="34" charset="-120"/>
              </a:rPr>
              <a:t>STABLE STRENGTHS</a:t>
            </a:r>
            <a:endParaRPr lang="en-US" sz="1100" dirty="0"/>
          </a:p>
        </p:txBody>
      </p:sp>
      <p:sp>
        <p:nvSpPr>
          <p:cNvPr id="5" name="Text 3"/>
          <p:cNvSpPr txBox="1"/>
          <p:nvPr/>
        </p:nvSpPr>
        <p:spPr>
          <a:xfrm>
            <a:off x="6446520" y="1664208"/>
            <a:ext cx="2468880" cy="228600"/>
          </a:xfrm>
          <a:prstGeom prst="rect">
            <a:avLst/>
          </a:prstGeom>
          <a:noFill/>
          <a:ln/>
        </p:spPr>
        <p:txBody>
          <a:bodyPr wrap="square" lIns="0" tIns="0" rIns="0" bIns="0" rtlCol="0" anchor="ctr">
            <a:normAutofit/>
          </a:bodyPr>
          <a:lstStyle/>
          <a:p>
            <a:pPr algn="l" indent="0" marL="0">
              <a:lnSpc>
                <a:spcPct val="100000"/>
              </a:lnSpc>
              <a:buNone/>
            </a:pPr>
            <a:r>
              <a:rPr lang="en-US" sz="1100" b="1" spc="120" kern="0" dirty="0">
                <a:solidFill>
                  <a:srgbClr val="B45309"/>
                </a:solidFill>
                <a:latin typeface="Aptos" pitchFamily="34" charset="0"/>
                <a:ea typeface="Aptos" pitchFamily="34" charset="-122"/>
                <a:cs typeface="Aptos" pitchFamily="34" charset="-120"/>
              </a:rPr>
              <a:t>MEASURED LIMITATIONS</a:t>
            </a:r>
            <a:endParaRPr lang="en-US" sz="1100" dirty="0"/>
          </a:p>
        </p:txBody>
      </p:sp>
      <p:sp>
        <p:nvSpPr>
          <p:cNvPr id="6" name="Shape 4"/>
          <p:cNvSpPr/>
          <p:nvPr/>
        </p:nvSpPr>
        <p:spPr>
          <a:xfrm>
            <a:off x="749808" y="2029968"/>
            <a:ext cx="4892040" cy="987552"/>
          </a:xfrm>
          <a:prstGeom prst="roundRect">
            <a:avLst>
              <a:gd name="adj" fmla="val 11111"/>
            </a:avLst>
          </a:prstGeom>
          <a:solidFill>
            <a:srgbClr val="E7F7F4"/>
          </a:solidFill>
          <a:ln w="12700">
            <a:solidFill>
              <a:srgbClr val="B7E4DC"/>
            </a:solidFill>
            <a:prstDash val="solid"/>
          </a:ln>
        </p:spPr>
      </p:sp>
      <p:sp>
        <p:nvSpPr>
          <p:cNvPr id="7" name="Text 5"/>
          <p:cNvSpPr txBox="1"/>
          <p:nvPr/>
        </p:nvSpPr>
        <p:spPr>
          <a:xfrm>
            <a:off x="914400" y="2139696"/>
            <a:ext cx="4562856" cy="402336"/>
          </a:xfrm>
          <a:prstGeom prst="rect">
            <a:avLst/>
          </a:prstGeom>
          <a:noFill/>
          <a:ln/>
        </p:spPr>
        <p:txBody>
          <a:bodyPr wrap="square" lIns="0" tIns="0" rIns="0" bIns="0" rtlCol="0" anchor="t">
            <a:normAutofit/>
          </a:bodyPr>
          <a:lstStyle/>
          <a:p>
            <a:pPr algn="l" indent="0" marL="0">
              <a:lnSpc>
                <a:spcPct val="100000"/>
              </a:lnSpc>
              <a:buNone/>
            </a:pPr>
            <a:r>
              <a:rPr lang="en-US" sz="2800" b="1" dirty="0">
                <a:solidFill>
                  <a:srgbClr val="0F766E"/>
                </a:solidFill>
                <a:latin typeface="Aptos Display" pitchFamily="34" charset="0"/>
                <a:ea typeface="Aptos Display" pitchFamily="34" charset="-122"/>
                <a:cs typeface="Aptos Display" pitchFamily="34" charset="-120"/>
              </a:rPr>
              <a:t>1.0</a:t>
            </a:r>
            <a:endParaRPr lang="en-US" sz="2800" dirty="0"/>
          </a:p>
        </p:txBody>
      </p:sp>
      <p:sp>
        <p:nvSpPr>
          <p:cNvPr id="8" name="Text 6"/>
          <p:cNvSpPr txBox="1"/>
          <p:nvPr/>
        </p:nvSpPr>
        <p:spPr>
          <a:xfrm>
            <a:off x="914400" y="2596896"/>
            <a:ext cx="4562856" cy="246888"/>
          </a:xfrm>
          <a:prstGeom prst="rect">
            <a:avLst/>
          </a:prstGeom>
          <a:noFill/>
          <a:ln/>
        </p:spPr>
        <p:txBody>
          <a:bodyPr wrap="square" lIns="0" tIns="0" rIns="0" bIns="0" rtlCol="0" anchor="t">
            <a:normAutofit/>
          </a:bodyPr>
          <a:lstStyle/>
          <a:p>
            <a:pPr algn="l" indent="0" marL="0">
              <a:lnSpc>
                <a:spcPct val="100000"/>
              </a:lnSpc>
              <a:buNone/>
            </a:pPr>
            <a:r>
              <a:rPr lang="en-US" sz="1250" dirty="0">
                <a:solidFill>
                  <a:srgbClr val="273244"/>
                </a:solidFill>
                <a:latin typeface="Aptos" pitchFamily="34" charset="0"/>
                <a:ea typeface="Aptos" pitchFamily="34" charset="-122"/>
                <a:cs typeface="Aptos" pitchFamily="34" charset="-120"/>
              </a:rPr>
              <a:t>Honest refusal</a:t>
            </a:r>
            <a:endParaRPr lang="en-US" sz="1250" dirty="0"/>
          </a:p>
        </p:txBody>
      </p:sp>
      <p:sp>
        <p:nvSpPr>
          <p:cNvPr id="9" name="Shape 7"/>
          <p:cNvSpPr/>
          <p:nvPr/>
        </p:nvSpPr>
        <p:spPr>
          <a:xfrm>
            <a:off x="749808" y="3108960"/>
            <a:ext cx="4892040" cy="987552"/>
          </a:xfrm>
          <a:prstGeom prst="roundRect">
            <a:avLst>
              <a:gd name="adj" fmla="val 11111"/>
            </a:avLst>
          </a:prstGeom>
          <a:solidFill>
            <a:srgbClr val="E7F7F4"/>
          </a:solidFill>
          <a:ln w="12700">
            <a:solidFill>
              <a:srgbClr val="B7E4DC"/>
            </a:solidFill>
            <a:prstDash val="solid"/>
          </a:ln>
        </p:spPr>
      </p:sp>
      <p:sp>
        <p:nvSpPr>
          <p:cNvPr id="10" name="Text 8"/>
          <p:cNvSpPr txBox="1"/>
          <p:nvPr/>
        </p:nvSpPr>
        <p:spPr>
          <a:xfrm>
            <a:off x="914400" y="3218688"/>
            <a:ext cx="4562856" cy="402336"/>
          </a:xfrm>
          <a:prstGeom prst="rect">
            <a:avLst/>
          </a:prstGeom>
          <a:noFill/>
          <a:ln/>
        </p:spPr>
        <p:txBody>
          <a:bodyPr wrap="square" lIns="0" tIns="0" rIns="0" bIns="0" rtlCol="0" anchor="t">
            <a:normAutofit/>
          </a:bodyPr>
          <a:lstStyle/>
          <a:p>
            <a:pPr algn="l" indent="0" marL="0">
              <a:lnSpc>
                <a:spcPct val="100000"/>
              </a:lnSpc>
              <a:buNone/>
            </a:pPr>
            <a:r>
              <a:rPr lang="en-US" sz="2800" b="1" dirty="0">
                <a:solidFill>
                  <a:srgbClr val="0F766E"/>
                </a:solidFill>
                <a:latin typeface="Aptos Display" pitchFamily="34" charset="0"/>
                <a:ea typeface="Aptos Display" pitchFamily="34" charset="-122"/>
                <a:cs typeface="Aptos Display" pitchFamily="34" charset="-120"/>
              </a:rPr>
              <a:t>0</a:t>
            </a:r>
            <a:endParaRPr lang="en-US" sz="2800" dirty="0"/>
          </a:p>
        </p:txBody>
      </p:sp>
      <p:sp>
        <p:nvSpPr>
          <p:cNvPr id="11" name="Text 9"/>
          <p:cNvSpPr txBox="1"/>
          <p:nvPr/>
        </p:nvSpPr>
        <p:spPr>
          <a:xfrm>
            <a:off x="914400" y="3675888"/>
            <a:ext cx="4562856" cy="246888"/>
          </a:xfrm>
          <a:prstGeom prst="rect">
            <a:avLst/>
          </a:prstGeom>
          <a:noFill/>
          <a:ln/>
        </p:spPr>
        <p:txBody>
          <a:bodyPr wrap="square" lIns="0" tIns="0" rIns="0" bIns="0" rtlCol="0" anchor="t">
            <a:normAutofit/>
          </a:bodyPr>
          <a:lstStyle/>
          <a:p>
            <a:pPr algn="l" indent="0" marL="0">
              <a:lnSpc>
                <a:spcPct val="100000"/>
              </a:lnSpc>
              <a:buNone/>
            </a:pPr>
            <a:r>
              <a:rPr lang="en-US" sz="1250" dirty="0">
                <a:solidFill>
                  <a:srgbClr val="273244"/>
                </a:solidFill>
                <a:latin typeface="Aptos" pitchFamily="34" charset="0"/>
                <a:ea typeface="Aptos" pitchFamily="34" charset="-122"/>
                <a:cs typeface="Aptos" pitchFamily="34" charset="-120"/>
              </a:rPr>
              <a:t>Thin-company false positives</a:t>
            </a:r>
            <a:endParaRPr lang="en-US" sz="1250" dirty="0"/>
          </a:p>
        </p:txBody>
      </p:sp>
      <p:sp>
        <p:nvSpPr>
          <p:cNvPr id="12" name="Shape 10"/>
          <p:cNvSpPr/>
          <p:nvPr/>
        </p:nvSpPr>
        <p:spPr>
          <a:xfrm>
            <a:off x="749808" y="4187952"/>
            <a:ext cx="4892040" cy="987552"/>
          </a:xfrm>
          <a:prstGeom prst="roundRect">
            <a:avLst>
              <a:gd name="adj" fmla="val 11111"/>
            </a:avLst>
          </a:prstGeom>
          <a:solidFill>
            <a:srgbClr val="E7F7F4"/>
          </a:solidFill>
          <a:ln w="12700">
            <a:solidFill>
              <a:srgbClr val="B7E4DC"/>
            </a:solidFill>
            <a:prstDash val="solid"/>
          </a:ln>
        </p:spPr>
      </p:sp>
      <p:sp>
        <p:nvSpPr>
          <p:cNvPr id="13" name="Text 11"/>
          <p:cNvSpPr txBox="1"/>
          <p:nvPr/>
        </p:nvSpPr>
        <p:spPr>
          <a:xfrm>
            <a:off x="914400" y="4297680"/>
            <a:ext cx="4562856" cy="402336"/>
          </a:xfrm>
          <a:prstGeom prst="rect">
            <a:avLst/>
          </a:prstGeom>
          <a:noFill/>
          <a:ln/>
        </p:spPr>
        <p:txBody>
          <a:bodyPr wrap="square" lIns="0" tIns="0" rIns="0" bIns="0" rtlCol="0" anchor="t">
            <a:normAutofit/>
          </a:bodyPr>
          <a:lstStyle/>
          <a:p>
            <a:pPr algn="l" indent="0" marL="0">
              <a:lnSpc>
                <a:spcPct val="100000"/>
              </a:lnSpc>
              <a:buNone/>
            </a:pPr>
            <a:r>
              <a:rPr lang="en-US" sz="2800" b="1" dirty="0">
                <a:solidFill>
                  <a:srgbClr val="0F766E"/>
                </a:solidFill>
                <a:latin typeface="Aptos Display" pitchFamily="34" charset="0"/>
                <a:ea typeface="Aptos Display" pitchFamily="34" charset="-122"/>
                <a:cs typeface="Aptos Display" pitchFamily="34" charset="-120"/>
              </a:rPr>
              <a:t>0</a:t>
            </a:r>
            <a:endParaRPr lang="en-US" sz="2800" dirty="0"/>
          </a:p>
        </p:txBody>
      </p:sp>
      <p:sp>
        <p:nvSpPr>
          <p:cNvPr id="14" name="Text 12"/>
          <p:cNvSpPr txBox="1"/>
          <p:nvPr/>
        </p:nvSpPr>
        <p:spPr>
          <a:xfrm>
            <a:off x="914400" y="4754880"/>
            <a:ext cx="4562856" cy="246888"/>
          </a:xfrm>
          <a:prstGeom prst="rect">
            <a:avLst/>
          </a:prstGeom>
          <a:noFill/>
          <a:ln/>
        </p:spPr>
        <p:txBody>
          <a:bodyPr wrap="square" lIns="0" tIns="0" rIns="0" bIns="0" rtlCol="0" anchor="t">
            <a:normAutofit/>
          </a:bodyPr>
          <a:lstStyle/>
          <a:p>
            <a:pPr algn="l" indent="0" marL="0">
              <a:lnSpc>
                <a:spcPct val="100000"/>
              </a:lnSpc>
              <a:buNone/>
            </a:pPr>
            <a:r>
              <a:rPr lang="en-US" sz="1250" dirty="0">
                <a:solidFill>
                  <a:srgbClr val="273244"/>
                </a:solidFill>
                <a:latin typeface="Aptos" pitchFamily="34" charset="0"/>
                <a:ea typeface="Aptos" pitchFamily="34" charset="-122"/>
                <a:cs typeface="Aptos" pitchFamily="34" charset="-120"/>
              </a:rPr>
              <a:t>Provenance violations</a:t>
            </a:r>
            <a:endParaRPr lang="en-US" sz="1250" dirty="0"/>
          </a:p>
        </p:txBody>
      </p:sp>
      <p:sp>
        <p:nvSpPr>
          <p:cNvPr id="15" name="Shape 13"/>
          <p:cNvSpPr/>
          <p:nvPr/>
        </p:nvSpPr>
        <p:spPr>
          <a:xfrm>
            <a:off x="6446520" y="2029968"/>
            <a:ext cx="4937760" cy="987552"/>
          </a:xfrm>
          <a:prstGeom prst="roundRect">
            <a:avLst>
              <a:gd name="adj" fmla="val 11111"/>
            </a:avLst>
          </a:prstGeom>
          <a:solidFill>
            <a:srgbClr val="FFF5E6"/>
          </a:solidFill>
          <a:ln w="12700">
            <a:solidFill>
              <a:srgbClr val="F7D6A4"/>
            </a:solidFill>
            <a:prstDash val="solid"/>
          </a:ln>
        </p:spPr>
      </p:sp>
      <p:sp>
        <p:nvSpPr>
          <p:cNvPr id="16" name="Text 14"/>
          <p:cNvSpPr txBox="1"/>
          <p:nvPr/>
        </p:nvSpPr>
        <p:spPr>
          <a:xfrm>
            <a:off x="6647688" y="2139696"/>
            <a:ext cx="1234440" cy="402336"/>
          </a:xfrm>
          <a:prstGeom prst="rect">
            <a:avLst/>
          </a:prstGeom>
          <a:noFill/>
          <a:ln/>
        </p:spPr>
        <p:txBody>
          <a:bodyPr wrap="square" lIns="0" tIns="0" rIns="0" bIns="0" rtlCol="0" anchor="t">
            <a:normAutofit/>
          </a:bodyPr>
          <a:lstStyle/>
          <a:p>
            <a:pPr algn="l" indent="0" marL="0">
              <a:lnSpc>
                <a:spcPct val="100000"/>
              </a:lnSpc>
              <a:buNone/>
            </a:pPr>
            <a:r>
              <a:rPr lang="en-US" sz="2700" b="1" dirty="0">
                <a:solidFill>
                  <a:srgbClr val="B45309"/>
                </a:solidFill>
                <a:latin typeface="Aptos Display" pitchFamily="34" charset="0"/>
                <a:ea typeface="Aptos Display" pitchFamily="34" charset="-122"/>
                <a:cs typeface="Aptos Display" pitchFamily="34" charset="-120"/>
              </a:rPr>
              <a:t>0.444</a:t>
            </a:r>
            <a:endParaRPr lang="en-US" sz="2700" dirty="0"/>
          </a:p>
        </p:txBody>
      </p:sp>
      <p:sp>
        <p:nvSpPr>
          <p:cNvPr id="17" name="Text 15"/>
          <p:cNvSpPr txBox="1"/>
          <p:nvPr/>
        </p:nvSpPr>
        <p:spPr>
          <a:xfrm>
            <a:off x="8028432" y="2176272"/>
            <a:ext cx="1920240" cy="256032"/>
          </a:xfrm>
          <a:prstGeom prst="rect">
            <a:avLst/>
          </a:prstGeom>
          <a:noFill/>
          <a:ln/>
        </p:spPr>
        <p:txBody>
          <a:bodyPr wrap="square" lIns="0" tIns="0" rIns="0" bIns="0" rtlCol="0" anchor="ctr">
            <a:normAutofit/>
          </a:bodyPr>
          <a:lstStyle/>
          <a:p>
            <a:pPr algn="l" indent="0" marL="0">
              <a:lnSpc>
                <a:spcPct val="100000"/>
              </a:lnSpc>
              <a:buNone/>
            </a:pPr>
            <a:r>
              <a:rPr lang="en-US" sz="1500" b="1" dirty="0">
                <a:solidFill>
                  <a:srgbClr val="0B1020"/>
                </a:solidFill>
                <a:latin typeface="Aptos" pitchFamily="34" charset="0"/>
                <a:ea typeface="Aptos" pitchFamily="34" charset="-122"/>
                <a:cs typeface="Aptos" pitchFamily="34" charset="-120"/>
              </a:rPr>
              <a:t>Recall</a:t>
            </a:r>
            <a:endParaRPr lang="en-US" sz="1500" dirty="0"/>
          </a:p>
        </p:txBody>
      </p:sp>
      <p:sp>
        <p:nvSpPr>
          <p:cNvPr id="18" name="Text 16"/>
          <p:cNvSpPr txBox="1"/>
          <p:nvPr/>
        </p:nvSpPr>
        <p:spPr>
          <a:xfrm>
            <a:off x="9930384" y="2185416"/>
            <a:ext cx="1170432" cy="228600"/>
          </a:xfrm>
          <a:prstGeom prst="rect">
            <a:avLst/>
          </a:prstGeom>
          <a:noFill/>
          <a:ln/>
        </p:spPr>
        <p:txBody>
          <a:bodyPr wrap="square" lIns="0" tIns="0" rIns="0" bIns="0" rtlCol="0" anchor="ctr">
            <a:normAutofit/>
          </a:bodyPr>
          <a:lstStyle/>
          <a:p>
            <a:pPr algn="r" indent="0" marL="0">
              <a:lnSpc>
                <a:spcPct val="100000"/>
              </a:lnSpc>
              <a:buNone/>
            </a:pPr>
            <a:r>
              <a:rPr lang="en-US" sz="1200" dirty="0">
                <a:solidFill>
                  <a:srgbClr val="64748B"/>
                </a:solidFill>
                <a:latin typeface="Aptos" pitchFamily="34" charset="0"/>
                <a:ea typeface="Aptos" pitchFamily="34" charset="-122"/>
                <a:cs typeface="Aptos" pitchFamily="34" charset="-120"/>
              </a:rPr>
              <a:t>target 0.75</a:t>
            </a:r>
            <a:endParaRPr lang="en-US" sz="1200" dirty="0"/>
          </a:p>
        </p:txBody>
      </p:sp>
      <p:sp>
        <p:nvSpPr>
          <p:cNvPr id="19" name="Shape 17"/>
          <p:cNvSpPr/>
          <p:nvPr/>
        </p:nvSpPr>
        <p:spPr>
          <a:xfrm>
            <a:off x="6446520" y="3108960"/>
            <a:ext cx="4937760" cy="987552"/>
          </a:xfrm>
          <a:prstGeom prst="roundRect">
            <a:avLst>
              <a:gd name="adj" fmla="val 11111"/>
            </a:avLst>
          </a:prstGeom>
          <a:solidFill>
            <a:srgbClr val="FFF5E6"/>
          </a:solidFill>
          <a:ln w="12700">
            <a:solidFill>
              <a:srgbClr val="F7D6A4"/>
            </a:solidFill>
            <a:prstDash val="solid"/>
          </a:ln>
        </p:spPr>
      </p:sp>
      <p:sp>
        <p:nvSpPr>
          <p:cNvPr id="20" name="Text 18"/>
          <p:cNvSpPr txBox="1"/>
          <p:nvPr/>
        </p:nvSpPr>
        <p:spPr>
          <a:xfrm>
            <a:off x="6647688" y="3218688"/>
            <a:ext cx="1234440" cy="402336"/>
          </a:xfrm>
          <a:prstGeom prst="rect">
            <a:avLst/>
          </a:prstGeom>
          <a:noFill/>
          <a:ln/>
        </p:spPr>
        <p:txBody>
          <a:bodyPr wrap="square" lIns="0" tIns="0" rIns="0" bIns="0" rtlCol="0" anchor="t">
            <a:normAutofit/>
          </a:bodyPr>
          <a:lstStyle/>
          <a:p>
            <a:pPr algn="l" indent="0" marL="0">
              <a:lnSpc>
                <a:spcPct val="100000"/>
              </a:lnSpc>
              <a:buNone/>
            </a:pPr>
            <a:r>
              <a:rPr lang="en-US" sz="2700" b="1" dirty="0">
                <a:solidFill>
                  <a:srgbClr val="B45309"/>
                </a:solidFill>
                <a:latin typeface="Aptos Display" pitchFamily="34" charset="0"/>
                <a:ea typeface="Aptos Display" pitchFamily="34" charset="-122"/>
                <a:cs typeface="Aptos Display" pitchFamily="34" charset="-120"/>
              </a:rPr>
              <a:t>0.739</a:t>
            </a:r>
            <a:endParaRPr lang="en-US" sz="2700" dirty="0"/>
          </a:p>
        </p:txBody>
      </p:sp>
      <p:sp>
        <p:nvSpPr>
          <p:cNvPr id="21" name="Text 19"/>
          <p:cNvSpPr txBox="1"/>
          <p:nvPr/>
        </p:nvSpPr>
        <p:spPr>
          <a:xfrm>
            <a:off x="8028432" y="3255264"/>
            <a:ext cx="1920240" cy="256032"/>
          </a:xfrm>
          <a:prstGeom prst="rect">
            <a:avLst/>
          </a:prstGeom>
          <a:noFill/>
          <a:ln/>
        </p:spPr>
        <p:txBody>
          <a:bodyPr wrap="square" lIns="0" tIns="0" rIns="0" bIns="0" rtlCol="0" anchor="ctr">
            <a:normAutofit/>
          </a:bodyPr>
          <a:lstStyle/>
          <a:p>
            <a:pPr algn="l" indent="0" marL="0">
              <a:lnSpc>
                <a:spcPct val="100000"/>
              </a:lnSpc>
              <a:buNone/>
            </a:pPr>
            <a:r>
              <a:rPr lang="en-US" sz="1500" b="1" dirty="0">
                <a:solidFill>
                  <a:srgbClr val="0B1020"/>
                </a:solidFill>
                <a:latin typeface="Aptos" pitchFamily="34" charset="0"/>
                <a:ea typeface="Aptos" pitchFamily="34" charset="-122"/>
                <a:cs typeface="Aptos" pitchFamily="34" charset="-120"/>
              </a:rPr>
              <a:t>Role correctness</a:t>
            </a:r>
            <a:endParaRPr lang="en-US" sz="1500" dirty="0"/>
          </a:p>
        </p:txBody>
      </p:sp>
      <p:sp>
        <p:nvSpPr>
          <p:cNvPr id="22" name="Text 20"/>
          <p:cNvSpPr txBox="1"/>
          <p:nvPr/>
        </p:nvSpPr>
        <p:spPr>
          <a:xfrm>
            <a:off x="9930384" y="3264408"/>
            <a:ext cx="1170432" cy="228600"/>
          </a:xfrm>
          <a:prstGeom prst="rect">
            <a:avLst/>
          </a:prstGeom>
          <a:noFill/>
          <a:ln/>
        </p:spPr>
        <p:txBody>
          <a:bodyPr wrap="square" lIns="0" tIns="0" rIns="0" bIns="0" rtlCol="0" anchor="ctr">
            <a:normAutofit/>
          </a:bodyPr>
          <a:lstStyle/>
          <a:p>
            <a:pPr algn="r" indent="0" marL="0">
              <a:lnSpc>
                <a:spcPct val="100000"/>
              </a:lnSpc>
              <a:buNone/>
            </a:pPr>
            <a:r>
              <a:rPr lang="en-US" sz="1200" dirty="0">
                <a:solidFill>
                  <a:srgbClr val="64748B"/>
                </a:solidFill>
                <a:latin typeface="Aptos" pitchFamily="34" charset="0"/>
                <a:ea typeface="Aptos" pitchFamily="34" charset="-122"/>
                <a:cs typeface="Aptos" pitchFamily="34" charset="-120"/>
              </a:rPr>
              <a:t>target 0.90</a:t>
            </a:r>
            <a:endParaRPr lang="en-US" sz="1200" dirty="0"/>
          </a:p>
        </p:txBody>
      </p:sp>
      <p:sp>
        <p:nvSpPr>
          <p:cNvPr id="23" name="Shape 21"/>
          <p:cNvSpPr/>
          <p:nvPr/>
        </p:nvSpPr>
        <p:spPr>
          <a:xfrm>
            <a:off x="6446520" y="4187952"/>
            <a:ext cx="4937760" cy="987552"/>
          </a:xfrm>
          <a:prstGeom prst="roundRect">
            <a:avLst>
              <a:gd name="adj" fmla="val 11111"/>
            </a:avLst>
          </a:prstGeom>
          <a:solidFill>
            <a:srgbClr val="FFF5E6"/>
          </a:solidFill>
          <a:ln w="12700">
            <a:solidFill>
              <a:srgbClr val="F7D6A4"/>
            </a:solidFill>
            <a:prstDash val="solid"/>
          </a:ln>
        </p:spPr>
      </p:sp>
      <p:sp>
        <p:nvSpPr>
          <p:cNvPr id="24" name="Text 22"/>
          <p:cNvSpPr txBox="1"/>
          <p:nvPr/>
        </p:nvSpPr>
        <p:spPr>
          <a:xfrm>
            <a:off x="6647688" y="4297680"/>
            <a:ext cx="1234440" cy="402336"/>
          </a:xfrm>
          <a:prstGeom prst="rect">
            <a:avLst/>
          </a:prstGeom>
          <a:noFill/>
          <a:ln/>
        </p:spPr>
        <p:txBody>
          <a:bodyPr wrap="square" lIns="0" tIns="0" rIns="0" bIns="0" rtlCol="0" anchor="t">
            <a:normAutofit/>
          </a:bodyPr>
          <a:lstStyle/>
          <a:p>
            <a:pPr algn="l" indent="0" marL="0">
              <a:lnSpc>
                <a:spcPct val="100000"/>
              </a:lnSpc>
              <a:buNone/>
            </a:pPr>
            <a:r>
              <a:rPr lang="en-US" sz="2700" b="1" dirty="0">
                <a:solidFill>
                  <a:srgbClr val="B45309"/>
                </a:solidFill>
                <a:latin typeface="Aptos Display" pitchFamily="34" charset="0"/>
                <a:ea typeface="Aptos Display" pitchFamily="34" charset="-122"/>
                <a:cs typeface="Aptos Display" pitchFamily="34" charset="-120"/>
              </a:rPr>
              <a:t>0.333</a:t>
            </a:r>
            <a:endParaRPr lang="en-US" sz="2700" dirty="0"/>
          </a:p>
        </p:txBody>
      </p:sp>
      <p:sp>
        <p:nvSpPr>
          <p:cNvPr id="25" name="Text 23"/>
          <p:cNvSpPr txBox="1"/>
          <p:nvPr/>
        </p:nvSpPr>
        <p:spPr>
          <a:xfrm>
            <a:off x="8028432" y="4334256"/>
            <a:ext cx="1920240" cy="256032"/>
          </a:xfrm>
          <a:prstGeom prst="rect">
            <a:avLst/>
          </a:prstGeom>
          <a:noFill/>
          <a:ln/>
        </p:spPr>
        <p:txBody>
          <a:bodyPr wrap="square" lIns="0" tIns="0" rIns="0" bIns="0" rtlCol="0" anchor="ctr">
            <a:normAutofit/>
          </a:bodyPr>
          <a:lstStyle/>
          <a:p>
            <a:pPr algn="l" indent="0" marL="0">
              <a:lnSpc>
                <a:spcPct val="100000"/>
              </a:lnSpc>
              <a:buNone/>
            </a:pPr>
            <a:r>
              <a:rPr lang="en-US" sz="1500" b="1" dirty="0">
                <a:solidFill>
                  <a:srgbClr val="0B1020"/>
                </a:solidFill>
                <a:latin typeface="Aptos" pitchFamily="34" charset="0"/>
                <a:ea typeface="Aptos" pitchFamily="34" charset="-122"/>
                <a:cs typeface="Aptos" pitchFamily="34" charset="-120"/>
              </a:rPr>
              <a:t>Over-claim rate</a:t>
            </a:r>
            <a:endParaRPr lang="en-US" sz="1500" dirty="0"/>
          </a:p>
        </p:txBody>
      </p:sp>
      <p:sp>
        <p:nvSpPr>
          <p:cNvPr id="26" name="Text 24"/>
          <p:cNvSpPr txBox="1"/>
          <p:nvPr/>
        </p:nvSpPr>
        <p:spPr>
          <a:xfrm>
            <a:off x="9930384" y="4343400"/>
            <a:ext cx="1170432" cy="228600"/>
          </a:xfrm>
          <a:prstGeom prst="rect">
            <a:avLst/>
          </a:prstGeom>
          <a:noFill/>
          <a:ln/>
        </p:spPr>
        <p:txBody>
          <a:bodyPr wrap="square" lIns="0" tIns="0" rIns="0" bIns="0" rtlCol="0" anchor="ctr">
            <a:normAutofit/>
          </a:bodyPr>
          <a:lstStyle/>
          <a:p>
            <a:pPr algn="r" indent="0" marL="0">
              <a:lnSpc>
                <a:spcPct val="100000"/>
              </a:lnSpc>
              <a:buNone/>
            </a:pPr>
            <a:r>
              <a:rPr lang="en-US" sz="1200" dirty="0">
                <a:solidFill>
                  <a:srgbClr val="64748B"/>
                </a:solidFill>
                <a:latin typeface="Aptos" pitchFamily="34" charset="0"/>
                <a:ea typeface="Aptos" pitchFamily="34" charset="-122"/>
                <a:cs typeface="Aptos" pitchFamily="34" charset="-120"/>
              </a:rPr>
              <a:t>target 0.10</a:t>
            </a:r>
            <a:endParaRPr lang="en-US" sz="1200" dirty="0"/>
          </a:p>
        </p:txBody>
      </p:sp>
      <p:sp>
        <p:nvSpPr>
          <p:cNvPr id="27" name="Shape 25"/>
          <p:cNvSpPr/>
          <p:nvPr/>
        </p:nvSpPr>
        <p:spPr>
          <a:xfrm>
            <a:off x="749808" y="5468112"/>
            <a:ext cx="10634472" cy="694944"/>
          </a:xfrm>
          <a:prstGeom prst="roundRect">
            <a:avLst>
              <a:gd name="adj" fmla="val 13158"/>
            </a:avLst>
          </a:prstGeom>
          <a:solidFill>
            <a:srgbClr val="F1F5F9"/>
          </a:solidFill>
          <a:ln w="12700">
            <a:solidFill>
              <a:srgbClr val="F1F5F9"/>
            </a:solidFill>
            <a:prstDash val="solid"/>
          </a:ln>
        </p:spPr>
      </p:sp>
      <p:sp>
        <p:nvSpPr>
          <p:cNvPr id="28" name="Text 26"/>
          <p:cNvSpPr txBox="1"/>
          <p:nvPr/>
        </p:nvSpPr>
        <p:spPr>
          <a:xfrm>
            <a:off x="987552" y="5678424"/>
            <a:ext cx="1143000" cy="219456"/>
          </a:xfrm>
          <a:prstGeom prst="rect">
            <a:avLst/>
          </a:prstGeom>
          <a:noFill/>
          <a:ln/>
        </p:spPr>
        <p:txBody>
          <a:bodyPr wrap="square" lIns="0" tIns="0" rIns="0" bIns="0" rtlCol="0" anchor="ctr">
            <a:normAutofit/>
          </a:bodyPr>
          <a:lstStyle/>
          <a:p>
            <a:pPr algn="l" indent="0" marL="0">
              <a:lnSpc>
                <a:spcPct val="100000"/>
              </a:lnSpc>
              <a:buNone/>
            </a:pPr>
            <a:r>
              <a:rPr lang="en-US" sz="1050" b="1" spc="100" kern="0" dirty="0">
                <a:solidFill>
                  <a:srgbClr val="64748B"/>
                </a:solidFill>
                <a:latin typeface="Aptos" pitchFamily="34" charset="0"/>
                <a:ea typeface="Aptos" pitchFamily="34" charset="-122"/>
                <a:cs typeface="Aptos" pitchFamily="34" charset="-120"/>
              </a:rPr>
              <a:t>SAME CODE</a:t>
            </a:r>
            <a:endParaRPr lang="en-US" sz="1050" dirty="0"/>
          </a:p>
        </p:txBody>
      </p:sp>
      <p:sp>
        <p:nvSpPr>
          <p:cNvPr id="29" name="Text 27"/>
          <p:cNvSpPr txBox="1"/>
          <p:nvPr/>
        </p:nvSpPr>
        <p:spPr>
          <a:xfrm>
            <a:off x="2313432" y="5641848"/>
            <a:ext cx="1389888" cy="274320"/>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2563EB"/>
                </a:solidFill>
                <a:latin typeface="Aptos Display" pitchFamily="34" charset="0"/>
                <a:ea typeface="Aptos Display" pitchFamily="34" charset="-122"/>
                <a:cs typeface="Aptos Display" pitchFamily="34" charset="-120"/>
              </a:rPr>
              <a:t>RUN 3  0.556</a:t>
            </a:r>
            <a:endParaRPr lang="en-US" sz="1800" dirty="0"/>
          </a:p>
        </p:txBody>
      </p:sp>
      <p:sp>
        <p:nvSpPr>
          <p:cNvPr id="30" name="Shape 28"/>
          <p:cNvSpPr/>
          <p:nvPr/>
        </p:nvSpPr>
        <p:spPr>
          <a:xfrm>
            <a:off x="3803904" y="5797296"/>
            <a:ext cx="841248" cy="0"/>
          </a:xfrm>
          <a:prstGeom prst="line">
            <a:avLst/>
          </a:prstGeom>
          <a:noFill/>
          <a:ln w="31750">
            <a:solidFill>
              <a:srgbClr val="E2E8F0"/>
            </a:solidFill>
            <a:prstDash val="solid"/>
            <a:tailEnd type="triangle"/>
          </a:ln>
        </p:spPr>
      </p:sp>
      <p:sp>
        <p:nvSpPr>
          <p:cNvPr id="31" name="Text 29"/>
          <p:cNvSpPr txBox="1"/>
          <p:nvPr/>
        </p:nvSpPr>
        <p:spPr>
          <a:xfrm>
            <a:off x="4773168" y="5641848"/>
            <a:ext cx="1389888" cy="274320"/>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2563EB"/>
                </a:solidFill>
                <a:latin typeface="Aptos Display" pitchFamily="34" charset="0"/>
                <a:ea typeface="Aptos Display" pitchFamily="34" charset="-122"/>
                <a:cs typeface="Aptos Display" pitchFamily="34" charset="-120"/>
              </a:rPr>
              <a:t>RUN 5  0.444</a:t>
            </a:r>
            <a:endParaRPr lang="en-US" sz="1800" dirty="0"/>
          </a:p>
        </p:txBody>
      </p:sp>
      <p:sp>
        <p:nvSpPr>
          <p:cNvPr id="32" name="Text 30"/>
          <p:cNvSpPr txBox="1"/>
          <p:nvPr/>
        </p:nvSpPr>
        <p:spPr>
          <a:xfrm>
            <a:off x="6583680" y="5641848"/>
            <a:ext cx="4443984" cy="274320"/>
          </a:xfrm>
          <a:prstGeom prst="rect">
            <a:avLst/>
          </a:prstGeom>
          <a:noFill/>
          <a:ln/>
        </p:spPr>
        <p:txBody>
          <a:bodyPr wrap="square" lIns="0" tIns="0" rIns="0" bIns="0" rtlCol="0" anchor="ctr">
            <a:normAutofit/>
          </a:bodyPr>
          <a:lstStyle/>
          <a:p>
            <a:pPr algn="r" indent="0" marL="0">
              <a:lnSpc>
                <a:spcPct val="100000"/>
              </a:lnSpc>
              <a:buNone/>
            </a:pPr>
            <a:r>
              <a:rPr lang="en-US" sz="1400" b="1" dirty="0">
                <a:solidFill>
                  <a:srgbClr val="273244"/>
                </a:solidFill>
                <a:latin typeface="Aptos" pitchFamily="34" charset="0"/>
                <a:ea typeface="Aptos" pitchFamily="34" charset="-122"/>
                <a:cs typeface="Aptos" pitchFamily="34" charset="-120"/>
              </a:rPr>
              <a:t>One run cannot attribute a change to a configuration.</a:t>
            </a:r>
            <a:endParaRPr lang="en-US" sz="1400" dirty="0"/>
          </a:p>
        </p:txBody>
      </p:sp>
      <p:sp>
        <p:nvSpPr>
          <p:cNvPr id="33" name="Text 31"/>
          <p:cNvSpPr txBox="1"/>
          <p:nvPr/>
        </p:nvSpPr>
        <p:spPr>
          <a:xfrm>
            <a:off x="713232" y="6428232"/>
            <a:ext cx="2286000" cy="164592"/>
          </a:xfrm>
          <a:prstGeom prst="rect">
            <a:avLst/>
          </a:prstGeom>
          <a:noFill/>
          <a:ln/>
        </p:spPr>
        <p:txBody>
          <a:bodyPr wrap="square" lIns="0" tIns="0" rIns="0" bIns="0" rtlCol="0" anchor="ctr">
            <a:normAutofit/>
          </a:bodyPr>
          <a:lstStyle/>
          <a:p>
            <a:pPr algn="l" indent="0" marL="0">
              <a:lnSpc>
                <a:spcPct val="100000"/>
              </a:lnSpc>
              <a:buNone/>
            </a:pPr>
            <a:r>
              <a:rPr lang="en-US" sz="900" b="1" spc="110" kern="0" dirty="0">
                <a:solidFill>
                  <a:srgbClr val="64748B"/>
                </a:solidFill>
                <a:latin typeface="Aptos" pitchFamily="34" charset="0"/>
                <a:ea typeface="Aptos" pitchFamily="34" charset="-122"/>
                <a:cs typeface="Aptos" pitchFamily="34" charset="-120"/>
              </a:rPr>
              <a:t>AI PRE-SCAN  •  APPENDIX • EVALUATION</a:t>
            </a:r>
            <a:endParaRPr lang="en-US" sz="900" dirty="0"/>
          </a:p>
        </p:txBody>
      </p:sp>
      <p:sp>
        <p:nvSpPr>
          <p:cNvPr id="25" name="Slide Number Placeholder 0"/>
          <p:cNvSpPr>
            <a:spLocks noGrp="1"/>
          </p:cNvSpPr>
          <p:nvPr>
            <p:ph type="sldNum" sz="quarter" idx="4294967295"/>
          </p:nvPr>
        </p:nvSpPr>
        <p:spPr>
          <a:xfrm>
            <a:off x="11292840" y="642823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4A3B8"/>
                </a:solidFill>
                <a:latin typeface="Aptos"/>
                <a:ea typeface="Aptos"/>
                <a:cs typeface="Apto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13232" y="384048"/>
            <a:ext cx="2743200" cy="219456"/>
          </a:xfrm>
          <a:prstGeom prst="rect">
            <a:avLst/>
          </a:prstGeom>
          <a:noFill/>
          <a:ln/>
        </p:spPr>
        <p:txBody>
          <a:bodyPr wrap="square" lIns="0" tIns="0" rIns="0" bIns="0" rtlCol="0" anchor="ctr">
            <a:normAutofit/>
          </a:bodyPr>
          <a:lstStyle/>
          <a:p>
            <a:pPr algn="l" indent="0" marL="0">
              <a:lnSpc>
                <a:spcPct val="100000"/>
              </a:lnSpc>
              <a:buNone/>
            </a:pPr>
            <a:r>
              <a:rPr lang="en-US" sz="1100" b="1" spc="180" kern="0" dirty="0">
                <a:solidFill>
                  <a:srgbClr val="2563EB"/>
                </a:solidFill>
                <a:latin typeface="Aptos" pitchFamily="34" charset="0"/>
                <a:ea typeface="Aptos" pitchFamily="34" charset="-122"/>
                <a:cs typeface="Aptos" pitchFamily="34" charset="-120"/>
              </a:rPr>
              <a:t>APPENDIX • SCOPE</a:t>
            </a:r>
            <a:endParaRPr lang="en-US" sz="1100" dirty="0"/>
          </a:p>
        </p:txBody>
      </p:sp>
      <p:sp>
        <p:nvSpPr>
          <p:cNvPr id="3" name="Text 1"/>
          <p:cNvSpPr txBox="1"/>
          <p:nvPr/>
        </p:nvSpPr>
        <p:spPr>
          <a:xfrm>
            <a:off x="713232" y="713232"/>
            <a:ext cx="10744200" cy="822960"/>
          </a:xfrm>
          <a:prstGeom prst="rect">
            <a:avLst/>
          </a:prstGeom>
          <a:noFill/>
          <a:ln/>
        </p:spPr>
        <p:txBody>
          <a:bodyPr wrap="square" lIns="0" tIns="0" rIns="0" bIns="0" rtlCol="0" anchor="t">
            <a:normAutofit/>
          </a:bodyPr>
          <a:lstStyle/>
          <a:p>
            <a:pPr algn="l" indent="0" marL="0">
              <a:lnSpc>
                <a:spcPct val="100000"/>
              </a:lnSpc>
              <a:buNone/>
            </a:pPr>
            <a:r>
              <a:rPr lang="en-US" sz="3800" b="1" dirty="0">
                <a:solidFill>
                  <a:srgbClr val="0B1020"/>
                </a:solidFill>
                <a:latin typeface="Aptos Display" pitchFamily="34" charset="0"/>
                <a:ea typeface="Aptos Display" pitchFamily="34" charset="-122"/>
                <a:cs typeface="Aptos Display" pitchFamily="34" charset="-120"/>
              </a:rPr>
              <a:t>Discovery establishes facts; the checker determines the law</a:t>
            </a:r>
            <a:endParaRPr lang="en-US" sz="3800" dirty="0"/>
          </a:p>
        </p:txBody>
      </p:sp>
      <p:sp>
        <p:nvSpPr>
          <p:cNvPr id="4" name="Shape 2"/>
          <p:cNvSpPr/>
          <p:nvPr/>
        </p:nvSpPr>
        <p:spPr>
          <a:xfrm>
            <a:off x="4965192" y="3456432"/>
            <a:ext cx="804672" cy="0"/>
          </a:xfrm>
          <a:prstGeom prst="line">
            <a:avLst/>
          </a:prstGeom>
          <a:noFill/>
          <a:ln w="27940">
            <a:solidFill>
              <a:srgbClr val="2563EB"/>
            </a:solidFill>
            <a:prstDash val="solid"/>
            <a:tailEnd type="triangle"/>
          </a:ln>
        </p:spPr>
      </p:sp>
      <p:sp>
        <p:nvSpPr>
          <p:cNvPr id="5" name="Shape 3"/>
          <p:cNvSpPr/>
          <p:nvPr/>
        </p:nvSpPr>
        <p:spPr>
          <a:xfrm>
            <a:off x="6336792" y="3456432"/>
            <a:ext cx="804672" cy="0"/>
          </a:xfrm>
          <a:prstGeom prst="line">
            <a:avLst/>
          </a:prstGeom>
          <a:noFill/>
          <a:ln w="27940">
            <a:solidFill>
              <a:srgbClr val="2563EB"/>
            </a:solidFill>
            <a:prstDash val="solid"/>
            <a:tailEnd type="triangle"/>
          </a:ln>
        </p:spPr>
      </p:sp>
      <p:sp>
        <p:nvSpPr>
          <p:cNvPr id="6" name="Shape 4"/>
          <p:cNvSpPr/>
          <p:nvPr/>
        </p:nvSpPr>
        <p:spPr>
          <a:xfrm>
            <a:off x="749808" y="1892808"/>
            <a:ext cx="4224528" cy="3310128"/>
          </a:xfrm>
          <a:prstGeom prst="roundRect">
            <a:avLst>
              <a:gd name="adj" fmla="val 4420"/>
            </a:avLst>
          </a:prstGeom>
          <a:solidFill>
            <a:srgbClr val="EAF2FF"/>
          </a:solidFill>
          <a:ln w="12700">
            <a:solidFill>
              <a:srgbClr val="BED3FF"/>
            </a:solidFill>
            <a:prstDash val="solid"/>
          </a:ln>
        </p:spPr>
      </p:sp>
      <p:sp>
        <p:nvSpPr>
          <p:cNvPr id="7" name="Text 5"/>
          <p:cNvSpPr txBox="1"/>
          <p:nvPr/>
        </p:nvSpPr>
        <p:spPr>
          <a:xfrm>
            <a:off x="1078992" y="2240280"/>
            <a:ext cx="1920240" cy="237744"/>
          </a:xfrm>
          <a:prstGeom prst="rect">
            <a:avLst/>
          </a:prstGeom>
          <a:noFill/>
          <a:ln/>
        </p:spPr>
        <p:txBody>
          <a:bodyPr wrap="square" lIns="0" tIns="0" rIns="0" bIns="0" rtlCol="0" anchor="ctr">
            <a:normAutofit/>
          </a:bodyPr>
          <a:lstStyle/>
          <a:p>
            <a:pPr algn="l" indent="0" marL="0">
              <a:lnSpc>
                <a:spcPct val="100000"/>
              </a:lnSpc>
              <a:buNone/>
            </a:pPr>
            <a:r>
              <a:rPr lang="en-US" sz="1100" b="1" spc="140" kern="0" dirty="0">
                <a:solidFill>
                  <a:srgbClr val="2563EB"/>
                </a:solidFill>
                <a:latin typeface="Aptos" pitchFamily="34" charset="0"/>
                <a:ea typeface="Aptos" pitchFamily="34" charset="-122"/>
                <a:cs typeface="Aptos" pitchFamily="34" charset="-120"/>
              </a:rPr>
              <a:t>AI PRE-SCAN</a:t>
            </a:r>
            <a:endParaRPr lang="en-US" sz="1100" dirty="0"/>
          </a:p>
        </p:txBody>
      </p:sp>
      <p:sp>
        <p:nvSpPr>
          <p:cNvPr id="8" name="Text 6"/>
          <p:cNvSpPr txBox="1"/>
          <p:nvPr/>
        </p:nvSpPr>
        <p:spPr>
          <a:xfrm>
            <a:off x="1078992" y="2670048"/>
            <a:ext cx="3493008" cy="41148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1020"/>
                </a:solidFill>
                <a:latin typeface="Aptos Display" pitchFamily="34" charset="0"/>
                <a:ea typeface="Aptos Display" pitchFamily="34" charset="-122"/>
                <a:cs typeface="Aptos Display" pitchFamily="34" charset="-120"/>
              </a:rPr>
              <a:t>Establish candidate facts</a:t>
            </a:r>
            <a:endParaRPr lang="en-US" sz="2700" dirty="0"/>
          </a:p>
        </p:txBody>
      </p:sp>
      <p:sp>
        <p:nvSpPr>
          <p:cNvPr id="9" name="Shape 7"/>
          <p:cNvSpPr/>
          <p:nvPr/>
        </p:nvSpPr>
        <p:spPr>
          <a:xfrm>
            <a:off x="1097280" y="3364992"/>
            <a:ext cx="146304" cy="146304"/>
          </a:xfrm>
          <a:prstGeom prst="ellipse">
            <a:avLst/>
          </a:prstGeom>
          <a:solidFill>
            <a:srgbClr val="2563EB"/>
          </a:solidFill>
          <a:ln w="12700">
            <a:solidFill>
              <a:srgbClr val="2563EB"/>
            </a:solidFill>
            <a:prstDash val="solid"/>
          </a:ln>
        </p:spPr>
      </p:sp>
      <p:sp>
        <p:nvSpPr>
          <p:cNvPr id="10" name="Text 8"/>
          <p:cNvSpPr txBox="1"/>
          <p:nvPr/>
        </p:nvSpPr>
        <p:spPr>
          <a:xfrm>
            <a:off x="1389888" y="3300984"/>
            <a:ext cx="2926080" cy="237744"/>
          </a:xfrm>
          <a:prstGeom prst="rect">
            <a:avLst/>
          </a:prstGeom>
          <a:noFill/>
          <a:ln/>
        </p:spPr>
        <p:txBody>
          <a:bodyPr wrap="square" lIns="0" tIns="0" rIns="0" bIns="0" rtlCol="0" anchor="ctr">
            <a:normAutofit/>
          </a:bodyPr>
          <a:lstStyle/>
          <a:p>
            <a:pPr algn="l" indent="0" marL="0">
              <a:lnSpc>
                <a:spcPct val="100000"/>
              </a:lnSpc>
              <a:buNone/>
            </a:pPr>
            <a:r>
              <a:rPr lang="en-US" sz="1450" dirty="0">
                <a:solidFill>
                  <a:srgbClr val="273244"/>
                </a:solidFill>
                <a:latin typeface="Aptos" pitchFamily="34" charset="0"/>
                <a:ea typeface="Aptos" pitchFamily="34" charset="-122"/>
                <a:cs typeface="Aptos" pitchFamily="34" charset="-120"/>
              </a:rPr>
              <a:t>Candidate systems</a:t>
            </a:r>
            <a:endParaRPr lang="en-US" sz="1450" dirty="0"/>
          </a:p>
        </p:txBody>
      </p:sp>
      <p:sp>
        <p:nvSpPr>
          <p:cNvPr id="11" name="Shape 9"/>
          <p:cNvSpPr/>
          <p:nvPr/>
        </p:nvSpPr>
        <p:spPr>
          <a:xfrm>
            <a:off x="1097280" y="3758184"/>
            <a:ext cx="146304" cy="146304"/>
          </a:xfrm>
          <a:prstGeom prst="ellipse">
            <a:avLst/>
          </a:prstGeom>
          <a:solidFill>
            <a:srgbClr val="2563EB"/>
          </a:solidFill>
          <a:ln w="12700">
            <a:solidFill>
              <a:srgbClr val="2563EB"/>
            </a:solidFill>
            <a:prstDash val="solid"/>
          </a:ln>
        </p:spPr>
      </p:sp>
      <p:sp>
        <p:nvSpPr>
          <p:cNvPr id="12" name="Text 10"/>
          <p:cNvSpPr txBox="1"/>
          <p:nvPr/>
        </p:nvSpPr>
        <p:spPr>
          <a:xfrm>
            <a:off x="1389888" y="3694176"/>
            <a:ext cx="2926080" cy="237744"/>
          </a:xfrm>
          <a:prstGeom prst="rect">
            <a:avLst/>
          </a:prstGeom>
          <a:noFill/>
          <a:ln/>
        </p:spPr>
        <p:txBody>
          <a:bodyPr wrap="square" lIns="0" tIns="0" rIns="0" bIns="0" rtlCol="0" anchor="ctr">
            <a:normAutofit/>
          </a:bodyPr>
          <a:lstStyle/>
          <a:p>
            <a:pPr algn="l" indent="0" marL="0">
              <a:lnSpc>
                <a:spcPct val="100000"/>
              </a:lnSpc>
              <a:buNone/>
            </a:pPr>
            <a:r>
              <a:rPr lang="en-US" sz="1450" dirty="0">
                <a:solidFill>
                  <a:srgbClr val="273244"/>
                </a:solidFill>
                <a:latin typeface="Aptos" pitchFamily="34" charset="0"/>
                <a:ea typeface="Aptos" pitchFamily="34" charset="-122"/>
                <a:cs typeface="Aptos" pitchFamily="34" charset="-120"/>
              </a:rPr>
              <a:t>Exact quoted evidence</a:t>
            </a:r>
            <a:endParaRPr lang="en-US" sz="1450" dirty="0"/>
          </a:p>
        </p:txBody>
      </p:sp>
      <p:sp>
        <p:nvSpPr>
          <p:cNvPr id="13" name="Shape 11"/>
          <p:cNvSpPr/>
          <p:nvPr/>
        </p:nvSpPr>
        <p:spPr>
          <a:xfrm>
            <a:off x="1097280" y="4151376"/>
            <a:ext cx="146304" cy="146304"/>
          </a:xfrm>
          <a:prstGeom prst="ellipse">
            <a:avLst/>
          </a:prstGeom>
          <a:solidFill>
            <a:srgbClr val="2563EB"/>
          </a:solidFill>
          <a:ln w="12700">
            <a:solidFill>
              <a:srgbClr val="2563EB"/>
            </a:solidFill>
            <a:prstDash val="solid"/>
          </a:ln>
        </p:spPr>
      </p:sp>
      <p:sp>
        <p:nvSpPr>
          <p:cNvPr id="14" name="Text 12"/>
          <p:cNvSpPr txBox="1"/>
          <p:nvPr/>
        </p:nvSpPr>
        <p:spPr>
          <a:xfrm>
            <a:off x="1389888" y="4087368"/>
            <a:ext cx="2926080" cy="237744"/>
          </a:xfrm>
          <a:prstGeom prst="rect">
            <a:avLst/>
          </a:prstGeom>
          <a:noFill/>
          <a:ln/>
        </p:spPr>
        <p:txBody>
          <a:bodyPr wrap="square" lIns="0" tIns="0" rIns="0" bIns="0" rtlCol="0" anchor="ctr">
            <a:normAutofit/>
          </a:bodyPr>
          <a:lstStyle/>
          <a:p>
            <a:pPr algn="l" indent="0" marL="0">
              <a:lnSpc>
                <a:spcPct val="100000"/>
              </a:lnSpc>
              <a:buNone/>
            </a:pPr>
            <a:r>
              <a:rPr lang="en-US" sz="1450" dirty="0">
                <a:solidFill>
                  <a:srgbClr val="273244"/>
                </a:solidFill>
                <a:latin typeface="Aptos" pitchFamily="34" charset="0"/>
                <a:ea typeface="Aptos" pitchFamily="34" charset="-122"/>
                <a:cs typeface="Aptos" pitchFamily="34" charset="-120"/>
              </a:rPr>
              <a:t>Source provenance</a:t>
            </a:r>
            <a:endParaRPr lang="en-US" sz="1450" dirty="0"/>
          </a:p>
        </p:txBody>
      </p:sp>
      <p:sp>
        <p:nvSpPr>
          <p:cNvPr id="15" name="Shape 13"/>
          <p:cNvSpPr/>
          <p:nvPr/>
        </p:nvSpPr>
        <p:spPr>
          <a:xfrm>
            <a:off x="1097280" y="4544568"/>
            <a:ext cx="146304" cy="146304"/>
          </a:xfrm>
          <a:prstGeom prst="ellipse">
            <a:avLst/>
          </a:prstGeom>
          <a:solidFill>
            <a:srgbClr val="2563EB"/>
          </a:solidFill>
          <a:ln w="12700">
            <a:solidFill>
              <a:srgbClr val="2563EB"/>
            </a:solidFill>
            <a:prstDash val="solid"/>
          </a:ln>
        </p:spPr>
      </p:sp>
      <p:sp>
        <p:nvSpPr>
          <p:cNvPr id="16" name="Text 14"/>
          <p:cNvSpPr txBox="1"/>
          <p:nvPr/>
        </p:nvSpPr>
        <p:spPr>
          <a:xfrm>
            <a:off x="1389888" y="4480560"/>
            <a:ext cx="2926080" cy="237744"/>
          </a:xfrm>
          <a:prstGeom prst="rect">
            <a:avLst/>
          </a:prstGeom>
          <a:noFill/>
          <a:ln/>
        </p:spPr>
        <p:txBody>
          <a:bodyPr wrap="square" lIns="0" tIns="0" rIns="0" bIns="0" rtlCol="0" anchor="ctr">
            <a:normAutofit/>
          </a:bodyPr>
          <a:lstStyle/>
          <a:p>
            <a:pPr algn="l" indent="0" marL="0">
              <a:lnSpc>
                <a:spcPct val="100000"/>
              </a:lnSpc>
              <a:buNone/>
            </a:pPr>
            <a:r>
              <a:rPr lang="en-US" sz="1450" dirty="0">
                <a:solidFill>
                  <a:srgbClr val="273244"/>
                </a:solidFill>
                <a:latin typeface="Aptos" pitchFamily="34" charset="0"/>
                <a:ea typeface="Aptos" pitchFamily="34" charset="-122"/>
                <a:cs typeface="Aptos" pitchFamily="34" charset="-120"/>
              </a:rPr>
              <a:t>Unresolved questions</a:t>
            </a:r>
            <a:endParaRPr lang="en-US" sz="1450" dirty="0"/>
          </a:p>
        </p:txBody>
      </p:sp>
      <p:sp>
        <p:nvSpPr>
          <p:cNvPr id="17" name="Shape 15"/>
          <p:cNvSpPr/>
          <p:nvPr/>
        </p:nvSpPr>
        <p:spPr>
          <a:xfrm>
            <a:off x="5550408" y="3136392"/>
            <a:ext cx="585216" cy="585216"/>
          </a:xfrm>
          <a:prstGeom prst="ellipse">
            <a:avLst/>
          </a:prstGeom>
          <a:solidFill>
            <a:srgbClr val="FFFFFF"/>
          </a:solidFill>
          <a:ln w="12700">
            <a:solidFill>
              <a:srgbClr val="2563EB"/>
            </a:solidFill>
            <a:prstDash val="solid"/>
          </a:ln>
        </p:spPr>
      </p:sp>
      <p:sp>
        <p:nvSpPr>
          <p:cNvPr id="18" name="Text 16"/>
          <p:cNvSpPr txBox="1"/>
          <p:nvPr/>
        </p:nvSpPr>
        <p:spPr>
          <a:xfrm>
            <a:off x="5321808" y="3831336"/>
            <a:ext cx="1042416" cy="237744"/>
          </a:xfrm>
          <a:prstGeom prst="rect">
            <a:avLst/>
          </a:prstGeom>
          <a:noFill/>
          <a:ln/>
        </p:spPr>
        <p:txBody>
          <a:bodyPr wrap="square" lIns="0" tIns="0" rIns="0" bIns="0" rtlCol="0" anchor="ctr">
            <a:normAutofit/>
          </a:bodyPr>
          <a:lstStyle/>
          <a:p>
            <a:pPr algn="ctr" indent="0" marL="0">
              <a:lnSpc>
                <a:spcPct val="100000"/>
              </a:lnSpc>
              <a:buNone/>
            </a:pPr>
            <a:r>
              <a:rPr lang="en-US" sz="1050" b="1" spc="110" kern="0" dirty="0">
                <a:solidFill>
                  <a:srgbClr val="2563EB"/>
                </a:solidFill>
                <a:latin typeface="Aptos" pitchFamily="34" charset="0"/>
                <a:ea typeface="Aptos" pitchFamily="34" charset="-122"/>
                <a:cs typeface="Aptos" pitchFamily="34" charset="-120"/>
              </a:rPr>
              <a:t>HUMAN</a:t>
            </a:r>
            <a:endParaRPr lang="en-US" sz="1050" dirty="0"/>
          </a:p>
        </p:txBody>
      </p:sp>
      <p:sp>
        <p:nvSpPr>
          <p:cNvPr id="19" name="Text 17"/>
          <p:cNvSpPr txBox="1"/>
          <p:nvPr/>
        </p:nvSpPr>
        <p:spPr>
          <a:xfrm>
            <a:off x="5321808" y="4078224"/>
            <a:ext cx="1042416" cy="219456"/>
          </a:xfrm>
          <a:prstGeom prst="rect">
            <a:avLst/>
          </a:prstGeom>
          <a:noFill/>
          <a:ln/>
        </p:spPr>
        <p:txBody>
          <a:bodyPr wrap="square" lIns="0" tIns="0" rIns="0" bIns="0" rtlCol="0" anchor="ctr">
            <a:normAutofit/>
          </a:bodyPr>
          <a:lstStyle/>
          <a:p>
            <a:pPr algn="ctr" indent="0" marL="0">
              <a:lnSpc>
                <a:spcPct val="100000"/>
              </a:lnSpc>
              <a:buNone/>
            </a:pPr>
            <a:r>
              <a:rPr lang="en-US" sz="1050" b="1" spc="110" kern="0" dirty="0">
                <a:solidFill>
                  <a:srgbClr val="2563EB"/>
                </a:solidFill>
                <a:latin typeface="Aptos" pitchFamily="34" charset="0"/>
                <a:ea typeface="Aptos" pitchFamily="34" charset="-122"/>
                <a:cs typeface="Aptos" pitchFamily="34" charset="-120"/>
              </a:rPr>
              <a:t>REVIEW</a:t>
            </a:r>
            <a:endParaRPr lang="en-US" sz="1050" dirty="0"/>
          </a:p>
        </p:txBody>
      </p:sp>
      <p:sp>
        <p:nvSpPr>
          <p:cNvPr id="20" name="Shape 18"/>
          <p:cNvSpPr/>
          <p:nvPr/>
        </p:nvSpPr>
        <p:spPr>
          <a:xfrm>
            <a:off x="7132320" y="1892808"/>
            <a:ext cx="4251960" cy="3310128"/>
          </a:xfrm>
          <a:prstGeom prst="roundRect">
            <a:avLst>
              <a:gd name="adj" fmla="val 4420"/>
            </a:avLst>
          </a:prstGeom>
          <a:solidFill>
            <a:srgbClr val="FFFFFF"/>
          </a:solidFill>
          <a:ln w="12700">
            <a:solidFill>
              <a:srgbClr val="D8E2F2"/>
            </a:solidFill>
            <a:prstDash val="solid"/>
          </a:ln>
          <a:effectLst>
            <a:outerShdw sx="100000" sy="100000" kx="0" ky="0" algn="bl" rotWithShape="0" blurRad="1.0151285136152831e+33" dist="2.707009369640755e+33" dir="7.558272e+39">
              <a:srgbClr val="0B1020">
                <a:alpha val="1.1999999999999999e+39"/>
              </a:srgbClr>
            </a:outerShdw>
          </a:effectLst>
        </p:spPr>
      </p:sp>
      <p:sp>
        <p:nvSpPr>
          <p:cNvPr id="21" name="Text 19"/>
          <p:cNvSpPr txBox="1"/>
          <p:nvPr/>
        </p:nvSpPr>
        <p:spPr>
          <a:xfrm>
            <a:off x="7461504" y="2240280"/>
            <a:ext cx="2514600" cy="237744"/>
          </a:xfrm>
          <a:prstGeom prst="rect">
            <a:avLst/>
          </a:prstGeom>
          <a:noFill/>
          <a:ln/>
        </p:spPr>
        <p:txBody>
          <a:bodyPr wrap="square" lIns="0" tIns="0" rIns="0" bIns="0" rtlCol="0" anchor="ctr">
            <a:normAutofit/>
          </a:bodyPr>
          <a:lstStyle/>
          <a:p>
            <a:pPr algn="l" indent="0" marL="0">
              <a:lnSpc>
                <a:spcPct val="100000"/>
              </a:lnSpc>
              <a:buNone/>
            </a:pPr>
            <a:r>
              <a:rPr lang="en-US" sz="1100" b="1" spc="120" kern="0" dirty="0">
                <a:solidFill>
                  <a:srgbClr val="0F766E"/>
                </a:solidFill>
                <a:latin typeface="Aptos" pitchFamily="34" charset="0"/>
                <a:ea typeface="Aptos" pitchFamily="34" charset="-122"/>
                <a:cs typeface="Aptos" pitchFamily="34" charset="-120"/>
              </a:rPr>
              <a:t>DETERMINISTIC CHECKER</a:t>
            </a:r>
            <a:endParaRPr lang="en-US" sz="1100" dirty="0"/>
          </a:p>
        </p:txBody>
      </p:sp>
      <p:sp>
        <p:nvSpPr>
          <p:cNvPr id="22" name="Text 20"/>
          <p:cNvSpPr txBox="1"/>
          <p:nvPr/>
        </p:nvSpPr>
        <p:spPr>
          <a:xfrm>
            <a:off x="7461504" y="2670048"/>
            <a:ext cx="3429000" cy="41148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1020"/>
                </a:solidFill>
                <a:latin typeface="Aptos Display" pitchFamily="34" charset="0"/>
                <a:ea typeface="Aptos Display" pitchFamily="34" charset="-122"/>
                <a:cs typeface="Aptos Display" pitchFamily="34" charset="-120"/>
              </a:rPr>
              <a:t>Determine the law</a:t>
            </a:r>
            <a:endParaRPr lang="en-US" sz="2700" dirty="0"/>
          </a:p>
        </p:txBody>
      </p:sp>
      <p:sp>
        <p:nvSpPr>
          <p:cNvPr id="23" name="Shape 21"/>
          <p:cNvSpPr/>
          <p:nvPr/>
        </p:nvSpPr>
        <p:spPr>
          <a:xfrm>
            <a:off x="7479792" y="3364992"/>
            <a:ext cx="146304" cy="146304"/>
          </a:xfrm>
          <a:prstGeom prst="ellipse">
            <a:avLst/>
          </a:prstGeom>
          <a:solidFill>
            <a:srgbClr val="0F766E"/>
          </a:solidFill>
          <a:ln w="12700">
            <a:solidFill>
              <a:srgbClr val="0F766E"/>
            </a:solidFill>
            <a:prstDash val="solid"/>
          </a:ln>
        </p:spPr>
      </p:sp>
      <p:sp>
        <p:nvSpPr>
          <p:cNvPr id="24" name="Text 22"/>
          <p:cNvSpPr txBox="1"/>
          <p:nvPr/>
        </p:nvSpPr>
        <p:spPr>
          <a:xfrm>
            <a:off x="7772400" y="3300984"/>
            <a:ext cx="2926080" cy="237744"/>
          </a:xfrm>
          <a:prstGeom prst="rect">
            <a:avLst/>
          </a:prstGeom>
          <a:noFill/>
          <a:ln/>
        </p:spPr>
        <p:txBody>
          <a:bodyPr wrap="square" lIns="0" tIns="0" rIns="0" bIns="0" rtlCol="0" anchor="ctr">
            <a:normAutofit/>
          </a:bodyPr>
          <a:lstStyle/>
          <a:p>
            <a:pPr algn="l" indent="0" marL="0">
              <a:lnSpc>
                <a:spcPct val="100000"/>
              </a:lnSpc>
              <a:buNone/>
            </a:pPr>
            <a:r>
              <a:rPr lang="en-US" sz="1450" dirty="0">
                <a:solidFill>
                  <a:srgbClr val="273244"/>
                </a:solidFill>
                <a:latin typeface="Aptos" pitchFamily="34" charset="0"/>
                <a:ea typeface="Aptos" pitchFamily="34" charset="-122"/>
                <a:cs typeface="Aptos" pitchFamily="34" charset="-120"/>
              </a:rPr>
              <a:t>Confirm the facts</a:t>
            </a:r>
            <a:endParaRPr lang="en-US" sz="1450" dirty="0"/>
          </a:p>
        </p:txBody>
      </p:sp>
      <p:sp>
        <p:nvSpPr>
          <p:cNvPr id="25" name="Shape 23"/>
          <p:cNvSpPr/>
          <p:nvPr/>
        </p:nvSpPr>
        <p:spPr>
          <a:xfrm>
            <a:off x="7479792" y="3758184"/>
            <a:ext cx="146304" cy="146304"/>
          </a:xfrm>
          <a:prstGeom prst="ellipse">
            <a:avLst/>
          </a:prstGeom>
          <a:solidFill>
            <a:srgbClr val="0F766E"/>
          </a:solidFill>
          <a:ln w="12700">
            <a:solidFill>
              <a:srgbClr val="0F766E"/>
            </a:solidFill>
            <a:prstDash val="solid"/>
          </a:ln>
        </p:spPr>
      </p:sp>
      <p:sp>
        <p:nvSpPr>
          <p:cNvPr id="26" name="Text 24"/>
          <p:cNvSpPr txBox="1"/>
          <p:nvPr/>
        </p:nvSpPr>
        <p:spPr>
          <a:xfrm>
            <a:off x="7772400" y="3694176"/>
            <a:ext cx="2926080" cy="237744"/>
          </a:xfrm>
          <a:prstGeom prst="rect">
            <a:avLst/>
          </a:prstGeom>
          <a:noFill/>
          <a:ln/>
        </p:spPr>
        <p:txBody>
          <a:bodyPr wrap="square" lIns="0" tIns="0" rIns="0" bIns="0" rtlCol="0" anchor="ctr">
            <a:normAutofit/>
          </a:bodyPr>
          <a:lstStyle/>
          <a:p>
            <a:pPr algn="l" indent="0" marL="0">
              <a:lnSpc>
                <a:spcPct val="100000"/>
              </a:lnSpc>
              <a:buNone/>
            </a:pPr>
            <a:r>
              <a:rPr lang="en-US" sz="1450" dirty="0">
                <a:solidFill>
                  <a:srgbClr val="273244"/>
                </a:solidFill>
                <a:latin typeface="Aptos" pitchFamily="34" charset="0"/>
                <a:ea typeface="Aptos" pitchFamily="34" charset="-122"/>
                <a:cs typeface="Aptos" pitchFamily="34" charset="-120"/>
              </a:rPr>
              <a:t>Classify risk</a:t>
            </a:r>
            <a:endParaRPr lang="en-US" sz="1450" dirty="0"/>
          </a:p>
        </p:txBody>
      </p:sp>
      <p:sp>
        <p:nvSpPr>
          <p:cNvPr id="27" name="Shape 25"/>
          <p:cNvSpPr/>
          <p:nvPr/>
        </p:nvSpPr>
        <p:spPr>
          <a:xfrm>
            <a:off x="7479792" y="4151376"/>
            <a:ext cx="146304" cy="146304"/>
          </a:xfrm>
          <a:prstGeom prst="ellipse">
            <a:avLst/>
          </a:prstGeom>
          <a:solidFill>
            <a:srgbClr val="0F766E"/>
          </a:solidFill>
          <a:ln w="12700">
            <a:solidFill>
              <a:srgbClr val="0F766E"/>
            </a:solidFill>
            <a:prstDash val="solid"/>
          </a:ln>
        </p:spPr>
      </p:sp>
      <p:sp>
        <p:nvSpPr>
          <p:cNvPr id="28" name="Text 26"/>
          <p:cNvSpPr txBox="1"/>
          <p:nvPr/>
        </p:nvSpPr>
        <p:spPr>
          <a:xfrm>
            <a:off x="7772400" y="4087368"/>
            <a:ext cx="2926080" cy="237744"/>
          </a:xfrm>
          <a:prstGeom prst="rect">
            <a:avLst/>
          </a:prstGeom>
          <a:noFill/>
          <a:ln/>
        </p:spPr>
        <p:txBody>
          <a:bodyPr wrap="square" lIns="0" tIns="0" rIns="0" bIns="0" rtlCol="0" anchor="ctr">
            <a:normAutofit/>
          </a:bodyPr>
          <a:lstStyle/>
          <a:p>
            <a:pPr algn="l" indent="0" marL="0">
              <a:lnSpc>
                <a:spcPct val="100000"/>
              </a:lnSpc>
              <a:buNone/>
            </a:pPr>
            <a:r>
              <a:rPr lang="en-US" sz="1450" dirty="0">
                <a:solidFill>
                  <a:srgbClr val="273244"/>
                </a:solidFill>
                <a:latin typeface="Aptos" pitchFamily="34" charset="0"/>
                <a:ea typeface="Aptos" pitchFamily="34" charset="-122"/>
                <a:cs typeface="Aptos" pitchFamily="34" charset="-120"/>
              </a:rPr>
              <a:t>Determine obligations</a:t>
            </a:r>
            <a:endParaRPr lang="en-US" sz="1450" dirty="0"/>
          </a:p>
        </p:txBody>
      </p:sp>
      <p:sp>
        <p:nvSpPr>
          <p:cNvPr id="29" name="Shape 27"/>
          <p:cNvSpPr/>
          <p:nvPr/>
        </p:nvSpPr>
        <p:spPr>
          <a:xfrm>
            <a:off x="7479792" y="4544568"/>
            <a:ext cx="146304" cy="146304"/>
          </a:xfrm>
          <a:prstGeom prst="ellipse">
            <a:avLst/>
          </a:prstGeom>
          <a:solidFill>
            <a:srgbClr val="0F766E"/>
          </a:solidFill>
          <a:ln w="12700">
            <a:solidFill>
              <a:srgbClr val="0F766E"/>
            </a:solidFill>
            <a:prstDash val="solid"/>
          </a:ln>
        </p:spPr>
      </p:sp>
      <p:sp>
        <p:nvSpPr>
          <p:cNvPr id="30" name="Text 28"/>
          <p:cNvSpPr txBox="1"/>
          <p:nvPr/>
        </p:nvSpPr>
        <p:spPr>
          <a:xfrm>
            <a:off x="7772400" y="4480560"/>
            <a:ext cx="2926080" cy="237744"/>
          </a:xfrm>
          <a:prstGeom prst="rect">
            <a:avLst/>
          </a:prstGeom>
          <a:noFill/>
          <a:ln/>
        </p:spPr>
        <p:txBody>
          <a:bodyPr wrap="square" lIns="0" tIns="0" rIns="0" bIns="0" rtlCol="0" anchor="ctr">
            <a:normAutofit/>
          </a:bodyPr>
          <a:lstStyle/>
          <a:p>
            <a:pPr algn="l" indent="0" marL="0">
              <a:lnSpc>
                <a:spcPct val="100000"/>
              </a:lnSpc>
              <a:buNone/>
            </a:pPr>
            <a:r>
              <a:rPr lang="en-US" sz="1450" dirty="0">
                <a:solidFill>
                  <a:srgbClr val="273244"/>
                </a:solidFill>
                <a:latin typeface="Aptos" pitchFamily="34" charset="0"/>
                <a:ea typeface="Aptos" pitchFamily="34" charset="-122"/>
                <a:cs typeface="Aptos" pitchFamily="34" charset="-120"/>
              </a:rPr>
              <a:t>Preserve legal accountability</a:t>
            </a:r>
            <a:endParaRPr lang="en-US" sz="1450" dirty="0"/>
          </a:p>
        </p:txBody>
      </p:sp>
      <p:sp>
        <p:nvSpPr>
          <p:cNvPr id="31" name="Shape 29"/>
          <p:cNvSpPr/>
          <p:nvPr/>
        </p:nvSpPr>
        <p:spPr>
          <a:xfrm>
            <a:off x="749808" y="5541264"/>
            <a:ext cx="10634472" cy="585216"/>
          </a:xfrm>
          <a:prstGeom prst="roundRect">
            <a:avLst>
              <a:gd name="adj" fmla="val 15625"/>
            </a:avLst>
          </a:prstGeom>
          <a:solidFill>
            <a:srgbClr val="FFF5E6"/>
          </a:solidFill>
          <a:ln w="12700">
            <a:solidFill>
              <a:srgbClr val="F7D6A4"/>
            </a:solidFill>
            <a:prstDash val="solid"/>
          </a:ln>
        </p:spPr>
      </p:sp>
      <p:sp>
        <p:nvSpPr>
          <p:cNvPr id="32" name="Text 30"/>
          <p:cNvSpPr txBox="1"/>
          <p:nvPr/>
        </p:nvSpPr>
        <p:spPr>
          <a:xfrm>
            <a:off x="987552" y="5733288"/>
            <a:ext cx="1335024" cy="201168"/>
          </a:xfrm>
          <a:prstGeom prst="rect">
            <a:avLst/>
          </a:prstGeom>
          <a:noFill/>
          <a:ln/>
        </p:spPr>
        <p:txBody>
          <a:bodyPr wrap="square" lIns="0" tIns="0" rIns="0" bIns="0" rtlCol="0" anchor="ctr">
            <a:normAutofit/>
          </a:bodyPr>
          <a:lstStyle/>
          <a:p>
            <a:pPr algn="l" indent="0" marL="0">
              <a:lnSpc>
                <a:spcPct val="100000"/>
              </a:lnSpc>
              <a:buNone/>
            </a:pPr>
            <a:r>
              <a:rPr lang="en-US" sz="1050" b="1" spc="100" kern="0" dirty="0">
                <a:solidFill>
                  <a:srgbClr val="B45309"/>
                </a:solidFill>
                <a:latin typeface="Aptos" pitchFamily="34" charset="0"/>
                <a:ea typeface="Aptos" pitchFamily="34" charset="-122"/>
                <a:cs typeface="Aptos" pitchFamily="34" charset="-120"/>
              </a:rPr>
              <a:t>NEVER CLAIMED</a:t>
            </a:r>
            <a:endParaRPr lang="en-US" sz="1050" dirty="0"/>
          </a:p>
        </p:txBody>
      </p:sp>
      <p:sp>
        <p:nvSpPr>
          <p:cNvPr id="33" name="Text 31"/>
          <p:cNvSpPr txBox="1"/>
          <p:nvPr/>
        </p:nvSpPr>
        <p:spPr>
          <a:xfrm>
            <a:off x="2505456" y="5687568"/>
            <a:ext cx="8366760" cy="274320"/>
          </a:xfrm>
          <a:prstGeom prst="rect">
            <a:avLst/>
          </a:prstGeom>
          <a:noFill/>
          <a:ln/>
        </p:spPr>
        <p:txBody>
          <a:bodyPr wrap="square" lIns="0" tIns="0" rIns="0" bIns="0" rtlCol="0" anchor="ctr">
            <a:normAutofit/>
          </a:bodyPr>
          <a:lstStyle/>
          <a:p>
            <a:pPr algn="ctr" indent="0" marL="0">
              <a:lnSpc>
                <a:spcPct val="100000"/>
              </a:lnSpc>
              <a:buNone/>
            </a:pPr>
            <a:r>
              <a:rPr lang="en-US" sz="1400" b="1" dirty="0">
                <a:solidFill>
                  <a:srgbClr val="273244"/>
                </a:solidFill>
                <a:latin typeface="Aptos" pitchFamily="34" charset="0"/>
                <a:ea typeface="Aptos" pitchFamily="34" charset="-122"/>
                <a:cs typeface="Aptos" pitchFamily="34" charset="-120"/>
              </a:rPr>
              <a:t>complete internal visibility  •  legal advice  •  autonomous compliance decisions</a:t>
            </a:r>
            <a:endParaRPr lang="en-US" sz="1400" dirty="0"/>
          </a:p>
        </p:txBody>
      </p:sp>
      <p:sp>
        <p:nvSpPr>
          <p:cNvPr id="34" name="Text 32"/>
          <p:cNvSpPr txBox="1"/>
          <p:nvPr/>
        </p:nvSpPr>
        <p:spPr>
          <a:xfrm>
            <a:off x="713232" y="6428232"/>
            <a:ext cx="2286000" cy="164592"/>
          </a:xfrm>
          <a:prstGeom prst="rect">
            <a:avLst/>
          </a:prstGeom>
          <a:noFill/>
          <a:ln/>
        </p:spPr>
        <p:txBody>
          <a:bodyPr wrap="square" lIns="0" tIns="0" rIns="0" bIns="0" rtlCol="0" anchor="ctr">
            <a:normAutofit/>
          </a:bodyPr>
          <a:lstStyle/>
          <a:p>
            <a:pPr algn="l" indent="0" marL="0">
              <a:lnSpc>
                <a:spcPct val="100000"/>
              </a:lnSpc>
              <a:buNone/>
            </a:pPr>
            <a:r>
              <a:rPr lang="en-US" sz="900" b="1" spc="110" kern="0" dirty="0">
                <a:solidFill>
                  <a:srgbClr val="64748B"/>
                </a:solidFill>
                <a:latin typeface="Aptos" pitchFamily="34" charset="0"/>
                <a:ea typeface="Aptos" pitchFamily="34" charset="-122"/>
                <a:cs typeface="Aptos" pitchFamily="34" charset="-120"/>
              </a:rPr>
              <a:t>AI PRE-SCAN  •  APPENDIX • SCOPE</a:t>
            </a:r>
            <a:endParaRPr lang="en-US" sz="900" dirty="0"/>
          </a:p>
        </p:txBody>
      </p:sp>
      <p:sp>
        <p:nvSpPr>
          <p:cNvPr id="25" name="Slide Number Placeholder 0"/>
          <p:cNvSpPr>
            <a:spLocks noGrp="1"/>
          </p:cNvSpPr>
          <p:nvPr>
            <p:ph type="sldNum" sz="quarter" idx="4294967295"/>
          </p:nvPr>
        </p:nvSpPr>
        <p:spPr>
          <a:xfrm>
            <a:off x="11292840" y="642823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4A3B8"/>
                </a:solidFill>
                <a:latin typeface="Aptos"/>
                <a:ea typeface="Aptos"/>
                <a:cs typeface="Apto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13232" y="384048"/>
            <a:ext cx="2743200" cy="219456"/>
          </a:xfrm>
          <a:prstGeom prst="rect">
            <a:avLst/>
          </a:prstGeom>
          <a:noFill/>
          <a:ln/>
        </p:spPr>
        <p:txBody>
          <a:bodyPr wrap="square" lIns="0" tIns="0" rIns="0" bIns="0" rtlCol="0" anchor="ctr">
            <a:normAutofit/>
          </a:bodyPr>
          <a:lstStyle/>
          <a:p>
            <a:pPr algn="l" indent="0" marL="0">
              <a:lnSpc>
                <a:spcPct val="100000"/>
              </a:lnSpc>
              <a:buNone/>
            </a:pPr>
            <a:r>
              <a:rPr lang="en-US" sz="1100" b="1" spc="180" kern="0" dirty="0">
                <a:solidFill>
                  <a:srgbClr val="2563EB"/>
                </a:solidFill>
                <a:latin typeface="Aptos" pitchFamily="34" charset="0"/>
                <a:ea typeface="Aptos" pitchFamily="34" charset="-122"/>
                <a:cs typeface="Aptos" pitchFamily="34" charset="-120"/>
              </a:rPr>
              <a:t>APPENDIX • DELIVERY</a:t>
            </a:r>
            <a:endParaRPr lang="en-US" sz="1100" dirty="0"/>
          </a:p>
        </p:txBody>
      </p:sp>
      <p:sp>
        <p:nvSpPr>
          <p:cNvPr id="3" name="Text 1"/>
          <p:cNvSpPr txBox="1"/>
          <p:nvPr/>
        </p:nvSpPr>
        <p:spPr>
          <a:xfrm>
            <a:off x="713232" y="713232"/>
            <a:ext cx="10744200" cy="749808"/>
          </a:xfrm>
          <a:prstGeom prst="rect">
            <a:avLst/>
          </a:prstGeom>
          <a:noFill/>
          <a:ln/>
        </p:spPr>
        <p:txBody>
          <a:bodyPr wrap="square" lIns="0" tIns="0" rIns="0" bIns="0" rtlCol="0" anchor="t">
            <a:normAutofit/>
          </a:bodyPr>
          <a:lstStyle/>
          <a:p>
            <a:pPr algn="l" indent="0" marL="0">
              <a:lnSpc>
                <a:spcPct val="100000"/>
              </a:lnSpc>
              <a:buNone/>
            </a:pPr>
            <a:r>
              <a:rPr lang="en-US" sz="4000" b="1" dirty="0">
                <a:solidFill>
                  <a:srgbClr val="0B1020"/>
                </a:solidFill>
                <a:latin typeface="Aptos Display" pitchFamily="34" charset="0"/>
                <a:ea typeface="Aptos Display" pitchFamily="34" charset="-122"/>
                <a:cs typeface="Aptos Display" pitchFamily="34" charset="-120"/>
              </a:rPr>
              <a:t>The MVP is built, integrated and tested</a:t>
            </a:r>
            <a:endParaRPr lang="en-US" sz="4000" dirty="0"/>
          </a:p>
        </p:txBody>
      </p:sp>
      <p:sp>
        <p:nvSpPr>
          <p:cNvPr id="4" name="Shape 2"/>
          <p:cNvSpPr/>
          <p:nvPr/>
        </p:nvSpPr>
        <p:spPr>
          <a:xfrm>
            <a:off x="749808" y="1719072"/>
            <a:ext cx="8641080" cy="658368"/>
          </a:xfrm>
          <a:prstGeom prst="roundRect">
            <a:avLst>
              <a:gd name="adj" fmla="val 13889"/>
            </a:avLst>
          </a:prstGeom>
          <a:solidFill>
            <a:srgbClr val="FFFFFF"/>
          </a:solidFill>
          <a:ln w="12700">
            <a:solidFill>
              <a:srgbClr val="D8E2F2"/>
            </a:solidFill>
            <a:prstDash val="solid"/>
          </a:ln>
        </p:spPr>
      </p:sp>
      <p:sp>
        <p:nvSpPr>
          <p:cNvPr id="5" name="Shape 3"/>
          <p:cNvSpPr/>
          <p:nvPr/>
        </p:nvSpPr>
        <p:spPr>
          <a:xfrm>
            <a:off x="749808" y="1719072"/>
            <a:ext cx="109728" cy="658368"/>
          </a:xfrm>
          <a:prstGeom prst="rect">
            <a:avLst/>
          </a:prstGeom>
          <a:solidFill>
            <a:srgbClr val="2563EB"/>
          </a:solidFill>
          <a:ln w="12700">
            <a:solidFill>
              <a:srgbClr val="2563EB"/>
            </a:solidFill>
            <a:prstDash val="solid"/>
          </a:ln>
        </p:spPr>
      </p:sp>
      <p:sp>
        <p:nvSpPr>
          <p:cNvPr id="6" name="Text 4"/>
          <p:cNvSpPr txBox="1"/>
          <p:nvPr/>
        </p:nvSpPr>
        <p:spPr>
          <a:xfrm>
            <a:off x="1060704" y="1911096"/>
            <a:ext cx="1389888" cy="219456"/>
          </a:xfrm>
          <a:prstGeom prst="rect">
            <a:avLst/>
          </a:prstGeom>
          <a:noFill/>
          <a:ln/>
        </p:spPr>
        <p:txBody>
          <a:bodyPr wrap="square" lIns="0" tIns="0" rIns="0" bIns="0" rtlCol="0" anchor="ctr">
            <a:normAutofit/>
          </a:bodyPr>
          <a:lstStyle/>
          <a:p>
            <a:pPr algn="l" indent="0" marL="0">
              <a:lnSpc>
                <a:spcPct val="100000"/>
              </a:lnSpc>
              <a:buNone/>
            </a:pPr>
            <a:r>
              <a:rPr lang="en-US" sz="1050" b="1" spc="100" kern="0" dirty="0">
                <a:solidFill>
                  <a:srgbClr val="2563EB"/>
                </a:solidFill>
                <a:latin typeface="Aptos" pitchFamily="34" charset="0"/>
                <a:ea typeface="Aptos" pitchFamily="34" charset="-122"/>
                <a:cs typeface="Aptos" pitchFamily="34" charset="-120"/>
              </a:rPr>
              <a:t>RUNS</a:t>
            </a:r>
            <a:endParaRPr lang="en-US" sz="1050" dirty="0"/>
          </a:p>
        </p:txBody>
      </p:sp>
      <p:sp>
        <p:nvSpPr>
          <p:cNvPr id="7" name="Text 5"/>
          <p:cNvSpPr txBox="1"/>
          <p:nvPr/>
        </p:nvSpPr>
        <p:spPr>
          <a:xfrm>
            <a:off x="2578608" y="1856232"/>
            <a:ext cx="6446520" cy="329184"/>
          </a:xfrm>
          <a:prstGeom prst="rect">
            <a:avLst/>
          </a:prstGeom>
          <a:noFill/>
          <a:ln/>
        </p:spPr>
        <p:txBody>
          <a:bodyPr wrap="square" lIns="0" tIns="0" rIns="0" bIns="0" rtlCol="0" anchor="ctr">
            <a:normAutofit/>
          </a:bodyPr>
          <a:lstStyle/>
          <a:p>
            <a:pPr algn="l" indent="0" marL="0">
              <a:lnSpc>
                <a:spcPct val="100000"/>
              </a:lnSpc>
              <a:buNone/>
            </a:pPr>
            <a:r>
              <a:rPr lang="en-US" sz="2000" b="1" dirty="0">
                <a:solidFill>
                  <a:srgbClr val="0B1020"/>
                </a:solidFill>
                <a:latin typeface="Aptos Display" pitchFamily="34" charset="0"/>
                <a:ea typeface="Aptos Display" pitchFamily="34" charset="-122"/>
                <a:cs typeface="Aptos Display" pitchFamily="34" charset="-120"/>
              </a:rPr>
              <a:t>Browser UI + CLI from a company-name trigger</a:t>
            </a:r>
            <a:endParaRPr lang="en-US" sz="2000" dirty="0"/>
          </a:p>
        </p:txBody>
      </p:sp>
      <p:sp>
        <p:nvSpPr>
          <p:cNvPr id="8" name="Shape 6"/>
          <p:cNvSpPr/>
          <p:nvPr/>
        </p:nvSpPr>
        <p:spPr>
          <a:xfrm>
            <a:off x="749808" y="2578608"/>
            <a:ext cx="8641080" cy="658368"/>
          </a:xfrm>
          <a:prstGeom prst="roundRect">
            <a:avLst>
              <a:gd name="adj" fmla="val 13889"/>
            </a:avLst>
          </a:prstGeom>
          <a:solidFill>
            <a:srgbClr val="FFFFFF"/>
          </a:solidFill>
          <a:ln w="12700">
            <a:solidFill>
              <a:srgbClr val="D8E2F2"/>
            </a:solidFill>
            <a:prstDash val="solid"/>
          </a:ln>
        </p:spPr>
      </p:sp>
      <p:sp>
        <p:nvSpPr>
          <p:cNvPr id="9" name="Shape 7"/>
          <p:cNvSpPr/>
          <p:nvPr/>
        </p:nvSpPr>
        <p:spPr>
          <a:xfrm>
            <a:off x="749808" y="2578608"/>
            <a:ext cx="109728" cy="658368"/>
          </a:xfrm>
          <a:prstGeom prst="rect">
            <a:avLst/>
          </a:prstGeom>
          <a:solidFill>
            <a:srgbClr val="3B82F6"/>
          </a:solidFill>
          <a:ln w="12700">
            <a:solidFill>
              <a:srgbClr val="3B82F6"/>
            </a:solidFill>
            <a:prstDash val="solid"/>
          </a:ln>
        </p:spPr>
      </p:sp>
      <p:sp>
        <p:nvSpPr>
          <p:cNvPr id="10" name="Text 8"/>
          <p:cNvSpPr txBox="1"/>
          <p:nvPr/>
        </p:nvSpPr>
        <p:spPr>
          <a:xfrm>
            <a:off x="1060704" y="2770632"/>
            <a:ext cx="1389888" cy="219456"/>
          </a:xfrm>
          <a:prstGeom prst="rect">
            <a:avLst/>
          </a:prstGeom>
          <a:noFill/>
          <a:ln/>
        </p:spPr>
        <p:txBody>
          <a:bodyPr wrap="square" lIns="0" tIns="0" rIns="0" bIns="0" rtlCol="0" anchor="ctr">
            <a:normAutofit/>
          </a:bodyPr>
          <a:lstStyle/>
          <a:p>
            <a:pPr algn="l" indent="0" marL="0">
              <a:lnSpc>
                <a:spcPct val="100000"/>
              </a:lnSpc>
              <a:buNone/>
            </a:pPr>
            <a:r>
              <a:rPr lang="en-US" sz="1050" b="1" spc="100" kern="0" dirty="0">
                <a:solidFill>
                  <a:srgbClr val="3B82F6"/>
                </a:solidFill>
                <a:latin typeface="Aptos" pitchFamily="34" charset="0"/>
                <a:ea typeface="Aptos" pitchFamily="34" charset="-122"/>
                <a:cs typeface="Aptos" pitchFamily="34" charset="-120"/>
              </a:rPr>
              <a:t>RESEARCHES</a:t>
            </a:r>
            <a:endParaRPr lang="en-US" sz="1050" dirty="0"/>
          </a:p>
        </p:txBody>
      </p:sp>
      <p:sp>
        <p:nvSpPr>
          <p:cNvPr id="11" name="Text 9"/>
          <p:cNvSpPr txBox="1"/>
          <p:nvPr/>
        </p:nvSpPr>
        <p:spPr>
          <a:xfrm>
            <a:off x="2578608" y="2715768"/>
            <a:ext cx="6446520" cy="329184"/>
          </a:xfrm>
          <a:prstGeom prst="rect">
            <a:avLst/>
          </a:prstGeom>
          <a:noFill/>
          <a:ln/>
        </p:spPr>
        <p:txBody>
          <a:bodyPr wrap="square" lIns="0" tIns="0" rIns="0" bIns="0" rtlCol="0" anchor="ctr">
            <a:normAutofit/>
          </a:bodyPr>
          <a:lstStyle/>
          <a:p>
            <a:pPr algn="l" indent="0" marL="0">
              <a:lnSpc>
                <a:spcPct val="100000"/>
              </a:lnSpc>
              <a:buNone/>
            </a:pPr>
            <a:r>
              <a:rPr lang="en-US" sz="2000" b="1" dirty="0">
                <a:solidFill>
                  <a:srgbClr val="0B1020"/>
                </a:solidFill>
                <a:latin typeface="Aptos Display" pitchFamily="34" charset="0"/>
                <a:ea typeface="Aptos Display" pitchFamily="34" charset="-122"/>
                <a:cs typeface="Aptos Display" pitchFamily="34" charset="-120"/>
              </a:rPr>
              <a:t>Serper · NewsAPI · GLEIF · Wikidata</a:t>
            </a:r>
            <a:endParaRPr lang="en-US" sz="2000" dirty="0"/>
          </a:p>
        </p:txBody>
      </p:sp>
      <p:sp>
        <p:nvSpPr>
          <p:cNvPr id="12" name="Shape 10"/>
          <p:cNvSpPr/>
          <p:nvPr/>
        </p:nvSpPr>
        <p:spPr>
          <a:xfrm>
            <a:off x="749808" y="3438144"/>
            <a:ext cx="8641080" cy="658368"/>
          </a:xfrm>
          <a:prstGeom prst="roundRect">
            <a:avLst>
              <a:gd name="adj" fmla="val 13889"/>
            </a:avLst>
          </a:prstGeom>
          <a:solidFill>
            <a:srgbClr val="FFFFFF"/>
          </a:solidFill>
          <a:ln w="12700">
            <a:solidFill>
              <a:srgbClr val="D8E2F2"/>
            </a:solidFill>
            <a:prstDash val="solid"/>
          </a:ln>
        </p:spPr>
      </p:sp>
      <p:sp>
        <p:nvSpPr>
          <p:cNvPr id="13" name="Shape 11"/>
          <p:cNvSpPr/>
          <p:nvPr/>
        </p:nvSpPr>
        <p:spPr>
          <a:xfrm>
            <a:off x="749808" y="3438144"/>
            <a:ext cx="109728" cy="658368"/>
          </a:xfrm>
          <a:prstGeom prst="rect">
            <a:avLst/>
          </a:prstGeom>
          <a:solidFill>
            <a:srgbClr val="0F766E"/>
          </a:solidFill>
          <a:ln w="12700">
            <a:solidFill>
              <a:srgbClr val="0F766E"/>
            </a:solidFill>
            <a:prstDash val="solid"/>
          </a:ln>
        </p:spPr>
      </p:sp>
      <p:sp>
        <p:nvSpPr>
          <p:cNvPr id="14" name="Text 12"/>
          <p:cNvSpPr txBox="1"/>
          <p:nvPr/>
        </p:nvSpPr>
        <p:spPr>
          <a:xfrm>
            <a:off x="1060704" y="3630168"/>
            <a:ext cx="1389888" cy="219456"/>
          </a:xfrm>
          <a:prstGeom prst="rect">
            <a:avLst/>
          </a:prstGeom>
          <a:noFill/>
          <a:ln/>
        </p:spPr>
        <p:txBody>
          <a:bodyPr wrap="square" lIns="0" tIns="0" rIns="0" bIns="0" rtlCol="0" anchor="ctr">
            <a:normAutofit/>
          </a:bodyPr>
          <a:lstStyle/>
          <a:p>
            <a:pPr algn="l" indent="0" marL="0">
              <a:lnSpc>
                <a:spcPct val="100000"/>
              </a:lnSpc>
              <a:buNone/>
            </a:pPr>
            <a:r>
              <a:rPr lang="en-US" sz="1050" b="1" spc="100" kern="0" dirty="0">
                <a:solidFill>
                  <a:srgbClr val="0F766E"/>
                </a:solidFill>
                <a:latin typeface="Aptos" pitchFamily="34" charset="0"/>
                <a:ea typeface="Aptos" pitchFamily="34" charset="-122"/>
                <a:cs typeface="Aptos" pitchFamily="34" charset="-120"/>
              </a:rPr>
              <a:t>GROUNDS</a:t>
            </a:r>
            <a:endParaRPr lang="en-US" sz="1050" dirty="0"/>
          </a:p>
        </p:txBody>
      </p:sp>
      <p:sp>
        <p:nvSpPr>
          <p:cNvPr id="15" name="Text 13"/>
          <p:cNvSpPr txBox="1"/>
          <p:nvPr/>
        </p:nvSpPr>
        <p:spPr>
          <a:xfrm>
            <a:off x="2578608" y="3575304"/>
            <a:ext cx="6446520" cy="329184"/>
          </a:xfrm>
          <a:prstGeom prst="rect">
            <a:avLst/>
          </a:prstGeom>
          <a:noFill/>
          <a:ln/>
        </p:spPr>
        <p:txBody>
          <a:bodyPr wrap="square" lIns="0" tIns="0" rIns="0" bIns="0" rtlCol="0" anchor="ctr">
            <a:normAutofit/>
          </a:bodyPr>
          <a:lstStyle/>
          <a:p>
            <a:pPr algn="l" indent="0" marL="0">
              <a:lnSpc>
                <a:spcPct val="100000"/>
              </a:lnSpc>
              <a:buNone/>
            </a:pPr>
            <a:r>
              <a:rPr lang="en-US" sz="2000" b="1" dirty="0">
                <a:solidFill>
                  <a:srgbClr val="0B1020"/>
                </a:solidFill>
                <a:latin typeface="Aptos Display" pitchFamily="34" charset="0"/>
                <a:ea typeface="Aptos Display" pitchFamily="34" charset="-122"/>
                <a:cs typeface="Aptos Display" pitchFamily="34" charset="-120"/>
              </a:rPr>
              <a:t>OpenAI extraction · Pinecone evidence store · deterministic gate</a:t>
            </a:r>
            <a:endParaRPr lang="en-US" sz="2000" dirty="0"/>
          </a:p>
        </p:txBody>
      </p:sp>
      <p:sp>
        <p:nvSpPr>
          <p:cNvPr id="16" name="Shape 14"/>
          <p:cNvSpPr/>
          <p:nvPr/>
        </p:nvSpPr>
        <p:spPr>
          <a:xfrm>
            <a:off x="749808" y="4297680"/>
            <a:ext cx="8641080" cy="658368"/>
          </a:xfrm>
          <a:prstGeom prst="roundRect">
            <a:avLst>
              <a:gd name="adj" fmla="val 13889"/>
            </a:avLst>
          </a:prstGeom>
          <a:solidFill>
            <a:srgbClr val="FFFFFF"/>
          </a:solidFill>
          <a:ln w="12700">
            <a:solidFill>
              <a:srgbClr val="D8E2F2"/>
            </a:solidFill>
            <a:prstDash val="solid"/>
          </a:ln>
        </p:spPr>
      </p:sp>
      <p:sp>
        <p:nvSpPr>
          <p:cNvPr id="17" name="Shape 15"/>
          <p:cNvSpPr/>
          <p:nvPr/>
        </p:nvSpPr>
        <p:spPr>
          <a:xfrm>
            <a:off x="749808" y="4297680"/>
            <a:ext cx="109728" cy="658368"/>
          </a:xfrm>
          <a:prstGeom prst="rect">
            <a:avLst/>
          </a:prstGeom>
          <a:solidFill>
            <a:srgbClr val="0F766E"/>
          </a:solidFill>
          <a:ln w="12700">
            <a:solidFill>
              <a:srgbClr val="0F766E"/>
            </a:solidFill>
            <a:prstDash val="solid"/>
          </a:ln>
        </p:spPr>
      </p:sp>
      <p:sp>
        <p:nvSpPr>
          <p:cNvPr id="18" name="Text 16"/>
          <p:cNvSpPr txBox="1"/>
          <p:nvPr/>
        </p:nvSpPr>
        <p:spPr>
          <a:xfrm>
            <a:off x="1060704" y="4489704"/>
            <a:ext cx="1389888" cy="219456"/>
          </a:xfrm>
          <a:prstGeom prst="rect">
            <a:avLst/>
          </a:prstGeom>
          <a:noFill/>
          <a:ln/>
        </p:spPr>
        <p:txBody>
          <a:bodyPr wrap="square" lIns="0" tIns="0" rIns="0" bIns="0" rtlCol="0" anchor="ctr">
            <a:normAutofit/>
          </a:bodyPr>
          <a:lstStyle/>
          <a:p>
            <a:pPr algn="l" indent="0" marL="0">
              <a:lnSpc>
                <a:spcPct val="100000"/>
              </a:lnSpc>
              <a:buNone/>
            </a:pPr>
            <a:r>
              <a:rPr lang="en-US" sz="1050" b="1" spc="100" kern="0" dirty="0">
                <a:solidFill>
                  <a:srgbClr val="0F766E"/>
                </a:solidFill>
                <a:latin typeface="Aptos" pitchFamily="34" charset="0"/>
                <a:ea typeface="Aptos" pitchFamily="34" charset="-122"/>
                <a:cs typeface="Aptos" pitchFamily="34" charset="-120"/>
              </a:rPr>
              <a:t>DELIVERS</a:t>
            </a:r>
            <a:endParaRPr lang="en-US" sz="1050" dirty="0"/>
          </a:p>
        </p:txBody>
      </p:sp>
      <p:sp>
        <p:nvSpPr>
          <p:cNvPr id="19" name="Text 17"/>
          <p:cNvSpPr txBox="1"/>
          <p:nvPr/>
        </p:nvSpPr>
        <p:spPr>
          <a:xfrm>
            <a:off x="2578608" y="4434840"/>
            <a:ext cx="6446520" cy="329184"/>
          </a:xfrm>
          <a:prstGeom prst="rect">
            <a:avLst/>
          </a:prstGeom>
          <a:noFill/>
          <a:ln/>
        </p:spPr>
        <p:txBody>
          <a:bodyPr wrap="square" lIns="0" tIns="0" rIns="0" bIns="0" rtlCol="0" anchor="ctr">
            <a:normAutofit/>
          </a:bodyPr>
          <a:lstStyle/>
          <a:p>
            <a:pPr algn="l" indent="0" marL="0">
              <a:lnSpc>
                <a:spcPct val="100000"/>
              </a:lnSpc>
              <a:buNone/>
            </a:pPr>
            <a:r>
              <a:rPr lang="en-US" sz="2000" b="1" dirty="0">
                <a:solidFill>
                  <a:srgbClr val="0B1020"/>
                </a:solidFill>
                <a:latin typeface="Aptos Display" pitchFamily="34" charset="0"/>
                <a:ea typeface="Aptos Display" pitchFamily="34" charset="-122"/>
                <a:cs typeface="Aptos Display" pitchFamily="34" charset="-120"/>
              </a:rPr>
              <a:t>Markdown report · n8n → Notion</a:t>
            </a:r>
            <a:endParaRPr lang="en-US" sz="2000" dirty="0"/>
          </a:p>
        </p:txBody>
      </p:sp>
      <p:sp>
        <p:nvSpPr>
          <p:cNvPr id="20" name="Shape 18"/>
          <p:cNvSpPr/>
          <p:nvPr/>
        </p:nvSpPr>
        <p:spPr>
          <a:xfrm>
            <a:off x="9400032" y="3054096"/>
            <a:ext cx="621792" cy="0"/>
          </a:xfrm>
          <a:prstGeom prst="line">
            <a:avLst/>
          </a:prstGeom>
          <a:noFill/>
          <a:ln w="27940">
            <a:solidFill>
              <a:srgbClr val="2563EB"/>
            </a:solidFill>
            <a:prstDash val="solid"/>
            <a:tailEnd type="triangle"/>
          </a:ln>
        </p:spPr>
      </p:sp>
      <p:sp>
        <p:nvSpPr>
          <p:cNvPr id="21" name="Shape 19"/>
          <p:cNvSpPr/>
          <p:nvPr/>
        </p:nvSpPr>
        <p:spPr>
          <a:xfrm>
            <a:off x="10040112" y="2322576"/>
            <a:ext cx="1353312" cy="1481328"/>
          </a:xfrm>
          <a:prstGeom prst="roundRect">
            <a:avLst>
              <a:gd name="adj" fmla="val 9459"/>
            </a:avLst>
          </a:prstGeom>
          <a:solidFill>
            <a:srgbClr val="2563EB"/>
          </a:solidFill>
          <a:ln w="12700">
            <a:solidFill>
              <a:srgbClr val="2563EB"/>
            </a:solidFill>
            <a:prstDash val="solid"/>
          </a:ln>
          <a:effectLst>
            <a:outerShdw sx="100000" sy="100000" kx="0" ky="0" algn="bl" rotWithShape="0" blurRad="1.2892132122914095e+37" dist="3.437901899443759e+37" dir="4.5349632000000006e+44">
              <a:srgbClr val="0B1020">
                <a:alpha val="1.1999999999999999e+44"/>
              </a:srgbClr>
            </a:outerShdw>
          </a:effectLst>
        </p:spPr>
      </p:sp>
      <p:sp>
        <p:nvSpPr>
          <p:cNvPr id="22" name="Text 20"/>
          <p:cNvSpPr txBox="1"/>
          <p:nvPr/>
        </p:nvSpPr>
        <p:spPr>
          <a:xfrm>
            <a:off x="10195560" y="2633472"/>
            <a:ext cx="1042416" cy="786384"/>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FFFFFF"/>
                </a:solidFill>
                <a:latin typeface="Aptos Display" pitchFamily="34" charset="0"/>
                <a:ea typeface="Aptos Display" pitchFamily="34" charset="-122"/>
                <a:cs typeface="Aptos Display" pitchFamily="34" charset="-120"/>
              </a:rPr>
              <a:t>EVIDENCE-</a:t>
            </a:r>
            <a:endParaRPr lang="en-US" sz="1800" dirty="0"/>
          </a:p>
          <a:p>
            <a:pPr algn="ctr" indent="0" marL="0">
              <a:lnSpc>
                <a:spcPct val="100000"/>
              </a:lnSpc>
              <a:buNone/>
            </a:pPr>
            <a:r>
              <a:rPr lang="en-US" sz="1800" b="1" dirty="0">
                <a:solidFill>
                  <a:srgbClr val="FFFFFF"/>
                </a:solidFill>
                <a:latin typeface="Aptos Display" pitchFamily="34" charset="0"/>
                <a:ea typeface="Aptos Display" pitchFamily="34" charset="-122"/>
                <a:cs typeface="Aptos Display" pitchFamily="34" charset="-120"/>
              </a:rPr>
              <a:t>BACKED</a:t>
            </a:r>
            <a:endParaRPr lang="en-US" sz="1800" dirty="0"/>
          </a:p>
          <a:p>
            <a:pPr algn="ctr" indent="0" marL="0">
              <a:lnSpc>
                <a:spcPct val="100000"/>
              </a:lnSpc>
              <a:buNone/>
            </a:pPr>
            <a:r>
              <a:rPr lang="en-US" sz="1800" b="1" dirty="0">
                <a:solidFill>
                  <a:srgbClr val="FFFFFF"/>
                </a:solidFill>
                <a:latin typeface="Aptos Display" pitchFamily="34" charset="0"/>
                <a:ea typeface="Aptos Display" pitchFamily="34" charset="-122"/>
                <a:cs typeface="Aptos Display" pitchFamily="34" charset="-120"/>
              </a:rPr>
              <a:t>REPORT</a:t>
            </a:r>
            <a:endParaRPr lang="en-US" sz="1800" dirty="0"/>
          </a:p>
        </p:txBody>
      </p:sp>
      <p:sp>
        <p:nvSpPr>
          <p:cNvPr id="23" name="Shape 21"/>
          <p:cNvSpPr/>
          <p:nvPr/>
        </p:nvSpPr>
        <p:spPr>
          <a:xfrm>
            <a:off x="749808" y="5394960"/>
            <a:ext cx="6537960" cy="640080"/>
          </a:xfrm>
          <a:prstGeom prst="roundRect">
            <a:avLst>
              <a:gd name="adj" fmla="val 14286"/>
            </a:avLst>
          </a:prstGeom>
          <a:solidFill>
            <a:srgbClr val="F1F5F9"/>
          </a:solidFill>
          <a:ln w="12700">
            <a:solidFill>
              <a:srgbClr val="F1F5F9"/>
            </a:solidFill>
            <a:prstDash val="solid"/>
          </a:ln>
        </p:spPr>
      </p:sp>
      <p:sp>
        <p:nvSpPr>
          <p:cNvPr id="24" name="Text 22"/>
          <p:cNvSpPr txBox="1"/>
          <p:nvPr/>
        </p:nvSpPr>
        <p:spPr>
          <a:xfrm>
            <a:off x="969264" y="5596128"/>
            <a:ext cx="1783080" cy="228600"/>
          </a:xfrm>
          <a:prstGeom prst="rect">
            <a:avLst/>
          </a:prstGeom>
          <a:noFill/>
          <a:ln/>
        </p:spPr>
        <p:txBody>
          <a:bodyPr wrap="square" lIns="0" tIns="0" rIns="0" bIns="0" rtlCol="0" anchor="ctr">
            <a:normAutofit/>
          </a:bodyPr>
          <a:lstStyle/>
          <a:p>
            <a:pPr algn="ctr" indent="0" marL="0">
              <a:lnSpc>
                <a:spcPct val="100000"/>
              </a:lnSpc>
              <a:buNone/>
            </a:pPr>
            <a:r>
              <a:rPr lang="en-US" sz="1350" b="1" dirty="0">
                <a:solidFill>
                  <a:srgbClr val="273244"/>
                </a:solidFill>
                <a:latin typeface="Aptos" pitchFamily="34" charset="0"/>
                <a:ea typeface="Aptos" pitchFamily="34" charset="-122"/>
                <a:cs typeface="Aptos" pitchFamily="34" charset="-120"/>
              </a:rPr>
              <a:t>12-company evaluation</a:t>
            </a:r>
            <a:endParaRPr lang="en-US" sz="1350" dirty="0"/>
          </a:p>
        </p:txBody>
      </p:sp>
      <p:sp>
        <p:nvSpPr>
          <p:cNvPr id="25" name="Shape 23"/>
          <p:cNvSpPr/>
          <p:nvPr/>
        </p:nvSpPr>
        <p:spPr>
          <a:xfrm>
            <a:off x="2971800" y="5577840"/>
            <a:ext cx="0" cy="246888"/>
          </a:xfrm>
          <a:prstGeom prst="line">
            <a:avLst/>
          </a:prstGeom>
          <a:noFill/>
          <a:ln w="12700">
            <a:solidFill>
              <a:srgbClr val="E2E8F0"/>
            </a:solidFill>
            <a:prstDash val="solid"/>
          </a:ln>
        </p:spPr>
      </p:sp>
      <p:sp>
        <p:nvSpPr>
          <p:cNvPr id="26" name="Text 24"/>
          <p:cNvSpPr txBox="1"/>
          <p:nvPr/>
        </p:nvSpPr>
        <p:spPr>
          <a:xfrm>
            <a:off x="3200400" y="5596128"/>
            <a:ext cx="2057400" cy="228600"/>
          </a:xfrm>
          <a:prstGeom prst="rect">
            <a:avLst/>
          </a:prstGeom>
          <a:noFill/>
          <a:ln/>
        </p:spPr>
        <p:txBody>
          <a:bodyPr wrap="square" lIns="0" tIns="0" rIns="0" bIns="0" rtlCol="0" anchor="ctr">
            <a:normAutofit/>
          </a:bodyPr>
          <a:lstStyle/>
          <a:p>
            <a:pPr algn="ctr" indent="0" marL="0">
              <a:lnSpc>
                <a:spcPct val="100000"/>
              </a:lnSpc>
              <a:buNone/>
            </a:pPr>
            <a:r>
              <a:rPr lang="en-US" sz="1350" b="1" dirty="0">
                <a:solidFill>
                  <a:srgbClr val="273244"/>
                </a:solidFill>
                <a:latin typeface="Aptos" pitchFamily="34" charset="0"/>
                <a:ea typeface="Aptos" pitchFamily="34" charset="-122"/>
                <a:cs typeface="Aptos" pitchFamily="34" charset="-120"/>
              </a:rPr>
              <a:t>2 retained sample reports</a:t>
            </a:r>
            <a:endParaRPr lang="en-US" sz="1350" dirty="0"/>
          </a:p>
        </p:txBody>
      </p:sp>
      <p:sp>
        <p:nvSpPr>
          <p:cNvPr id="27" name="Shape 25"/>
          <p:cNvSpPr/>
          <p:nvPr/>
        </p:nvSpPr>
        <p:spPr>
          <a:xfrm>
            <a:off x="5468112" y="5577840"/>
            <a:ext cx="0" cy="246888"/>
          </a:xfrm>
          <a:prstGeom prst="line">
            <a:avLst/>
          </a:prstGeom>
          <a:noFill/>
          <a:ln w="12700">
            <a:solidFill>
              <a:srgbClr val="E2E8F0"/>
            </a:solidFill>
            <a:prstDash val="solid"/>
          </a:ln>
        </p:spPr>
      </p:sp>
      <p:sp>
        <p:nvSpPr>
          <p:cNvPr id="28" name="Text 26"/>
          <p:cNvSpPr txBox="1"/>
          <p:nvPr/>
        </p:nvSpPr>
        <p:spPr>
          <a:xfrm>
            <a:off x="5696712" y="5596128"/>
            <a:ext cx="1325880" cy="228600"/>
          </a:xfrm>
          <a:prstGeom prst="rect">
            <a:avLst/>
          </a:prstGeom>
          <a:noFill/>
          <a:ln/>
        </p:spPr>
        <p:txBody>
          <a:bodyPr wrap="square" lIns="0" tIns="0" rIns="0" bIns="0" rtlCol="0" anchor="ctr">
            <a:normAutofit/>
          </a:bodyPr>
          <a:lstStyle/>
          <a:p>
            <a:pPr algn="ctr" indent="0" marL="0">
              <a:lnSpc>
                <a:spcPct val="100000"/>
              </a:lnSpc>
              <a:buNone/>
            </a:pPr>
            <a:r>
              <a:rPr lang="en-US" sz="1350" b="1" dirty="0">
                <a:solidFill>
                  <a:srgbClr val="273244"/>
                </a:solidFill>
                <a:latin typeface="Aptos" pitchFamily="34" charset="0"/>
                <a:ea typeface="Aptos" pitchFamily="34" charset="-122"/>
                <a:cs typeface="Aptos" pitchFamily="34" charset="-120"/>
              </a:rPr>
              <a:t>104 offline tests</a:t>
            </a:r>
            <a:endParaRPr lang="en-US" sz="1350" dirty="0"/>
          </a:p>
        </p:txBody>
      </p:sp>
      <p:sp>
        <p:nvSpPr>
          <p:cNvPr id="29" name="Shape 27"/>
          <p:cNvSpPr/>
          <p:nvPr/>
        </p:nvSpPr>
        <p:spPr>
          <a:xfrm>
            <a:off x="7598664" y="5394960"/>
            <a:ext cx="3785616" cy="640080"/>
          </a:xfrm>
          <a:prstGeom prst="roundRect">
            <a:avLst>
              <a:gd name="adj" fmla="val 14286"/>
            </a:avLst>
          </a:prstGeom>
          <a:solidFill>
            <a:srgbClr val="FFF5E6"/>
          </a:solidFill>
          <a:ln w="12700">
            <a:solidFill>
              <a:srgbClr val="F7D6A4"/>
            </a:solidFill>
            <a:prstDash val="solid"/>
          </a:ln>
        </p:spPr>
      </p:sp>
      <p:sp>
        <p:nvSpPr>
          <p:cNvPr id="30" name="Text 28"/>
          <p:cNvSpPr txBox="1"/>
          <p:nvPr/>
        </p:nvSpPr>
        <p:spPr>
          <a:xfrm>
            <a:off x="7827264" y="5522976"/>
            <a:ext cx="1783080" cy="182880"/>
          </a:xfrm>
          <a:prstGeom prst="rect">
            <a:avLst/>
          </a:prstGeom>
          <a:noFill/>
          <a:ln/>
        </p:spPr>
        <p:txBody>
          <a:bodyPr wrap="square" lIns="0" tIns="0" rIns="0" bIns="0" rtlCol="0" anchor="ctr">
            <a:normAutofit/>
          </a:bodyPr>
          <a:lstStyle/>
          <a:p>
            <a:pPr algn="l" indent="0" marL="0">
              <a:lnSpc>
                <a:spcPct val="100000"/>
              </a:lnSpc>
              <a:buNone/>
            </a:pPr>
            <a:r>
              <a:rPr lang="en-US" sz="1000" b="1" spc="80" kern="0" dirty="0">
                <a:solidFill>
                  <a:srgbClr val="B45309"/>
                </a:solidFill>
                <a:latin typeface="Aptos" pitchFamily="34" charset="0"/>
                <a:ea typeface="Aptos" pitchFamily="34" charset="-122"/>
                <a:cs typeface="Aptos" pitchFamily="34" charset="-120"/>
              </a:rPr>
              <a:t>DESIGNED, NOT BUILT</a:t>
            </a:r>
            <a:endParaRPr lang="en-US" sz="1000" dirty="0"/>
          </a:p>
        </p:txBody>
      </p:sp>
      <p:sp>
        <p:nvSpPr>
          <p:cNvPr id="31" name="Text 29"/>
          <p:cNvSpPr txBox="1"/>
          <p:nvPr/>
        </p:nvSpPr>
        <p:spPr>
          <a:xfrm>
            <a:off x="7827264" y="5751576"/>
            <a:ext cx="3246120" cy="182880"/>
          </a:xfrm>
          <a:prstGeom prst="rect">
            <a:avLst/>
          </a:prstGeom>
          <a:noFill/>
          <a:ln/>
        </p:spPr>
        <p:txBody>
          <a:bodyPr wrap="square" lIns="0" tIns="0" rIns="0" bIns="0" rtlCol="0" anchor="ctr">
            <a:normAutofit/>
          </a:bodyPr>
          <a:lstStyle/>
          <a:p>
            <a:pPr algn="l" indent="0" marL="0">
              <a:lnSpc>
                <a:spcPct val="100000"/>
              </a:lnSpc>
              <a:buNone/>
            </a:pPr>
            <a:r>
              <a:rPr lang="en-US" sz="1150" dirty="0">
                <a:solidFill>
                  <a:srgbClr val="273244"/>
                </a:solidFill>
                <a:latin typeface="Aptos" pitchFamily="34" charset="0"/>
                <a:ea typeface="Aptos" pitchFamily="34" charset="-122"/>
                <a:cs typeface="Aptos" pitchFamily="34" charset="-120"/>
              </a:rPr>
              <a:t>scheduled sweeps · vendor-corpus ingestion</a:t>
            </a:r>
            <a:endParaRPr lang="en-US" sz="1150" dirty="0"/>
          </a:p>
        </p:txBody>
      </p:sp>
      <p:sp>
        <p:nvSpPr>
          <p:cNvPr id="32" name="Text 30"/>
          <p:cNvSpPr txBox="1"/>
          <p:nvPr/>
        </p:nvSpPr>
        <p:spPr>
          <a:xfrm>
            <a:off x="713232" y="6428232"/>
            <a:ext cx="2286000" cy="164592"/>
          </a:xfrm>
          <a:prstGeom prst="rect">
            <a:avLst/>
          </a:prstGeom>
          <a:noFill/>
          <a:ln/>
        </p:spPr>
        <p:txBody>
          <a:bodyPr wrap="square" lIns="0" tIns="0" rIns="0" bIns="0" rtlCol="0" anchor="ctr">
            <a:normAutofit/>
          </a:bodyPr>
          <a:lstStyle/>
          <a:p>
            <a:pPr algn="l" indent="0" marL="0">
              <a:lnSpc>
                <a:spcPct val="100000"/>
              </a:lnSpc>
              <a:buNone/>
            </a:pPr>
            <a:r>
              <a:rPr lang="en-US" sz="900" b="1" spc="110" kern="0" dirty="0">
                <a:solidFill>
                  <a:srgbClr val="64748B"/>
                </a:solidFill>
                <a:latin typeface="Aptos" pitchFamily="34" charset="0"/>
                <a:ea typeface="Aptos" pitchFamily="34" charset="-122"/>
                <a:cs typeface="Aptos" pitchFamily="34" charset="-120"/>
              </a:rPr>
              <a:t>AI PRE-SCAN  •  APPENDIX • DELIVERY</a:t>
            </a:r>
            <a:endParaRPr lang="en-US" sz="900" dirty="0"/>
          </a:p>
        </p:txBody>
      </p:sp>
      <p:sp>
        <p:nvSpPr>
          <p:cNvPr id="25" name="Slide Number Placeholder 0"/>
          <p:cNvSpPr>
            <a:spLocks noGrp="1"/>
          </p:cNvSpPr>
          <p:nvPr>
            <p:ph type="sldNum" sz="quarter" idx="4294967295"/>
          </p:nvPr>
        </p:nvSpPr>
        <p:spPr>
          <a:xfrm>
            <a:off x="11292840" y="642823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4A3B8"/>
                </a:solidFill>
                <a:latin typeface="Aptos"/>
                <a:ea typeface="Aptos"/>
                <a:cs typeface="Aptos"/>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AI Pre-Scan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Pre-Scan — The missing step before AI Act assessment</dc:title>
  <dc:subject>Ironhack Project 3 presentation</dc:subject>
  <dc:creator>Nnanyelugo Ahukannah</dc:creator>
  <cp:lastModifiedBy>Nnanyelugo Ahukannah</cp:lastModifiedBy>
  <cp:revision>1</cp:revision>
  <dcterms:created xsi:type="dcterms:W3CDTF">2026-08-14T03:03:40Z</dcterms:created>
  <dcterms:modified xsi:type="dcterms:W3CDTF">2026-08-14T03:03:40Z</dcterms:modified>
</cp:coreProperties>
</file>