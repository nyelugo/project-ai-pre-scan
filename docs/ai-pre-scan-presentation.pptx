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73d36b8eb384994" /><Relationship Type="http://schemas.openxmlformats.org/officeDocument/2006/relationships/extended-properties" Target="/docProps/app.xml" Id="R63ec0b11c81143a1" /><Relationship Type="http://schemas.openxmlformats.org/officeDocument/2006/relationships/officeDocument" Target="/ppt/presentation.xml" Id="Re936322e2949469a" /></Relationships>
</file>

<file path=ppt/presentation.xml><?xml version="1.0" encoding="utf-8"?>
<p:presentation xmlns:p="http://schemas.openxmlformats.org/presentationml/2006/main">
  <p:sldMasterIdLst>
    <p:sldMasterId xmlns:r="http://schemas.openxmlformats.org/officeDocument/2006/relationships" id="2147483648" r:id="R5fbb4cebdc574ad0"/>
  </p:sldMasterIdLst>
  <p:notesMasterIdLst>
    <p:notesMasterId xmlns:r="http://schemas.openxmlformats.org/officeDocument/2006/relationships" r:id="Rbff346cceb5349ff"/>
  </p:notesMasterIdLst>
  <p:sldIdLst>
    <p:sldId xmlns:r="http://schemas.openxmlformats.org/officeDocument/2006/relationships" id="256" r:id="Rf954f45e8b554cfc"/>
    <p:sldId xmlns:r="http://schemas.openxmlformats.org/officeDocument/2006/relationships" id="257" r:id="Rf4cfd48ee289427a"/>
    <p:sldId xmlns:r="http://schemas.openxmlformats.org/officeDocument/2006/relationships" id="258" r:id="R8958028d75164baa"/>
    <p:sldId xmlns:r="http://schemas.openxmlformats.org/officeDocument/2006/relationships" id="259" r:id="Rbe63a422366e40e6"/>
    <p:sldId xmlns:r="http://schemas.openxmlformats.org/officeDocument/2006/relationships" id="260" r:id="R82260448f068455d"/>
    <p:sldId xmlns:r="http://schemas.openxmlformats.org/officeDocument/2006/relationships" id="261" r:id="R1686bbe0d4b341f5"/>
    <p:sldId xmlns:r="http://schemas.openxmlformats.org/officeDocument/2006/relationships" id="262" r:id="R206a9ba4301a4645"/>
    <p:sldId xmlns:r="http://schemas.openxmlformats.org/officeDocument/2006/relationships" id="263" r:id="R862e0c73d763409b"/>
    <p:sldId xmlns:r="http://schemas.openxmlformats.org/officeDocument/2006/relationships" id="264" r:id="R6b3fd55b6e1b4c0b"/>
    <p:sldId xmlns:r="http://schemas.openxmlformats.org/officeDocument/2006/relationships" id="265" r:id="R3438a2875f24455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34f7cddf25f4ba3" /><Relationship Type="http://schemas.openxmlformats.org/officeDocument/2006/relationships/slideMaster" Target="/ppt/slideMasters/slideMaster1.xml" Id="R5fbb4cebdc574ad0" /><Relationship Type="http://schemas.openxmlformats.org/officeDocument/2006/relationships/notesMaster" Target="/ppt/notesMasters/notesMaster1.xml" Id="Rbff346cceb5349ff" /><Relationship Type="http://schemas.openxmlformats.org/officeDocument/2006/relationships/presProps" Target="/ppt/presProps.xml" Id="R2315a82c495c46e5" /><Relationship Type="http://schemas.openxmlformats.org/officeDocument/2006/relationships/tableStyles" Target="/ppt/tableStyles.xml" Id="R7c198eb2fbc1493c" /><Relationship Type="http://schemas.openxmlformats.org/officeDocument/2006/relationships/slide" Target="/ppt/slides/slide1.xml" Id="Rf954f45e8b554cfc" /><Relationship Type="http://schemas.openxmlformats.org/officeDocument/2006/relationships/slide" Target="/ppt/slides/slide2.xml" Id="Rf4cfd48ee289427a" /><Relationship Type="http://schemas.openxmlformats.org/officeDocument/2006/relationships/slide" Target="/ppt/slides/slide3.xml" Id="R8958028d75164baa" /><Relationship Type="http://schemas.openxmlformats.org/officeDocument/2006/relationships/slide" Target="/ppt/slides/slide4.xml" Id="Rbe63a422366e40e6" /><Relationship Type="http://schemas.openxmlformats.org/officeDocument/2006/relationships/slide" Target="/ppt/slides/slide5.xml" Id="R82260448f068455d" /><Relationship Type="http://schemas.openxmlformats.org/officeDocument/2006/relationships/slide" Target="/ppt/slides/slide6.xml" Id="R1686bbe0d4b341f5" /><Relationship Type="http://schemas.openxmlformats.org/officeDocument/2006/relationships/slide" Target="/ppt/slides/slide7.xml" Id="R206a9ba4301a4645" /><Relationship Type="http://schemas.openxmlformats.org/officeDocument/2006/relationships/slide" Target="/ppt/slides/slide8.xml" Id="R862e0c73d763409b" /><Relationship Type="http://schemas.openxmlformats.org/officeDocument/2006/relationships/slide" Target="/ppt/slides/slide9.xml" Id="R6b3fd55b6e1b4c0b" /><Relationship Type="http://schemas.openxmlformats.org/officeDocument/2006/relationships/slide" Target="/ppt/slides/slide10.xml" Id="R3438a2875f2445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fc438add1424a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9e51a5be77a49d0" /><Relationship Type="http://schemas.openxmlformats.org/officeDocument/2006/relationships/notesMaster" Target="/ppt/notesMasters/notesMaster1.xml" Id="R92c574d3d6e44dca" /></Relationships>
</file>

<file path=ppt/notesSlides/_rels/notesSlide2.xml.rels>&#65279;<?xml version="1.0" encoding="utf-8"?><Relationships xmlns="http://schemas.openxmlformats.org/package/2006/relationships"><Relationship Type="http://schemas.openxmlformats.org/officeDocument/2006/relationships/slide" Target="/ppt/slides/slide2.xml" Id="R88a879dc81b346a1" /><Relationship Type="http://schemas.openxmlformats.org/officeDocument/2006/relationships/notesMaster" Target="/ppt/notesMasters/notesMaster1.xml" Id="R749bcb1f80264a3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f285312c7704a24" /><Relationship Type="http://schemas.openxmlformats.org/officeDocument/2006/relationships/notesMaster" Target="/ppt/notesMasters/notesMaster1.xml" Id="Rce9652a08c57434d" /></Relationships>
</file>

<file path=ppt/notesSlides/_rels/notesSlide4.xml.rels>&#65279;<?xml version="1.0" encoding="utf-8"?><Relationships xmlns="http://schemas.openxmlformats.org/package/2006/relationships"><Relationship Type="http://schemas.openxmlformats.org/officeDocument/2006/relationships/slide" Target="/ppt/slides/slide4.xml" Id="R7b6fb69db0ba4a51" /><Relationship Type="http://schemas.openxmlformats.org/officeDocument/2006/relationships/notesMaster" Target="/ppt/notesMasters/notesMaster1.xml" Id="Raae30d8d35e347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715a45760d4532" /><Relationship Type="http://schemas.openxmlformats.org/officeDocument/2006/relationships/notesMaster" Target="/ppt/notesMasters/notesMaster1.xml" Id="R96f0ee11588b4b04" /></Relationships>
</file>

<file path=ppt/notesSlides/_rels/notesSlide6.xml.rels>&#65279;<?xml version="1.0" encoding="utf-8"?><Relationships xmlns="http://schemas.openxmlformats.org/package/2006/relationships"><Relationship Type="http://schemas.openxmlformats.org/officeDocument/2006/relationships/slide" Target="/ppt/slides/slide6.xml" Id="R22b2459b7b244cee" /><Relationship Type="http://schemas.openxmlformats.org/officeDocument/2006/relationships/notesMaster" Target="/ppt/notesMasters/notesMaster1.xml" Id="Re5b6343a1c8f4ca7" /></Relationships>
</file>

<file path=ppt/notesSlides/_rels/notesSlide7.xml.rels>&#65279;<?xml version="1.0" encoding="utf-8"?><Relationships xmlns="http://schemas.openxmlformats.org/package/2006/relationships"><Relationship Type="http://schemas.openxmlformats.org/officeDocument/2006/relationships/slide" Target="/ppt/slides/slide7.xml" Id="R25898e64db4d4513" /><Relationship Type="http://schemas.openxmlformats.org/officeDocument/2006/relationships/notesMaster" Target="/ppt/notesMasters/notesMaster1.xml" Id="R4b87bb68f8ce4684" /></Relationships>
</file>

<file path=ppt/notesSlides/_rels/notesSlide8.xml.rels>&#65279;<?xml version="1.0" encoding="utf-8"?><Relationships xmlns="http://schemas.openxmlformats.org/package/2006/relationships"><Relationship Type="http://schemas.openxmlformats.org/officeDocument/2006/relationships/slide" Target="/ppt/slides/slide8.xml" Id="Rbcb21ea49d5440d5" /><Relationship Type="http://schemas.openxmlformats.org/officeDocument/2006/relationships/notesMaster" Target="/ppt/notesMasters/notesMaster1.xml" Id="R2f3b7a69391d4b7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ccccb25d1be4b28" /><Relationship Type="http://schemas.openxmlformats.org/officeDocument/2006/relationships/notesMaster" Target="/ppt/notesMasters/notesMaster1.xml" Id="R98f416e5485f4c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a3502a7174f412b" /><Relationship Type="http://schemas.openxmlformats.org/officeDocument/2006/relationships/notesMaster" Target="/ppt/notesMasters/notesMaster1.xml" Id="R8326e14a97c2457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[Ask the room.] What AI does your company actually use?</a:t>
            </a:r>
          </a:p>
          <a:p xmlns:a="http://schemas.openxmlformats.org/drawingml/2006/main">
            <a:r>
              <a:t/>
            </a:r>
          </a:p>
          <a:p xmlns:a="http://schemas.openxmlformats.org/drawingml/2006/main">
            <a:r>
              <a:t>• Under the EU AI Act, every European SME will soon owe regulators that answer — in writing.</a:t>
            </a:r>
          </a:p>
          <a:p xmlns:a="http://schemas.openxmlformats.org/drawingml/2006/main">
            <a:r>
              <a:t/>
            </a:r>
          </a:p>
          <a:p xmlns:a="http://schemas.openxmlformats.org/drawingml/2006/main">
            <a:r>
              <a:t>• AI Pre-Scan drafts it from just a company name. Minutes, not weeks, from public evidence.</a:t>
            </a:r>
          </a:p>
          <a:p xmlns:a="http://schemas.openxmlformats.org/drawingml/2006/main">
            <a:r>
              <a:t/>
            </a:r>
          </a:p>
          <a:p xmlns:a="http://schemas.openxmlformats.org/drawingml/2006/main">
            <a:r>
              <a:t>• One rule makes it trustworthy: it would rather hand you a question than a false answer.</a:t>
            </a:r>
          </a:p>
          <a:p xmlns:a="http://schemas.openxmlformats.org/drawingml/2006/main">
            <a:r>
              <a:t/>
            </a:r>
          </a:p>
          <a:p xmlns:a="http://schemas.openxmlformats.org/drawingml/2006/main">
            <a:r>
              <a:t>• [Point to the card.] One real scan. Top half: one of two evidenced systems, and we can show the sentence that proves it. Bottom half: the standing question public pages cannot settle — whether either system was renamed, repurposed or retrained.</a:t>
            </a:r>
          </a:p>
          <a:p xmlns:a="http://schemas.openxmlformats.org/drawingml/2006/main">
            <a:r>
              <a:t/>
            </a:r>
          </a:p>
          <a:p xmlns:a="http://schemas.openxmlformats.org/drawingml/2006/main">
            <a:r>
              <a:t>• [Pause.]</a:t>
            </a:r>
          </a:p>
          <a:p xmlns:a="http://schemas.openxmlformats.org/drawingml/2006/main">
            <a:r>
              <a:t/>
            </a:r>
          </a:p>
          <a:p xmlns:a="http://schemas.openxmlformats.org/drawingml/2006/main">
            <a:r>
              <a:t>• The problem starts before any compliance form is opened.</a:t>
            </a:r>
          </a:p>
          <a:p xmlns:a="http://schemas.openxmlformats.org/drawingml/2006/main">
            <a:r>
              <a:t/>
            </a:r>
          </a:p>
          <a:p xmlns:a="http://schemas.openxmlformats.org/drawingml/2006/main">
            <a:r>
              <a:t>[If asked — HOW]</a:t>
            </a:r>
          </a:p>
          <a:p xmlns:a="http://schemas.openxmlformats.org/drawingml/2006/main">
            <a:r>
              <a:t>– How long does a scan take?  A couple of minutes per company. You will see it run on slide 4.</a:t>
            </a:r>
          </a:p>
          <a:p xmlns:a="http://schemas.openxmlformats.org/drawingml/2006/main">
            <a:r>
              <a:t>– How do you know that top half is proven?  Personio's own Assistant page says it, word for word — the scan keeps the sentence, the page and the fetch date.</a:t>
            </a:r>
          </a:p>
          <a:p xmlns:a="http://schemas.openxmlformats.org/drawingml/2006/main">
            <a:r>
              <a:t/>
            </a:r>
          </a:p>
          <a:p xmlns:a="http://schemas.openxmlformats.org/drawingml/2006/main">
            <a:r>
              <a:t>[Sources]</a:t>
            </a:r>
          </a:p>
          <a:p xmlns:a="http://schemas.openxmlformats.org/drawingml/2006/main">
            <a:r>
              <a:t>- docs/elevator-pitch.md</a:t>
            </a:r>
          </a:p>
          <a:p xmlns:a="http://schemas.openxmlformats.org/drawingml/2006/main">
            <a:r>
              <a:t>- README.md</a:t>
            </a:r>
          </a:p>
          <a:p xmlns:a="http://schemas.openxmlformats.org/drawingml/2006/main">
            <a:r>
              <a:t>- src/ai_prescan/fixtures.py</a:t>
            </a:r>
          </a:p>
          <a:p xmlns:a="http://schemas.openxmlformats.org/drawingml/2006/main">
            <a:r>
              <a:t>- European Commission, “AI Act”: https://digital-strategy.ec.europa.eu/en/factpages/ai-act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Compliance tools assess one known system at a time. Someone has to hand them the list.</a:t>
            </a:r>
          </a:p>
          <a:p xmlns:a="http://schemas.openxmlformats.org/drawingml/2006/main"/>
          <a:p xmlns:a="http://schemas.openxmlformats.org/drawingml/2006/main">
            <a:r>
              <a:t>• For most SMEs that list does not exist — and it cannot be written from memory.</a:t>
            </a:r>
          </a:p>
          <a:p xmlns:a="http://schemas.openxmlformats.org/drawingml/2006/main"/>
          <a:p xmlns:a="http://schemas.openxmlformats.org/drawingml/2006/main">
            <a:r>
              <a:t>• AI arrives in a vendor update. On a company card. In an employee's personal tools. Nobody ever decided to “adopt AI”.</a:t>
            </a:r>
          </a:p>
          <a:p xmlns:a="http://schemas.openxmlformats.org/drawingml/2006/main"/>
          <a:p xmlns:a="http://schemas.openxmlformats.org/drawingml/2006/main">
            <a:r>
              <a:t>• So the form says: list every AI system. And the SME honestly asks: “Which systems are those?”</a:t>
            </a:r>
          </a:p>
          <a:p xmlns:a="http://schemas.openxmlformats.org/drawingml/2006/main"/>
          <a:p xmlns:a="http://schemas.openxmlformats.org/drawingml/2006/main">
            <a:r>
              <a:t>• [Pause.]</a:t>
            </a:r>
          </a:p>
          <a:p xmlns:a="http://schemas.openxmlformats.org/drawingml/2006/main"/>
          <a:p xmlns:a="http://schemas.openxmlformats.org/drawingml/2006/main">
            <a:r>
              <a:t>• The inventory has to be drafted from evidence. That drafting is the missing step — and it is the product.</a:t>
            </a:r>
          </a:p>
          <a:p xmlns:a="http://schemas.openxmlformats.org/drawingml/2006/main"/>
          <a:p xmlns:a="http://schemas.openxmlformats.org/drawingml/2006/main">
            <a:r>
              <a:t>[If asked — HOW]</a:t>
            </a:r>
          </a:p>
          <a:p xmlns:a="http://schemas.openxmlformats.org/drawingml/2006/main">
            <a:r>
              <a:t>– How would an SME build this list today?  Interviews and memory. Which is exactly what misses AI that arrived in a vendor update.</a:t>
            </a:r>
          </a:p>
          <a:p xmlns:a="http://schemas.openxmlformats.org/drawingml/2006/main">
            <a:r>
              <a:t>– How does the scan solve the third bullet — tools that leave no record?  It does not, and never claims to. Anything not public becomes a client question, not a blind spot pretending to be covered.</a:t>
            </a:r>
          </a:p>
          <a:p xmlns:a="http://schemas.openxmlformats.org/drawingml/2006/main"/>
          <a:p xmlns:a="http://schemas.openxmlformats.org/drawingml/2006/main">
            <a:r>
              <a:t>[Sources]</a:t>
            </a:r>
          </a:p>
          <a:p xmlns:a="http://schemas.openxmlformats.org/drawingml/2006/main">
            <a:r>
              <a:t>- docs/elevator-pitch.md</a:t>
            </a:r>
          </a:p>
          <a:p xmlns:a="http://schemas.openxmlformats.org/drawingml/2006/main">
            <a:r>
              <a:t>- docs/demo-plan.md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only input is a company name.</a:t>
            </a:r>
          </a:p>
          <a:p xmlns:a="http://schemas.openxmlformats.org/drawingml/2006/main"/>
          <a:p xmlns:a="http://schemas.openxmlformats.org/drawingml/2006/main">
            <a:r>
              <a:t>• One — map the public footprint: registry, website, careers pages, vendor references, news.</a:t>
            </a:r>
          </a:p>
          <a:p xmlns:a="http://schemas.openxmlformats.org/drawingml/2006/main"/>
          <a:p xmlns:a="http://schemas.openxmlformats.org/drawingml/2006/main">
            <a:r>
              <a:t>• Two — test every finding. The exact sentence must exist, on a page we can name, and that page must still be live.</a:t>
            </a:r>
          </a:p>
          <a:p xmlns:a="http://schemas.openxmlformats.org/drawingml/2006/main"/>
          <a:p xmlns:a="http://schemas.openxmlformats.org/drawingml/2006/main">
            <a:r>
              <a:t>• Anything that fails is not asserted and not deleted — it is marked undetermined.</a:t>
            </a:r>
          </a:p>
          <a:p xmlns:a="http://schemas.openxmlformats.org/drawingml/2006/main"/>
          <a:p xmlns:a="http://schemas.openxmlformats.org/drawingml/2006/main">
            <a:r>
              <a:t>• Three — the adviser walks into the client meeting with a draft inventory and focused questions.</a:t>
            </a:r>
          </a:p>
          <a:p xmlns:a="http://schemas.openxmlformats.org/drawingml/2006/main"/>
          <a:p xmlns:a="http://schemas.openxmlformats.org/drawingml/2006/main">
            <a:r>
              <a:t>• Humans confirm the facts. Applying the law is a separate job, and it stays with people.</a:t>
            </a:r>
          </a:p>
          <a:p xmlns:a="http://schemas.openxmlformats.org/drawingml/2006/main"/>
          <a:p xmlns:a="http://schemas.openxmlformats.org/drawingml/2006/main">
            <a:r>
              <a:t>• [Pause.]</a:t>
            </a:r>
          </a:p>
          <a:p xmlns:a="http://schemas.openxmlformats.org/drawingml/2006/main"/>
          <a:p xmlns:a="http://schemas.openxmlformats.org/drawingml/2006/main">
            <a:r>
              <a:t>• The fastest way to understand this is to see both kinds of output.</a:t>
            </a:r>
          </a:p>
          <a:p xmlns:a="http://schemas.openxmlformats.org/drawingml/2006/main"/>
          <a:p xmlns:a="http://schemas.openxmlformats.org/drawingml/2006/main">
            <a:r>
              <a:t>[If asked — HOW]</a:t>
            </a:r>
          </a:p>
          <a:p xmlns:a="http://schemas.openxmlformats.org/drawingml/2006/main">
            <a:r>
              <a:t>– How does it search?  Four public sources: web search via Serper, news via NewsAPI, the GLEIF company registry, and Wikidata.</a:t>
            </a:r>
          </a:p>
          <a:p xmlns:a="http://schemas.openxmlformats.org/drawingml/2006/main">
            <a:r>
              <a:t>– How do you know a quote is real?  The gate is code, not a model. The sentence must appear in the fetched page or the finding does not ship.</a:t>
            </a:r>
          </a:p>
          <a:p xmlns:a="http://schemas.openxmlformats.org/drawingml/2006/main">
            <a:r>
              <a:t>– What does “still live” mean?  The page is re-fetched and content-hashed; a changed or dead page fails the check.</a:t>
            </a:r>
          </a:p>
          <a:p xmlns:a="http://schemas.openxmlformats.org/drawingml/2006/main"/>
          <a:p xmlns:a="http://schemas.openxmlformats.org/drawingml/2006/main">
            <a:r>
              <a:t>[Sources]</a:t>
            </a:r>
          </a:p>
          <a:p xmlns:a="http://schemas.openxmlformats.org/drawingml/2006/main">
            <a:r>
              <a:t>- docs/system-overview-slide.pptx</a:t>
            </a:r>
          </a:p>
          <a:p xmlns:a="http://schemas.openxmlformats.org/drawingml/2006/main">
            <a:r>
              <a:t>- docs/architecture.md</a:t>
            </a:r>
          </a:p>
          <a:p xmlns:a="http://schemas.openxmlformats.org/drawingml/2006/main">
            <a:r>
              <a:t>- docs/report-spec.md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[Enter Personio and press Scan.]</a:t>
            </a:r>
          </a:p>
          <a:p xmlns:a="http://schemas.openxmlformats.org/drawingml/2006/main">
            <a:r>
              <a:t/>
            </a:r>
          </a:p>
          <a:p xmlns:a="http://schemas.openxmlformats.org/drawingml/2006/main">
            <a:r>
              <a:t>• I start with nothing but a company name — and take my hands off the keyboard.</a:t>
            </a:r>
          </a:p>
          <a:p xmlns:a="http://schemas.openxmlformats.org/drawingml/2006/main">
            <a:r>
              <a:t/>
            </a:r>
          </a:p>
          <a:p xmlns:a="http://schemas.openxmlformats.org/drawingml/2006/main">
            <a:r>
              <a:t>• [If the workflow loops back to research, point to it.]</a:t>
            </a:r>
          </a:p>
          <a:p xmlns:a="http://schemas.openxmlformats.org/drawingml/2006/main">
            <a:r>
              <a:t/>
            </a:r>
          </a:p>
          <a:p xmlns:a="http://schemas.openxmlformats.org/drawingml/2006/main">
            <a:r>
              <a:t>• That loop-back is deliberate: the gate refused a claim, so the system went back for better evidence.</a:t>
            </a:r>
          </a:p>
          <a:p xmlns:a="http://schemas.openxmlformats.org/drawingml/2006/main">
            <a:r>
              <a:t/>
            </a:r>
          </a:p>
          <a:p xmlns:a="http://schemas.openxmlformats.org/drawingml/2006/main">
            <a:r>
              <a:t>• [Open the Personio result. Point to the highlighted quote.]</a:t>
            </a:r>
          </a:p>
          <a:p xmlns:a="http://schemas.openxmlformats.org/drawingml/2006/main">
            <a:r>
              <a:t/>
            </a:r>
          </a:p>
          <a:p xmlns:a="http://schemas.openxmlformats.org/drawingml/2006/main">
            <a:r>
              <a:t>• Two possible systems: both proven, zero undetermined.</a:t>
            </a:r>
          </a:p>
          <a:p xmlns:a="http://schemas.openxmlformats.org/drawingml/2006/main">
            <a:r>
              <a:t/>
            </a:r>
          </a:p>
          <a:p xmlns:a="http://schemas.openxmlformats.org/drawingml/2006/main">
            <a:r>
              <a:t>• The card highlights Personio Assistant. What makes it proven is this exact sentence from Personio's own page — not the model's wording.</a:t>
            </a:r>
          </a:p>
          <a:p xmlns:a="http://schemas.openxmlformats.org/drawingml/2006/main">
            <a:r>
              <a:t/>
            </a:r>
          </a:p>
          <a:p xmlns:a="http://schemas.openxmlformats.org/drawingml/2006/main">
            <a:r>
              <a:t>• One question still goes to the client: was either tool renamed, repurposed, configured or retrained? Public evidence cannot settle that.</a:t>
            </a:r>
          </a:p>
          <a:p xmlns:a="http://schemas.openxmlformats.org/drawingml/2006/main">
            <a:r>
              <a:t/>
            </a:r>
          </a:p>
          <a:p xmlns:a="http://schemas.openxmlformats.org/drawingml/2006/main">
            <a:r>
              <a:t>• [Switch to Ballymaloe Foods.]</a:t>
            </a:r>
          </a:p>
          <a:p xmlns:a="http://schemas.openxmlformats.org/drawingml/2006/main">
            <a:r>
              <a:t/>
            </a:r>
          </a:p>
          <a:p xmlns:a="http://schemas.openxmlformats.org/drawingml/2006/main">
            <a:r>
              <a:t>• Here the scan found nothing public — so it claimed nothing, and produced one question.</a:t>
            </a:r>
          </a:p>
          <a:p xmlns:a="http://schemas.openxmlformats.org/drawingml/2006/main">
            <a:r>
              <a:t/>
            </a:r>
          </a:p>
          <a:p xmlns:a="http://schemas.openxmlformats.org/drawingml/2006/main">
            <a:r>
              <a:t>• No public evidence is not the same as no AI use. It means an outside scan cannot make that claim.</a:t>
            </a:r>
          </a:p>
          <a:p xmlns:a="http://schemas.openxmlformats.org/drawingml/2006/main">
            <a:r>
              <a:t/>
            </a:r>
          </a:p>
          <a:p xmlns:a="http://schemas.openxmlformats.org/drawingml/2006/main">
            <a:r>
              <a:t>• [If the live run fails, open the retained samples — same pipeline, output unedited.]</a:t>
            </a:r>
          </a:p>
          <a:p xmlns:a="http://schemas.openxmlformats.org/drawingml/2006/main">
            <a:r>
              <a:t/>
            </a:r>
          </a:p>
          <a:p xmlns:a="http://schemas.openxmlformats.org/drawingml/2006/main">
            <a:r>
              <a:t>• [Pause.]</a:t>
            </a:r>
          </a:p>
          <a:p xmlns:a="http://schemas.openxmlformats.org/drawingml/2006/main">
            <a:r>
              <a:t/>
            </a:r>
          </a:p>
          <a:p xmlns:a="http://schemas.openxmlformats.org/drawingml/2006/main">
            <a:r>
              <a:t>• Two companies, two honest results. That honesty is enforced — next slide.</a:t>
            </a:r>
          </a:p>
          <a:p xmlns:a="http://schemas.openxmlformats.org/drawingml/2006/main">
            <a:r>
              <a:t/>
            </a:r>
          </a:p>
          <a:p xmlns:a="http://schemas.openxmlformats.org/drawingml/2006/main">
            <a:r>
              <a:t>[If asked — HOW]</a:t>
            </a:r>
          </a:p>
          <a:p xmlns:a="http://schemas.openxmlformats.org/drawingml/2006/main">
            <a:r>
              <a:t>– How do we know these reports are real?  Same pipeline, output unedited — and every finding carries its source URL, a content hash and a fetch date, so anyone can re-check.</a:t>
            </a:r>
          </a:p>
          <a:p xmlns:a="http://schemas.openxmlformats.org/drawingml/2006/main">
            <a:r>
              <a:t>– What happens with a large company vs a tiny one?  Exactly what you see: rich footprint gives findings; nothing public gives an honest zero. The evaluation covers both bands.</a:t>
            </a:r>
          </a:p>
          <a:p xmlns:a="http://schemas.openxmlformats.org/drawingml/2006/main">
            <a:r>
              <a:t>– What if the page changes after the scan?  The stored hash no longer matches — a silently edited page is detectable, not invisible.</a:t>
            </a:r>
          </a:p>
          <a:p xmlns:a="http://schemas.openxmlformats.org/drawingml/2006/main">
            <a:r>
              <a:t/>
            </a:r>
          </a:p>
          <a:p xmlns:a="http://schemas.openxmlformats.org/drawingml/2006/main">
            <a:r>
              <a:t>[Sources]</a:t>
            </a:r>
          </a:p>
          <a:p xmlns:a="http://schemas.openxmlformats.org/drawingml/2006/main">
            <a:r>
              <a:t>- src/ai_prescan/fixtures.py</a:t>
            </a:r>
          </a:p>
          <a:p xmlns:a="http://schemas.openxmlformats.org/drawingml/2006/main">
            <a:r>
              <a:t>- samples/ballymaloe-foods.md</a:t>
            </a:r>
          </a:p>
          <a:p xmlns:a="http://schemas.openxmlformats.org/drawingml/2006/main">
            <a:r>
              <a:t>- docs/demo-plan.md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Nothing ships unless three checks pass.</a:t>
            </a:r>
          </a:p>
          <a:p xmlns:a="http://schemas.openxmlformats.org/drawingml/2006/main"/>
          <a:p xmlns:a="http://schemas.openxmlformats.org/drawingml/2006/main">
            <a:r>
              <a:t>• One: the quoted sentence really is on the page.</a:t>
            </a:r>
          </a:p>
          <a:p xmlns:a="http://schemas.openxmlformats.org/drawingml/2006/main"/>
          <a:p xmlns:a="http://schemas.openxmlformats.org/drawingml/2006/main">
            <a:r>
              <a:t>• Two: we know whose page it is and when we fetched it.</a:t>
            </a:r>
          </a:p>
          <a:p xmlns:a="http://schemas.openxmlformats.org/drawingml/2006/main"/>
          <a:p xmlns:a="http://schemas.openxmlformats.org/drawingml/2006/main">
            <a:r>
              <a:t>• Three: the page is recent enough to support the claim.</a:t>
            </a:r>
          </a:p>
          <a:p xmlns:a="http://schemas.openxmlformats.org/drawingml/2006/main"/>
          <a:p xmlns:a="http://schemas.openxmlformats.org/drawingml/2006/main">
            <a:r>
              <a:t>• Fail a check → search again. Still unproven → it becomes a client question, not a fact.</a:t>
            </a:r>
          </a:p>
          <a:p xmlns:a="http://schemas.openxmlformats.org/drawingml/2006/main"/>
          <a:p xmlns:a="http://schemas.openxmlformats.org/drawingml/2006/main">
            <a:r>
              <a:t>• The record, across every run: 100% of unproven claims refused. Zero false claims where nothing was public. Zero findings missing their source.</a:t>
            </a:r>
          </a:p>
          <a:p xmlns:a="http://schemas.openxmlformats.org/drawingml/2006/main"/>
          <a:p xmlns:a="http://schemas.openxmlformats.org/drawingml/2006/main">
            <a:r>
              <a:t>• [Pause.]</a:t>
            </a:r>
          </a:p>
          <a:p xmlns:a="http://schemas.openxmlformats.org/drawingml/2006/main"/>
          <a:p xmlns:a="http://schemas.openxmlformats.org/drawingml/2006/main">
            <a:r>
              <a:t>• The trust comes from the gate, not from asking the model to be careful.</a:t>
            </a:r>
          </a:p>
          <a:p xmlns:a="http://schemas.openxmlformats.org/drawingml/2006/main"/>
          <a:p xmlns:a="http://schemas.openxmlformats.org/drawingml/2006/main">
            <a:r>
              <a:t>• The gate also explains the architecture — next slide.</a:t>
            </a:r>
          </a:p>
          <a:p xmlns:a="http://schemas.openxmlformats.org/drawingml/2006/main"/>
          <a:p xmlns:a="http://schemas.openxmlformats.org/drawingml/2006/main">
            <a:r>
              <a:t>[If asked — HOW]</a:t>
            </a:r>
          </a:p>
          <a:p xmlns:a="http://schemas.openxmlformats.org/drawingml/2006/main">
            <a:r>
              <a:t>– How is check one enforced?  Exact string match against the fetched page text, in code. The model cannot talk its way past it.</a:t>
            </a:r>
          </a:p>
          <a:p xmlns:a="http://schemas.openxmlformats.org/drawingml/2006/main">
            <a:r>
              <a:t>– How do you catch a silently edited page?  Same URL, different content hash — treated as different evidence.</a:t>
            </a:r>
          </a:p>
          <a:p xmlns:a="http://schemas.openxmlformats.org/drawingml/2006/main">
            <a:r>
              <a:t>– How does it choose between retry and undetermined?  It retries while search options remain. Once search is exhausted, the claim becomes undetermined and the reason is recorded.</a:t>
            </a:r>
          </a:p>
          <a:p xmlns:a="http://schemas.openxmlformats.org/drawingml/2006/main"/>
          <a:p xmlns:a="http://schemas.openxmlformats.org/drawingml/2006/main">
            <a:r>
              <a:t>[Sources]</a:t>
            </a:r>
          </a:p>
          <a:p xmlns:a="http://schemas.openxmlformats.org/drawingml/2006/main">
            <a:r>
              <a:t>- src/ai_prescan/gate.py</a:t>
            </a:r>
          </a:p>
          <a:p xmlns:a="http://schemas.openxmlformats.org/drawingml/2006/main">
            <a:r>
              <a:t>- eval/results.md</a:t>
            </a:r>
          </a:p>
          <a:p xmlns:a="http://schemas.openxmlformats.org/drawingml/2006/main">
            <a:r>
              <a:t>- 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blue outline is the LangGraph boundary.</a:t>
            </a:r>
          </a:p>
          <a:p xmlns:a="http://schemas.openxmlformats.org/drawingml/2006/main"/>
          <a:p xmlns:a="http://schemas.openxmlformats.org/drawingml/2006/main">
            <a:r>
              <a:t>• Inside it are research, extraction, the evidence gate, retry state and report routing.</a:t>
            </a:r>
          </a:p>
          <a:p xmlns:a="http://schemas.openxmlformats.org/drawingml/2006/main"/>
          <a:p xmlns:a="http://schemas.openxmlformats.org/drawingml/2006/main">
            <a:r>
              <a:t>• LangGraph keeps the deterministic evidence gate inside that workflow loop.</a:t>
            </a:r>
          </a:p>
          <a:p xmlns:a="http://schemas.openxmlformats.org/drawingml/2006/main"/>
          <a:p xmlns:a="http://schemas.openxmlformats.org/drawingml/2006/main">
            <a:r>
              <a:t>• If the evidence checks pass, supported facts and questions move to the report.</a:t>
            </a:r>
          </a:p>
          <a:p xmlns:a="http://schemas.openxmlformats.org/drawingml/2006/main"/>
          <a:p xmlns:a="http://schemas.openxmlformats.org/drawingml/2006/main">
            <a:r>
              <a:t>• If a check fails and retries remain, the workflow researches again.</a:t>
            </a:r>
          </a:p>
          <a:p xmlns:a="http://schemas.openxmlformats.org/drawingml/2006/main"/>
          <a:p xmlns:a="http://schemas.openxmlformats.org/drawingml/2006/main">
            <a:r>
              <a:t>• If no retries remain, the claim becomes undetermined.</a:t>
            </a:r>
          </a:p>
          <a:p xmlns:a="http://schemas.openxmlformats.org/drawingml/2006/main"/>
          <a:p xmlns:a="http://schemas.openxmlformats.org/drawingml/2006/main">
            <a:r>
              <a:t>• Nothing is forced through.</a:t>
            </a:r>
          </a:p>
          <a:p xmlns:a="http://schemas.openxmlformats.org/drawingml/2006/main"/>
          <a:p xmlns:a="http://schemas.openxmlformats.org/drawingml/2006/main">
            <a:r>
              <a:t>• The grey rail sits outside LangGraph: n8n only files the finished report in Notion.</a:t>
            </a:r>
          </a:p>
          <a:p xmlns:a="http://schemas.openxmlformats.org/drawingml/2006/main"/>
          <a:p xmlns:a="http://schemas.openxmlformats.org/drawingml/2006/main">
            <a:r>
              <a:t>• n8n does not research, judge evidence or make compliance decisions.</a:t>
            </a:r>
          </a:p>
          <a:p xmlns:a="http://schemas.openxmlformats.org/drawingml/2006/main"/>
          <a:p xmlns:a="http://schemas.openxmlformats.org/drawingml/2006/main">
            <a:r>
              <a:t>• We verified delivery from the Notion API response—not only from an n8n success message.</a:t>
            </a:r>
          </a:p>
          <a:p xmlns:a="http://schemas.openxmlformats.org/drawingml/2006/main"/>
          <a:p xmlns:a="http://schemas.openxmlformats.org/drawingml/2006/main">
            <a:r>
              <a:t>• The same architecture points to a recurring product, not just a one-off scan.</a:t>
            </a:r>
          </a:p>
          <a:p xmlns:a="http://schemas.openxmlformats.org/drawingml/2006/main"/>
          <a:p xmlns:a="http://schemas.openxmlformats.org/drawingml/2006/main">
            <a:r>
              <a:t>[If asked — HOW]</a:t>
            </a:r>
          </a:p>
          <a:p xmlns:a="http://schemas.openxmlformats.org/drawingml/2006/main">
            <a:r>
              <a:t>– Why LangGraph rather than prompts?  The loop needs state — gate verdicts, retry budget, per-claim outcomes. That is a state machine, not a prompt.</a:t>
            </a:r>
          </a:p>
          <a:p xmlns:a="http://schemas.openxmlformats.org/drawingml/2006/main">
            <a:r>
              <a:t>– How many retries?  A set budget per claim. Out of retries means undetermined, with the reason recorded in the report.</a:t>
            </a:r>
          </a:p>
          <a:p xmlns:a="http://schemas.openxmlformats.org/drawingml/2006/main">
            <a:r>
              <a:t>– Why is n8n kept outside?  It only files the finished report. If delivery fails, the evidence is untouched — and delivery was verified from the Notion API response, not n8n's success banner.</a:t>
            </a:r>
          </a:p>
          <a:p xmlns:a="http://schemas.openxmlformats.org/drawingml/2006/main"/>
          <a:p xmlns:a="http://schemas.openxmlformats.org/drawingml/2006/main">
            <a:r>
              <a:t>[Sources]</a:t>
            </a:r>
          </a:p>
          <a:p xmlns:a="http://schemas.openxmlformats.org/drawingml/2006/main">
            <a:r>
              <a:t>- stack_decision.md</a:t>
            </a:r>
          </a:p>
          <a:p xmlns:a="http://schemas.openxmlformats.org/drawingml/2006/main">
            <a:r>
              <a:t>- docs/architecture.md</a:t>
            </a:r>
          </a:p>
          <a:p xmlns:a="http://schemas.openxmlformats.org/drawingml/2006/main">
            <a:r>
              <a:t>- workflows/README.md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Today the MVP is an on-demand scan of one company. Everything on this slide is designed, not built.</a:t>
            </a:r>
          </a:p>
          <a:p xmlns:a="http://schemas.openxmlformats.org/drawingml/2006/main"/>
          <a:p xmlns:a="http://schemas.openxmlformats.org/drawingml/2006/main">
            <a:r>
              <a:t>• May: the client already uses hiring software. No AI feature evidenced.</a:t>
            </a:r>
          </a:p>
          <a:p xmlns:a="http://schemas.openxmlformats.org/drawingml/2006/main"/>
          <a:p xmlns:a="http://schemas.openxmlformats.org/drawingml/2006/main">
            <a:r>
              <a:t>• June: the vendor adds AI CV-ranking. The client buys nothing new.</a:t>
            </a:r>
          </a:p>
          <a:p xmlns:a="http://schemas.openxmlformats.org/drawingml/2006/main"/>
          <a:p xmlns:a="http://schemas.openxmlformats.org/drawingml/2006/main">
            <a:r>
              <a:t>• July: the adviser gets an alert — this client's AI inventory just changed.</a:t>
            </a:r>
          </a:p>
          <a:p xmlns:a="http://schemas.openxmlformats.org/drawingml/2006/main"/>
          <a:p xmlns:a="http://schemas.openxmlformats.org/drawingml/2006/main">
            <a:r>
              <a:t>• One vendor update like that can ripple across an adviser's entire portfolio.</a:t>
            </a:r>
          </a:p>
          <a:p xmlns:a="http://schemas.openxmlformats.org/drawingml/2006/main"/>
          <a:p xmlns:a="http://schemas.openxmlformats.org/drawingml/2006/main">
            <a:r>
              <a:t>• The test ahead: pilot with advisers, prove the alerts are useful, then ongoing monitoring.</a:t>
            </a:r>
          </a:p>
          <a:p xmlns:a="http://schemas.openxmlformats.org/drawingml/2006/main"/>
          <a:p xmlns:a="http://schemas.openxmlformats.org/drawingml/2006/main">
            <a:r>
              <a:t>• [Pause.]</a:t>
            </a:r>
          </a:p>
          <a:p xmlns:a="http://schemas.openxmlformats.org/drawingml/2006/main"/>
          <a:p xmlns:a="http://schemas.openxmlformats.org/drawingml/2006/main">
            <a:r>
              <a:t>• That turns a blank-page scan into an auditable, recurring conversation.</a:t>
            </a:r>
          </a:p>
          <a:p xmlns:a="http://schemas.openxmlformats.org/drawingml/2006/main"/>
          <a:p xmlns:a="http://schemas.openxmlformats.org/drawingml/2006/main">
            <a:r>
              <a:t>• [End the timed talk here. Appendix only for questions.]</a:t>
            </a:r>
          </a:p>
          <a:p xmlns:a="http://schemas.openxmlformats.org/drawingml/2006/main"/>
          <a:p xmlns:a="http://schemas.openxmlformats.org/drawingml/2006/main">
            <a:r>
              <a:t>[If asked — HOW]</a:t>
            </a:r>
          </a:p>
          <a:p xmlns:a="http://schemas.openxmlformats.org/drawingml/2006/main">
            <a:r>
              <a:t>– How would drift be detected?  Re-scan on a schedule and diff against the last inventory; vendor-corpus ingestion would watch vendor releases. Both designed, not built.</a:t>
            </a:r>
          </a:p>
          <a:p xmlns:a="http://schemas.openxmlformats.org/drawingml/2006/main">
            <a:r>
              <a:t>– How do you avoid alert noise?  Unproven. That is precisely what the adviser pilot has to prove before monitoring is sold.</a:t>
            </a:r>
          </a:p>
          <a:p xmlns:a="http://schemas.openxmlformats.org/drawingml/2006/main"/>
          <a:p xmlns:a="http://schemas.openxmlformats.org/drawingml/2006/main">
            <a:r>
              <a:t>[Sources]</a:t>
            </a:r>
          </a:p>
          <a:p xmlns:a="http://schemas.openxmlformats.org/drawingml/2006/main">
            <a:r>
              <a:t>- gtm_future_sprints.md</a:t>
            </a:r>
          </a:p>
          <a:p xmlns:a="http://schemas.openxmlformats.org/drawingml/2006/main">
            <a:r>
              <a:t>- docs/elevator-pitch.md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This slide has two halves: what held every time on the left, what did not on the right.</a:t>
            </a:r>
          </a:p>
          <a:p xmlns:a="http://schemas.openxmlformats.org/drawingml/2006/main"/>
          <a:p xmlns:a="http://schemas.openxmlformats.org/drawingml/2006/main">
            <a:r>
              <a:t>• Left, in plain terms. When there was nothing public to find, the system said so — all three companies with no public AI footprint came back undetermined, and it invented nothing about them. And every finding it did make traces back to a source that was checked: none failed that check, across sixty-four findings.</a:t>
            </a:r>
          </a:p>
          <a:p xmlns:a="http://schemas.openxmlformats.org/drawingml/2006/main"/>
          <a:p xmlns:a="http://schemas.openxmlformats.org/drawingml/2006/main">
            <a:r>
              <a:t>• Right: three places we fall short. The bar is what we got, the dark line is where we need to be.</a:t>
            </a:r>
          </a:p>
          <a:p xmlns:a="http://schemas.openxmlformats.org/drawingml/2006/main"/>
          <a:p xmlns:a="http://schemas.openxmlformats.org/drawingml/2006/main">
            <a:r>
              <a:t>• We find about 45% of the systems we should. We want 75%.</a:t>
            </a:r>
          </a:p>
          <a:p xmlns:a="http://schemas.openxmlformats.org/drawingml/2006/main"/>
          <a:p xmlns:a="http://schemas.openxmlformats.org/drawingml/2006/main">
            <a:r>
              <a:t>• We label a company's role — provider or deployer, which decides who carries the obligation — correctly about 74% of the time. We want 90%.</a:t>
            </a:r>
          </a:p>
          <a:p xmlns:a="http://schemas.openxmlformats.org/drawingml/2006/main"/>
          <a:p xmlns:a="http://schemas.openxmlformats.org/drawingml/2006/main">
            <a:r>
              <a:t>• The third one runs the other way: lower is better. Where a vendor has an AI capability, we wrongly report the client as deploying it a third of the time. The limit is 10%.</a:t>
            </a:r>
          </a:p>
          <a:p xmlns:a="http://schemas.openxmlformats.org/drawingml/2006/main"/>
          <a:p xmlns:a="http://schemas.openxmlformats.org/drawingml/2006/main">
            <a:r>
              <a:t>• Worth separating two things that sound alike. "Stayed silent" on the left is about no evidence at all — we never guess into a vacuum. "Claimed use without proof" on the right is a different failure: the capability genuinely exists, and we over-read that as the client using it. The first is perfect. The second is our worst number.</a:t>
            </a:r>
          </a:p>
          <a:p xmlns:a="http://schemas.openxmlformats.org/drawingml/2006/main"/>
          <a:p xmlns:a="http://schemas.openxmlformats.org/drawingml/2006/main">
            <a:r>
              <a:t>• [Pause.]</a:t>
            </a:r>
          </a:p>
          <a:p xmlns:a="http://schemas.openxmlformats.org/drawingml/2006/main"/>
          <a:p xmlns:a="http://schemas.openxmlformats.org/drawingml/2006/main">
            <a:r>
              <a:t>• The strip at the bottom is why I trust the left column and not the right. Identical code, two runs: 56% and 44%. Search results move, pages change under stable URLs, and extraction is not deterministic.</a:t>
            </a:r>
          </a:p>
          <a:p xmlns:a="http://schemas.openxmlformats.org/drawingml/2006/main"/>
          <a:p xmlns:a="http://schemas.openxmlformats.org/drawingml/2006/main">
            <a:r>
              <a:t>• So one run cannot prove an improvement. The honesty controls are the numbers worth quoting because they never moved — and before I claim any tuning worked, this needs repeated runs or a frozen page cache.</a:t>
            </a:r>
          </a:p>
          <a:p xmlns:a="http://schemas.openxmlformats.org/drawingml/2006/main"/>
          <a:p xmlns:a="http://schemas.openxmlformats.org/drawingml/2006/main">
            <a:r>
              <a:t>[If asked — HOW]</a:t>
            </a:r>
          </a:p>
          <a:p xmlns:a="http://schemas.openxmlformats.org/drawingml/2006/main">
            <a:r>
              <a:t>– How was ground truth built?  Twelve companies, hand-verified, in four bands of three — including three with no public AI footprint, where even the empty searches are documented.</a:t>
            </a:r>
          </a:p>
          <a:p xmlns:a="http://schemas.openxmlformats.org/drawingml/2006/main">
            <a:r>
              <a:t>– How do you know 56→44 is noise and not a regression?  Identical code in both runs. Only the web moved. That is the whole point of the strip.</a:t>
            </a:r>
          </a:p>
          <a:p xmlns:a="http://schemas.openxmlformats.org/drawingml/2006/main">
            <a:r>
              <a:t>– How will you improve recall?  Not until runs are comparable — repeated runs with a variance estimate, or a frozen page cache, come first. Otherwise tuning chases noise.</a:t>
            </a:r>
          </a:p>
          <a:p xmlns:a="http://schemas.openxmlformats.org/drawingml/2006/main"/>
          <a:p xmlns:a="http://schemas.openxmlformats.org/drawingml/2006/main">
            <a:r>
              <a:t>[Sources]</a:t>
            </a:r>
          </a:p>
          <a:p xmlns:a="http://schemas.openxmlformats.org/drawingml/2006/main">
            <a:r>
              <a:t>- eval/results.json</a:t>
            </a:r>
          </a:p>
          <a:p xmlns:a="http://schemas.openxmlformats.org/drawingml/2006/main">
            <a:r>
              <a:t>- docs/eval-plan.md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boundary is deliberate.</a:t>
            </a:r>
          </a:p>
          <a:p xmlns:a="http://schemas.openxmlformats.org/drawingml/2006/main"/>
          <a:p xmlns:a="http://schemas.openxmlformats.org/drawingml/2006/main">
            <a:r>
              <a:t>• AI Pre-Scan establishes facts from public sources: possible systems, the exact quoted evidence, where every fact came from, and the questions still open.</a:t>
            </a:r>
          </a:p>
          <a:p xmlns:a="http://schemas.openxmlformats.org/drawingml/2006/main"/>
          <a:p xmlns:a="http://schemas.openxmlformats.org/drawingml/2006/main">
            <a:r>
              <a:t>• It does not classify legal risk.</a:t>
            </a:r>
          </a:p>
          <a:p xmlns:a="http://schemas.openxmlformats.org/drawingml/2006/main"/>
          <a:p xmlns:a="http://schemas.openxmlformats.org/drawingml/2006/main">
            <a:r>
              <a:t>• An adviser confirms the facts with the client — that is the human-review checkpoint.</a:t>
            </a:r>
          </a:p>
          <a:p xmlns:a="http://schemas.openxmlformats.org/drawingml/2006/main"/>
          <a:p xmlns:a="http://schemas.openxmlformats.org/drawingml/2006/main">
            <a:r>
              <a:t>• Only then does a separate deterministic checker classify risk and determine obligations.</a:t>
            </a:r>
          </a:p>
          <a:p xmlns:a="http://schemas.openxmlformats.org/drawingml/2006/main"/>
          <a:p xmlns:a="http://schemas.openxmlformats.org/drawingml/2006/main">
            <a:r>
              <a:t>• Internal tools, systems behind a login, employees' personal AI — all outside an external scan's field of view, and we say so.</a:t>
            </a:r>
          </a:p>
          <a:p xmlns:a="http://schemas.openxmlformats.org/drawingml/2006/main"/>
          <a:p xmlns:a="http://schemas.openxmlformats.org/drawingml/2006/main">
            <a:r>
              <a:t>• [Pause.]</a:t>
            </a:r>
          </a:p>
          <a:p xmlns:a="http://schemas.openxmlformats.org/drawingml/2006/main"/>
          <a:p xmlns:a="http://schemas.openxmlformats.org/drawingml/2006/main">
            <a:r>
              <a:t>• Never claimed: complete visibility, legal advice, or an autonomous compliance decision.</a:t>
            </a:r>
          </a:p>
          <a:p xmlns:a="http://schemas.openxmlformats.org/drawingml/2006/main"/>
          <a:p xmlns:a="http://schemas.openxmlformats.org/drawingml/2006/main">
            <a:r>
              <a:t>[If asked — HOW]</a:t>
            </a:r>
          </a:p>
          <a:p xmlns:a="http://schemas.openxmlformats.org/drawingml/2006/main">
            <a:r>
              <a:t>– How does the checker consume this?  As checker-ready rows: every factual field it needs, confirmed by the adviser before anything is classified.</a:t>
            </a:r>
          </a:p>
          <a:p xmlns:a="http://schemas.openxmlformats.org/drawingml/2006/main">
            <a:r>
              <a:t>– How is the checker different from the scan?  The scan gathers facts with AI help and proves them. The checker is deterministic rules applying the AI Act to confirmed facts. No model decides a legal outcome.</a:t>
            </a:r>
          </a:p>
          <a:p xmlns:a="http://schemas.openxmlformats.org/drawingml/2006/main"/>
          <a:p xmlns:a="http://schemas.openxmlformats.org/drawingml/2006/main">
            <a:r>
              <a:t>[Sources]</a:t>
            </a:r>
          </a:p>
          <a:p xmlns:a="http://schemas.openxmlformats.org/drawingml/2006/main">
            <a:r>
              <a:t>- README.md</a:t>
            </a:r>
          </a:p>
          <a:p xmlns:a="http://schemas.openxmlformats.org/drawingml/2006/main">
            <a:r>
              <a:t>- docs/report-spec.md</a:t>
            </a:r>
          </a:p>
          <a:p xmlns:a="http://schemas.openxmlformats.org/drawingml/2006/main">
            <a:r>
              <a:t>- docs/elevator-pitch.md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MVP works end to end.</a:t>
            </a:r>
          </a:p>
          <a:p xmlns:a="http://schemas.openxmlformats.org/drawingml/2006/main">
            <a:r>
              <a:t/>
            </a:r>
          </a:p>
          <a:p xmlns:a="http://schemas.openxmlformats.org/drawingml/2006/main">
            <a:r>
              <a:t>• It runs in the browser or from the command line with a company-name trigger.</a:t>
            </a:r>
          </a:p>
          <a:p xmlns:a="http://schemas.openxmlformats.org/drawingml/2006/main">
            <a:r>
              <a:t/>
            </a:r>
          </a:p>
          <a:p xmlns:a="http://schemas.openxmlformats.org/drawingml/2006/main">
            <a:r>
              <a:t>• It finds evidence through Serper, NewsAPI, GLEIF and Wikidata.</a:t>
            </a:r>
          </a:p>
          <a:p xmlns:a="http://schemas.openxmlformats.org/drawingml/2006/main">
            <a:r>
              <a:t/>
            </a:r>
          </a:p>
          <a:p xmlns:a="http://schemas.openxmlformats.org/drawingml/2006/main">
            <a:r>
              <a:t>• OpenAI supports extraction, Pinecone stores evidence and the deterministic gate verifies each finding.</a:t>
            </a:r>
          </a:p>
          <a:p xmlns:a="http://schemas.openxmlformats.org/drawingml/2006/main">
            <a:r>
              <a:t/>
            </a:r>
          </a:p>
          <a:p xmlns:a="http://schemas.openxmlformats.org/drawingml/2006/main">
            <a:r>
              <a:t>• The output is a Markdown report; n8n can deliver it into Notion.</a:t>
            </a:r>
          </a:p>
          <a:p xmlns:a="http://schemas.openxmlformats.org/drawingml/2006/main">
            <a:r>
              <a:t/>
            </a:r>
          </a:p>
          <a:p xmlns:a="http://schemas.openxmlformats.org/drawingml/2006/main">
            <a:r>
              <a:t>• The evidence base includes a twelve-company evaluation, two retained sample reports and 107 passing offline tests.</a:t>
            </a:r>
          </a:p>
          <a:p xmlns:a="http://schemas.openxmlformats.org/drawingml/2006/main">
            <a:r>
              <a:t/>
            </a:r>
          </a:p>
          <a:p xmlns:a="http://schemas.openxmlformats.org/drawingml/2006/main">
            <a:r>
              <a:t>• The retained samples are generated artefacts—not hand-edited showcase copy.</a:t>
            </a:r>
          </a:p>
          <a:p xmlns:a="http://schemas.openxmlformats.org/drawingml/2006/main">
            <a:r>
              <a:t/>
            </a:r>
          </a:p>
          <a:p xmlns:a="http://schemas.openxmlformats.org/drawingml/2006/main">
            <a:r>
              <a:t>• [Pause.]</a:t>
            </a:r>
          </a:p>
          <a:p xmlns:a="http://schemas.openxmlformats.org/drawingml/2006/main">
            <a:r>
              <a:t/>
            </a:r>
          </a:p>
          <a:p xmlns:a="http://schemas.openxmlformats.org/drawingml/2006/main">
            <a:r>
              <a:t>• Scheduled sweeps and vendor-corpus ingestion are designed next steps, not part of the built MVP.</a:t>
            </a:r>
          </a:p>
          <a:p xmlns:a="http://schemas.openxmlformats.org/drawingml/2006/main">
            <a:r>
              <a:t/>
            </a:r>
          </a:p>
          <a:p xmlns:a="http://schemas.openxmlformats.org/drawingml/2006/main">
            <a:r>
              <a:t>[If asked — HOW]</a:t>
            </a:r>
          </a:p>
          <a:p xmlns:a="http://schemas.openxmlformats.org/drawingml/2006/main">
            <a:r>
              <a:t>– How is it tested?  107 offline tests, plus the twelve-company evaluation and the two retained sample reports.</a:t>
            </a:r>
          </a:p>
          <a:p xmlns:a="http://schemas.openxmlformats.org/drawingml/2006/main">
            <a:r>
              <a:t>– How does delivery work?  A webhook posts the finished report to n8n, which files it in Notion — verified against the Notion API response.</a:t>
            </a:r>
          </a:p>
          <a:p xmlns:a="http://schemas.openxmlformats.org/drawingml/2006/main">
            <a:r>
              <a:t>– What does a scan cost?  Not formally benchmarked. It is a small number of search and model calls per company — the checks themselves are free, they are code. Measuring cost per scan is part of pilot prep.</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docs/architecture.md</a:t>
            </a:r>
          </a:p>
          <a:p xmlns:a="http://schemas.openxmlformats.org/drawingml/2006/main">
            <a:r>
              <a:t>- workflows/README.md</a:t>
            </a:r>
          </a:p>
          <a:p xmlns:a="http://schemas.openxmlformats.org/drawingml/2006/main">
            <a:r>
              <a:t>- eval/results.md</a:t>
            </a:r>
          </a:p>
          <a:p xmlns:a="http://schemas.openxmlformats.org/drawingml/2006/main">
            <a:r>
              <a:t>- samples/personio.md</a:t>
            </a:r>
          </a:p>
          <a:p xmlns:a="http://schemas.openxmlformats.org/drawingml/2006/main">
            <a:r>
              <a:t>- samples/ballymaloe-foods.md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ce9e9735cd945c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1ff27412b904851" /></Relationships>
</file>

<file path=ppt/slideLayouts/slideLayout1.xml><?xml version="1.0" encoding="utf-8"?>
<p:sldLayout xmlns:p="http://schemas.openxmlformats.org/presentationml/2006/main" type="blank" preserve="1">
  <p:cSld name="DEFAULT">
    <p:bg>
      <p:bgPr>
        <a:solidFill xmlns:a="http://schemas.openxmlformats.org/drawingml/2006/main">
          <a:srgbClr val="FFFFFF"/>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MASTER">
    <p:bg>
      <p:bgPr>
        <a:solidFill xmlns:a="http://schemas.openxmlformats.org/drawingml/2006/main">
          <a:srgbClr val="FBFCFE"/>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D166689-95A8-483D-8E18-D9579C377F9E}"/>
              </a:ext>
            </a:extLst>
          </p:cNvPr>
          <p:cNvSpPr>
            <a:spLocks xmlns:a="http://schemas.openxmlformats.org/drawingml/2006/main" noGrp="1"/>
          </p:cNvSpPr>
          <p:nvPr/>
        </p:nvSpPr>
        <p:spPr>
          <a:xfrm xmlns:a="http://schemas.openxmlformats.org/drawingml/2006/main">
            <a:off x="0" y="0"/>
            <a:ext cx="109440" cy="685764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 name="PlaceHolder 1">
            <a:extLst xmlns:a="http://schemas.openxmlformats.org/drawingml/2006/main">
              <a:ext uri="{FF2B5EF4-FFF2-40B4-BE49-F238E27FC236}">
                <a16:creationId xmlns:a16="http://schemas.microsoft.com/office/drawing/2014/main" id="{7BD02B0F-168B-48D7-82C0-1C1D72DD8BBA}"/>
              </a:ext>
            </a:extLst>
          </p:cNvPr>
          <p:cNvSpPr>
            <a:spLocks xmlns:a="http://schemas.openxmlformats.org/drawingml/2006/main" noGrp="1"/>
          </p:cNvSpPr>
          <p:nvPr>
            <p:ph type="sldNum" idx="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95547B3-D671-4D4C-B9A9-29366E135E7C}" type="slidenum">
              <a:rPr sz="900" b="0" u="none">
                <a:solidFill>
                  <a:srgbClr val="94A3B8"/>
                </a:solidFill>
                <a:latin typeface="Aptos"/>
                <a:ea typeface="Aptos"/>
                <a:cs typeface="Aptos"/>
              </a:rPr>
              <a:t>&lt;number&gt;</a:t>
            </a:fld>
            <a:endParaRPr sz="900" b="0" u="none">
              <a:solidFill>
                <a:srgbClr val="000000"/>
              </a:solidFill>
              <a:latin typeface="Times New Roman"/>
              <a:ea typeface="Times New Roman"/>
              <a:cs typeface="Times New Roman"/>
            </a:endParaRPr>
          </a:p>
        </p:txBody>
      </p:sp>
      <p:sp>
        <p:nvSpPr>
          <p:cNvPr id="4" name="PlaceHolder 2">
            <a:extLst xmlns:a="http://schemas.openxmlformats.org/drawingml/2006/main">
              <a:ext uri="{FF2B5EF4-FFF2-40B4-BE49-F238E27FC236}">
                <a16:creationId xmlns:a16="http://schemas.microsoft.com/office/drawing/2014/main" id="{20FBEA45-2BB8-4D2C-9D8E-BE7A91B9FD9B}"/>
              </a:ext>
            </a:extLst>
          </p:cNvPr>
          <p:cNvSpPr>
            <a:spLocks xmlns:a="http://schemas.openxmlformats.org/drawingml/2006/main" noGrp="1"/>
          </p:cNvSpPr>
          <p:nvPr>
            <p:ph type="title" idx="0"/>
          </p:nvPr>
        </p:nvSpPr>
        <p:spPr>
          <a:xfrm xmlns:a="http://schemas.openxmlformats.org/drawingml/2006/main">
            <a:off x="609480" y="273600"/>
            <a:ext cx="10972440" cy="114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lvl1pPr indent="0" algn="l">
              <a:buNone/>
              <a:defRPr sz="1800" b="0" u="none">
                <a:solidFill>
                  <a:schemeClr val="dk1"/>
                </a:solidFill>
                <a:latin typeface="Aptos"/>
                <a:ea typeface="Aptos"/>
                <a:cs typeface="Aptos"/>
              </a:defRPr>
            </a:lvl1pPr>
          </a:lstStyle>
          <a:p xmlns:a="http://schemas.openxmlformats.org/drawingml/2006/main">
            <a:pPr indent="0" algn="l">
              <a:buNone/>
            </a:pPr>
            <a:r>
              <a:rPr sz="1800" b="0" u="none">
                <a:solidFill>
                  <a:schemeClr val="dk1"/>
                </a:solidFill>
                <a:latin typeface="Aptos"/>
                <a:ea typeface="Aptos"/>
                <a:cs typeface="Aptos"/>
              </a:rPr>
              <a:t>Click to edit the title text format</a:t>
            </a:r>
            <a:endParaRPr sz="1800" b="0" u="none">
              <a:solidFill>
                <a:schemeClr val="dk1"/>
              </a:solidFill>
              <a:latin typeface="Aptos"/>
              <a:ea typeface="Aptos"/>
              <a:cs typeface="Aptos"/>
            </a:endParaRPr>
          </a:p>
        </p:txBody>
      </p:sp>
      <p:sp>
        <p:nvSpPr>
          <p:cNvPr id="5" name="PlaceHolder 3">
            <a:extLst xmlns:a="http://schemas.openxmlformats.org/drawingml/2006/main">
              <a:ext uri="{FF2B5EF4-FFF2-40B4-BE49-F238E27FC236}">
                <a16:creationId xmlns:a16="http://schemas.microsoft.com/office/drawing/2014/main" id="{CEED2F09-57BF-4B7E-9012-007BC6D6CA7B}"/>
              </a:ext>
            </a:extLst>
          </p:cNvPr>
          <p:cNvSpPr>
            <a:spLocks xmlns:a="http://schemas.openxmlformats.org/drawingml/2006/main" noGrp="1"/>
          </p:cNvSpPr>
          <p:nvPr>
            <p:ph type="body" idx="0"/>
          </p:nvPr>
        </p:nvSpPr>
        <p:spPr>
          <a:xfrm xmlns:a="http://schemas.openxmlformats.org/drawingml/2006/main">
            <a:off x="609480" y="1604520"/>
            <a:ext cx="10972440" cy="3977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a:bodyPr>
          <a:lstStyle xmlns:a="http://schemas.openxmlformats.org/drawingml/2006/main">
            <a:lvl1pPr algn="l">
              <a:spcBef>
                <a:spcPts val="1417"/>
              </a:spcBef>
              <a:buClr>
                <a:srgbClr val="000000"/>
              </a:buClr>
              <a:buSzPct val="45000"/>
              <a:buFont typeface="Wingdings"/>
              <a:buChar char=""/>
              <a:defRPr sz="3200" b="0" u="none">
                <a:solidFill>
                  <a:schemeClr val="dk1"/>
                </a:solidFill>
                <a:latin typeface="Aptos"/>
                <a:ea typeface="Aptos"/>
                <a:cs typeface="Aptos"/>
              </a:defRPr>
            </a:lvl1pPr>
            <a:lvl2pPr algn="l">
              <a:spcBef>
                <a:spcPts val="1134"/>
              </a:spcBef>
              <a:buClr>
                <a:srgbClr val="000000"/>
              </a:buClr>
              <a:buSzPct val="75000"/>
              <a:buFont typeface="Symbol"/>
              <a:buChar char=""/>
              <a:defRPr sz="2400" b="0" u="none">
                <a:solidFill>
                  <a:schemeClr val="dk1"/>
                </a:solidFill>
                <a:latin typeface="Aptos"/>
                <a:ea typeface="Aptos"/>
                <a:cs typeface="Aptos"/>
              </a:defRPr>
            </a:lvl2pPr>
            <a:lvl3pPr algn="l">
              <a:spcBef>
                <a:spcPts val="850"/>
              </a:spcBef>
              <a:buClr>
                <a:srgbClr val="000000"/>
              </a:buClr>
              <a:buSzPct val="45000"/>
              <a:buFont typeface="Wingdings"/>
              <a:buChar char=""/>
              <a:defRPr sz="2000" b="0" u="none">
                <a:solidFill>
                  <a:schemeClr val="dk1"/>
                </a:solidFill>
                <a:latin typeface="Aptos"/>
                <a:ea typeface="Aptos"/>
                <a:cs typeface="Aptos"/>
              </a:defRPr>
            </a:lvl3pPr>
            <a:lvl4pPr algn="l">
              <a:spcBef>
                <a:spcPts val="567"/>
              </a:spcBef>
              <a:buClr>
                <a:srgbClr val="000000"/>
              </a:buClr>
              <a:buSzPct val="75000"/>
              <a:buFont typeface="Symbol"/>
              <a:buChar char=""/>
              <a:defRPr sz="2000" b="0" u="none">
                <a:solidFill>
                  <a:schemeClr val="dk1"/>
                </a:solidFill>
                <a:latin typeface="Aptos"/>
                <a:ea typeface="Aptos"/>
                <a:cs typeface="Aptos"/>
              </a:defRPr>
            </a:lvl4pPr>
            <a:lvl5pPr algn="l">
              <a:spcBef>
                <a:spcPts val="283"/>
              </a:spcBef>
              <a:buClr>
                <a:srgbClr val="000000"/>
              </a:buClr>
              <a:buSzPct val="45000"/>
              <a:buFont typeface="Wingdings"/>
              <a:buChar char=""/>
              <a:defRPr sz="2000" b="0" u="none">
                <a:solidFill>
                  <a:schemeClr val="dk1"/>
                </a:solidFill>
                <a:latin typeface="Aptos"/>
                <a:ea typeface="Aptos"/>
                <a:cs typeface="Aptos"/>
              </a:defRPr>
            </a:lvl5pPr>
            <a:lvl6pPr algn="l">
              <a:spcBef>
                <a:spcPts val="283"/>
              </a:spcBef>
              <a:buClr>
                <a:srgbClr val="000000"/>
              </a:buClr>
              <a:buSzPct val="45000"/>
              <a:buFont typeface="Wingdings"/>
              <a:buChar char=""/>
              <a:defRPr sz="2000" b="0" u="none">
                <a:solidFill>
                  <a:schemeClr val="dk1"/>
                </a:solidFill>
                <a:latin typeface="Aptos"/>
                <a:ea typeface="Aptos"/>
                <a:cs typeface="Aptos"/>
              </a:defRPr>
            </a:lvl6pPr>
            <a:lvl7pPr algn="l">
              <a:spcBef>
                <a:spcPts val="283"/>
              </a:spcBef>
              <a:buClr>
                <a:srgbClr val="000000"/>
              </a:buClr>
              <a:buSzPct val="45000"/>
              <a:buFont typeface="Wingdings"/>
              <a:buChar char=""/>
              <a:defRPr sz="2000" b="0" u="none">
                <a:solidFill>
                  <a:schemeClr val="dk1"/>
                </a:solidFill>
                <a:latin typeface="Aptos"/>
                <a:ea typeface="Aptos"/>
                <a:cs typeface="Aptos"/>
              </a:defRPr>
            </a:lvl7pPr>
          </a:lstStyle>
          <a:p xmlns:a="http://schemas.openxmlformats.org/drawingml/2006/main">
            <a:pPr marL="432000" indent="-324000" algn="l">
              <a:spcBef>
                <a:spcPts val="1417"/>
              </a:spcBef>
              <a:buClr>
                <a:srgbClr val="000000"/>
              </a:buClr>
              <a:buSzPct val="45000"/>
              <a:buFont typeface="Wingdings"/>
              <a:buChar char=""/>
            </a:pPr>
            <a:r>
              <a:rPr sz="3200" b="0" u="none">
                <a:solidFill>
                  <a:schemeClr val="dk1"/>
                </a:solidFill>
                <a:latin typeface="Aptos"/>
                <a:ea typeface="Aptos"/>
                <a:cs typeface="Aptos"/>
              </a:rPr>
              <a:t>Click to edit the outline text format</a:t>
            </a:r>
            <a:endParaRPr sz="3200" b="0" u="none">
              <a:solidFill>
                <a:schemeClr val="dk1"/>
              </a:solidFill>
              <a:latin typeface="Aptos"/>
              <a:ea typeface="Aptos"/>
              <a:cs typeface="Aptos"/>
            </a:endParaRPr>
          </a:p>
          <a:p xmlns:a="http://schemas.openxmlformats.org/drawingml/2006/main">
            <a:pPr marL="864000" lvl="1" indent="-324000" algn="l">
              <a:spcBef>
                <a:spcPts val="1134"/>
              </a:spcBef>
              <a:buClr>
                <a:srgbClr val="000000"/>
              </a:buClr>
              <a:buSzPct val="75000"/>
              <a:buFont typeface="Symbol"/>
              <a:buChar char=""/>
            </a:pPr>
            <a:r>
              <a:rPr sz="2400" b="0" u="none">
                <a:solidFill>
                  <a:schemeClr val="dk1"/>
                </a:solidFill>
                <a:latin typeface="Aptos"/>
                <a:ea typeface="Aptos"/>
                <a:cs typeface="Aptos"/>
              </a:rPr>
              <a:t>Second Outline Level</a:t>
            </a:r>
            <a:endParaRPr sz="2400" b="0" u="none">
              <a:solidFill>
                <a:schemeClr val="dk1"/>
              </a:solidFill>
              <a:latin typeface="Aptos"/>
              <a:ea typeface="Aptos"/>
              <a:cs typeface="Aptos"/>
            </a:endParaRPr>
          </a:p>
          <a:p xmlns:a="http://schemas.openxmlformats.org/drawingml/2006/main">
            <a:pPr marL="1296000" lvl="2" indent="-288000" algn="l">
              <a:spcBef>
                <a:spcPts val="850"/>
              </a:spcBef>
              <a:buClr>
                <a:srgbClr val="000000"/>
              </a:buClr>
              <a:buSzPct val="45000"/>
              <a:buFont typeface="Wingdings"/>
              <a:buChar char=""/>
            </a:pPr>
            <a:r>
              <a:rPr sz="2000" b="0" u="none">
                <a:solidFill>
                  <a:schemeClr val="dk1"/>
                </a:solidFill>
                <a:latin typeface="Aptos"/>
                <a:ea typeface="Aptos"/>
                <a:cs typeface="Aptos"/>
              </a:rPr>
              <a:t>Third Outline Level</a:t>
            </a:r>
            <a:endParaRPr sz="2000" b="0" u="none">
              <a:solidFill>
                <a:schemeClr val="dk1"/>
              </a:solidFill>
              <a:latin typeface="Aptos"/>
              <a:ea typeface="Aptos"/>
              <a:cs typeface="Aptos"/>
            </a:endParaRPr>
          </a:p>
          <a:p xmlns:a="http://schemas.openxmlformats.org/drawingml/2006/main">
            <a:pPr marL="1728000" lvl="3" indent="-216000" algn="l">
              <a:spcBef>
                <a:spcPts val="567"/>
              </a:spcBef>
              <a:buClr>
                <a:srgbClr val="000000"/>
              </a:buClr>
              <a:buSzPct val="75000"/>
              <a:buFont typeface="Symbol"/>
              <a:buChar char=""/>
            </a:pPr>
            <a:r>
              <a:rPr sz="2000" b="0" u="none">
                <a:solidFill>
                  <a:schemeClr val="dk1"/>
                </a:solidFill>
                <a:latin typeface="Aptos"/>
                <a:ea typeface="Aptos"/>
                <a:cs typeface="Aptos"/>
              </a:rPr>
              <a:t>Fourth Outline Level</a:t>
            </a:r>
            <a:endParaRPr sz="2000" b="0" u="none">
              <a:solidFill>
                <a:schemeClr val="dk1"/>
              </a:solidFill>
              <a:latin typeface="Aptos"/>
              <a:ea typeface="Aptos"/>
              <a:cs typeface="Aptos"/>
            </a:endParaRPr>
          </a:p>
          <a:p xmlns:a="http://schemas.openxmlformats.org/drawingml/2006/main">
            <a:pPr marL="2160000" lvl="4" indent="-216000" algn="l">
              <a:spcBef>
                <a:spcPts val="283"/>
              </a:spcBef>
              <a:buClr>
                <a:srgbClr val="000000"/>
              </a:buClr>
              <a:buSzPct val="45000"/>
              <a:buFont typeface="Wingdings"/>
              <a:buChar char=""/>
            </a:pPr>
            <a:r>
              <a:rPr sz="2000" b="0" u="none">
                <a:solidFill>
                  <a:schemeClr val="dk1"/>
                </a:solidFill>
                <a:latin typeface="Aptos"/>
                <a:ea typeface="Aptos"/>
                <a:cs typeface="Aptos"/>
              </a:rPr>
              <a:t>Fifth Outline Level</a:t>
            </a:r>
            <a:endParaRPr sz="2000" b="0" u="none">
              <a:solidFill>
                <a:schemeClr val="dk1"/>
              </a:solidFill>
              <a:latin typeface="Aptos"/>
              <a:ea typeface="Aptos"/>
              <a:cs typeface="Aptos"/>
            </a:endParaRPr>
          </a:p>
          <a:p xmlns:a="http://schemas.openxmlformats.org/drawingml/2006/main">
            <a:pPr marL="2592000" lvl="5" indent="-216000" algn="l">
              <a:spcBef>
                <a:spcPts val="283"/>
              </a:spcBef>
              <a:buClr>
                <a:srgbClr val="000000"/>
              </a:buClr>
              <a:buSzPct val="45000"/>
              <a:buFont typeface="Wingdings"/>
              <a:buChar char=""/>
            </a:pPr>
            <a:r>
              <a:rPr sz="2000" b="0" u="none">
                <a:solidFill>
                  <a:schemeClr val="dk1"/>
                </a:solidFill>
                <a:latin typeface="Aptos"/>
                <a:ea typeface="Aptos"/>
                <a:cs typeface="Aptos"/>
              </a:rPr>
              <a:t>Sixth Outline Level</a:t>
            </a:r>
            <a:endParaRPr sz="2000" b="0" u="none">
              <a:solidFill>
                <a:schemeClr val="dk1"/>
              </a:solidFill>
              <a:latin typeface="Aptos"/>
              <a:ea typeface="Aptos"/>
              <a:cs typeface="Aptos"/>
            </a:endParaRPr>
          </a:p>
          <a:p xmlns:a="http://schemas.openxmlformats.org/drawingml/2006/main">
            <a:pPr marL="3024000" lvl="6" indent="-216000" algn="l">
              <a:spcBef>
                <a:spcPts val="283"/>
              </a:spcBef>
              <a:buClr>
                <a:srgbClr val="000000"/>
              </a:buClr>
              <a:buSzPct val="45000"/>
              <a:buFont typeface="Wingdings"/>
              <a:buChar char=""/>
            </a:pPr>
            <a:r>
              <a:rPr sz="2000" b="0" u="none">
                <a:solidFill>
                  <a:schemeClr val="dk1"/>
                </a:solidFill>
                <a:latin typeface="Aptos"/>
                <a:ea typeface="Aptos"/>
                <a:cs typeface="Aptos"/>
              </a:rPr>
              <a:t>Seventh Outline Level</a:t>
            </a:r>
            <a:endParaRPr sz="2000" b="0" u="none">
              <a:solidFill>
                <a:schemeClr val="dk1"/>
              </a:solidFill>
              <a:latin typeface="Aptos"/>
              <a:ea typeface="Aptos"/>
              <a:cs typeface="Aptos"/>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bc88e0df01845e7" /><Relationship Type="http://schemas.openxmlformats.org/officeDocument/2006/relationships/slideLayout" Target="/ppt/slideLayouts/slideLayout1.xml" Id="R4e4e39095a194e1c" /><Relationship Type="http://schemas.openxmlformats.org/officeDocument/2006/relationships/slideLayout" Target="/ppt/slideLayouts/slideLayout2.xml" Id="R283891e31d444636"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4e39095a194e1c"/>
    <p:sldLayoutId xmlns:r="http://schemas.openxmlformats.org/officeDocument/2006/relationships" id="2147483650" r:id="R283891e31d444636"/>
  </p:sldLayoutIdLst>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48c0d2a663ce4b66" /><Relationship Type="http://schemas.openxmlformats.org/officeDocument/2006/relationships/notesSlide" Target="/ppt/notesSlides/notesSlide1.xml" Id="R73fbeac1a1324fdd"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ce93d4096961433e" /><Relationship Type="http://schemas.openxmlformats.org/officeDocument/2006/relationships/notesSlide" Target="/ppt/notesSlides/notesSlide2.xml" Id="Rbb83d6adf88549db"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2ac2f64063854ecc" /><Relationship Type="http://schemas.openxmlformats.org/officeDocument/2006/relationships/notesSlide" Target="/ppt/notesSlides/notesSlide3.xml" Id="Rfe7e1f4cbb3a48b1"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1626c3b04ad34472" /><Relationship Type="http://schemas.openxmlformats.org/officeDocument/2006/relationships/notesSlide" Target="/ppt/notesSlides/notesSlide4.xml" Id="Ree3def4a8b3a43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00c41d720d8f4d19" /><Relationship Type="http://schemas.openxmlformats.org/officeDocument/2006/relationships/notesSlide" Target="/ppt/notesSlides/notesSlide5.xml" Id="R06cfb0183f1140fe"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3239e21a67044472" /><Relationship Type="http://schemas.openxmlformats.org/officeDocument/2006/relationships/notesSlide" Target="/ppt/notesSlides/notesSlide6.xml" Id="R13d41d793eac40e7"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cc97130a940d4803" /><Relationship Type="http://schemas.openxmlformats.org/officeDocument/2006/relationships/notesSlide" Target="/ppt/notesSlides/notesSlide7.xml" Id="R605cba02124b421a"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513e65c73e6d4c36" /><Relationship Type="http://schemas.openxmlformats.org/officeDocument/2006/relationships/notesSlide" Target="/ppt/notesSlides/notesSlide8.xml" Id="R660f467cf8e54f78"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99fe7977b82e4411" /><Relationship Type="http://schemas.openxmlformats.org/officeDocument/2006/relationships/notesSlide" Target="/ppt/notesSlides/notesSlide9.xml" Id="R51f887af815a44e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54733b38cedf4639" /><Relationship Type="http://schemas.openxmlformats.org/officeDocument/2006/relationships/notesSlide" Target="/ppt/notesSlides/notesSlide10.xml" Id="Re328c1ede2094842" /></Relationships>
</file>

<file path=ppt/slides/slide1.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12" name="Text 0">
            <a:extLst xmlns:a="http://schemas.openxmlformats.org/drawingml/2006/main">
              <a:ext uri="{FF2B5EF4-FFF2-40B4-BE49-F238E27FC236}">
                <a16:creationId xmlns:a16="http://schemas.microsoft.com/office/drawing/2014/main" id="{87FD0AC4-A85F-4062-BF64-BC31229386BB}"/>
              </a:ext>
            </a:extLst>
          </p:cNvPr>
          <p:cNvSpPr>
            <a:spLocks xmlns:a="http://schemas.openxmlformats.org/drawingml/2006/main" noGrp="1"/>
          </p:cNvSpPr>
          <p:nvPr/>
        </p:nvSpPr>
        <p:spPr>
          <a:xfrm xmlns:a="http://schemas.openxmlformats.org/drawingml/2006/main">
            <a:off x="731520" y="567000"/>
            <a:ext cx="21942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spc="221">
                <a:solidFill>
                  <a:srgbClr val="2563EB"/>
                </a:solidFill>
                <a:latin typeface="Aptos"/>
                <a:ea typeface="Aptos"/>
                <a:cs typeface="Aptos"/>
              </a:rPr>
              <a:t>AI PRE-SCAN</a:t>
            </a:r>
            <a:endParaRPr sz="1200" b="0" u="none">
              <a:solidFill>
                <a:srgbClr val="000000"/>
              </a:solidFill>
              <a:latin typeface="Arial"/>
              <a:ea typeface="Arial"/>
              <a:cs typeface="Arial"/>
            </a:endParaRPr>
          </a:p>
        </p:txBody>
      </p:sp>
      <p:sp>
        <p:nvSpPr>
          <p:cNvPr id="13" name="Text 1">
            <a:extLst xmlns:a="http://schemas.openxmlformats.org/drawingml/2006/main">
              <a:ext uri="{FF2B5EF4-FFF2-40B4-BE49-F238E27FC236}">
                <a16:creationId xmlns:a16="http://schemas.microsoft.com/office/drawing/2014/main" id="{E7DFE0B7-4D05-495F-BCBB-46AF6E849665}"/>
              </a:ext>
            </a:extLst>
          </p:cNvPr>
          <p:cNvSpPr>
            <a:spLocks xmlns:a="http://schemas.openxmlformats.org/drawingml/2006/main" noGrp="1"/>
          </p:cNvSpPr>
          <p:nvPr/>
        </p:nvSpPr>
        <p:spPr>
          <a:xfrm xmlns:a="http://schemas.openxmlformats.org/drawingml/2006/main">
            <a:off x="731520" y="1161288"/>
            <a:ext cx="5989320" cy="23774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5200" b="1" u="none">
                <a:solidFill>
                  <a:srgbClr val="0B1020"/>
                </a:solidFill>
                <a:latin typeface="Aptos Display"/>
                <a:ea typeface="Aptos Display"/>
                <a:cs typeface="Aptos Display"/>
              </a:rPr>
              <a:t>What AI does your company actually use?</a:t>
            </a:r>
            <a:endParaRPr sz="5200" b="0" u="none">
              <a:solidFill>
                <a:srgbClr val="000000"/>
              </a:solidFill>
              <a:latin typeface="Arial"/>
              <a:ea typeface="Arial"/>
              <a:cs typeface="Arial"/>
            </a:endParaRPr>
          </a:p>
        </p:txBody>
      </p:sp>
      <p:sp>
        <p:nvSpPr>
          <p:cNvPr id="14" name="Text 2">
            <a:extLst xmlns:a="http://schemas.openxmlformats.org/drawingml/2006/main">
              <a:ext uri="{FF2B5EF4-FFF2-40B4-BE49-F238E27FC236}">
                <a16:creationId xmlns:a16="http://schemas.microsoft.com/office/drawing/2014/main" id="{98374123-18DF-43B2-AE69-45CC83D97A74}"/>
              </a:ext>
            </a:extLst>
          </p:cNvPr>
          <p:cNvSpPr>
            <a:spLocks xmlns:a="http://schemas.openxmlformats.org/drawingml/2006/main" noGrp="1"/>
          </p:cNvSpPr>
          <p:nvPr/>
        </p:nvSpPr>
        <p:spPr>
          <a:xfrm xmlns:a="http://schemas.openxmlformats.org/drawingml/2006/main">
            <a:off x="749808" y="3703320"/>
            <a:ext cx="5623560" cy="1463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6000"/>
              </a:lnSpc>
              <a:buNone/>
              <a:tabLst>
                <a:tab pos="0" algn="l"/>
              </a:tabLst>
            </a:pPr>
            <a:r>
              <a:rPr sz="2000" b="0" u="none">
                <a:solidFill>
                  <a:srgbClr val="334155"/>
                </a:solidFill>
                <a:latin typeface="Aptos"/>
                <a:ea typeface="Aptos"/>
                <a:cs typeface="Aptos"/>
              </a:rPr>
              <a:t>The answer every SME will soon owe under the EU AI Act — drafted in minutes, by a scan that would rather hand you a question than a false answer.</a:t>
            </a:r>
            <a:endParaRPr sz="2100" b="0" u="none">
              <a:solidFill>
                <a:srgbClr val="000000"/>
              </a:solidFill>
              <a:latin typeface="Arial"/>
              <a:ea typeface="Arial"/>
              <a:cs typeface="Arial"/>
            </a:endParaRPr>
          </a:p>
        </p:txBody>
      </p:sp>
      <p:sp>
        <p:nvSpPr>
          <p:cNvPr id="16" name="Shape 4">
            <a:extLst xmlns:a="http://schemas.openxmlformats.org/drawingml/2006/main">
              <a:ext uri="{FF2B5EF4-FFF2-40B4-BE49-F238E27FC236}">
                <a16:creationId xmlns:a16="http://schemas.microsoft.com/office/drawing/2014/main" id="{4B83DE43-CEE5-4A51-8D91-942D78E30CD2}"/>
              </a:ext>
            </a:extLst>
          </p:cNvPr>
          <p:cNvSpPr>
            <a:spLocks xmlns:a="http://schemas.openxmlformats.org/drawingml/2006/main" noGrp="1"/>
          </p:cNvSpPr>
          <p:nvPr/>
        </p:nvSpPr>
        <p:spPr>
          <a:xfrm xmlns:a="http://schemas.openxmlformats.org/drawingml/2006/main">
            <a:off x="6903720" y="1124640"/>
            <a:ext cx="4388760" cy="4370400"/>
          </a:xfrm>
          <a:prstGeom xmlns:a="http://schemas.openxmlformats.org/drawingml/2006/main" prst="roundRect">
            <a:avLst>
              <a:gd name="adj" fmla="val 3347"/>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19080" dist="50402" dir="2700000" sx="100000" sy="100000" kx="0" ky="0" algn="bl" rotWithShape="0">
              <a:srgbClr val="0B1020">
                <a:alpha val="1200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 name="Text 5">
            <a:extLst xmlns:a="http://schemas.openxmlformats.org/drawingml/2006/main">
              <a:ext uri="{FF2B5EF4-FFF2-40B4-BE49-F238E27FC236}">
                <a16:creationId xmlns:a16="http://schemas.microsoft.com/office/drawing/2014/main" id="{4DCDC336-8589-4187-BE2A-BE6D50DF8384}"/>
              </a:ext>
            </a:extLst>
          </p:cNvPr>
          <p:cNvSpPr>
            <a:spLocks xmlns:a="http://schemas.openxmlformats.org/drawingml/2006/main" noGrp="1"/>
          </p:cNvSpPr>
          <p:nvPr/>
        </p:nvSpPr>
        <p:spPr>
          <a:xfrm xmlns:a="http://schemas.openxmlformats.org/drawingml/2006/main">
            <a:off x="7260336" y="1444752"/>
            <a:ext cx="2404872"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50" b="1" u="none" spc="150">
                <a:solidFill>
                  <a:srgbClr val="2563EB"/>
                </a:solidFill>
                <a:latin typeface="Aptos"/>
                <a:ea typeface="Aptos"/>
                <a:cs typeface="Aptos"/>
              </a:rPr>
              <a:t>PERSONIO  ·  HR SOFTWARE</a:t>
            </a:r>
            <a:endParaRPr sz="1100" b="0" u="none">
              <a:solidFill>
                <a:srgbClr val="000000"/>
              </a:solidFill>
              <a:latin typeface="Arial"/>
              <a:ea typeface="Arial"/>
              <a:cs typeface="Arial"/>
            </a:endParaRPr>
          </a:p>
        </p:txBody>
      </p:sp>
      <p:sp>
        <p:nvSpPr>
          <p:cNvPr id="18" name="Text 6">
            <a:extLst xmlns:a="http://schemas.openxmlformats.org/drawingml/2006/main">
              <a:ext uri="{FF2B5EF4-FFF2-40B4-BE49-F238E27FC236}">
                <a16:creationId xmlns:a16="http://schemas.microsoft.com/office/drawing/2014/main" id="{B6BFCD2F-2932-4AB5-A3DB-E0DC24CE0FF3}"/>
              </a:ext>
            </a:extLst>
          </p:cNvPr>
          <p:cNvSpPr>
            <a:spLocks xmlns:a="http://schemas.openxmlformats.org/drawingml/2006/main" noGrp="1"/>
          </p:cNvSpPr>
          <p:nvPr/>
        </p:nvSpPr>
        <p:spPr>
          <a:xfrm xmlns:a="http://schemas.openxmlformats.org/drawingml/2006/main">
            <a:off x="9802440" y="1426320"/>
            <a:ext cx="959760" cy="255600"/>
          </a:xfrm>
          <a:prstGeom xmlns:a="http://schemas.openxmlformats.org/drawingml/2006/main" prst="rect">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0F766E"/>
                </a:solidFill>
                <a:latin typeface="Aptos"/>
                <a:ea typeface="Aptos"/>
                <a:cs typeface="Aptos"/>
              </a:rPr>
              <a:t>EVIDENCED</a:t>
            </a:r>
            <a:endParaRPr sz="1000" b="0" u="none">
              <a:solidFill>
                <a:srgbClr val="000000"/>
              </a:solidFill>
              <a:latin typeface="Arial"/>
              <a:ea typeface="Arial"/>
              <a:cs typeface="Arial"/>
            </a:endParaRPr>
          </a:p>
        </p:txBody>
      </p:sp>
      <p:sp>
        <p:nvSpPr>
          <p:cNvPr id="19" name="Text 7">
            <a:extLst xmlns:a="http://schemas.openxmlformats.org/drawingml/2006/main">
              <a:ext uri="{FF2B5EF4-FFF2-40B4-BE49-F238E27FC236}">
                <a16:creationId xmlns:a16="http://schemas.microsoft.com/office/drawing/2014/main" id="{BF52DA37-E023-4BBA-A2D1-8E12E9DC113A}"/>
              </a:ext>
            </a:extLst>
          </p:cNvPr>
          <p:cNvSpPr>
            <a:spLocks xmlns:a="http://schemas.openxmlformats.org/drawingml/2006/main" noGrp="1"/>
          </p:cNvSpPr>
          <p:nvPr/>
        </p:nvSpPr>
        <p:spPr>
          <a:xfrm xmlns:a="http://schemas.openxmlformats.org/drawingml/2006/main">
            <a:off x="7260336" y="2286000"/>
            <a:ext cx="3520440" cy="822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0000" lnSpcReduction="9999"/>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Offers its own AI assistant for HR questions and workforce insights</a:t>
            </a:r>
            <a:endParaRPr sz="2200" b="0" u="none">
              <a:solidFill>
                <a:srgbClr val="000000"/>
              </a:solidFill>
              <a:latin typeface="Arial"/>
              <a:ea typeface="Arial"/>
              <a:cs typeface="Arial"/>
            </a:endParaRPr>
          </a:p>
        </p:txBody>
      </p:sp>
      <p:sp>
        <p:nvSpPr>
          <p:cNvPr id="21" name="Shape 9">
            <a:extLst xmlns:a="http://schemas.openxmlformats.org/drawingml/2006/main">
              <a:ext uri="{FF2B5EF4-FFF2-40B4-BE49-F238E27FC236}">
                <a16:creationId xmlns:a16="http://schemas.microsoft.com/office/drawing/2014/main" id="{A400C2A8-7BE8-4F7A-B873-E2535012B1E0}"/>
              </a:ext>
            </a:extLst>
          </p:cNvPr>
          <p:cNvSpPr>
            <a:spLocks xmlns:a="http://schemas.openxmlformats.org/drawingml/2006/main" noGrp="1"/>
          </p:cNvSpPr>
          <p:nvPr/>
        </p:nvSpPr>
        <p:spPr>
          <a:xfrm xmlns:a="http://schemas.openxmlformats.org/drawingml/2006/main">
            <a:off x="7260336" y="3310128"/>
            <a:ext cx="3611880" cy="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 name="Text 10">
            <a:extLst xmlns:a="http://schemas.openxmlformats.org/drawingml/2006/main">
              <a:ext uri="{FF2B5EF4-FFF2-40B4-BE49-F238E27FC236}">
                <a16:creationId xmlns:a16="http://schemas.microsoft.com/office/drawing/2014/main" id="{C154DD58-1B31-466E-AC5B-0D37E0399CE3}"/>
              </a:ext>
            </a:extLst>
          </p:cNvPr>
          <p:cNvSpPr>
            <a:spLocks xmlns:a="http://schemas.openxmlformats.org/drawingml/2006/main" noGrp="1"/>
          </p:cNvSpPr>
          <p:nvPr/>
        </p:nvSpPr>
        <p:spPr>
          <a:xfrm xmlns:a="http://schemas.openxmlformats.org/drawingml/2006/main">
            <a:off x="7260336" y="3493008"/>
            <a:ext cx="31546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a:solidFill>
                  <a:srgbClr val="64748B"/>
                </a:solidFill>
                <a:latin typeface="Aptos"/>
                <a:ea typeface="Aptos"/>
                <a:cs typeface="Aptos"/>
              </a:rPr>
              <a:t>What public evidence cannot settle</a:t>
            </a:r>
            <a:endParaRPr sz="1200" b="0" u="none">
              <a:solidFill>
                <a:srgbClr val="000000"/>
              </a:solidFill>
              <a:latin typeface="Arial"/>
              <a:ea typeface="Arial"/>
              <a:cs typeface="Arial"/>
            </a:endParaRPr>
          </a:p>
        </p:txBody>
      </p:sp>
      <p:sp>
        <p:nvSpPr>
          <p:cNvPr id="23" name="Text 11">
            <a:extLst xmlns:a="http://schemas.openxmlformats.org/drawingml/2006/main">
              <a:ext uri="{FF2B5EF4-FFF2-40B4-BE49-F238E27FC236}">
                <a16:creationId xmlns:a16="http://schemas.microsoft.com/office/drawing/2014/main" id="{C7FD9175-3DE2-4D19-9DAD-C6214EC893AC}"/>
              </a:ext>
            </a:extLst>
          </p:cNvPr>
          <p:cNvSpPr>
            <a:spLocks xmlns:a="http://schemas.openxmlformats.org/drawingml/2006/main" noGrp="1"/>
          </p:cNvSpPr>
          <p:nvPr/>
        </p:nvSpPr>
        <p:spPr>
          <a:xfrm xmlns:a="http://schemas.openxmlformats.org/drawingml/2006/main">
            <a:off x="7260336" y="3858768"/>
            <a:ext cx="3520440" cy="822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0000" lnSpcReduction="19999"/>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Has either system been renamed, repurposed or retrained?</a:t>
            </a:r>
            <a:endParaRPr sz="2200" b="0" u="none">
              <a:solidFill>
                <a:srgbClr val="000000"/>
              </a:solidFill>
              <a:latin typeface="Arial"/>
              <a:ea typeface="Arial"/>
              <a:cs typeface="Arial"/>
            </a:endParaRPr>
          </a:p>
        </p:txBody>
      </p:sp>
      <p:sp>
        <p:nvSpPr>
          <p:cNvPr id="24" name="Text 12">
            <a:extLst xmlns:a="http://schemas.openxmlformats.org/drawingml/2006/main">
              <a:ext uri="{FF2B5EF4-FFF2-40B4-BE49-F238E27FC236}">
                <a16:creationId xmlns:a16="http://schemas.microsoft.com/office/drawing/2014/main" id="{6E9BDD08-A28B-4EE7-99E7-6153730EBCBB}"/>
              </a:ext>
            </a:extLst>
          </p:cNvPr>
          <p:cNvSpPr>
            <a:spLocks xmlns:a="http://schemas.openxmlformats.org/drawingml/2006/main" noGrp="1"/>
          </p:cNvSpPr>
          <p:nvPr/>
        </p:nvSpPr>
        <p:spPr>
          <a:xfrm xmlns:a="http://schemas.openxmlformats.org/drawingml/2006/main">
            <a:off x="7260336" y="5047488"/>
            <a:ext cx="1188720" cy="256032"/>
          </a:xfrm>
          <a:prstGeom xmlns:a="http://schemas.openxmlformats.org/drawingml/2006/main" prst="rect">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000" b="1" u="none">
                <a:solidFill>
                  <a:srgbClr val="B45309"/>
                </a:solidFill>
                <a:latin typeface="Aptos"/>
                <a:ea typeface="Aptos"/>
                <a:cs typeface="Aptos"/>
              </a:rPr>
              <a:t>ASK CLIENT</a:t>
            </a:r>
            <a:endParaRPr sz="1000" b="0" u="none">
              <a:solidFill>
                <a:srgbClr val="000000"/>
              </a:solidFill>
              <a:latin typeface="Arial"/>
              <a:ea typeface="Arial"/>
              <a:cs typeface="Arial"/>
            </a:endParaRPr>
          </a:p>
        </p:txBody>
      </p:sp>
      <p:sp>
        <p:nvSpPr>
          <p:cNvPr id="25" name="Text 13">
            <a:extLst xmlns:a="http://schemas.openxmlformats.org/drawingml/2006/main">
              <a:ext uri="{FF2B5EF4-FFF2-40B4-BE49-F238E27FC236}">
                <a16:creationId xmlns:a16="http://schemas.microsoft.com/office/drawing/2014/main" id="{8B2C9EC7-3537-4EA6-ADE0-67673696026A}"/>
              </a:ext>
            </a:extLst>
          </p:cNvPr>
          <p:cNvSpPr>
            <a:spLocks xmlns:a="http://schemas.openxmlformats.org/drawingml/2006/main" noGrp="1"/>
          </p:cNvSpPr>
          <p:nvPr/>
        </p:nvSpPr>
        <p:spPr>
          <a:xfrm xmlns:a="http://schemas.openxmlformats.org/drawingml/2006/main">
            <a:off x="731520" y="6254640"/>
            <a:ext cx="420588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0" u="none">
                <a:solidFill>
                  <a:srgbClr val="64748B"/>
                </a:solidFill>
                <a:latin typeface="Aptos"/>
                <a:ea typeface="Aptos"/>
                <a:cs typeface="Aptos"/>
              </a:rPr>
              <a:t>Nnanyelugo Ahukannah  •  Ironhack Project 3</a:t>
            </a:r>
            <a:endParaRPr sz="1050" b="0" u="none">
              <a:solidFill>
                <a:srgbClr val="000000"/>
              </a:solidFill>
              <a:latin typeface="Arial"/>
              <a:ea typeface="Arial"/>
              <a:cs typeface="Arial"/>
            </a:endParaRPr>
          </a:p>
        </p:txBody>
      </p:sp>
      <p:sp>
        <p:nvSpPr>
          <p:cNvPr id="26" name="PlaceHolder 1">
            <a:extLst xmlns:a="http://schemas.openxmlformats.org/drawingml/2006/main">
              <a:ext uri="{FF2B5EF4-FFF2-40B4-BE49-F238E27FC236}">
                <a16:creationId xmlns:a16="http://schemas.microsoft.com/office/drawing/2014/main" id="{5AE74680-4B84-4EFF-A0A8-F1131D6F1620}"/>
              </a:ext>
            </a:extLst>
          </p:cNvPr>
          <p:cNvSpPr>
            <a:spLocks xmlns:a="http://schemas.openxmlformats.org/drawingml/2006/main" noGrp="1"/>
          </p:cNvSpPr>
          <p:nvPr>
            <p:ph type="sldNum" idx="5"/>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D75FED6-38D0-DE9C-92C0-6E7FA635581C}" type="slidenum">
              <a:rPr sz="900" b="0" u="none">
                <a:solidFill>
                  <a:srgbClr val="94A3B8"/>
                </a:solidFill>
                <a:latin typeface="Aptos"/>
                <a:ea typeface="Aptos"/>
                <a:cs typeface="Aptos"/>
              </a:rPr>
              <a:t>1</a:t>
            </a:fld>
            <a:endParaRPr sz="900" b="0" u="none">
              <a:solidFill>
                <a:srgbClr val="000000"/>
              </a:solidFill>
              <a:latin typeface="Times New Roman"/>
              <a:ea typeface="Times New Roman"/>
              <a:cs typeface="Times New Roman"/>
            </a:endParaRPr>
          </a:p>
        </p:txBody>
      </p:sp>
      <p:sp>
        <p:nvSpPr>
          <p:cNvPr id="801" name="Text Card Caption">
            <a:extLst xmlns:a="http://schemas.openxmlformats.org/drawingml/2006/main">
              <a:ext uri="{FF2B5EF4-FFF2-40B4-BE49-F238E27FC236}">
                <a16:creationId xmlns:a16="http://schemas.microsoft.com/office/drawing/2014/main" id="{87FD0AC4-A85F-4062-BF64-BC31229386BB}"/>
              </a:ext>
            </a:extLst>
          </p:cNvPr>
          <p:cNvSpPr>
            <a:spLocks xmlns:a="http://schemas.openxmlformats.org/drawingml/2006/main" noGrp="1"/>
          </p:cNvSpPr>
          <p:nvPr/>
        </p:nvSpPr>
        <p:spPr>
          <a:xfrm xmlns:a="http://schemas.openxmlformats.org/drawingml/2006/main">
            <a:off x="6903720" y="786384"/>
            <a:ext cx="4389120"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221">
                <a:solidFill>
                  <a:srgbClr val="64748B"/>
                </a:solidFill>
                <a:latin typeface="Aptos"/>
                <a:ea typeface="Aptos"/>
                <a:cs typeface="Aptos"/>
              </a:rPr>
              <a:t>ONE REAL FINDING FROM ONE REAL SCAN</a:t>
            </a:r>
            <a:endParaRPr sz="1200" b="0" u="none">
              <a:solidFill>
                <a:srgbClr val="000000"/>
              </a:solidFill>
              <a:latin typeface="Arial"/>
              <a:ea typeface="Arial"/>
              <a:cs typeface="Arial"/>
            </a:endParaRPr>
          </a:p>
        </p:txBody>
      </p:sp>
      <p:sp>
        <p:nvSpPr>
          <p:cNvPr id="872" name="Text Proved Label">
            <a:extLst xmlns:a="http://schemas.openxmlformats.org/drawingml/2006/main">
              <a:ext uri="{FF2B5EF4-FFF2-40B4-BE49-F238E27FC236}">
                <a16:creationId xmlns:a16="http://schemas.microsoft.com/office/drawing/2014/main" id="{C154DD58-1B31-466E-AC5B-0D37E0399CE3}"/>
              </a:ext>
            </a:extLst>
          </p:cNvPr>
          <p:cNvSpPr>
            <a:spLocks xmlns:a="http://schemas.openxmlformats.org/drawingml/2006/main" noGrp="1"/>
          </p:cNvSpPr>
          <p:nvPr/>
        </p:nvSpPr>
        <p:spPr>
          <a:xfrm xmlns:a="http://schemas.openxmlformats.org/drawingml/2006/main">
            <a:off x="7260336" y="1965960"/>
            <a:ext cx="31546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a:solidFill>
                  <a:srgbClr val="64748B"/>
                </a:solidFill>
                <a:latin typeface="Aptos"/>
                <a:ea typeface="Aptos"/>
                <a:cs typeface="Aptos"/>
              </a:rPr>
              <a:t>What the scan proved</a:t>
            </a:r>
            <a:endParaRPr sz="1200" b="0" u="none">
              <a:solidFill>
                <a:srgbClr val="000000"/>
              </a:solidFill>
              <a:latin typeface="Arial"/>
              <a:ea typeface="Arial"/>
              <a:cs typeface="Arial"/>
            </a:endParaRPr>
          </a:p>
        </p:txBody>
      </p:sp>
    </p:spTree>
    <p:extLst>
      <p:ext uri="{BB962C8B-B14F-4D97-AF65-F5344CB8AC3E}">
        <p14:creationId xmlns:p14="http://schemas.microsoft.com/office/powerpoint/2010/main" val="88480875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7" name="Text 0">
            <a:extLst xmlns:a="http://schemas.openxmlformats.org/drawingml/2006/main">
              <a:ext uri="{FF2B5EF4-FFF2-40B4-BE49-F238E27FC236}">
                <a16:creationId xmlns:a16="http://schemas.microsoft.com/office/drawing/2014/main" id="{99DB633C-66A2-4ACB-8482-14041BEAC5DE}"/>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GAP</a:t>
            </a:r>
            <a:endParaRPr sz="1100" b="0" u="none">
              <a:solidFill>
                <a:srgbClr val="000000"/>
              </a:solidFill>
              <a:latin typeface="Arial"/>
              <a:ea typeface="Arial"/>
              <a:cs typeface="Arial"/>
            </a:endParaRPr>
          </a:p>
        </p:txBody>
      </p:sp>
      <p:sp>
        <p:nvSpPr>
          <p:cNvPr id="28" name="Text 1">
            <a:extLst xmlns:a="http://schemas.openxmlformats.org/drawingml/2006/main">
              <a:ext uri="{FF2B5EF4-FFF2-40B4-BE49-F238E27FC236}">
                <a16:creationId xmlns:a16="http://schemas.microsoft.com/office/drawing/2014/main" id="{B45AE690-4630-4BCA-A68C-156DD6DC0BB9}"/>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700" b="1" u="none">
                <a:solidFill>
                  <a:srgbClr val="0B1020"/>
                </a:solidFill>
                <a:latin typeface="Aptos Display"/>
                <a:ea typeface="Aptos Display"/>
                <a:cs typeface="Aptos Display"/>
              </a:rPr>
              <a:t>Compliance begins with an inventory most SMEs do not have</a:t>
            </a:r>
            <a:endParaRPr sz="3700" b="0" u="none">
              <a:solidFill>
                <a:srgbClr val="000000"/>
              </a:solidFill>
              <a:latin typeface="Arial"/>
              <a:ea typeface="Arial"/>
              <a:cs typeface="Arial"/>
            </a:endParaRPr>
          </a:p>
        </p:txBody>
      </p:sp>
      <p:sp>
        <p:nvSpPr>
          <p:cNvPr id="29" name="Shape 2">
            <a:extLst xmlns:a="http://schemas.openxmlformats.org/drawingml/2006/main">
              <a:ext uri="{FF2B5EF4-FFF2-40B4-BE49-F238E27FC236}">
                <a16:creationId xmlns:a16="http://schemas.microsoft.com/office/drawing/2014/main" id="{D393F70D-20CA-4D29-831C-50CFD4993C6B}"/>
              </a:ext>
            </a:extLst>
          </p:cNvPr>
          <p:cNvSpPr>
            <a:spLocks xmlns:a="http://schemas.openxmlformats.org/drawingml/2006/main" noGrp="1"/>
          </p:cNvSpPr>
          <p:nvPr/>
        </p:nvSpPr>
        <p:spPr>
          <a:xfrm xmlns:a="http://schemas.openxmlformats.org/drawingml/2006/main">
            <a:off x="731520" y="1901880"/>
            <a:ext cx="4160160" cy="3062880"/>
          </a:xfrm>
          <a:prstGeom xmlns:a="http://schemas.openxmlformats.org/drawingml/2006/main" prst="roundRect">
            <a:avLst>
              <a:gd name="adj" fmla="val 4776"/>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241935120" dist="645159960" dir="0" sx="100000" sy="100000" kx="0" ky="0" algn="bl" rotWithShape="0">
              <a:srgbClr val="0B1020"/>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0" name="Text 3">
            <a:extLst xmlns:a="http://schemas.openxmlformats.org/drawingml/2006/main">
              <a:ext uri="{FF2B5EF4-FFF2-40B4-BE49-F238E27FC236}">
                <a16:creationId xmlns:a16="http://schemas.microsoft.com/office/drawing/2014/main" id="{C91293DA-F46F-4F91-9E52-AC93B4EBD1BF}"/>
              </a:ext>
            </a:extLst>
          </p:cNvPr>
          <p:cNvSpPr>
            <a:spLocks xmlns:a="http://schemas.openxmlformats.org/drawingml/2006/main" noGrp="1"/>
          </p:cNvSpPr>
          <p:nvPr/>
        </p:nvSpPr>
        <p:spPr>
          <a:xfrm xmlns:a="http://schemas.openxmlformats.org/drawingml/2006/main">
            <a:off x="1042560" y="2212920"/>
            <a:ext cx="28346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THE COMPLIANCE FORM ASKS</a:t>
            </a:r>
            <a:endParaRPr sz="1100" b="0" u="none">
              <a:solidFill>
                <a:srgbClr val="000000"/>
              </a:solidFill>
              <a:latin typeface="Arial"/>
              <a:ea typeface="Arial"/>
              <a:cs typeface="Arial"/>
            </a:endParaRPr>
          </a:p>
        </p:txBody>
      </p:sp>
      <p:sp>
        <p:nvSpPr>
          <p:cNvPr id="31" name="Text 4">
            <a:extLst xmlns:a="http://schemas.openxmlformats.org/drawingml/2006/main">
              <a:ext uri="{FF2B5EF4-FFF2-40B4-BE49-F238E27FC236}">
                <a16:creationId xmlns:a16="http://schemas.microsoft.com/office/drawing/2014/main" id="{674BE5AA-2B33-4A50-9584-1820C780F867}"/>
              </a:ext>
            </a:extLst>
          </p:cNvPr>
          <p:cNvSpPr>
            <a:spLocks xmlns:a="http://schemas.openxmlformats.org/drawingml/2006/main" noGrp="1"/>
          </p:cNvSpPr>
          <p:nvPr/>
        </p:nvSpPr>
        <p:spPr>
          <a:xfrm xmlns:a="http://schemas.openxmlformats.org/drawingml/2006/main">
            <a:off x="1042560" y="3017520"/>
            <a:ext cx="3520080" cy="12067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2700" b="1" u="none">
                <a:solidFill>
                  <a:srgbClr val="0B1020"/>
                </a:solidFill>
                <a:latin typeface="Aptos Display"/>
                <a:ea typeface="Aptos Display"/>
                <a:cs typeface="Aptos Display"/>
              </a:rPr>
              <a:t>“Complete this form for each AI system used in your organisation.”</a:t>
            </a:r>
            <a:endParaRPr sz="2700" b="0" u="none">
              <a:solidFill>
                <a:srgbClr val="000000"/>
              </a:solidFill>
              <a:latin typeface="Arial"/>
              <a:ea typeface="Arial"/>
              <a:cs typeface="Arial"/>
            </a:endParaRPr>
          </a:p>
        </p:txBody>
      </p:sp>
      <p:sp>
        <p:nvSpPr>
          <p:cNvPr id="33" name="Shape 6">
            <a:extLst xmlns:a="http://schemas.openxmlformats.org/drawingml/2006/main">
              <a:ext uri="{FF2B5EF4-FFF2-40B4-BE49-F238E27FC236}">
                <a16:creationId xmlns:a16="http://schemas.microsoft.com/office/drawing/2014/main" id="{5D8B1B33-9258-4759-8044-328E636C229D}"/>
              </a:ext>
            </a:extLst>
          </p:cNvPr>
          <p:cNvSpPr>
            <a:spLocks xmlns:a="http://schemas.openxmlformats.org/drawingml/2006/main" noGrp="1"/>
          </p:cNvSpPr>
          <p:nvPr/>
        </p:nvSpPr>
        <p:spPr>
          <a:xfrm xmlns:a="http://schemas.openxmlformats.org/drawingml/2006/main">
            <a:off x="5056560" y="3447000"/>
            <a:ext cx="1060560" cy="360"/>
          </a:xfrm>
          <a:prstGeom xmlns:a="http://schemas.openxmlformats.org/drawingml/2006/main" prst="line">
            <a:avLst/>
          </a:prstGeom>
          <a:ln xmlns:a="http://schemas.openxmlformats.org/drawingml/2006/main" w="381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5" name="Shape 8">
            <a:extLst xmlns:a="http://schemas.openxmlformats.org/drawingml/2006/main">
              <a:ext uri="{FF2B5EF4-FFF2-40B4-BE49-F238E27FC236}">
                <a16:creationId xmlns:a16="http://schemas.microsoft.com/office/drawing/2014/main" id="{DCE745DA-1630-4418-9FAE-F75A11496FA0}"/>
              </a:ext>
            </a:extLst>
          </p:cNvPr>
          <p:cNvSpPr>
            <a:spLocks xmlns:a="http://schemas.openxmlformats.org/drawingml/2006/main" noGrp="1"/>
          </p:cNvSpPr>
          <p:nvPr/>
        </p:nvSpPr>
        <p:spPr>
          <a:xfrm xmlns:a="http://schemas.openxmlformats.org/drawingml/2006/main">
            <a:off x="6272640" y="1901880"/>
            <a:ext cx="5147640" cy="3062880"/>
          </a:xfrm>
          <a:prstGeom xmlns:a="http://schemas.openxmlformats.org/drawingml/2006/main" prst="roundRect">
            <a:avLst>
              <a:gd name="adj" fmla="val 4776"/>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6" name="Text 9">
            <a:extLst xmlns:a="http://schemas.openxmlformats.org/drawingml/2006/main">
              <a:ext uri="{FF2B5EF4-FFF2-40B4-BE49-F238E27FC236}">
                <a16:creationId xmlns:a16="http://schemas.microsoft.com/office/drawing/2014/main" id="{7F26E8FE-BCC7-4B11-8243-750E2B31D919}"/>
              </a:ext>
            </a:extLst>
          </p:cNvPr>
          <p:cNvSpPr>
            <a:spLocks xmlns:a="http://schemas.openxmlformats.org/drawingml/2006/main" noGrp="1"/>
          </p:cNvSpPr>
          <p:nvPr/>
        </p:nvSpPr>
        <p:spPr>
          <a:xfrm xmlns:a="http://schemas.openxmlformats.org/drawingml/2006/main">
            <a:off x="6583680" y="2212920"/>
            <a:ext cx="210276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64748B"/>
                </a:solidFill>
                <a:latin typeface="Aptos"/>
                <a:ea typeface="Aptos"/>
                <a:cs typeface="Aptos"/>
              </a:rPr>
              <a:t>THE SME ASKS</a:t>
            </a:r>
            <a:endParaRPr sz="1100" b="0" u="none">
              <a:solidFill>
                <a:srgbClr val="000000"/>
              </a:solidFill>
              <a:latin typeface="Arial"/>
              <a:ea typeface="Arial"/>
              <a:cs typeface="Arial"/>
            </a:endParaRPr>
          </a:p>
        </p:txBody>
      </p:sp>
      <p:sp>
        <p:nvSpPr>
          <p:cNvPr id="37" name="Text 10">
            <a:extLst xmlns:a="http://schemas.openxmlformats.org/drawingml/2006/main">
              <a:ext uri="{FF2B5EF4-FFF2-40B4-BE49-F238E27FC236}">
                <a16:creationId xmlns:a16="http://schemas.microsoft.com/office/drawing/2014/main" id="{C52252CF-307F-46E2-8468-BD24BB522FA3}"/>
              </a:ext>
            </a:extLst>
          </p:cNvPr>
          <p:cNvSpPr>
            <a:spLocks xmlns:a="http://schemas.openxmlformats.org/drawingml/2006/main" noGrp="1"/>
          </p:cNvSpPr>
          <p:nvPr/>
        </p:nvSpPr>
        <p:spPr>
          <a:xfrm xmlns:a="http://schemas.openxmlformats.org/drawingml/2006/main">
            <a:off x="6583680" y="2724840"/>
            <a:ext cx="4343040" cy="6030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3100" b="1" u="none">
                <a:solidFill>
                  <a:srgbClr val="0B1020"/>
                </a:solidFill>
                <a:latin typeface="Aptos Display"/>
                <a:ea typeface="Aptos Display"/>
                <a:cs typeface="Aptos Display"/>
              </a:rPr>
              <a:t>“Which systems are those?”</a:t>
            </a:r>
            <a:endParaRPr sz="3100" b="0" u="none">
              <a:solidFill>
                <a:srgbClr val="000000"/>
              </a:solidFill>
              <a:latin typeface="Arial"/>
              <a:ea typeface="Arial"/>
              <a:cs typeface="Arial"/>
            </a:endParaRPr>
          </a:p>
        </p:txBody>
      </p:sp>
      <p:sp>
        <p:nvSpPr>
          <p:cNvPr id="38" name="Shape 11">
            <a:extLst xmlns:a="http://schemas.openxmlformats.org/drawingml/2006/main">
              <a:ext uri="{FF2B5EF4-FFF2-40B4-BE49-F238E27FC236}">
                <a16:creationId xmlns:a16="http://schemas.microsoft.com/office/drawing/2014/main" id="{A859BB8D-8771-4188-9C40-8D9E5982BC48}"/>
              </a:ext>
            </a:extLst>
          </p:cNvPr>
          <p:cNvSpPr>
            <a:spLocks xmlns:a="http://schemas.openxmlformats.org/drawingml/2006/main" noGrp="1"/>
          </p:cNvSpPr>
          <p:nvPr/>
        </p:nvSpPr>
        <p:spPr>
          <a:xfrm xmlns:a="http://schemas.openxmlformats.org/drawingml/2006/main">
            <a:off x="6602040" y="3575160"/>
            <a:ext cx="164160" cy="16416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9" name="Text 12">
            <a:extLst xmlns:a="http://schemas.openxmlformats.org/drawingml/2006/main">
              <a:ext uri="{FF2B5EF4-FFF2-40B4-BE49-F238E27FC236}">
                <a16:creationId xmlns:a16="http://schemas.microsoft.com/office/drawing/2014/main" id="{7C4B16BC-2CE0-4EC2-9AA3-2048A1CA00B8}"/>
              </a:ext>
            </a:extLst>
          </p:cNvPr>
          <p:cNvSpPr>
            <a:spLocks xmlns:a="http://schemas.openxmlformats.org/drawingml/2006/main" noGrp="1"/>
          </p:cNvSpPr>
          <p:nvPr/>
        </p:nvSpPr>
        <p:spPr>
          <a:xfrm xmlns:a="http://schemas.openxmlformats.org/drawingml/2006/main">
            <a:off x="6894720" y="355716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2563EB"/>
                </a:solidFill>
                <a:latin typeface="Aptos"/>
                <a:ea typeface="Aptos"/>
                <a:cs typeface="Aptos"/>
              </a:rPr>
              <a:t>VENDOR UPDATE</a:t>
            </a:r>
            <a:endParaRPr sz="1050" b="0" u="none">
              <a:solidFill>
                <a:srgbClr val="000000"/>
              </a:solidFill>
              <a:latin typeface="Arial"/>
              <a:ea typeface="Arial"/>
              <a:cs typeface="Arial"/>
            </a:endParaRPr>
          </a:p>
        </p:txBody>
      </p:sp>
      <p:sp>
        <p:nvSpPr>
          <p:cNvPr id="40" name="Text 13">
            <a:extLst xmlns:a="http://schemas.openxmlformats.org/drawingml/2006/main">
              <a:ext uri="{FF2B5EF4-FFF2-40B4-BE49-F238E27FC236}">
                <a16:creationId xmlns:a16="http://schemas.microsoft.com/office/drawing/2014/main" id="{993B3D48-4EE7-4DF8-B16A-66D3FAE6C013}"/>
              </a:ext>
            </a:extLst>
          </p:cNvPr>
          <p:cNvSpPr>
            <a:spLocks xmlns:a="http://schemas.openxmlformats.org/drawingml/2006/main" noGrp="1"/>
          </p:cNvSpPr>
          <p:nvPr/>
        </p:nvSpPr>
        <p:spPr>
          <a:xfrm xmlns:a="http://schemas.openxmlformats.org/drawingml/2006/main">
            <a:off x="8247960" y="355716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AI arrives inside software already owned</a:t>
            </a:r>
            <a:endParaRPr sz="1250" b="0" u="none">
              <a:solidFill>
                <a:srgbClr val="000000"/>
              </a:solidFill>
              <a:latin typeface="Arial"/>
              <a:ea typeface="Arial"/>
              <a:cs typeface="Arial"/>
            </a:endParaRPr>
          </a:p>
        </p:txBody>
      </p:sp>
      <p:sp>
        <p:nvSpPr>
          <p:cNvPr id="41" name="Shape 14">
            <a:extLst xmlns:a="http://schemas.openxmlformats.org/drawingml/2006/main">
              <a:ext uri="{FF2B5EF4-FFF2-40B4-BE49-F238E27FC236}">
                <a16:creationId xmlns:a16="http://schemas.microsoft.com/office/drawing/2014/main" id="{670F3C92-1E92-4DFD-9804-0A6C241C8CA1}"/>
              </a:ext>
            </a:extLst>
          </p:cNvPr>
          <p:cNvSpPr>
            <a:spLocks xmlns:a="http://schemas.openxmlformats.org/drawingml/2006/main" noGrp="1"/>
          </p:cNvSpPr>
          <p:nvPr/>
        </p:nvSpPr>
        <p:spPr>
          <a:xfrm xmlns:a="http://schemas.openxmlformats.org/drawingml/2006/main">
            <a:off x="6602040" y="398664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2" name="Text 15">
            <a:extLst xmlns:a="http://schemas.openxmlformats.org/drawingml/2006/main">
              <a:ext uri="{FF2B5EF4-FFF2-40B4-BE49-F238E27FC236}">
                <a16:creationId xmlns:a16="http://schemas.microsoft.com/office/drawing/2014/main" id="{B7035A73-37D2-44B4-B998-E1544708EAD6}"/>
              </a:ext>
            </a:extLst>
          </p:cNvPr>
          <p:cNvSpPr>
            <a:spLocks xmlns:a="http://schemas.openxmlformats.org/drawingml/2006/main" noGrp="1"/>
          </p:cNvSpPr>
          <p:nvPr/>
        </p:nvSpPr>
        <p:spPr>
          <a:xfrm xmlns:a="http://schemas.openxmlformats.org/drawingml/2006/main">
            <a:off x="6894720" y="396864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COMPANY CARD</a:t>
            </a:r>
            <a:endParaRPr sz="1050" b="0" u="none">
              <a:solidFill>
                <a:srgbClr val="000000"/>
              </a:solidFill>
              <a:latin typeface="Arial"/>
              <a:ea typeface="Arial"/>
              <a:cs typeface="Arial"/>
            </a:endParaRPr>
          </a:p>
        </p:txBody>
      </p:sp>
      <p:sp>
        <p:nvSpPr>
          <p:cNvPr id="43" name="Text 16">
            <a:extLst xmlns:a="http://schemas.openxmlformats.org/drawingml/2006/main">
              <a:ext uri="{FF2B5EF4-FFF2-40B4-BE49-F238E27FC236}">
                <a16:creationId xmlns:a16="http://schemas.microsoft.com/office/drawing/2014/main" id="{DDD97963-3A87-4F5A-BBFA-AB330B1593B9}"/>
              </a:ext>
            </a:extLst>
          </p:cNvPr>
          <p:cNvSpPr>
            <a:spLocks xmlns:a="http://schemas.openxmlformats.org/drawingml/2006/main" noGrp="1"/>
          </p:cNvSpPr>
          <p:nvPr/>
        </p:nvSpPr>
        <p:spPr>
          <a:xfrm xmlns:a="http://schemas.openxmlformats.org/drawingml/2006/main">
            <a:off x="8247960" y="396864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 team buys a tool outside central procurement</a:t>
            </a:r>
            <a:endParaRPr sz="1250" b="0" u="none">
              <a:solidFill>
                <a:srgbClr val="000000"/>
              </a:solidFill>
              <a:latin typeface="Arial"/>
              <a:ea typeface="Arial"/>
              <a:cs typeface="Arial"/>
            </a:endParaRPr>
          </a:p>
        </p:txBody>
      </p:sp>
      <p:sp>
        <p:nvSpPr>
          <p:cNvPr id="44" name="Shape 17">
            <a:extLst xmlns:a="http://schemas.openxmlformats.org/drawingml/2006/main">
              <a:ext uri="{FF2B5EF4-FFF2-40B4-BE49-F238E27FC236}">
                <a16:creationId xmlns:a16="http://schemas.microsoft.com/office/drawing/2014/main" id="{63D33672-0616-4C57-9CC9-00E7D5055A11}"/>
              </a:ext>
            </a:extLst>
          </p:cNvPr>
          <p:cNvSpPr>
            <a:spLocks xmlns:a="http://schemas.openxmlformats.org/drawingml/2006/main" noGrp="1"/>
          </p:cNvSpPr>
          <p:nvPr/>
        </p:nvSpPr>
        <p:spPr>
          <a:xfrm xmlns:a="http://schemas.openxmlformats.org/drawingml/2006/main">
            <a:off x="6602040" y="439812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5" name="Text 18">
            <a:extLst xmlns:a="http://schemas.openxmlformats.org/drawingml/2006/main">
              <a:ext uri="{FF2B5EF4-FFF2-40B4-BE49-F238E27FC236}">
                <a16:creationId xmlns:a16="http://schemas.microsoft.com/office/drawing/2014/main" id="{FF4D3EF6-E68F-47E1-818E-AEFF4012EC5D}"/>
              </a:ext>
            </a:extLst>
          </p:cNvPr>
          <p:cNvSpPr>
            <a:spLocks xmlns:a="http://schemas.openxmlformats.org/drawingml/2006/main" noGrp="1"/>
          </p:cNvSpPr>
          <p:nvPr/>
        </p:nvSpPr>
        <p:spPr>
          <a:xfrm xmlns:a="http://schemas.openxmlformats.org/drawingml/2006/main">
            <a:off x="6894720" y="438012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EMPLOYEE TOOL</a:t>
            </a:r>
            <a:endParaRPr sz="1050" b="0" u="none">
              <a:solidFill>
                <a:srgbClr val="000000"/>
              </a:solidFill>
              <a:latin typeface="Arial"/>
              <a:ea typeface="Arial"/>
              <a:cs typeface="Arial"/>
            </a:endParaRPr>
          </a:p>
        </p:txBody>
      </p:sp>
      <p:sp>
        <p:nvSpPr>
          <p:cNvPr id="46" name="Text 19">
            <a:extLst xmlns:a="http://schemas.openxmlformats.org/drawingml/2006/main">
              <a:ext uri="{FF2B5EF4-FFF2-40B4-BE49-F238E27FC236}">
                <a16:creationId xmlns:a16="http://schemas.microsoft.com/office/drawing/2014/main" id="{7D8F3E3E-6055-4DB6-92DC-0D3E468CA945}"/>
              </a:ext>
            </a:extLst>
          </p:cNvPr>
          <p:cNvSpPr>
            <a:spLocks xmlns:a="http://schemas.openxmlformats.org/drawingml/2006/main" noGrp="1"/>
          </p:cNvSpPr>
          <p:nvPr/>
        </p:nvSpPr>
        <p:spPr>
          <a:xfrm xmlns:a="http://schemas.openxmlformats.org/drawingml/2006/main">
            <a:off x="8247960" y="438012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Everyday use that leaves no record</a:t>
            </a:r>
            <a:endParaRPr sz="1250" b="0" u="none">
              <a:solidFill>
                <a:srgbClr val="000000"/>
              </a:solidFill>
              <a:latin typeface="Arial"/>
              <a:ea typeface="Arial"/>
              <a:cs typeface="Arial"/>
            </a:endParaRPr>
          </a:p>
        </p:txBody>
      </p:sp>
      <p:sp>
        <p:nvSpPr>
          <p:cNvPr id="47" name="Text 20">
            <a:extLst xmlns:a="http://schemas.openxmlformats.org/drawingml/2006/main">
              <a:ext uri="{FF2B5EF4-FFF2-40B4-BE49-F238E27FC236}">
                <a16:creationId xmlns:a16="http://schemas.microsoft.com/office/drawing/2014/main" id="{C4514B37-99C6-4474-9B72-706580295AF3}"/>
              </a:ext>
            </a:extLst>
          </p:cNvPr>
          <p:cNvSpPr>
            <a:spLocks xmlns:a="http://schemas.openxmlformats.org/drawingml/2006/main" noGrp="1"/>
          </p:cNvSpPr>
          <p:nvPr/>
        </p:nvSpPr>
        <p:spPr>
          <a:xfrm xmlns:a="http://schemas.openxmlformats.org/drawingml/2006/main">
            <a:off x="749880" y="5532120"/>
            <a:ext cx="10515240" cy="548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2600" b="1" u="none">
                <a:solidFill>
                  <a:srgbClr val="0B1020"/>
                </a:solidFill>
                <a:latin typeface="Aptos Display"/>
                <a:ea typeface="Aptos Display"/>
                <a:cs typeface="Aptos Display"/>
              </a:rPr>
              <a:t>It has to be drafted from evidence — the missing step.</a:t>
            </a:r>
            <a:endParaRPr sz="2700" b="0" u="none">
              <a:solidFill>
                <a:srgbClr val="000000"/>
              </a:solidFill>
              <a:latin typeface="Arial"/>
              <a:ea typeface="Arial"/>
              <a:cs typeface="Arial"/>
            </a:endParaRPr>
          </a:p>
        </p:txBody>
      </p:sp>
      <p:sp>
        <p:nvSpPr>
          <p:cNvPr id="48" name="Text 21">
            <a:extLst xmlns:a="http://schemas.openxmlformats.org/drawingml/2006/main">
              <a:ext uri="{FF2B5EF4-FFF2-40B4-BE49-F238E27FC236}">
                <a16:creationId xmlns:a16="http://schemas.microsoft.com/office/drawing/2014/main" id="{125450FB-675B-4227-A158-6BF501A26656}"/>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GAP</a:t>
            </a:r>
            <a:endParaRPr sz="900" b="0" u="none">
              <a:solidFill>
                <a:srgbClr val="000000"/>
              </a:solidFill>
              <a:latin typeface="Arial"/>
              <a:ea typeface="Arial"/>
              <a:cs typeface="Arial"/>
            </a:endParaRPr>
          </a:p>
        </p:txBody>
      </p:sp>
      <p:sp>
        <p:nvSpPr>
          <p:cNvPr id="49" name="PlaceHolder 1">
            <a:extLst xmlns:a="http://schemas.openxmlformats.org/drawingml/2006/main">
              <a:ext uri="{FF2B5EF4-FFF2-40B4-BE49-F238E27FC236}">
                <a16:creationId xmlns:a16="http://schemas.microsoft.com/office/drawing/2014/main" id="{FF50E26B-2627-4FEE-BC65-2F0999CBC524}"/>
              </a:ext>
            </a:extLst>
          </p:cNvPr>
          <p:cNvSpPr>
            <a:spLocks xmlns:a="http://schemas.openxmlformats.org/drawingml/2006/main" noGrp="1"/>
          </p:cNvSpPr>
          <p:nvPr>
            <p:ph type="sldNum" idx="6"/>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2598689-54C9-18A7-3A19-ED76AA08988F}" type="slidenum">
              <a:rPr sz="900" b="0" u="none">
                <a:solidFill>
                  <a:srgbClr val="94A3B8"/>
                </a:solidFill>
                <a:latin typeface="Aptos"/>
                <a:ea typeface="Aptos"/>
                <a:cs typeface="Aptos"/>
              </a:rPr>
              <a:t>2</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7093034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0" name="Text 0">
            <a:extLst xmlns:a="http://schemas.openxmlformats.org/drawingml/2006/main">
              <a:ext uri="{FF2B5EF4-FFF2-40B4-BE49-F238E27FC236}">
                <a16:creationId xmlns:a16="http://schemas.microsoft.com/office/drawing/2014/main" id="{371E5BFF-99A8-44B4-A086-832AE82C6C22}"/>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SYSTEM</a:t>
            </a:r>
            <a:endParaRPr sz="1100" b="0" u="none">
              <a:solidFill>
                <a:srgbClr val="000000"/>
              </a:solidFill>
              <a:latin typeface="Arial"/>
              <a:ea typeface="Arial"/>
              <a:cs typeface="Arial"/>
            </a:endParaRPr>
          </a:p>
        </p:txBody>
      </p:sp>
      <p:sp>
        <p:nvSpPr>
          <p:cNvPr id="51" name="Text 1">
            <a:extLst xmlns:a="http://schemas.openxmlformats.org/drawingml/2006/main">
              <a:ext uri="{FF2B5EF4-FFF2-40B4-BE49-F238E27FC236}">
                <a16:creationId xmlns:a16="http://schemas.microsoft.com/office/drawing/2014/main" id="{353B8F74-AB81-44C2-9639-9C53AAED3BE2}"/>
              </a:ext>
            </a:extLst>
          </p:cNvPr>
          <p:cNvSpPr>
            <a:spLocks xmlns:a="http://schemas.openxmlformats.org/drawingml/2006/main" noGrp="1"/>
          </p:cNvSpPr>
          <p:nvPr/>
        </p:nvSpPr>
        <p:spPr>
          <a:xfrm xmlns:a="http://schemas.openxmlformats.org/drawingml/2006/main">
            <a:off x="713160" y="713160"/>
            <a:ext cx="10743840" cy="731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3900" b="1" u="none">
                <a:solidFill>
                  <a:srgbClr val="0B1020"/>
                </a:solidFill>
                <a:latin typeface="Aptos Display"/>
                <a:ea typeface="Aptos Display"/>
                <a:cs typeface="Aptos Display"/>
              </a:rPr>
              <a:t>One company name becomes an auditable first draft</a:t>
            </a:r>
            <a:endParaRPr sz="3900" b="0" u="none">
              <a:solidFill>
                <a:srgbClr val="000000"/>
              </a:solidFill>
              <a:latin typeface="Arial"/>
              <a:ea typeface="Arial"/>
              <a:cs typeface="Arial"/>
            </a:endParaRPr>
          </a:p>
        </p:txBody>
      </p:sp>
      <p:sp>
        <p:nvSpPr>
          <p:cNvPr id="52" name="Shape 2">
            <a:extLst xmlns:a="http://schemas.openxmlformats.org/drawingml/2006/main">
              <a:ext uri="{FF2B5EF4-FFF2-40B4-BE49-F238E27FC236}">
                <a16:creationId xmlns:a16="http://schemas.microsoft.com/office/drawing/2014/main" id="{E086508F-F6DD-4F3B-8295-E5E6F39C3AC4}"/>
              </a:ext>
            </a:extLst>
          </p:cNvPr>
          <p:cNvSpPr>
            <a:spLocks xmlns:a="http://schemas.openxmlformats.org/drawingml/2006/main" noGrp="1"/>
          </p:cNvSpPr>
          <p:nvPr/>
        </p:nvSpPr>
        <p:spPr>
          <a:xfrm xmlns:a="http://schemas.openxmlformats.org/drawingml/2006/main">
            <a:off x="3995928" y="3273480"/>
            <a:ext cx="420624"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3" name="Shape 3">
            <a:extLst xmlns:a="http://schemas.openxmlformats.org/drawingml/2006/main">
              <a:ext uri="{FF2B5EF4-FFF2-40B4-BE49-F238E27FC236}">
                <a16:creationId xmlns:a16="http://schemas.microsoft.com/office/drawing/2014/main" id="{4E122A2F-5A13-428E-956C-0CD5B5399AEC}"/>
              </a:ext>
            </a:extLst>
          </p:cNvPr>
          <p:cNvSpPr>
            <a:spLocks xmlns:a="http://schemas.openxmlformats.org/drawingml/2006/main" noGrp="1"/>
          </p:cNvSpPr>
          <p:nvPr/>
        </p:nvSpPr>
        <p:spPr>
          <a:xfrm xmlns:a="http://schemas.openxmlformats.org/drawingml/2006/main">
            <a:off x="7754112" y="3273480"/>
            <a:ext cx="420624"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4" name="Shape 4">
            <a:extLst xmlns:a="http://schemas.openxmlformats.org/drawingml/2006/main">
              <a:ext uri="{FF2B5EF4-FFF2-40B4-BE49-F238E27FC236}">
                <a16:creationId xmlns:a16="http://schemas.microsoft.com/office/drawing/2014/main" id="{AE3D357C-96CC-4F1E-A597-88AC834F2871}"/>
              </a:ext>
            </a:extLst>
          </p:cNvPr>
          <p:cNvSpPr>
            <a:spLocks xmlns:a="http://schemas.openxmlformats.org/drawingml/2006/main" noGrp="1"/>
          </p:cNvSpPr>
          <p:nvPr/>
        </p:nvSpPr>
        <p:spPr>
          <a:xfrm xmlns:a="http://schemas.openxmlformats.org/drawingml/2006/main">
            <a:off x="6085331" y="4443984"/>
            <a:ext cx="360" cy="530352"/>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5" name="Shape 5">
            <a:extLst xmlns:a="http://schemas.openxmlformats.org/drawingml/2006/main">
              <a:ext uri="{FF2B5EF4-FFF2-40B4-BE49-F238E27FC236}">
                <a16:creationId xmlns:a16="http://schemas.microsoft.com/office/drawing/2014/main" id="{0312D4AC-0560-48FC-A990-2AE0045FFAED}"/>
              </a:ext>
            </a:extLst>
          </p:cNvPr>
          <p:cNvSpPr>
            <a:spLocks xmlns:a="http://schemas.openxmlformats.org/drawingml/2006/main" noGrp="1"/>
          </p:cNvSpPr>
          <p:nvPr/>
        </p:nvSpPr>
        <p:spPr>
          <a:xfrm xmlns:a="http://schemas.openxmlformats.org/drawingml/2006/main">
            <a:off x="749808" y="2057400"/>
            <a:ext cx="315468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6" name="Shape 6">
            <a:extLst xmlns:a="http://schemas.openxmlformats.org/drawingml/2006/main">
              <a:ext uri="{FF2B5EF4-FFF2-40B4-BE49-F238E27FC236}">
                <a16:creationId xmlns:a16="http://schemas.microsoft.com/office/drawing/2014/main" id="{DDB105E0-7B31-46A0-8E53-159979FCE1BE}"/>
              </a:ext>
            </a:extLst>
          </p:cNvPr>
          <p:cNvSpPr>
            <a:spLocks xmlns:a="http://schemas.openxmlformats.org/drawingml/2006/main" noGrp="1"/>
          </p:cNvSpPr>
          <p:nvPr/>
        </p:nvSpPr>
        <p:spPr>
          <a:xfrm xmlns:a="http://schemas.openxmlformats.org/drawingml/2006/main">
            <a:off x="987552"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7" name="Text 7">
            <a:extLst xmlns:a="http://schemas.openxmlformats.org/drawingml/2006/main">
              <a:ext uri="{FF2B5EF4-FFF2-40B4-BE49-F238E27FC236}">
                <a16:creationId xmlns:a16="http://schemas.microsoft.com/office/drawing/2014/main" id="{A3295D05-162A-4AB0-BBCC-932AB439864F}"/>
              </a:ext>
            </a:extLst>
          </p:cNvPr>
          <p:cNvSpPr>
            <a:spLocks xmlns:a="http://schemas.openxmlformats.org/drawingml/2006/main" noGrp="1"/>
          </p:cNvSpPr>
          <p:nvPr/>
        </p:nvSpPr>
        <p:spPr>
          <a:xfrm xmlns:a="http://schemas.openxmlformats.org/drawingml/2006/main">
            <a:off x="987552"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01</a:t>
            </a:r>
            <a:endParaRPr sz="1700" b="0" u="none">
              <a:solidFill>
                <a:srgbClr val="000000"/>
              </a:solidFill>
              <a:latin typeface="Arial"/>
              <a:ea typeface="Arial"/>
              <a:cs typeface="Arial"/>
            </a:endParaRPr>
          </a:p>
        </p:txBody>
      </p:sp>
      <p:sp>
        <p:nvSpPr>
          <p:cNvPr id="58" name="Text 8">
            <a:extLst xmlns:a="http://schemas.openxmlformats.org/drawingml/2006/main">
              <a:ext uri="{FF2B5EF4-FFF2-40B4-BE49-F238E27FC236}">
                <a16:creationId xmlns:a16="http://schemas.microsoft.com/office/drawing/2014/main" id="{147BAFAF-FB23-4817-9910-9C348EDDD2CF}"/>
              </a:ext>
            </a:extLst>
          </p:cNvPr>
          <p:cNvSpPr>
            <a:spLocks xmlns:a="http://schemas.openxmlformats.org/drawingml/2006/main" noGrp="1"/>
          </p:cNvSpPr>
          <p:nvPr/>
        </p:nvSpPr>
        <p:spPr>
          <a:xfrm xmlns:a="http://schemas.openxmlformats.org/drawingml/2006/main">
            <a:off x="1664207"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RESEARCH</a:t>
            </a:r>
            <a:endParaRPr sz="1050" b="0" u="none">
              <a:solidFill>
                <a:srgbClr val="000000"/>
              </a:solidFill>
              <a:latin typeface="Arial"/>
              <a:ea typeface="Arial"/>
              <a:cs typeface="Arial"/>
            </a:endParaRPr>
          </a:p>
        </p:txBody>
      </p:sp>
      <p:sp>
        <p:nvSpPr>
          <p:cNvPr id="59" name="Text 9">
            <a:extLst xmlns:a="http://schemas.openxmlformats.org/drawingml/2006/main">
              <a:ext uri="{FF2B5EF4-FFF2-40B4-BE49-F238E27FC236}">
                <a16:creationId xmlns:a16="http://schemas.microsoft.com/office/drawing/2014/main" id="{EECAEA48-6E7C-4D35-BE03-CEE48D281F30}"/>
              </a:ext>
            </a:extLst>
          </p:cNvPr>
          <p:cNvSpPr>
            <a:spLocks xmlns:a="http://schemas.openxmlformats.org/drawingml/2006/main" noGrp="1"/>
          </p:cNvSpPr>
          <p:nvPr/>
        </p:nvSpPr>
        <p:spPr>
          <a:xfrm xmlns:a="http://schemas.openxmlformats.org/drawingml/2006/main">
            <a:off x="1005840"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0B1020"/>
                </a:solidFill>
                <a:latin typeface="Aptos Display"/>
                <a:ea typeface="Aptos Display"/>
                <a:cs typeface="Aptos Display"/>
              </a:rPr>
              <a:t>Map the public footprint</a:t>
            </a:r>
            <a:endParaRPr sz="2200" b="0" u="none">
              <a:solidFill>
                <a:srgbClr val="000000"/>
              </a:solidFill>
              <a:latin typeface="Arial"/>
              <a:ea typeface="Arial"/>
              <a:cs typeface="Arial"/>
            </a:endParaRPr>
          </a:p>
        </p:txBody>
      </p:sp>
      <p:sp>
        <p:nvSpPr>
          <p:cNvPr id="60" name="Text 10">
            <a:extLst xmlns:a="http://schemas.openxmlformats.org/drawingml/2006/main">
              <a:ext uri="{FF2B5EF4-FFF2-40B4-BE49-F238E27FC236}">
                <a16:creationId xmlns:a16="http://schemas.microsoft.com/office/drawing/2014/main" id="{69040ECD-46DB-4A0A-B9E1-BEC5EC5E3123}"/>
              </a:ext>
            </a:extLst>
          </p:cNvPr>
          <p:cNvSpPr>
            <a:spLocks xmlns:a="http://schemas.openxmlformats.org/drawingml/2006/main" noGrp="1"/>
          </p:cNvSpPr>
          <p:nvPr/>
        </p:nvSpPr>
        <p:spPr>
          <a:xfrm xmlns:a="http://schemas.openxmlformats.org/drawingml/2006/main">
            <a:off x="1005840"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Registry · website · careers · vendors · news</a:t>
            </a:r>
            <a:endParaRPr sz="1400" b="0" u="none">
              <a:solidFill>
                <a:srgbClr val="000000"/>
              </a:solidFill>
              <a:latin typeface="Arial"/>
              <a:ea typeface="Arial"/>
              <a:cs typeface="Arial"/>
            </a:endParaRPr>
          </a:p>
        </p:txBody>
      </p:sp>
      <p:sp>
        <p:nvSpPr>
          <p:cNvPr id="61" name="Shape 11">
            <a:extLst xmlns:a="http://schemas.openxmlformats.org/drawingml/2006/main">
              <a:ext uri="{FF2B5EF4-FFF2-40B4-BE49-F238E27FC236}">
                <a16:creationId xmlns:a16="http://schemas.microsoft.com/office/drawing/2014/main" id="{7706239C-35EB-4EC5-9B3D-4472ABEB0983}"/>
              </a:ext>
            </a:extLst>
          </p:cNvPr>
          <p:cNvSpPr>
            <a:spLocks xmlns:a="http://schemas.openxmlformats.org/drawingml/2006/main" noGrp="1"/>
          </p:cNvSpPr>
          <p:nvPr/>
        </p:nvSpPr>
        <p:spPr>
          <a:xfrm xmlns:a="http://schemas.openxmlformats.org/drawingml/2006/main">
            <a:off x="4507992" y="2057400"/>
            <a:ext cx="3154680" cy="2349720"/>
          </a:xfrm>
          <a:prstGeom xmlns:a="http://schemas.openxmlformats.org/drawingml/2006/main" prst="roundRect">
            <a:avLst>
              <a:gd name="adj" fmla="val 622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62" name="Shape 12">
            <a:extLst xmlns:a="http://schemas.openxmlformats.org/drawingml/2006/main">
              <a:ext uri="{FF2B5EF4-FFF2-40B4-BE49-F238E27FC236}">
                <a16:creationId xmlns:a16="http://schemas.microsoft.com/office/drawing/2014/main" id="{6D86B16C-B6BA-4EC6-977C-E604E791C310}"/>
              </a:ext>
            </a:extLst>
          </p:cNvPr>
          <p:cNvSpPr>
            <a:spLocks xmlns:a="http://schemas.openxmlformats.org/drawingml/2006/main" noGrp="1"/>
          </p:cNvSpPr>
          <p:nvPr/>
        </p:nvSpPr>
        <p:spPr>
          <a:xfrm xmlns:a="http://schemas.openxmlformats.org/drawingml/2006/main">
            <a:off x="4745736" y="2331720"/>
            <a:ext cx="529920" cy="52992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3" name="Text 13">
            <a:extLst xmlns:a="http://schemas.openxmlformats.org/drawingml/2006/main">
              <a:ext uri="{FF2B5EF4-FFF2-40B4-BE49-F238E27FC236}">
                <a16:creationId xmlns:a16="http://schemas.microsoft.com/office/drawing/2014/main" id="{6C7C5E6F-4E20-4333-86A1-345BBF68D36E}"/>
              </a:ext>
            </a:extLst>
          </p:cNvPr>
          <p:cNvSpPr>
            <a:spLocks xmlns:a="http://schemas.openxmlformats.org/drawingml/2006/main" noGrp="1"/>
          </p:cNvSpPr>
          <p:nvPr/>
        </p:nvSpPr>
        <p:spPr>
          <a:xfrm xmlns:a="http://schemas.openxmlformats.org/drawingml/2006/main">
            <a:off x="4745736"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02</a:t>
            </a:r>
            <a:endParaRPr sz="1700" b="0" u="none">
              <a:solidFill>
                <a:srgbClr val="000000"/>
              </a:solidFill>
              <a:latin typeface="Arial"/>
              <a:ea typeface="Arial"/>
              <a:cs typeface="Arial"/>
            </a:endParaRPr>
          </a:p>
        </p:txBody>
      </p:sp>
      <p:sp>
        <p:nvSpPr>
          <p:cNvPr id="64" name="Text 14">
            <a:extLst xmlns:a="http://schemas.openxmlformats.org/drawingml/2006/main">
              <a:ext uri="{FF2B5EF4-FFF2-40B4-BE49-F238E27FC236}">
                <a16:creationId xmlns:a16="http://schemas.microsoft.com/office/drawing/2014/main" id="{A1FAF686-29FB-4E13-B6F4-8C9D071C26E2}"/>
              </a:ext>
            </a:extLst>
          </p:cNvPr>
          <p:cNvSpPr>
            <a:spLocks xmlns:a="http://schemas.openxmlformats.org/drawingml/2006/main" noGrp="1"/>
          </p:cNvSpPr>
          <p:nvPr/>
        </p:nvSpPr>
        <p:spPr>
          <a:xfrm xmlns:a="http://schemas.openxmlformats.org/drawingml/2006/main">
            <a:off x="5422392"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0">
                <a:solidFill>
                  <a:srgbClr val="DCE8FF"/>
                </a:solidFill>
                <a:latin typeface="Aptos"/>
                <a:ea typeface="Aptos"/>
                <a:cs typeface="Aptos"/>
              </a:rPr>
              <a:t>VERIFY</a:t>
            </a:r>
            <a:endParaRPr sz="1050" b="0" u="none">
              <a:solidFill>
                <a:srgbClr val="000000"/>
              </a:solidFill>
              <a:latin typeface="Arial"/>
              <a:ea typeface="Arial"/>
              <a:cs typeface="Arial"/>
            </a:endParaRPr>
          </a:p>
        </p:txBody>
      </p:sp>
      <p:sp>
        <p:nvSpPr>
          <p:cNvPr id="65" name="Text 15">
            <a:extLst xmlns:a="http://schemas.openxmlformats.org/drawingml/2006/main">
              <a:ext uri="{FF2B5EF4-FFF2-40B4-BE49-F238E27FC236}">
                <a16:creationId xmlns:a16="http://schemas.microsoft.com/office/drawing/2014/main" id="{355CF3EF-30A8-44A2-B105-576317AF8274}"/>
              </a:ext>
            </a:extLst>
          </p:cNvPr>
          <p:cNvSpPr>
            <a:spLocks xmlns:a="http://schemas.openxmlformats.org/drawingml/2006/main" noGrp="1"/>
          </p:cNvSpPr>
          <p:nvPr/>
        </p:nvSpPr>
        <p:spPr>
          <a:xfrm xmlns:a="http://schemas.openxmlformats.org/drawingml/2006/main">
            <a:off x="4764024"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FFFFFF"/>
                </a:solidFill>
                <a:latin typeface="Aptos Display"/>
                <a:ea typeface="Aptos Display"/>
                <a:cs typeface="Aptos Display"/>
              </a:rPr>
              <a:t>Test every finding</a:t>
            </a:r>
            <a:endParaRPr sz="2200" b="0" u="none">
              <a:solidFill>
                <a:srgbClr val="000000"/>
              </a:solidFill>
              <a:latin typeface="Arial"/>
              <a:ea typeface="Arial"/>
              <a:cs typeface="Arial"/>
            </a:endParaRPr>
          </a:p>
        </p:txBody>
      </p:sp>
      <p:sp>
        <p:nvSpPr>
          <p:cNvPr id="66" name="Text 16">
            <a:extLst xmlns:a="http://schemas.openxmlformats.org/drawingml/2006/main">
              <a:ext uri="{FF2B5EF4-FFF2-40B4-BE49-F238E27FC236}">
                <a16:creationId xmlns:a16="http://schemas.microsoft.com/office/drawing/2014/main" id="{78CEFE59-9470-4478-9E16-B65D36105922}"/>
              </a:ext>
            </a:extLst>
          </p:cNvPr>
          <p:cNvSpPr>
            <a:spLocks xmlns:a="http://schemas.openxmlformats.org/drawingml/2006/main" noGrp="1"/>
          </p:cNvSpPr>
          <p:nvPr/>
        </p:nvSpPr>
        <p:spPr>
          <a:xfrm xmlns:a="http://schemas.openxmlformats.org/drawingml/2006/main">
            <a:off x="4764024"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The exact sentence, from a page that is still live</a:t>
            </a:r>
            <a:endParaRPr sz="1400" b="0" u="none">
              <a:solidFill>
                <a:srgbClr val="000000"/>
              </a:solidFill>
              <a:latin typeface="Arial"/>
              <a:ea typeface="Arial"/>
              <a:cs typeface="Arial"/>
            </a:endParaRPr>
          </a:p>
        </p:txBody>
      </p:sp>
      <p:sp>
        <p:nvSpPr>
          <p:cNvPr id="67" name="Shape 17">
            <a:extLst xmlns:a="http://schemas.openxmlformats.org/drawingml/2006/main">
              <a:ext uri="{FF2B5EF4-FFF2-40B4-BE49-F238E27FC236}">
                <a16:creationId xmlns:a16="http://schemas.microsoft.com/office/drawing/2014/main" id="{908AA2E8-1265-4644-9AD6-F1E8CFE3C37B}"/>
              </a:ext>
            </a:extLst>
          </p:cNvPr>
          <p:cNvSpPr>
            <a:spLocks xmlns:a="http://schemas.openxmlformats.org/drawingml/2006/main" noGrp="1"/>
          </p:cNvSpPr>
          <p:nvPr/>
        </p:nvSpPr>
        <p:spPr>
          <a:xfrm xmlns:a="http://schemas.openxmlformats.org/drawingml/2006/main">
            <a:off x="8266175" y="2057400"/>
            <a:ext cx="315468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8" name="Shape 18">
            <a:extLst xmlns:a="http://schemas.openxmlformats.org/drawingml/2006/main">
              <a:ext uri="{FF2B5EF4-FFF2-40B4-BE49-F238E27FC236}">
                <a16:creationId xmlns:a16="http://schemas.microsoft.com/office/drawing/2014/main" id="{D6730576-E882-4732-A795-A1A6933BD38D}"/>
              </a:ext>
            </a:extLst>
          </p:cNvPr>
          <p:cNvSpPr>
            <a:spLocks xmlns:a="http://schemas.openxmlformats.org/drawingml/2006/main" noGrp="1"/>
          </p:cNvSpPr>
          <p:nvPr/>
        </p:nvSpPr>
        <p:spPr>
          <a:xfrm xmlns:a="http://schemas.openxmlformats.org/drawingml/2006/main">
            <a:off x="8503919"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9" name="Text 19">
            <a:extLst xmlns:a="http://schemas.openxmlformats.org/drawingml/2006/main">
              <a:ext uri="{FF2B5EF4-FFF2-40B4-BE49-F238E27FC236}">
                <a16:creationId xmlns:a16="http://schemas.microsoft.com/office/drawing/2014/main" id="{291208BA-7A2E-439C-86FA-4DD18CCC1C22}"/>
              </a:ext>
            </a:extLst>
          </p:cNvPr>
          <p:cNvSpPr>
            <a:spLocks xmlns:a="http://schemas.openxmlformats.org/drawingml/2006/main" noGrp="1"/>
          </p:cNvSpPr>
          <p:nvPr/>
        </p:nvSpPr>
        <p:spPr>
          <a:xfrm xmlns:a="http://schemas.openxmlformats.org/drawingml/2006/main">
            <a:off x="8503920"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03</a:t>
            </a:r>
            <a:endParaRPr sz="1700" b="0" u="none">
              <a:solidFill>
                <a:srgbClr val="000000"/>
              </a:solidFill>
              <a:latin typeface="Arial"/>
              <a:ea typeface="Arial"/>
              <a:cs typeface="Arial"/>
            </a:endParaRPr>
          </a:p>
        </p:txBody>
      </p:sp>
      <p:sp>
        <p:nvSpPr>
          <p:cNvPr id="70" name="Text 20">
            <a:extLst xmlns:a="http://schemas.openxmlformats.org/drawingml/2006/main">
              <a:ext uri="{FF2B5EF4-FFF2-40B4-BE49-F238E27FC236}">
                <a16:creationId xmlns:a16="http://schemas.microsoft.com/office/drawing/2014/main" id="{65DC8F45-D6D5-4AD4-BA97-4B36F868419A}"/>
              </a:ext>
            </a:extLst>
          </p:cNvPr>
          <p:cNvSpPr>
            <a:spLocks xmlns:a="http://schemas.openxmlformats.org/drawingml/2006/main" noGrp="1"/>
          </p:cNvSpPr>
          <p:nvPr/>
        </p:nvSpPr>
        <p:spPr>
          <a:xfrm xmlns:a="http://schemas.openxmlformats.org/drawingml/2006/main">
            <a:off x="9180576"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REVIEW</a:t>
            </a:r>
            <a:endParaRPr sz="1050" b="0" u="none">
              <a:solidFill>
                <a:srgbClr val="000000"/>
              </a:solidFill>
              <a:latin typeface="Arial"/>
              <a:ea typeface="Arial"/>
              <a:cs typeface="Arial"/>
            </a:endParaRPr>
          </a:p>
        </p:txBody>
      </p:sp>
      <p:sp>
        <p:nvSpPr>
          <p:cNvPr id="71" name="Text 21">
            <a:extLst xmlns:a="http://schemas.openxmlformats.org/drawingml/2006/main">
              <a:ext uri="{FF2B5EF4-FFF2-40B4-BE49-F238E27FC236}">
                <a16:creationId xmlns:a16="http://schemas.microsoft.com/office/drawing/2014/main" id="{A579706B-F54E-40FC-818A-4AB3B03EA763}"/>
              </a:ext>
            </a:extLst>
          </p:cNvPr>
          <p:cNvSpPr>
            <a:spLocks xmlns:a="http://schemas.openxmlformats.org/drawingml/2006/main" noGrp="1"/>
          </p:cNvSpPr>
          <p:nvPr/>
        </p:nvSpPr>
        <p:spPr>
          <a:xfrm xmlns:a="http://schemas.openxmlformats.org/drawingml/2006/main">
            <a:off x="8522207"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0B1020"/>
                </a:solidFill>
                <a:latin typeface="Aptos Display"/>
                <a:ea typeface="Aptos Display"/>
                <a:cs typeface="Aptos Display"/>
              </a:rPr>
              <a:t>Start the client conversation</a:t>
            </a:r>
            <a:endParaRPr sz="2200" b="0" u="none">
              <a:solidFill>
                <a:srgbClr val="000000"/>
              </a:solidFill>
              <a:latin typeface="Arial"/>
              <a:ea typeface="Arial"/>
              <a:cs typeface="Arial"/>
            </a:endParaRPr>
          </a:p>
        </p:txBody>
      </p:sp>
      <p:sp>
        <p:nvSpPr>
          <p:cNvPr id="72" name="Text 22">
            <a:extLst xmlns:a="http://schemas.openxmlformats.org/drawingml/2006/main">
              <a:ext uri="{FF2B5EF4-FFF2-40B4-BE49-F238E27FC236}">
                <a16:creationId xmlns:a16="http://schemas.microsoft.com/office/drawing/2014/main" id="{BAE93762-FDD3-4AE5-99ED-1547007DC28B}"/>
              </a:ext>
            </a:extLst>
          </p:cNvPr>
          <p:cNvSpPr>
            <a:spLocks xmlns:a="http://schemas.openxmlformats.org/drawingml/2006/main" noGrp="1"/>
          </p:cNvSpPr>
          <p:nvPr/>
        </p:nvSpPr>
        <p:spPr>
          <a:xfrm xmlns:a="http://schemas.openxmlformats.org/drawingml/2006/main">
            <a:off x="8522207"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Draft inventory + focused questions</a:t>
            </a:r>
            <a:endParaRPr sz="1400" b="0" u="none">
              <a:solidFill>
                <a:srgbClr val="000000"/>
              </a:solidFill>
              <a:latin typeface="Arial"/>
              <a:ea typeface="Arial"/>
              <a:cs typeface="Arial"/>
            </a:endParaRPr>
          </a:p>
        </p:txBody>
      </p:sp>
      <p:sp>
        <p:nvSpPr>
          <p:cNvPr id="73" name="Shape 23">
            <a:extLst xmlns:a="http://schemas.openxmlformats.org/drawingml/2006/main">
              <a:ext uri="{FF2B5EF4-FFF2-40B4-BE49-F238E27FC236}">
                <a16:creationId xmlns:a16="http://schemas.microsoft.com/office/drawing/2014/main" id="{00C5A8E8-0D85-4259-B451-BE95B90A8F74}"/>
              </a:ext>
            </a:extLst>
          </p:cNvPr>
          <p:cNvSpPr>
            <a:spLocks xmlns:a="http://schemas.openxmlformats.org/drawingml/2006/main" noGrp="1"/>
          </p:cNvSpPr>
          <p:nvPr/>
        </p:nvSpPr>
        <p:spPr>
          <a:xfrm xmlns:a="http://schemas.openxmlformats.org/drawingml/2006/main">
            <a:off x="4302251" y="5010912"/>
            <a:ext cx="3566160" cy="566640"/>
          </a:xfrm>
          <a:prstGeom xmlns:a="http://schemas.openxmlformats.org/drawingml/2006/main" prst="roundRect">
            <a:avLst>
              <a:gd name="adj" fmla="val 1935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4" name="Text 24">
            <a:extLst xmlns:a="http://schemas.openxmlformats.org/drawingml/2006/main">
              <a:ext uri="{FF2B5EF4-FFF2-40B4-BE49-F238E27FC236}">
                <a16:creationId xmlns:a16="http://schemas.microsoft.com/office/drawing/2014/main" id="{AA8C83FF-AA4B-43B2-BF07-ACEF073CACE7}"/>
              </a:ext>
            </a:extLst>
          </p:cNvPr>
          <p:cNvSpPr>
            <a:spLocks xmlns:a="http://schemas.openxmlformats.org/drawingml/2006/main" noGrp="1"/>
          </p:cNvSpPr>
          <p:nvPr/>
        </p:nvSpPr>
        <p:spPr>
          <a:xfrm xmlns:a="http://schemas.openxmlformats.org/drawingml/2006/main">
            <a:off x="4439412" y="5157216"/>
            <a:ext cx="3291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950" b="1" u="none" spc="79">
                <a:solidFill>
                  <a:srgbClr val="B45309"/>
                </a:solidFill>
                <a:latin typeface="Aptos"/>
                <a:ea typeface="Aptos"/>
                <a:cs typeface="Aptos"/>
              </a:rPr>
              <a:t>NOT PROVEN → MARKED UNDETERMINED</a:t>
            </a:r>
            <a:endParaRPr sz="1150" b="0" u="none">
              <a:solidFill>
                <a:srgbClr val="000000"/>
              </a:solidFill>
              <a:latin typeface="Arial"/>
              <a:ea typeface="Arial"/>
              <a:cs typeface="Arial"/>
            </a:endParaRPr>
          </a:p>
        </p:txBody>
      </p:sp>
      <p:sp>
        <p:nvSpPr>
          <p:cNvPr id="75" name="Shape 25">
            <a:extLst xmlns:a="http://schemas.openxmlformats.org/drawingml/2006/main">
              <a:ext uri="{FF2B5EF4-FFF2-40B4-BE49-F238E27FC236}">
                <a16:creationId xmlns:a16="http://schemas.microsoft.com/office/drawing/2014/main" id="{AF6FCD34-2076-4458-8742-FA28525235C5}"/>
              </a:ext>
            </a:extLst>
          </p:cNvPr>
          <p:cNvSpPr>
            <a:spLocks xmlns:a="http://schemas.openxmlformats.org/drawingml/2006/main" noGrp="1"/>
          </p:cNvSpPr>
          <p:nvPr/>
        </p:nvSpPr>
        <p:spPr>
          <a:xfrm xmlns:a="http://schemas.openxmlformats.org/drawingml/2006/main">
            <a:off x="749880" y="5742360"/>
            <a:ext cx="10670760" cy="402120"/>
          </a:xfrm>
          <a:prstGeom xmlns:a="http://schemas.openxmlformats.org/drawingml/2006/main" prst="roundRect">
            <a:avLst>
              <a:gd name="adj" fmla="val 1363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6" name="Text 26">
            <a:extLst xmlns:a="http://schemas.openxmlformats.org/drawingml/2006/main">
              <a:ext uri="{FF2B5EF4-FFF2-40B4-BE49-F238E27FC236}">
                <a16:creationId xmlns:a16="http://schemas.microsoft.com/office/drawing/2014/main" id="{C853B119-E828-40B7-A6AF-9B29C907F6DB}"/>
              </a:ext>
            </a:extLst>
          </p:cNvPr>
          <p:cNvSpPr>
            <a:spLocks xmlns:a="http://schemas.openxmlformats.org/drawingml/2006/main" noGrp="1"/>
          </p:cNvSpPr>
          <p:nvPr/>
        </p:nvSpPr>
        <p:spPr>
          <a:xfrm xmlns:a="http://schemas.openxmlformats.org/drawingml/2006/main">
            <a:off x="951120" y="5815440"/>
            <a:ext cx="1024092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Humans confirm the facts. Applying the law is a separate job — and it stays with people.</a:t>
            </a:r>
            <a:endParaRPr sz="1350" b="0" u="none">
              <a:solidFill>
                <a:srgbClr val="000000"/>
              </a:solidFill>
              <a:latin typeface="Arial"/>
              <a:ea typeface="Arial"/>
              <a:cs typeface="Arial"/>
            </a:endParaRPr>
          </a:p>
        </p:txBody>
      </p:sp>
      <p:sp>
        <p:nvSpPr>
          <p:cNvPr id="77" name="Text 27">
            <a:extLst xmlns:a="http://schemas.openxmlformats.org/drawingml/2006/main">
              <a:ext uri="{FF2B5EF4-FFF2-40B4-BE49-F238E27FC236}">
                <a16:creationId xmlns:a16="http://schemas.microsoft.com/office/drawing/2014/main" id="{9B395917-BC08-473F-BE33-9C3FF1F1359F}"/>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SYSTEM</a:t>
            </a:r>
            <a:endParaRPr sz="900" b="0" u="none">
              <a:solidFill>
                <a:srgbClr val="000000"/>
              </a:solidFill>
              <a:latin typeface="Arial"/>
              <a:ea typeface="Arial"/>
              <a:cs typeface="Arial"/>
            </a:endParaRPr>
          </a:p>
        </p:txBody>
      </p:sp>
      <p:sp>
        <p:nvSpPr>
          <p:cNvPr id="78" name="PlaceHolder 1">
            <a:extLst xmlns:a="http://schemas.openxmlformats.org/drawingml/2006/main">
              <a:ext uri="{FF2B5EF4-FFF2-40B4-BE49-F238E27FC236}">
                <a16:creationId xmlns:a16="http://schemas.microsoft.com/office/drawing/2014/main" id="{1DDA6142-8D10-484E-B18E-4E0AA936C9E0}"/>
              </a:ext>
            </a:extLst>
          </p:cNvPr>
          <p:cNvSpPr>
            <a:spLocks xmlns:a="http://schemas.openxmlformats.org/drawingml/2006/main" noGrp="1"/>
          </p:cNvSpPr>
          <p:nvPr>
            <p:ph type="sldNum" idx="7"/>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202359C0-8A7A-196E-DD58-8E6569619F09}" type="slidenum">
              <a:rPr sz="900" b="0" u="none">
                <a:solidFill>
                  <a:srgbClr val="94A3B8"/>
                </a:solidFill>
                <a:latin typeface="Aptos"/>
                <a:ea typeface="Aptos"/>
                <a:cs typeface="Aptos"/>
              </a:rPr>
              <a:t>3</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24262393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9" name="Text 0">
            <a:extLst xmlns:a="http://schemas.openxmlformats.org/drawingml/2006/main">
              <a:ext uri="{FF2B5EF4-FFF2-40B4-BE49-F238E27FC236}">
                <a16:creationId xmlns:a16="http://schemas.microsoft.com/office/drawing/2014/main" id="{F9DDF729-6A84-412D-B0D8-F9CAE8265100}"/>
              </a:ext>
            </a:extLst>
          </p:cNvPr>
          <p:cNvSpPr>
            <a:spLocks xmlns:a="http://schemas.openxmlformats.org/drawingml/2006/main" noGrp="1"/>
          </p:cNvSpPr>
          <p:nvPr/>
        </p:nvSpPr>
        <p:spPr>
          <a:xfrm xmlns:a="http://schemas.openxmlformats.org/drawingml/2006/main">
            <a:off x="713232"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DEMO</a:t>
            </a:r>
            <a:endParaRPr sz="1100" b="0" u="none">
              <a:solidFill>
                <a:srgbClr val="000000"/>
              </a:solidFill>
              <a:latin typeface="Arial"/>
              <a:ea typeface="Arial"/>
              <a:cs typeface="Arial"/>
            </a:endParaRPr>
          </a:p>
        </p:txBody>
      </p:sp>
      <p:sp>
        <p:nvSpPr>
          <p:cNvPr id="80" name="Text 1">
            <a:extLst xmlns:a="http://schemas.openxmlformats.org/drawingml/2006/main">
              <a:ext uri="{FF2B5EF4-FFF2-40B4-BE49-F238E27FC236}">
                <a16:creationId xmlns:a16="http://schemas.microsoft.com/office/drawing/2014/main" id="{BE0958AE-0D4E-412A-ADDA-EF3B7E444C7F}"/>
              </a:ext>
            </a:extLst>
          </p:cNvPr>
          <p:cNvSpPr>
            <a:spLocks xmlns:a="http://schemas.openxmlformats.org/drawingml/2006/main" noGrp="1"/>
          </p:cNvSpPr>
          <p:nvPr/>
        </p:nvSpPr>
        <p:spPr>
          <a:xfrm xmlns:a="http://schemas.openxmlformats.org/drawingml/2006/main">
            <a:off x="713160" y="713160"/>
            <a:ext cx="10743840" cy="7128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One name in; evidence and questions out</a:t>
            </a:r>
            <a:endParaRPr sz="4000" b="0" u="none">
              <a:solidFill>
                <a:srgbClr val="000000"/>
              </a:solidFill>
              <a:latin typeface="Arial"/>
              <a:ea typeface="Arial"/>
              <a:cs typeface="Arial"/>
            </a:endParaRPr>
          </a:p>
        </p:txBody>
      </p:sp>
      <p:sp>
        <p:nvSpPr>
          <p:cNvPr id="81" name="Text 2">
            <a:extLst xmlns:a="http://schemas.openxmlformats.org/drawingml/2006/main">
              <a:ext uri="{FF2B5EF4-FFF2-40B4-BE49-F238E27FC236}">
                <a16:creationId xmlns:a16="http://schemas.microsoft.com/office/drawing/2014/main" id="{014D6D0C-4E4D-4E08-8307-0CE6E91B8919}"/>
              </a:ext>
            </a:extLst>
          </p:cNvPr>
          <p:cNvSpPr>
            <a:spLocks xmlns:a="http://schemas.openxmlformats.org/drawingml/2006/main" noGrp="1"/>
          </p:cNvSpPr>
          <p:nvPr/>
        </p:nvSpPr>
        <p:spPr>
          <a:xfrm xmlns:a="http://schemas.openxmlformats.org/drawingml/2006/main">
            <a:off x="749880" y="1572840"/>
            <a:ext cx="86868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TWO REAL SCANS  •  OUTPUT SHOWN UNEDITED</a:t>
            </a:r>
            <a:endParaRPr sz="1050" b="0" u="none">
              <a:solidFill>
                <a:srgbClr val="000000"/>
              </a:solidFill>
              <a:latin typeface="Arial"/>
              <a:ea typeface="Arial"/>
              <a:cs typeface="Arial"/>
            </a:endParaRPr>
          </a:p>
        </p:txBody>
      </p:sp>
      <p:sp>
        <p:nvSpPr>
          <p:cNvPr id="82" name="Shape 3">
            <a:extLst xmlns:a="http://schemas.openxmlformats.org/drawingml/2006/main">
              <a:ext uri="{FF2B5EF4-FFF2-40B4-BE49-F238E27FC236}">
                <a16:creationId xmlns:a16="http://schemas.microsoft.com/office/drawing/2014/main" id="{95653D35-B7DB-40C1-8DCB-ACC6F9917A15}"/>
              </a:ext>
            </a:extLst>
          </p:cNvPr>
          <p:cNvSpPr>
            <a:spLocks xmlns:a="http://schemas.openxmlformats.org/drawingml/2006/main" noGrp="1"/>
          </p:cNvSpPr>
          <p:nvPr/>
        </p:nvSpPr>
        <p:spPr>
          <a:xfrm xmlns:a="http://schemas.openxmlformats.org/drawingml/2006/main">
            <a:off x="749808" y="1965960"/>
            <a:ext cx="5193792" cy="37944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3" name="Text 4">
            <a:extLst xmlns:a="http://schemas.openxmlformats.org/drawingml/2006/main">
              <a:ext uri="{FF2B5EF4-FFF2-40B4-BE49-F238E27FC236}">
                <a16:creationId xmlns:a16="http://schemas.microsoft.com/office/drawing/2014/main" id="{C895E9BD-7288-4645-B8C0-2EF442B0E117}"/>
              </a:ext>
            </a:extLst>
          </p:cNvPr>
          <p:cNvSpPr>
            <a:spLocks xmlns:a="http://schemas.openxmlformats.org/drawingml/2006/main" noGrp="1"/>
          </p:cNvSpPr>
          <p:nvPr/>
        </p:nvSpPr>
        <p:spPr>
          <a:xfrm xmlns:a="http://schemas.openxmlformats.org/drawingml/2006/main">
            <a:off x="1051560" y="2258640"/>
            <a:ext cx="100548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2563EB"/>
                </a:solidFill>
                <a:latin typeface="Aptos"/>
                <a:ea typeface="Aptos"/>
                <a:cs typeface="Aptos"/>
              </a:rPr>
              <a:t>PERSONIO</a:t>
            </a:r>
            <a:endParaRPr sz="1050" b="0" u="none">
              <a:solidFill>
                <a:srgbClr val="000000"/>
              </a:solidFill>
              <a:latin typeface="Arial"/>
              <a:ea typeface="Arial"/>
              <a:cs typeface="Arial"/>
            </a:endParaRPr>
          </a:p>
        </p:txBody>
      </p:sp>
      <p:sp>
        <p:nvSpPr>
          <p:cNvPr id="84" name="Text 5">
            <a:extLst xmlns:a="http://schemas.openxmlformats.org/drawingml/2006/main">
              <a:ext uri="{FF2B5EF4-FFF2-40B4-BE49-F238E27FC236}">
                <a16:creationId xmlns:a16="http://schemas.microsoft.com/office/drawing/2014/main" id="{10F5F896-E876-498E-AEC4-D9274811020A}"/>
              </a:ext>
            </a:extLst>
          </p:cNvPr>
          <p:cNvSpPr>
            <a:spLocks xmlns:a="http://schemas.openxmlformats.org/drawingml/2006/main" noGrp="1"/>
          </p:cNvSpPr>
          <p:nvPr/>
        </p:nvSpPr>
        <p:spPr>
          <a:xfrm xmlns:a="http://schemas.openxmlformats.org/drawingml/2006/main">
            <a:off x="1051560" y="2578680"/>
            <a:ext cx="356580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Public evidence found</a:t>
            </a:r>
            <a:endParaRPr sz="2600" b="0" u="none">
              <a:solidFill>
                <a:srgbClr val="000000"/>
              </a:solidFill>
              <a:latin typeface="Arial"/>
              <a:ea typeface="Arial"/>
              <a:cs typeface="Arial"/>
            </a:endParaRPr>
          </a:p>
        </p:txBody>
      </p:sp>
      <p:sp>
        <p:nvSpPr>
          <p:cNvPr id="85" name="Text 6">
            <a:extLst xmlns:a="http://schemas.openxmlformats.org/drawingml/2006/main">
              <a:ext uri="{FF2B5EF4-FFF2-40B4-BE49-F238E27FC236}">
                <a16:creationId xmlns:a16="http://schemas.microsoft.com/office/drawing/2014/main" id="{48B4EC36-673C-4B68-88F7-0D86F8E00D71}"/>
              </a:ext>
            </a:extLst>
          </p:cNvPr>
          <p:cNvSpPr>
            <a:spLocks xmlns:a="http://schemas.openxmlformats.org/drawingml/2006/main" noGrp="1"/>
          </p:cNvSpPr>
          <p:nvPr/>
        </p:nvSpPr>
        <p:spPr>
          <a:xfrm xmlns:a="http://schemas.openxmlformats.org/drawingml/2006/main">
            <a:off x="1051560" y="3035880"/>
            <a:ext cx="470916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2 possible systems  •  2 proven  •  0 undetermined</a:t>
            </a:r>
            <a:endParaRPr sz="1400" b="0" u="none">
              <a:solidFill>
                <a:srgbClr val="000000"/>
              </a:solidFill>
              <a:latin typeface="Arial"/>
              <a:ea typeface="Arial"/>
              <a:cs typeface="Arial"/>
            </a:endParaRPr>
          </a:p>
        </p:txBody>
      </p:sp>
      <p:sp>
        <p:nvSpPr>
          <p:cNvPr id="86" name="Shape 7">
            <a:extLst xmlns:a="http://schemas.openxmlformats.org/drawingml/2006/main">
              <a:ext uri="{FF2B5EF4-FFF2-40B4-BE49-F238E27FC236}">
                <a16:creationId xmlns:a16="http://schemas.microsoft.com/office/drawing/2014/main" id="{52B99E8C-4FAD-4852-A47A-FF15DF50F0B1}"/>
              </a:ext>
            </a:extLst>
          </p:cNvPr>
          <p:cNvSpPr>
            <a:spLocks xmlns:a="http://schemas.openxmlformats.org/drawingml/2006/main" noGrp="1"/>
          </p:cNvSpPr>
          <p:nvPr/>
        </p:nvSpPr>
        <p:spPr>
          <a:xfrm xmlns:a="http://schemas.openxmlformats.org/drawingml/2006/main">
            <a:off x="1051560" y="3584520"/>
            <a:ext cx="4590288" cy="1206720"/>
          </a:xfrm>
          <a:prstGeom xmlns:a="http://schemas.openxmlformats.org/drawingml/2006/main" prst="roundRect">
            <a:avLst>
              <a:gd name="adj" fmla="val 7576"/>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7" name="Text 8">
            <a:extLst xmlns:a="http://schemas.openxmlformats.org/drawingml/2006/main">
              <a:ext uri="{FF2B5EF4-FFF2-40B4-BE49-F238E27FC236}">
                <a16:creationId xmlns:a16="http://schemas.microsoft.com/office/drawing/2014/main" id="{693C2E7A-2B79-4585-8383-2FC8A21A9985}"/>
              </a:ext>
            </a:extLst>
          </p:cNvPr>
          <p:cNvSpPr>
            <a:spLocks xmlns:a="http://schemas.openxmlformats.org/drawingml/2006/main" noGrp="1"/>
          </p:cNvSpPr>
          <p:nvPr/>
        </p:nvSpPr>
        <p:spPr>
          <a:xfrm xmlns:a="http://schemas.openxmlformats.org/drawingml/2006/main">
            <a:off x="1298520" y="3767400"/>
            <a:ext cx="233136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2563EB"/>
                </a:solidFill>
                <a:latin typeface="Aptos"/>
                <a:ea typeface="Aptos"/>
                <a:cs typeface="Aptos"/>
              </a:rPr>
              <a:t>EXACT SUPPORTING SENTENCE</a:t>
            </a:r>
            <a:endParaRPr sz="950" b="0" u="none">
              <a:solidFill>
                <a:srgbClr val="000000"/>
              </a:solidFill>
              <a:latin typeface="Arial"/>
              <a:ea typeface="Arial"/>
              <a:cs typeface="Arial"/>
            </a:endParaRPr>
          </a:p>
        </p:txBody>
      </p:sp>
      <p:sp>
        <p:nvSpPr>
          <p:cNvPr id="88" name="Text 9">
            <a:extLst xmlns:a="http://schemas.openxmlformats.org/drawingml/2006/main">
              <a:ext uri="{FF2B5EF4-FFF2-40B4-BE49-F238E27FC236}">
                <a16:creationId xmlns:a16="http://schemas.microsoft.com/office/drawing/2014/main" id="{278879F8-91B8-4CE6-A455-2A0C21490514}"/>
              </a:ext>
            </a:extLst>
          </p:cNvPr>
          <p:cNvSpPr>
            <a:spLocks xmlns:a="http://schemas.openxmlformats.org/drawingml/2006/main" noGrp="1"/>
          </p:cNvSpPr>
          <p:nvPr/>
        </p:nvSpPr>
        <p:spPr>
          <a:xfrm xmlns:a="http://schemas.openxmlformats.org/drawingml/2006/main">
            <a:off x="1298520" y="4078080"/>
            <a:ext cx="416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00" b="0" i="1" u="none">
                <a:solidFill>
                  <a:srgbClr val="0B1020"/>
                </a:solidFill>
                <a:latin typeface="Aptos"/>
                <a:ea typeface="Aptos"/>
                <a:cs typeface="Aptos"/>
              </a:rPr>
              <a:t>“Turn complex HR data into confident decisions. Ask Personio Assistant any question and get AI-powered insights in seconds…”</a:t>
            </a:r>
            <a:endParaRPr sz="1650" b="0" u="none">
              <a:solidFill>
                <a:srgbClr val="000000"/>
              </a:solidFill>
              <a:latin typeface="Arial"/>
              <a:ea typeface="Arial"/>
              <a:cs typeface="Arial"/>
            </a:endParaRPr>
          </a:p>
        </p:txBody>
      </p:sp>
      <p:sp>
        <p:nvSpPr>
          <p:cNvPr id="89" name="Text 10">
            <a:extLst xmlns:a="http://schemas.openxmlformats.org/drawingml/2006/main">
              <a:ext uri="{FF2B5EF4-FFF2-40B4-BE49-F238E27FC236}">
                <a16:creationId xmlns:a16="http://schemas.microsoft.com/office/drawing/2014/main" id="{EF13023F-EF52-45D8-95B1-467340A29488}"/>
              </a:ext>
            </a:extLst>
          </p:cNvPr>
          <p:cNvSpPr>
            <a:spLocks xmlns:a="http://schemas.openxmlformats.org/drawingml/2006/main" noGrp="1"/>
          </p:cNvSpPr>
          <p:nvPr/>
        </p:nvSpPr>
        <p:spPr>
          <a:xfrm xmlns:a="http://schemas.openxmlformats.org/drawingml/2006/main">
            <a:off x="1051560" y="5093280"/>
            <a:ext cx="452592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300" b="1" u="none">
                <a:solidFill>
                  <a:srgbClr val="273244"/>
                </a:solidFill>
                <a:latin typeface="Aptos"/>
                <a:ea typeface="Aptos"/>
                <a:cs typeface="Aptos"/>
              </a:rPr>
              <a:t>Question: Was either tool renamed, repurposed or retrained?</a:t>
            </a:r>
            <a:endParaRPr sz="1500" b="0" u="none">
              <a:solidFill>
                <a:srgbClr val="000000"/>
              </a:solidFill>
              <a:latin typeface="Arial"/>
              <a:ea typeface="Arial"/>
              <a:cs typeface="Arial"/>
            </a:endParaRPr>
          </a:p>
        </p:txBody>
      </p:sp>
      <p:sp>
        <p:nvSpPr>
          <p:cNvPr id="90" name="Shape 11">
            <a:extLst xmlns:a="http://schemas.openxmlformats.org/drawingml/2006/main">
              <a:ext uri="{FF2B5EF4-FFF2-40B4-BE49-F238E27FC236}">
                <a16:creationId xmlns:a16="http://schemas.microsoft.com/office/drawing/2014/main" id="{CAB61817-52DA-4607-807C-D44738209C96}"/>
              </a:ext>
            </a:extLst>
          </p:cNvPr>
          <p:cNvSpPr>
            <a:spLocks xmlns:a="http://schemas.openxmlformats.org/drawingml/2006/main" noGrp="1"/>
          </p:cNvSpPr>
          <p:nvPr/>
        </p:nvSpPr>
        <p:spPr>
          <a:xfrm xmlns:a="http://schemas.openxmlformats.org/drawingml/2006/main">
            <a:off x="6217920" y="1965960"/>
            <a:ext cx="5193792" cy="3794400"/>
          </a:xfrm>
          <a:prstGeom xmlns:a="http://schemas.openxmlformats.org/drawingml/2006/main" prst="roundRect">
            <a:avLst>
              <a:gd name="adj" fmla="val 3614"/>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1" name="Text 12">
            <a:extLst xmlns:a="http://schemas.openxmlformats.org/drawingml/2006/main">
              <a:ext uri="{FF2B5EF4-FFF2-40B4-BE49-F238E27FC236}">
                <a16:creationId xmlns:a16="http://schemas.microsoft.com/office/drawing/2014/main" id="{5C622183-5235-4283-966B-6C948F1F36EF}"/>
              </a:ext>
            </a:extLst>
          </p:cNvPr>
          <p:cNvSpPr>
            <a:spLocks xmlns:a="http://schemas.openxmlformats.org/drawingml/2006/main" noGrp="1"/>
          </p:cNvSpPr>
          <p:nvPr/>
        </p:nvSpPr>
        <p:spPr>
          <a:xfrm xmlns:a="http://schemas.openxmlformats.org/drawingml/2006/main">
            <a:off x="6528960" y="2258640"/>
            <a:ext cx="182844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64748B"/>
                </a:solidFill>
                <a:latin typeface="Aptos"/>
                <a:ea typeface="Aptos"/>
                <a:cs typeface="Aptos"/>
              </a:rPr>
              <a:t>BALLYMALOE FOODS</a:t>
            </a:r>
            <a:endParaRPr sz="1050" b="0" u="none">
              <a:solidFill>
                <a:srgbClr val="000000"/>
              </a:solidFill>
              <a:latin typeface="Arial"/>
              <a:ea typeface="Arial"/>
              <a:cs typeface="Arial"/>
            </a:endParaRPr>
          </a:p>
        </p:txBody>
      </p:sp>
      <p:sp>
        <p:nvSpPr>
          <p:cNvPr id="92" name="Text 13">
            <a:extLst xmlns:a="http://schemas.openxmlformats.org/drawingml/2006/main">
              <a:ext uri="{FF2B5EF4-FFF2-40B4-BE49-F238E27FC236}">
                <a16:creationId xmlns:a16="http://schemas.microsoft.com/office/drawing/2014/main" id="{E2306893-B13C-4C67-97E0-AAF280689951}"/>
              </a:ext>
            </a:extLst>
          </p:cNvPr>
          <p:cNvSpPr>
            <a:spLocks xmlns:a="http://schemas.openxmlformats.org/drawingml/2006/main" noGrp="1"/>
          </p:cNvSpPr>
          <p:nvPr/>
        </p:nvSpPr>
        <p:spPr>
          <a:xfrm xmlns:a="http://schemas.openxmlformats.org/drawingml/2006/main">
            <a:off x="6528960" y="2578680"/>
            <a:ext cx="416016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No public evidence found</a:t>
            </a:r>
            <a:endParaRPr sz="2600" b="0" u="none">
              <a:solidFill>
                <a:srgbClr val="000000"/>
              </a:solidFill>
              <a:latin typeface="Arial"/>
              <a:ea typeface="Arial"/>
              <a:cs typeface="Arial"/>
            </a:endParaRPr>
          </a:p>
        </p:txBody>
      </p:sp>
      <p:sp>
        <p:nvSpPr>
          <p:cNvPr id="93" name="Text 14">
            <a:extLst xmlns:a="http://schemas.openxmlformats.org/drawingml/2006/main">
              <a:ext uri="{FF2B5EF4-FFF2-40B4-BE49-F238E27FC236}">
                <a16:creationId xmlns:a16="http://schemas.microsoft.com/office/drawing/2014/main" id="{FAD7D58D-FE69-4ACF-8522-5DD19AF844FC}"/>
              </a:ext>
            </a:extLst>
          </p:cNvPr>
          <p:cNvSpPr>
            <a:spLocks xmlns:a="http://schemas.openxmlformats.org/drawingml/2006/main" noGrp="1"/>
          </p:cNvSpPr>
          <p:nvPr/>
        </p:nvSpPr>
        <p:spPr>
          <a:xfrm xmlns:a="http://schemas.openxmlformats.org/drawingml/2006/main">
            <a:off x="6528960" y="3035880"/>
            <a:ext cx="416016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0 possible systems  •  1 question to discuss</a:t>
            </a:r>
            <a:endParaRPr sz="1400" b="0" u="none">
              <a:solidFill>
                <a:srgbClr val="000000"/>
              </a:solidFill>
              <a:latin typeface="Arial"/>
              <a:ea typeface="Arial"/>
              <a:cs typeface="Arial"/>
            </a:endParaRPr>
          </a:p>
        </p:txBody>
      </p:sp>
      <p:sp>
        <p:nvSpPr>
          <p:cNvPr id="94" name="Shape 15">
            <a:extLst xmlns:a="http://schemas.openxmlformats.org/drawingml/2006/main">
              <a:ext uri="{FF2B5EF4-FFF2-40B4-BE49-F238E27FC236}">
                <a16:creationId xmlns:a16="http://schemas.microsoft.com/office/drawing/2014/main" id="{6F96F672-BCB6-4646-9E7D-56A18EC0F9B7}"/>
              </a:ext>
            </a:extLst>
          </p:cNvPr>
          <p:cNvSpPr>
            <a:spLocks xmlns:a="http://schemas.openxmlformats.org/drawingml/2006/main" noGrp="1"/>
          </p:cNvSpPr>
          <p:nvPr/>
        </p:nvSpPr>
        <p:spPr>
          <a:xfrm xmlns:a="http://schemas.openxmlformats.org/drawingml/2006/main">
            <a:off x="6528960" y="3584520"/>
            <a:ext cx="4590288" cy="1206720"/>
          </a:xfrm>
          <a:prstGeom xmlns:a="http://schemas.openxmlformats.org/drawingml/2006/main" prst="roundRect">
            <a:avLst>
              <a:gd name="adj" fmla="val 757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5" name="Text 16">
            <a:extLst xmlns:a="http://schemas.openxmlformats.org/drawingml/2006/main">
              <a:ext uri="{FF2B5EF4-FFF2-40B4-BE49-F238E27FC236}">
                <a16:creationId xmlns:a16="http://schemas.microsoft.com/office/drawing/2014/main" id="{04A87919-DB78-4FF7-A58D-11ABEAA62925}"/>
              </a:ext>
            </a:extLst>
          </p:cNvPr>
          <p:cNvSpPr>
            <a:spLocks xmlns:a="http://schemas.openxmlformats.org/drawingml/2006/main" noGrp="1"/>
          </p:cNvSpPr>
          <p:nvPr/>
        </p:nvSpPr>
        <p:spPr>
          <a:xfrm xmlns:a="http://schemas.openxmlformats.org/drawingml/2006/main">
            <a:off x="6775560" y="3767400"/>
            <a:ext cx="196560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B45309"/>
                </a:solidFill>
                <a:latin typeface="Aptos"/>
                <a:ea typeface="Aptos"/>
                <a:cs typeface="Aptos"/>
              </a:rPr>
              <a:t>THE HONEST RESULT</a:t>
            </a:r>
            <a:endParaRPr sz="950" b="0" u="none">
              <a:solidFill>
                <a:srgbClr val="000000"/>
              </a:solidFill>
              <a:latin typeface="Arial"/>
              <a:ea typeface="Arial"/>
              <a:cs typeface="Arial"/>
            </a:endParaRPr>
          </a:p>
        </p:txBody>
      </p:sp>
      <p:sp>
        <p:nvSpPr>
          <p:cNvPr id="96" name="Text 17">
            <a:extLst xmlns:a="http://schemas.openxmlformats.org/drawingml/2006/main">
              <a:ext uri="{FF2B5EF4-FFF2-40B4-BE49-F238E27FC236}">
                <a16:creationId xmlns:a16="http://schemas.microsoft.com/office/drawing/2014/main" id="{63D1E561-E470-410F-9371-CEF075AB87E4}"/>
              </a:ext>
            </a:extLst>
          </p:cNvPr>
          <p:cNvSpPr>
            <a:spLocks xmlns:a="http://schemas.openxmlformats.org/drawingml/2006/main" noGrp="1"/>
          </p:cNvSpPr>
          <p:nvPr/>
        </p:nvSpPr>
        <p:spPr>
          <a:xfrm xmlns:a="http://schemas.openxmlformats.org/drawingml/2006/main">
            <a:off x="6775560" y="4096440"/>
            <a:ext cx="3748680" cy="5025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00" b="1" u="none">
                <a:solidFill>
                  <a:srgbClr val="0B1020"/>
                </a:solidFill>
                <a:latin typeface="Aptos Display"/>
                <a:ea typeface="Aptos Display"/>
                <a:cs typeface="Aptos Display"/>
              </a:rPr>
              <a:t>No public evidence is not the same as no AI use.</a:t>
            </a:r>
            <a:endParaRPr sz="2200" b="0" u="none">
              <a:solidFill>
                <a:srgbClr val="000000"/>
              </a:solidFill>
              <a:latin typeface="Arial"/>
              <a:ea typeface="Arial"/>
              <a:cs typeface="Arial"/>
            </a:endParaRPr>
          </a:p>
        </p:txBody>
      </p:sp>
      <p:sp>
        <p:nvSpPr>
          <p:cNvPr id="97" name="Text 18">
            <a:extLst xmlns:a="http://schemas.openxmlformats.org/drawingml/2006/main">
              <a:ext uri="{FF2B5EF4-FFF2-40B4-BE49-F238E27FC236}">
                <a16:creationId xmlns:a16="http://schemas.microsoft.com/office/drawing/2014/main" id="{1CB9528D-9214-4368-AAC2-1A17B0370E0C}"/>
              </a:ext>
            </a:extLst>
          </p:cNvPr>
          <p:cNvSpPr>
            <a:spLocks xmlns:a="http://schemas.openxmlformats.org/drawingml/2006/main" noGrp="1"/>
          </p:cNvSpPr>
          <p:nvPr/>
        </p:nvSpPr>
        <p:spPr>
          <a:xfrm xmlns:a="http://schemas.openxmlformats.org/drawingml/2006/main">
            <a:off x="6528960" y="5093280"/>
            <a:ext cx="420588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300" b="1" u="none">
                <a:solidFill>
                  <a:srgbClr val="273244"/>
                </a:solidFill>
                <a:latin typeface="Aptos"/>
                <a:ea typeface="Aptos"/>
                <a:cs typeface="Aptos"/>
              </a:rPr>
              <a:t>Question to ask: What AI tools does the business actually use?</a:t>
            </a:r>
            <a:endParaRPr sz="1500" b="0" u="none">
              <a:solidFill>
                <a:srgbClr val="000000"/>
              </a:solidFill>
              <a:latin typeface="Arial"/>
              <a:ea typeface="Arial"/>
              <a:cs typeface="Arial"/>
            </a:endParaRPr>
          </a:p>
        </p:txBody>
      </p:sp>
      <p:sp>
        <p:nvSpPr>
          <p:cNvPr id="98" name="Text 19">
            <a:extLst xmlns:a="http://schemas.openxmlformats.org/drawingml/2006/main">
              <a:ext uri="{FF2B5EF4-FFF2-40B4-BE49-F238E27FC236}">
                <a16:creationId xmlns:a16="http://schemas.microsoft.com/office/drawing/2014/main" id="{7E8AE9B7-C347-407E-9D50-3A39A51A6747}"/>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DEMO</a:t>
            </a:r>
            <a:endParaRPr sz="900" b="0" u="none">
              <a:solidFill>
                <a:srgbClr val="000000"/>
              </a:solidFill>
              <a:latin typeface="Arial"/>
              <a:ea typeface="Arial"/>
              <a:cs typeface="Arial"/>
            </a:endParaRPr>
          </a:p>
        </p:txBody>
      </p:sp>
      <p:sp>
        <p:nvSpPr>
          <p:cNvPr id="99" name="PlaceHolder 1">
            <a:extLst xmlns:a="http://schemas.openxmlformats.org/drawingml/2006/main">
              <a:ext uri="{FF2B5EF4-FFF2-40B4-BE49-F238E27FC236}">
                <a16:creationId xmlns:a16="http://schemas.microsoft.com/office/drawing/2014/main" id="{43904E9A-545C-40F0-A3FF-C697B21CD680}"/>
              </a:ext>
            </a:extLst>
          </p:cNvPr>
          <p:cNvSpPr>
            <a:spLocks xmlns:a="http://schemas.openxmlformats.org/drawingml/2006/main" noGrp="1"/>
          </p:cNvSpPr>
          <p:nvPr>
            <p:ph type="sldNum" idx="8"/>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FD6AB9A-5F9E-5F59-51AB-3C8734130965}" type="slidenum">
              <a:rPr sz="900" b="0" u="none">
                <a:solidFill>
                  <a:srgbClr val="94A3B8"/>
                </a:solidFill>
                <a:latin typeface="Aptos"/>
                <a:ea typeface="Aptos"/>
                <a:cs typeface="Aptos"/>
              </a:rPr>
              <a:t>4</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84676685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0" name="Text 0">
            <a:extLst xmlns:a="http://schemas.openxmlformats.org/drawingml/2006/main">
              <a:ext uri="{FF2B5EF4-FFF2-40B4-BE49-F238E27FC236}">
                <a16:creationId xmlns:a16="http://schemas.microsoft.com/office/drawing/2014/main" id="{913DD227-DF10-4E1B-A9F2-4EE9640252AC}"/>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TRUST BOUNDARY</a:t>
            </a:r>
            <a:endParaRPr sz="1100" b="0" u="none">
              <a:solidFill>
                <a:srgbClr val="000000"/>
              </a:solidFill>
              <a:latin typeface="Arial"/>
              <a:ea typeface="Arial"/>
              <a:cs typeface="Arial"/>
            </a:endParaRPr>
          </a:p>
        </p:txBody>
      </p:sp>
      <p:sp>
        <p:nvSpPr>
          <p:cNvPr id="101" name="Text 1">
            <a:extLst xmlns:a="http://schemas.openxmlformats.org/drawingml/2006/main">
              <a:ext uri="{FF2B5EF4-FFF2-40B4-BE49-F238E27FC236}">
                <a16:creationId xmlns:a16="http://schemas.microsoft.com/office/drawing/2014/main" id="{DDF0F064-490C-4C3C-BEC0-6723229A9C63}"/>
              </a:ext>
            </a:extLst>
          </p:cNvPr>
          <p:cNvSpPr>
            <a:spLocks xmlns:a="http://schemas.openxmlformats.org/drawingml/2006/main" noGrp="1"/>
          </p:cNvSpPr>
          <p:nvPr/>
        </p:nvSpPr>
        <p:spPr>
          <a:xfrm xmlns:a="http://schemas.openxmlformats.org/drawingml/2006/main">
            <a:off x="713137" y="713137"/>
            <a:ext cx="10743819" cy="9144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Trust is enforced at the gate,</a:t>
            </a:r>
            <a:endParaRPr sz="3700" b="0" u="none">
              <a:solidFill>
                <a:srgbClr val="000000"/>
              </a:solidFill>
              <a:latin typeface="Arial"/>
              <a:ea typeface="Arial"/>
              <a:cs typeface="Arial"/>
            </a:endParaRPr>
          </a:p>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not promised in the prompt</a:t>
            </a:r>
            <a:endParaRPr sz="3700" b="0" u="none">
              <a:solidFill>
                <a:srgbClr val="000000"/>
              </a:solidFill>
              <a:latin typeface="Arial"/>
              <a:ea typeface="Arial"/>
              <a:cs typeface="Arial"/>
            </a:endParaRPr>
          </a:p>
        </p:txBody>
      </p:sp>
      <p:sp>
        <p:nvSpPr>
          <p:cNvPr id="102" name="Text 2">
            <a:extLst xmlns:a="http://schemas.openxmlformats.org/drawingml/2006/main">
              <a:ext uri="{FF2B5EF4-FFF2-40B4-BE49-F238E27FC236}">
                <a16:creationId xmlns:a16="http://schemas.microsoft.com/office/drawing/2014/main" id="{80888F36-0A5F-431F-AA62-0D2EEB9B76E7}"/>
              </a:ext>
            </a:extLst>
          </p:cNvPr>
          <p:cNvSpPr>
            <a:spLocks xmlns:a="http://schemas.openxmlformats.org/drawingml/2006/main" noGrp="1"/>
          </p:cNvSpPr>
          <p:nvPr/>
        </p:nvSpPr>
        <p:spPr>
          <a:xfrm xmlns:a="http://schemas.openxmlformats.org/drawingml/2006/main">
            <a:off x="749903" y="1783080"/>
            <a:ext cx="5851779" cy="319659"/>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800" b="0" u="none">
                <a:solidFill>
                  <a:srgbClr val="64748B"/>
                </a:solidFill>
                <a:latin typeface="Aptos"/>
                <a:ea typeface="Aptos"/>
                <a:cs typeface="Aptos"/>
              </a:rPr>
              <a:t>A finding ships only when all three checks pass</a:t>
            </a:r>
            <a:endParaRPr sz="1800" b="0" u="none">
              <a:solidFill>
                <a:srgbClr val="000000"/>
              </a:solidFill>
              <a:latin typeface="Arial"/>
              <a:ea typeface="Arial"/>
              <a:cs typeface="Arial"/>
            </a:endParaRPr>
          </a:p>
        </p:txBody>
      </p:sp>
      <p:sp>
        <p:nvSpPr>
          <p:cNvPr id="103" name="Shape 3">
            <a:extLst xmlns:a="http://schemas.openxmlformats.org/drawingml/2006/main">
              <a:ext uri="{FF2B5EF4-FFF2-40B4-BE49-F238E27FC236}">
                <a16:creationId xmlns:a16="http://schemas.microsoft.com/office/drawing/2014/main" id="{29624A94-E901-41FC-82CB-284DF6FAB68F}"/>
              </a:ext>
            </a:extLst>
          </p:cNvPr>
          <p:cNvSpPr>
            <a:spLocks xmlns:a="http://schemas.openxmlformats.org/drawingml/2006/main" noGrp="1"/>
          </p:cNvSpPr>
          <p:nvPr/>
        </p:nvSpPr>
        <p:spPr>
          <a:xfrm xmlns:a="http://schemas.openxmlformats.org/drawingml/2006/main">
            <a:off x="4078224" y="3154680"/>
            <a:ext cx="310896"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4" name="Shape 4">
            <a:extLst xmlns:a="http://schemas.openxmlformats.org/drawingml/2006/main">
              <a:ext uri="{FF2B5EF4-FFF2-40B4-BE49-F238E27FC236}">
                <a16:creationId xmlns:a16="http://schemas.microsoft.com/office/drawing/2014/main" id="{7DB0489C-F24E-499C-B761-17C06BA0E9BB}"/>
              </a:ext>
            </a:extLst>
          </p:cNvPr>
          <p:cNvSpPr>
            <a:spLocks xmlns:a="http://schemas.openxmlformats.org/drawingml/2006/main" noGrp="1"/>
          </p:cNvSpPr>
          <p:nvPr/>
        </p:nvSpPr>
        <p:spPr>
          <a:xfrm xmlns:a="http://schemas.openxmlformats.org/drawingml/2006/main">
            <a:off x="7735824" y="3154680"/>
            <a:ext cx="310896"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5" name="Shape 5">
            <a:extLst xmlns:a="http://schemas.openxmlformats.org/drawingml/2006/main">
              <a:ext uri="{FF2B5EF4-FFF2-40B4-BE49-F238E27FC236}">
                <a16:creationId xmlns:a16="http://schemas.microsoft.com/office/drawing/2014/main" id="{1E18E3C3-5276-4434-AF0D-7118ABDB56CC}"/>
              </a:ext>
            </a:extLst>
          </p:cNvPr>
          <p:cNvSpPr>
            <a:spLocks xmlns:a="http://schemas.openxmlformats.org/drawingml/2006/main" noGrp="1"/>
          </p:cNvSpPr>
          <p:nvPr/>
        </p:nvSpPr>
        <p:spPr>
          <a:xfrm xmlns:a="http://schemas.openxmlformats.org/drawingml/2006/main">
            <a:off x="749808" y="2194560"/>
            <a:ext cx="3310128"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6" name="Shape 6">
            <a:extLst xmlns:a="http://schemas.openxmlformats.org/drawingml/2006/main">
              <a:ext uri="{FF2B5EF4-FFF2-40B4-BE49-F238E27FC236}">
                <a16:creationId xmlns:a16="http://schemas.microsoft.com/office/drawing/2014/main" id="{3A18733D-5672-40EA-802B-23714E537A66}"/>
              </a:ext>
            </a:extLst>
          </p:cNvPr>
          <p:cNvSpPr>
            <a:spLocks xmlns:a="http://schemas.openxmlformats.org/drawingml/2006/main" noGrp="1"/>
          </p:cNvSpPr>
          <p:nvPr/>
        </p:nvSpPr>
        <p:spPr>
          <a:xfrm xmlns:a="http://schemas.openxmlformats.org/drawingml/2006/main">
            <a:off x="978407" y="2468879"/>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7" name="Text 7">
            <a:extLst xmlns:a="http://schemas.openxmlformats.org/drawingml/2006/main">
              <a:ext uri="{FF2B5EF4-FFF2-40B4-BE49-F238E27FC236}">
                <a16:creationId xmlns:a16="http://schemas.microsoft.com/office/drawing/2014/main" id="{ED3DF422-06A8-4E6C-8727-43DAC4FCE734}"/>
              </a:ext>
            </a:extLst>
          </p:cNvPr>
          <p:cNvSpPr>
            <a:spLocks xmlns:a="http://schemas.openxmlformats.org/drawingml/2006/main" noGrp="1"/>
          </p:cNvSpPr>
          <p:nvPr/>
        </p:nvSpPr>
        <p:spPr>
          <a:xfrm xmlns:a="http://schemas.openxmlformats.org/drawingml/2006/main">
            <a:off x="978407"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01</a:t>
            </a:r>
            <a:endParaRPr sz="1500" b="0" u="none">
              <a:solidFill>
                <a:srgbClr val="000000"/>
              </a:solidFill>
              <a:latin typeface="Arial"/>
              <a:ea typeface="Arial"/>
              <a:cs typeface="Arial"/>
            </a:endParaRPr>
          </a:p>
        </p:txBody>
      </p:sp>
      <p:sp>
        <p:nvSpPr>
          <p:cNvPr id="108" name="Text 8">
            <a:extLst xmlns:a="http://schemas.openxmlformats.org/drawingml/2006/main">
              <a:ext uri="{FF2B5EF4-FFF2-40B4-BE49-F238E27FC236}">
                <a16:creationId xmlns:a16="http://schemas.microsoft.com/office/drawing/2014/main" id="{58C46FEB-D492-4EF2-B4D7-D9268DF7D02B}"/>
              </a:ext>
            </a:extLst>
          </p:cNvPr>
          <p:cNvSpPr>
            <a:spLocks xmlns:a="http://schemas.openxmlformats.org/drawingml/2006/main" noGrp="1"/>
          </p:cNvSpPr>
          <p:nvPr/>
        </p:nvSpPr>
        <p:spPr>
          <a:xfrm xmlns:a="http://schemas.openxmlformats.org/drawingml/2006/main">
            <a:off x="15910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0B1020"/>
                </a:solidFill>
                <a:latin typeface="Aptos Display"/>
                <a:ea typeface="Aptos Display"/>
                <a:cs typeface="Aptos Display"/>
              </a:rPr>
              <a:t>Exact quote</a:t>
            </a:r>
            <a:endParaRPr sz="2200" b="0" u="none">
              <a:solidFill>
                <a:srgbClr val="000000"/>
              </a:solidFill>
              <a:latin typeface="Arial"/>
              <a:ea typeface="Arial"/>
              <a:cs typeface="Arial"/>
            </a:endParaRPr>
          </a:p>
        </p:txBody>
      </p:sp>
      <p:sp>
        <p:nvSpPr>
          <p:cNvPr id="109" name="Text 9">
            <a:extLst xmlns:a="http://schemas.openxmlformats.org/drawingml/2006/main">
              <a:ext uri="{FF2B5EF4-FFF2-40B4-BE49-F238E27FC236}">
                <a16:creationId xmlns:a16="http://schemas.microsoft.com/office/drawing/2014/main" id="{846A4E3C-7926-44F8-A0D8-59ADE38606CD}"/>
              </a:ext>
            </a:extLst>
          </p:cNvPr>
          <p:cNvSpPr>
            <a:spLocks xmlns:a="http://schemas.openxmlformats.org/drawingml/2006/main" noGrp="1"/>
          </p:cNvSpPr>
          <p:nvPr/>
        </p:nvSpPr>
        <p:spPr>
          <a:xfrm xmlns:a="http://schemas.openxmlformats.org/drawingml/2006/main">
            <a:off x="978407"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quoted sentence really is on the page</a:t>
            </a:r>
            <a:endParaRPr sz="1400" b="0" u="none">
              <a:solidFill>
                <a:srgbClr val="000000"/>
              </a:solidFill>
              <a:latin typeface="Arial"/>
              <a:ea typeface="Arial"/>
              <a:cs typeface="Arial"/>
            </a:endParaRPr>
          </a:p>
        </p:txBody>
      </p:sp>
      <p:sp>
        <p:nvSpPr>
          <p:cNvPr id="110" name="Shape 10">
            <a:extLst xmlns:a="http://schemas.openxmlformats.org/drawingml/2006/main">
              <a:ext uri="{FF2B5EF4-FFF2-40B4-BE49-F238E27FC236}">
                <a16:creationId xmlns:a16="http://schemas.microsoft.com/office/drawing/2014/main" id="{67F019D2-D994-410D-A926-3DF168EC4559}"/>
              </a:ext>
            </a:extLst>
          </p:cNvPr>
          <p:cNvSpPr>
            <a:spLocks xmlns:a="http://schemas.openxmlformats.org/drawingml/2006/main" noGrp="1"/>
          </p:cNvSpPr>
          <p:nvPr/>
        </p:nvSpPr>
        <p:spPr>
          <a:xfrm xmlns:a="http://schemas.openxmlformats.org/drawingml/2006/main">
            <a:off x="4407408" y="2194560"/>
            <a:ext cx="3310128" cy="1938240"/>
          </a:xfrm>
          <a:prstGeom xmlns:a="http://schemas.openxmlformats.org/drawingml/2006/main" prst="roundRect">
            <a:avLst>
              <a:gd name="adj" fmla="val 707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11" name="Shape 11">
            <a:extLst xmlns:a="http://schemas.openxmlformats.org/drawingml/2006/main">
              <a:ext uri="{FF2B5EF4-FFF2-40B4-BE49-F238E27FC236}">
                <a16:creationId xmlns:a16="http://schemas.microsoft.com/office/drawing/2014/main" id="{4CDB228B-9C37-4B35-AABB-AE228912E33C}"/>
              </a:ext>
            </a:extLst>
          </p:cNvPr>
          <p:cNvSpPr>
            <a:spLocks xmlns:a="http://schemas.openxmlformats.org/drawingml/2006/main" noGrp="1"/>
          </p:cNvSpPr>
          <p:nvPr/>
        </p:nvSpPr>
        <p:spPr>
          <a:xfrm xmlns:a="http://schemas.openxmlformats.org/drawingml/2006/main">
            <a:off x="4636008" y="2468879"/>
            <a:ext cx="475200" cy="47520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2" name="Text 12">
            <a:extLst xmlns:a="http://schemas.openxmlformats.org/drawingml/2006/main">
              <a:ext uri="{FF2B5EF4-FFF2-40B4-BE49-F238E27FC236}">
                <a16:creationId xmlns:a16="http://schemas.microsoft.com/office/drawing/2014/main" id="{952E25AA-0D26-428D-8E94-600ABDF55FC7}"/>
              </a:ext>
            </a:extLst>
          </p:cNvPr>
          <p:cNvSpPr>
            <a:spLocks xmlns:a="http://schemas.openxmlformats.org/drawingml/2006/main" noGrp="1"/>
          </p:cNvSpPr>
          <p:nvPr/>
        </p:nvSpPr>
        <p:spPr>
          <a:xfrm xmlns:a="http://schemas.openxmlformats.org/drawingml/2006/main">
            <a:off x="4636008"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2563EB"/>
                </a:solidFill>
                <a:latin typeface="Aptos"/>
                <a:ea typeface="Aptos"/>
                <a:cs typeface="Aptos"/>
              </a:rPr>
              <a:t>02</a:t>
            </a:r>
            <a:endParaRPr sz="1500" b="0" u="none">
              <a:solidFill>
                <a:srgbClr val="000000"/>
              </a:solidFill>
              <a:latin typeface="Arial"/>
              <a:ea typeface="Arial"/>
              <a:cs typeface="Arial"/>
            </a:endParaRPr>
          </a:p>
        </p:txBody>
      </p:sp>
      <p:sp>
        <p:nvSpPr>
          <p:cNvPr id="113" name="Text 13">
            <a:extLst xmlns:a="http://schemas.openxmlformats.org/drawingml/2006/main">
              <a:ext uri="{FF2B5EF4-FFF2-40B4-BE49-F238E27FC236}">
                <a16:creationId xmlns:a16="http://schemas.microsoft.com/office/drawing/2014/main" id="{270DC1F2-6388-41F0-AF91-A27291DAA0BE}"/>
              </a:ext>
            </a:extLst>
          </p:cNvPr>
          <p:cNvSpPr>
            <a:spLocks xmlns:a="http://schemas.openxmlformats.org/drawingml/2006/main" noGrp="1"/>
          </p:cNvSpPr>
          <p:nvPr/>
        </p:nvSpPr>
        <p:spPr>
          <a:xfrm xmlns:a="http://schemas.openxmlformats.org/drawingml/2006/main">
            <a:off x="52486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FFFFFF"/>
                </a:solidFill>
                <a:latin typeface="Aptos Display"/>
                <a:ea typeface="Aptos Display"/>
                <a:cs typeface="Aptos Display"/>
              </a:rPr>
              <a:t>Traceable source</a:t>
            </a:r>
            <a:endParaRPr sz="2200" b="0" u="none">
              <a:solidFill>
                <a:srgbClr val="000000"/>
              </a:solidFill>
              <a:latin typeface="Arial"/>
              <a:ea typeface="Arial"/>
              <a:cs typeface="Arial"/>
            </a:endParaRPr>
          </a:p>
        </p:txBody>
      </p:sp>
      <p:sp>
        <p:nvSpPr>
          <p:cNvPr id="114" name="Text 14">
            <a:extLst xmlns:a="http://schemas.openxmlformats.org/drawingml/2006/main">
              <a:ext uri="{FF2B5EF4-FFF2-40B4-BE49-F238E27FC236}">
                <a16:creationId xmlns:a16="http://schemas.microsoft.com/office/drawing/2014/main" id="{5FC4FE4D-803B-4343-A32C-40A57774E13E}"/>
              </a:ext>
            </a:extLst>
          </p:cNvPr>
          <p:cNvSpPr>
            <a:spLocks xmlns:a="http://schemas.openxmlformats.org/drawingml/2006/main" noGrp="1"/>
          </p:cNvSpPr>
          <p:nvPr/>
        </p:nvSpPr>
        <p:spPr>
          <a:xfrm xmlns:a="http://schemas.openxmlformats.org/drawingml/2006/main">
            <a:off x="4636008"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We know whose page it is and when we fetched it</a:t>
            </a:r>
            <a:endParaRPr sz="1400" b="0" u="none">
              <a:solidFill>
                <a:srgbClr val="000000"/>
              </a:solidFill>
              <a:latin typeface="Arial"/>
              <a:ea typeface="Arial"/>
              <a:cs typeface="Arial"/>
            </a:endParaRPr>
          </a:p>
        </p:txBody>
      </p:sp>
      <p:sp>
        <p:nvSpPr>
          <p:cNvPr id="115" name="Shape 15">
            <a:extLst xmlns:a="http://schemas.openxmlformats.org/drawingml/2006/main">
              <a:ext uri="{FF2B5EF4-FFF2-40B4-BE49-F238E27FC236}">
                <a16:creationId xmlns:a16="http://schemas.microsoft.com/office/drawing/2014/main" id="{A7975808-C466-464F-A552-466736FA6B16}"/>
              </a:ext>
            </a:extLst>
          </p:cNvPr>
          <p:cNvSpPr>
            <a:spLocks xmlns:a="http://schemas.openxmlformats.org/drawingml/2006/main" noGrp="1"/>
          </p:cNvSpPr>
          <p:nvPr/>
        </p:nvSpPr>
        <p:spPr>
          <a:xfrm xmlns:a="http://schemas.openxmlformats.org/drawingml/2006/main">
            <a:off x="8065008" y="2194560"/>
            <a:ext cx="3310128"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6" name="Shape 16">
            <a:extLst xmlns:a="http://schemas.openxmlformats.org/drawingml/2006/main">
              <a:ext uri="{FF2B5EF4-FFF2-40B4-BE49-F238E27FC236}">
                <a16:creationId xmlns:a16="http://schemas.microsoft.com/office/drawing/2014/main" id="{49C7BFC3-B212-462B-8447-B8D1AF9683FE}"/>
              </a:ext>
            </a:extLst>
          </p:cNvPr>
          <p:cNvSpPr>
            <a:spLocks xmlns:a="http://schemas.openxmlformats.org/drawingml/2006/main" noGrp="1"/>
          </p:cNvSpPr>
          <p:nvPr/>
        </p:nvSpPr>
        <p:spPr>
          <a:xfrm xmlns:a="http://schemas.openxmlformats.org/drawingml/2006/main">
            <a:off x="8293608" y="2468879"/>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7" name="Text 17">
            <a:extLst xmlns:a="http://schemas.openxmlformats.org/drawingml/2006/main">
              <a:ext uri="{FF2B5EF4-FFF2-40B4-BE49-F238E27FC236}">
                <a16:creationId xmlns:a16="http://schemas.microsoft.com/office/drawing/2014/main" id="{1B45A50B-4CCF-4C2B-BCC1-4C9B708621B9}"/>
              </a:ext>
            </a:extLst>
          </p:cNvPr>
          <p:cNvSpPr>
            <a:spLocks xmlns:a="http://schemas.openxmlformats.org/drawingml/2006/main" noGrp="1"/>
          </p:cNvSpPr>
          <p:nvPr/>
        </p:nvSpPr>
        <p:spPr>
          <a:xfrm xmlns:a="http://schemas.openxmlformats.org/drawingml/2006/main">
            <a:off x="8293608"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03</a:t>
            </a:r>
            <a:endParaRPr sz="1500" b="0" u="none">
              <a:solidFill>
                <a:srgbClr val="000000"/>
              </a:solidFill>
              <a:latin typeface="Arial"/>
              <a:ea typeface="Arial"/>
              <a:cs typeface="Arial"/>
            </a:endParaRPr>
          </a:p>
        </p:txBody>
      </p:sp>
      <p:sp>
        <p:nvSpPr>
          <p:cNvPr id="118" name="Text 18">
            <a:extLst xmlns:a="http://schemas.openxmlformats.org/drawingml/2006/main">
              <a:ext uri="{FF2B5EF4-FFF2-40B4-BE49-F238E27FC236}">
                <a16:creationId xmlns:a16="http://schemas.microsoft.com/office/drawing/2014/main" id="{95D6FBD7-E312-45BB-8BD0-29ED3F90CB29}"/>
              </a:ext>
            </a:extLst>
          </p:cNvPr>
          <p:cNvSpPr>
            <a:spLocks xmlns:a="http://schemas.openxmlformats.org/drawingml/2006/main" noGrp="1"/>
          </p:cNvSpPr>
          <p:nvPr/>
        </p:nvSpPr>
        <p:spPr>
          <a:xfrm xmlns:a="http://schemas.openxmlformats.org/drawingml/2006/main">
            <a:off x="89062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0B1020"/>
                </a:solidFill>
                <a:latin typeface="Aptos Display"/>
                <a:ea typeface="Aptos Display"/>
                <a:cs typeface="Aptos Display"/>
              </a:rPr>
              <a:t>Current enough</a:t>
            </a:r>
            <a:endParaRPr sz="2200" b="0" u="none">
              <a:solidFill>
                <a:srgbClr val="000000"/>
              </a:solidFill>
              <a:latin typeface="Arial"/>
              <a:ea typeface="Arial"/>
              <a:cs typeface="Arial"/>
            </a:endParaRPr>
          </a:p>
        </p:txBody>
      </p:sp>
      <p:sp>
        <p:nvSpPr>
          <p:cNvPr id="119" name="Text 19">
            <a:extLst xmlns:a="http://schemas.openxmlformats.org/drawingml/2006/main">
              <a:ext uri="{FF2B5EF4-FFF2-40B4-BE49-F238E27FC236}">
                <a16:creationId xmlns:a16="http://schemas.microsoft.com/office/drawing/2014/main" id="{C73FA78E-D11A-4AAA-80CC-757F41334329}"/>
              </a:ext>
            </a:extLst>
          </p:cNvPr>
          <p:cNvSpPr>
            <a:spLocks xmlns:a="http://schemas.openxmlformats.org/drawingml/2006/main" noGrp="1"/>
          </p:cNvSpPr>
          <p:nvPr/>
        </p:nvSpPr>
        <p:spPr>
          <a:xfrm xmlns:a="http://schemas.openxmlformats.org/drawingml/2006/main">
            <a:off x="8293608"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page is recent enough to support the claim</a:t>
            </a:r>
            <a:endParaRPr sz="1400" b="0" u="none">
              <a:solidFill>
                <a:srgbClr val="000000"/>
              </a:solidFill>
              <a:latin typeface="Arial"/>
              <a:ea typeface="Arial"/>
              <a:cs typeface="Arial"/>
            </a:endParaRPr>
          </a:p>
        </p:txBody>
      </p:sp>
      <p:sp>
        <p:nvSpPr>
          <p:cNvPr id="120" name="Shape 20">
            <a:extLst xmlns:a="http://schemas.openxmlformats.org/drawingml/2006/main">
              <a:ext uri="{FF2B5EF4-FFF2-40B4-BE49-F238E27FC236}">
                <a16:creationId xmlns:a16="http://schemas.microsoft.com/office/drawing/2014/main" id="{58CB0FC7-0AD1-4CA7-94D0-93AAAD23098C}"/>
              </a:ext>
            </a:extLst>
          </p:cNvPr>
          <p:cNvSpPr>
            <a:spLocks xmlns:a="http://schemas.openxmlformats.org/drawingml/2006/main" noGrp="1"/>
          </p:cNvSpPr>
          <p:nvPr/>
        </p:nvSpPr>
        <p:spPr>
          <a:xfrm xmlns:a="http://schemas.openxmlformats.org/drawingml/2006/main">
            <a:off x="6062472" y="4187952"/>
            <a:ext cx="360" cy="384048"/>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1" name="Shape 21">
            <a:extLst xmlns:a="http://schemas.openxmlformats.org/drawingml/2006/main">
              <a:ext uri="{FF2B5EF4-FFF2-40B4-BE49-F238E27FC236}">
                <a16:creationId xmlns:a16="http://schemas.microsoft.com/office/drawing/2014/main" id="{9FE7AD33-4C2A-4DD0-B137-AEE7EBCF1F9F}"/>
              </a:ext>
            </a:extLst>
          </p:cNvPr>
          <p:cNvSpPr>
            <a:spLocks xmlns:a="http://schemas.openxmlformats.org/drawingml/2006/main" noGrp="1"/>
          </p:cNvSpPr>
          <p:nvPr/>
        </p:nvSpPr>
        <p:spPr>
          <a:xfrm xmlns:a="http://schemas.openxmlformats.org/drawingml/2006/main">
            <a:off x="2496312" y="4645152"/>
            <a:ext cx="7132320" cy="402336"/>
          </a:xfrm>
          <a:prstGeom xmlns:a="http://schemas.openxmlformats.org/drawingml/2006/main" prst="roundRect">
            <a:avLst>
              <a:gd name="adj" fmla="val 17857"/>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2" name="Text 22">
            <a:extLst xmlns:a="http://schemas.openxmlformats.org/drawingml/2006/main">
              <a:ext uri="{FF2B5EF4-FFF2-40B4-BE49-F238E27FC236}">
                <a16:creationId xmlns:a16="http://schemas.microsoft.com/office/drawing/2014/main" id="{2613651E-14EB-4684-84E6-97F923B41D22}"/>
              </a:ext>
            </a:extLst>
          </p:cNvPr>
          <p:cNvSpPr>
            <a:spLocks xmlns:a="http://schemas.openxmlformats.org/drawingml/2006/main" noGrp="1"/>
          </p:cNvSpPr>
          <p:nvPr/>
        </p:nvSpPr>
        <p:spPr>
          <a:xfrm xmlns:a="http://schemas.openxmlformats.org/drawingml/2006/main">
            <a:off x="2633472" y="4736592"/>
            <a:ext cx="6858000"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050" b="1" u="none" spc="60">
                <a:solidFill>
                  <a:srgbClr val="B45309"/>
                </a:solidFill>
                <a:latin typeface="Aptos"/>
                <a:ea typeface="Aptos"/>
                <a:cs typeface="Aptos"/>
              </a:rPr>
              <a:t>FAILS A CHECK → SEARCH AGAIN → STILL UNPROVEN → ASK THE CLIENT</a:t>
            </a:r>
            <a:endParaRPr sz="1050" b="0" u="none">
              <a:solidFill>
                <a:srgbClr val="000000"/>
              </a:solidFill>
              <a:latin typeface="Arial"/>
              <a:ea typeface="Arial"/>
              <a:cs typeface="Arial"/>
            </a:endParaRPr>
          </a:p>
        </p:txBody>
      </p:sp>
      <p:sp>
        <p:nvSpPr>
          <p:cNvPr id="123" name="Shape 23">
            <a:extLst xmlns:a="http://schemas.openxmlformats.org/drawingml/2006/main">
              <a:ext uri="{FF2B5EF4-FFF2-40B4-BE49-F238E27FC236}">
                <a16:creationId xmlns:a16="http://schemas.microsoft.com/office/drawing/2014/main" id="{4D46ED31-6FDF-4187-97D7-CBCA7061505B}"/>
              </a:ext>
            </a:extLst>
          </p:cNvPr>
          <p:cNvSpPr>
            <a:spLocks xmlns:a="http://schemas.openxmlformats.org/drawingml/2006/main" noGrp="1"/>
          </p:cNvSpPr>
          <p:nvPr/>
        </p:nvSpPr>
        <p:spPr>
          <a:xfrm xmlns:a="http://schemas.openxmlformats.org/drawingml/2006/main">
            <a:off x="7498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4" name="Text 24">
            <a:extLst xmlns:a="http://schemas.openxmlformats.org/drawingml/2006/main">
              <a:ext uri="{FF2B5EF4-FFF2-40B4-BE49-F238E27FC236}">
                <a16:creationId xmlns:a16="http://schemas.microsoft.com/office/drawing/2014/main" id="{45281EB8-D0C2-42A0-B427-733BF2A11623}"/>
              </a:ext>
            </a:extLst>
          </p:cNvPr>
          <p:cNvSpPr>
            <a:spLocks xmlns:a="http://schemas.openxmlformats.org/drawingml/2006/main" noGrp="1"/>
          </p:cNvSpPr>
          <p:nvPr/>
        </p:nvSpPr>
        <p:spPr>
          <a:xfrm xmlns:a="http://schemas.openxmlformats.org/drawingml/2006/main">
            <a:off x="9144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100%</a:t>
            </a:r>
            <a:endParaRPr sz="2800" b="0" u="none">
              <a:solidFill>
                <a:srgbClr val="000000"/>
              </a:solidFill>
              <a:latin typeface="Arial"/>
              <a:ea typeface="Arial"/>
              <a:cs typeface="Arial"/>
            </a:endParaRPr>
          </a:p>
        </p:txBody>
      </p:sp>
      <p:sp>
        <p:nvSpPr>
          <p:cNvPr id="125" name="Text 25">
            <a:extLst xmlns:a="http://schemas.openxmlformats.org/drawingml/2006/main">
              <a:ext uri="{FF2B5EF4-FFF2-40B4-BE49-F238E27FC236}">
                <a16:creationId xmlns:a16="http://schemas.microsoft.com/office/drawing/2014/main" id="{A0EBEFAC-04F4-4203-B546-225556DA6B5C}"/>
              </a:ext>
            </a:extLst>
          </p:cNvPr>
          <p:cNvSpPr>
            <a:spLocks xmlns:a="http://schemas.openxmlformats.org/drawingml/2006/main" noGrp="1"/>
          </p:cNvSpPr>
          <p:nvPr/>
        </p:nvSpPr>
        <p:spPr>
          <a:xfrm xmlns:a="http://schemas.openxmlformats.org/drawingml/2006/main">
            <a:off x="9144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of unproven claims refused</a:t>
            </a:r>
            <a:endParaRPr sz="1250" b="0" u="none">
              <a:solidFill>
                <a:srgbClr val="000000"/>
              </a:solidFill>
              <a:latin typeface="Arial"/>
              <a:ea typeface="Arial"/>
              <a:cs typeface="Arial"/>
            </a:endParaRPr>
          </a:p>
        </p:txBody>
      </p:sp>
      <p:sp>
        <p:nvSpPr>
          <p:cNvPr id="126" name="Shape 26">
            <a:extLst xmlns:a="http://schemas.openxmlformats.org/drawingml/2006/main">
              <a:ext uri="{FF2B5EF4-FFF2-40B4-BE49-F238E27FC236}">
                <a16:creationId xmlns:a16="http://schemas.microsoft.com/office/drawing/2014/main" id="{4FB659DA-2550-46F5-A7BB-5344317591CA}"/>
              </a:ext>
            </a:extLst>
          </p:cNvPr>
          <p:cNvSpPr>
            <a:spLocks xmlns:a="http://schemas.openxmlformats.org/drawingml/2006/main" noGrp="1"/>
          </p:cNvSpPr>
          <p:nvPr/>
        </p:nvSpPr>
        <p:spPr>
          <a:xfrm xmlns:a="http://schemas.openxmlformats.org/drawingml/2006/main">
            <a:off x="44074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7" name="Text 27">
            <a:extLst xmlns:a="http://schemas.openxmlformats.org/drawingml/2006/main">
              <a:ext uri="{FF2B5EF4-FFF2-40B4-BE49-F238E27FC236}">
                <a16:creationId xmlns:a16="http://schemas.microsoft.com/office/drawing/2014/main" id="{EAA78822-ED23-4034-AB5D-4EC783E211C6}"/>
              </a:ext>
            </a:extLst>
          </p:cNvPr>
          <p:cNvSpPr>
            <a:spLocks xmlns:a="http://schemas.openxmlformats.org/drawingml/2006/main" noGrp="1"/>
          </p:cNvSpPr>
          <p:nvPr/>
        </p:nvSpPr>
        <p:spPr>
          <a:xfrm xmlns:a="http://schemas.openxmlformats.org/drawingml/2006/main">
            <a:off x="45720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28" name="Text 28">
            <a:extLst xmlns:a="http://schemas.openxmlformats.org/drawingml/2006/main">
              <a:ext uri="{FF2B5EF4-FFF2-40B4-BE49-F238E27FC236}">
                <a16:creationId xmlns:a16="http://schemas.microsoft.com/office/drawing/2014/main" id="{6952121B-3E4D-4D73-8347-B5901FED1A57}"/>
              </a:ext>
            </a:extLst>
          </p:cNvPr>
          <p:cNvSpPr>
            <a:spLocks xmlns:a="http://schemas.openxmlformats.org/drawingml/2006/main" noGrp="1"/>
          </p:cNvSpPr>
          <p:nvPr/>
        </p:nvSpPr>
        <p:spPr>
          <a:xfrm xmlns:a="http://schemas.openxmlformats.org/drawingml/2006/main">
            <a:off x="45720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false claims where nothing was public</a:t>
            </a:r>
            <a:endParaRPr sz="1250" b="0" u="none">
              <a:solidFill>
                <a:srgbClr val="000000"/>
              </a:solidFill>
              <a:latin typeface="Arial"/>
              <a:ea typeface="Arial"/>
              <a:cs typeface="Arial"/>
            </a:endParaRPr>
          </a:p>
        </p:txBody>
      </p:sp>
      <p:sp>
        <p:nvSpPr>
          <p:cNvPr id="129" name="Shape 29">
            <a:extLst xmlns:a="http://schemas.openxmlformats.org/drawingml/2006/main">
              <a:ext uri="{FF2B5EF4-FFF2-40B4-BE49-F238E27FC236}">
                <a16:creationId xmlns:a16="http://schemas.microsoft.com/office/drawing/2014/main" id="{75DE2D76-2C78-44EB-80E8-BABBA7C8204D}"/>
              </a:ext>
            </a:extLst>
          </p:cNvPr>
          <p:cNvSpPr>
            <a:spLocks xmlns:a="http://schemas.openxmlformats.org/drawingml/2006/main" noGrp="1"/>
          </p:cNvSpPr>
          <p:nvPr/>
        </p:nvSpPr>
        <p:spPr>
          <a:xfrm xmlns:a="http://schemas.openxmlformats.org/drawingml/2006/main">
            <a:off x="80650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0" name="Text 30">
            <a:extLst xmlns:a="http://schemas.openxmlformats.org/drawingml/2006/main">
              <a:ext uri="{FF2B5EF4-FFF2-40B4-BE49-F238E27FC236}">
                <a16:creationId xmlns:a16="http://schemas.microsoft.com/office/drawing/2014/main" id="{99D7EB6C-D962-4AD8-8A3E-68305698A2E0}"/>
              </a:ext>
            </a:extLst>
          </p:cNvPr>
          <p:cNvSpPr>
            <a:spLocks xmlns:a="http://schemas.openxmlformats.org/drawingml/2006/main" noGrp="1"/>
          </p:cNvSpPr>
          <p:nvPr/>
        </p:nvSpPr>
        <p:spPr>
          <a:xfrm xmlns:a="http://schemas.openxmlformats.org/drawingml/2006/main">
            <a:off x="82296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31" name="Text 31">
            <a:extLst xmlns:a="http://schemas.openxmlformats.org/drawingml/2006/main">
              <a:ext uri="{FF2B5EF4-FFF2-40B4-BE49-F238E27FC236}">
                <a16:creationId xmlns:a16="http://schemas.microsoft.com/office/drawing/2014/main" id="{C6AD46EC-1C3D-4FE8-8B5D-0B0293FD290C}"/>
              </a:ext>
            </a:extLst>
          </p:cNvPr>
          <p:cNvSpPr>
            <a:spLocks xmlns:a="http://schemas.openxmlformats.org/drawingml/2006/main" noGrp="1"/>
          </p:cNvSpPr>
          <p:nvPr/>
        </p:nvSpPr>
        <p:spPr>
          <a:xfrm xmlns:a="http://schemas.openxmlformats.org/drawingml/2006/main">
            <a:off x="82296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findings missing their source</a:t>
            </a:r>
            <a:endParaRPr sz="1250" b="0" u="none">
              <a:solidFill>
                <a:srgbClr val="000000"/>
              </a:solidFill>
              <a:latin typeface="Arial"/>
              <a:ea typeface="Arial"/>
              <a:cs typeface="Arial"/>
            </a:endParaRPr>
          </a:p>
        </p:txBody>
      </p:sp>
      <p:sp>
        <p:nvSpPr>
          <p:cNvPr id="132" name="Text 32">
            <a:extLst xmlns:a="http://schemas.openxmlformats.org/drawingml/2006/main">
              <a:ext uri="{FF2B5EF4-FFF2-40B4-BE49-F238E27FC236}">
                <a16:creationId xmlns:a16="http://schemas.microsoft.com/office/drawing/2014/main" id="{71B15D19-2306-4CAB-B2A1-D702958CD600}"/>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TRUST BOUNDARY</a:t>
            </a:r>
            <a:endParaRPr sz="900" b="0" u="none">
              <a:solidFill>
                <a:srgbClr val="000000"/>
              </a:solidFill>
              <a:latin typeface="Arial"/>
              <a:ea typeface="Arial"/>
              <a:cs typeface="Arial"/>
            </a:endParaRPr>
          </a:p>
        </p:txBody>
      </p:sp>
      <p:sp>
        <p:nvSpPr>
          <p:cNvPr id="133" name="PlaceHolder 1">
            <a:extLst xmlns:a="http://schemas.openxmlformats.org/drawingml/2006/main">
              <a:ext uri="{FF2B5EF4-FFF2-40B4-BE49-F238E27FC236}">
                <a16:creationId xmlns:a16="http://schemas.microsoft.com/office/drawing/2014/main" id="{12786B44-9AE0-418C-AB11-6B72356FA8EA}"/>
              </a:ext>
            </a:extLst>
          </p:cNvPr>
          <p:cNvSpPr>
            <a:spLocks xmlns:a="http://schemas.openxmlformats.org/drawingml/2006/main" noGrp="1"/>
          </p:cNvSpPr>
          <p:nvPr>
            <p:ph type="sldNum" idx="9"/>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E5B3003-2C54-13C6-9832-7637201064DE}" type="slidenum">
              <a:rPr sz="900" b="0" u="none">
                <a:solidFill>
                  <a:srgbClr val="94A3B8"/>
                </a:solidFill>
                <a:latin typeface="Aptos"/>
                <a:ea typeface="Aptos"/>
                <a:cs typeface="Aptos"/>
              </a:rPr>
              <a:t>5</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38019593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4" name="Text 0">
            <a:extLst xmlns:a="http://schemas.openxmlformats.org/drawingml/2006/main">
              <a:ext uri="{FF2B5EF4-FFF2-40B4-BE49-F238E27FC236}">
                <a16:creationId xmlns:a16="http://schemas.microsoft.com/office/drawing/2014/main" id="{88C77FD8-00A2-4BF0-8626-D77BBC9D806B}"/>
              </a:ext>
            </a:extLst>
          </p:cNvPr>
          <p:cNvSpPr>
            <a:spLocks xmlns:a="http://schemas.openxmlformats.org/drawingml/2006/main" noGrp="1"/>
          </p:cNvSpPr>
          <p:nvPr/>
        </p:nvSpPr>
        <p:spPr>
          <a:xfrm xmlns:a="http://schemas.openxmlformats.org/drawingml/2006/main">
            <a:off x="758952" y="1719072"/>
            <a:ext cx="1956816"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INSIDE LANGGRAPH</a:t>
            </a:r>
            <a:endParaRPr sz="1100" b="0" u="none">
              <a:solidFill>
                <a:srgbClr val="000000"/>
              </a:solidFill>
              <a:latin typeface="Arial"/>
              <a:ea typeface="Arial"/>
              <a:cs typeface="Arial"/>
            </a:endParaRPr>
          </a:p>
        </p:txBody>
      </p:sp>
      <p:sp>
        <p:nvSpPr>
          <p:cNvPr id="135" name="Text 1">
            <a:extLst xmlns:a="http://schemas.openxmlformats.org/drawingml/2006/main">
              <a:ext uri="{FF2B5EF4-FFF2-40B4-BE49-F238E27FC236}">
                <a16:creationId xmlns:a16="http://schemas.microsoft.com/office/drawing/2014/main" id="{9BB9B35C-3399-44BB-B6A2-D854072F0857}"/>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LangGraph runs the full evidence loop</a:t>
            </a:r>
            <a:endParaRPr sz="4000" b="0" u="none">
              <a:solidFill>
                <a:srgbClr val="000000"/>
              </a:solidFill>
              <a:latin typeface="Arial"/>
              <a:ea typeface="Arial"/>
              <a:cs typeface="Arial"/>
            </a:endParaRPr>
          </a:p>
        </p:txBody>
      </p:sp>
      <p:sp>
        <p:nvSpPr>
          <p:cNvPr id="136" name="Shape 2">
            <a:extLst xmlns:a="http://schemas.openxmlformats.org/drawingml/2006/main">
              <a:ext uri="{FF2B5EF4-FFF2-40B4-BE49-F238E27FC236}">
                <a16:creationId xmlns:a16="http://schemas.microsoft.com/office/drawing/2014/main" id="{754E6CBB-1BCE-4D4B-AC70-4B2BEFE90855}"/>
              </a:ext>
            </a:extLst>
          </p:cNvPr>
          <p:cNvSpPr>
            <a:spLocks xmlns:a="http://schemas.openxmlformats.org/drawingml/2006/main" noGrp="1"/>
          </p:cNvSpPr>
          <p:nvPr/>
        </p:nvSpPr>
        <p:spPr>
          <a:xfrm xmlns:a="http://schemas.openxmlformats.org/drawingml/2006/main">
            <a:off x="2999232" y="2816352"/>
            <a:ext cx="566928" cy="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7" name="Shape 3">
            <a:extLst xmlns:a="http://schemas.openxmlformats.org/drawingml/2006/main">
              <a:ext uri="{FF2B5EF4-FFF2-40B4-BE49-F238E27FC236}">
                <a16:creationId xmlns:a16="http://schemas.microsoft.com/office/drawing/2014/main" id="{E052E134-CE43-4D80-BF13-70ECF4BAD05F}"/>
              </a:ext>
            </a:extLst>
          </p:cNvPr>
          <p:cNvSpPr>
            <a:spLocks xmlns:a="http://schemas.openxmlformats.org/drawingml/2006/main" noGrp="1"/>
          </p:cNvSpPr>
          <p:nvPr/>
        </p:nvSpPr>
        <p:spPr>
          <a:xfrm xmlns:a="http://schemas.openxmlformats.org/drawingml/2006/main">
            <a:off x="5815584" y="2816352"/>
            <a:ext cx="566928" cy="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8" name="Shape 4">
            <a:extLst xmlns:a="http://schemas.openxmlformats.org/drawingml/2006/main">
              <a:ext uri="{FF2B5EF4-FFF2-40B4-BE49-F238E27FC236}">
                <a16:creationId xmlns:a16="http://schemas.microsoft.com/office/drawing/2014/main" id="{A25E0C70-2ECF-41E8-855A-B3E5175FF349}"/>
              </a:ext>
            </a:extLst>
          </p:cNvPr>
          <p:cNvSpPr>
            <a:spLocks xmlns:a="http://schemas.openxmlformats.org/drawingml/2006/main" noGrp="1"/>
          </p:cNvSpPr>
          <p:nvPr/>
        </p:nvSpPr>
        <p:spPr>
          <a:xfrm xmlns:a="http://schemas.openxmlformats.org/drawingml/2006/main">
            <a:off x="8631936" y="2816352"/>
            <a:ext cx="566928" cy="0"/>
          </a:xfrm>
          <a:prstGeom xmlns:a="http://schemas.openxmlformats.org/drawingml/2006/main" prst="line">
            <a:avLst/>
          </a:prstGeom>
          <a:ln xmlns:a="http://schemas.openxmlformats.org/drawingml/2006/main" w="29210">
            <a:solidFill>
              <a:srgbClr val="0F766E"/>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9" name="Shape 5">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a:off x="1874519" y="4005072"/>
            <a:ext cx="4937760" cy="0"/>
          </a:xfrm>
          <a:prstGeom xmlns:a="http://schemas.openxmlformats.org/drawingml/2006/main" prst="line">
            <a:avLst/>
          </a:prstGeom>
          <a:ln xmlns:a="http://schemas.openxmlformats.org/drawingml/2006/main" w="22860">
            <a:solidFill>
              <a:srgbClr val="2563EB"/>
            </a:solidFill>
            <a:prstDash val="dash"/>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0" name="Shape 6">
            <a:extLst xmlns:a="http://schemas.openxmlformats.org/drawingml/2006/main">
              <a:ext uri="{FF2B5EF4-FFF2-40B4-BE49-F238E27FC236}">
                <a16:creationId xmlns:a16="http://schemas.microsoft.com/office/drawing/2014/main" id="{8C869394-F02E-4A36-A9FA-AE6A3B4BF377}"/>
              </a:ext>
            </a:extLst>
          </p:cNvPr>
          <p:cNvSpPr>
            <a:spLocks xmlns:a="http://schemas.openxmlformats.org/drawingml/2006/main" noGrp="1"/>
          </p:cNvSpPr>
          <p:nvPr/>
        </p:nvSpPr>
        <p:spPr>
          <a:xfrm xmlns:a="http://schemas.openxmlformats.org/drawingml/2006/main">
            <a:off x="7507224" y="3456432"/>
            <a:ext cx="0" cy="932688"/>
          </a:xfrm>
          <a:prstGeom xmlns:a="http://schemas.openxmlformats.org/drawingml/2006/main" prst="line">
            <a:avLst/>
          </a:prstGeom>
          <a:ln xmlns:a="http://schemas.openxmlformats.org/drawingml/2006/main" w="2286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1" name="Shape 7">
            <a:extLst xmlns:a="http://schemas.openxmlformats.org/drawingml/2006/main">
              <a:ext uri="{FF2B5EF4-FFF2-40B4-BE49-F238E27FC236}">
                <a16:creationId xmlns:a16="http://schemas.microsoft.com/office/drawing/2014/main" id="{B85DAE03-BD70-47B6-B929-FC80CC7AD67F}"/>
              </a:ext>
            </a:extLst>
          </p:cNvPr>
          <p:cNvSpPr>
            <a:spLocks xmlns:a="http://schemas.openxmlformats.org/drawingml/2006/main" noGrp="1"/>
          </p:cNvSpPr>
          <p:nvPr/>
        </p:nvSpPr>
        <p:spPr>
          <a:xfrm xmlns:a="http://schemas.openxmlformats.org/drawingml/2006/main">
            <a:off x="749808" y="2212848"/>
            <a:ext cx="2249424" cy="1207008"/>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2" name="Text 8">
            <a:extLst xmlns:a="http://schemas.openxmlformats.org/drawingml/2006/main">
              <a:ext uri="{FF2B5EF4-FFF2-40B4-BE49-F238E27FC236}">
                <a16:creationId xmlns:a16="http://schemas.microsoft.com/office/drawing/2014/main" id="{E49EAA9B-01C2-4C54-86E5-08A7C9465C40}"/>
              </a:ext>
            </a:extLst>
          </p:cNvPr>
          <p:cNvSpPr>
            <a:spLocks xmlns:a="http://schemas.openxmlformats.org/drawingml/2006/main" noGrp="1"/>
          </p:cNvSpPr>
          <p:nvPr/>
        </p:nvSpPr>
        <p:spPr>
          <a:xfrm xmlns:a="http://schemas.openxmlformats.org/drawingml/2006/main">
            <a:off x="914400"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RESEARCH</a:t>
            </a:r>
            <a:endParaRPr sz="1100" b="0" u="none">
              <a:solidFill>
                <a:srgbClr val="000000"/>
              </a:solidFill>
              <a:latin typeface="Arial"/>
              <a:ea typeface="Arial"/>
              <a:cs typeface="Arial"/>
            </a:endParaRPr>
          </a:p>
        </p:txBody>
      </p:sp>
      <p:sp>
        <p:nvSpPr>
          <p:cNvPr id="143" name="Text 9">
            <a:extLst xmlns:a="http://schemas.openxmlformats.org/drawingml/2006/main">
              <a:ext uri="{FF2B5EF4-FFF2-40B4-BE49-F238E27FC236}">
                <a16:creationId xmlns:a16="http://schemas.microsoft.com/office/drawing/2014/main" id="{38BAC738-8E9B-46C5-98DF-463E7D2B7505}"/>
              </a:ext>
            </a:extLst>
          </p:cNvPr>
          <p:cNvSpPr>
            <a:spLocks xmlns:a="http://schemas.openxmlformats.org/drawingml/2006/main" noGrp="1"/>
          </p:cNvSpPr>
          <p:nvPr/>
        </p:nvSpPr>
        <p:spPr>
          <a:xfrm xmlns:a="http://schemas.openxmlformats.org/drawingml/2006/main">
            <a:off x="841247"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B1020"/>
                </a:solidFill>
                <a:latin typeface="Aptos Display"/>
                <a:ea typeface="Aptos Display"/>
                <a:cs typeface="Aptos Display"/>
              </a:rPr>
              <a:t>Search + retrieve</a:t>
            </a:r>
            <a:endParaRPr sz="1900" b="0" u="none">
              <a:solidFill>
                <a:srgbClr val="000000"/>
              </a:solidFill>
              <a:latin typeface="Arial"/>
              <a:ea typeface="Arial"/>
              <a:cs typeface="Arial"/>
            </a:endParaRPr>
          </a:p>
        </p:txBody>
      </p:sp>
      <p:sp>
        <p:nvSpPr>
          <p:cNvPr id="144" name="Shape 10">
            <a:extLst xmlns:a="http://schemas.openxmlformats.org/drawingml/2006/main">
              <a:ext uri="{FF2B5EF4-FFF2-40B4-BE49-F238E27FC236}">
                <a16:creationId xmlns:a16="http://schemas.microsoft.com/office/drawing/2014/main" id="{CCC3A136-D28B-4688-92A1-B08C4DCBEDD5}"/>
              </a:ext>
            </a:extLst>
          </p:cNvPr>
          <p:cNvSpPr>
            <a:spLocks xmlns:a="http://schemas.openxmlformats.org/drawingml/2006/main" noGrp="1"/>
          </p:cNvSpPr>
          <p:nvPr/>
        </p:nvSpPr>
        <p:spPr>
          <a:xfrm xmlns:a="http://schemas.openxmlformats.org/drawingml/2006/main">
            <a:off x="3566160" y="2212848"/>
            <a:ext cx="2249424" cy="1207008"/>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5" name="Text 11">
            <a:extLst xmlns:a="http://schemas.openxmlformats.org/drawingml/2006/main">
              <a:ext uri="{FF2B5EF4-FFF2-40B4-BE49-F238E27FC236}">
                <a16:creationId xmlns:a16="http://schemas.microsoft.com/office/drawing/2014/main" id="{181DA080-24F2-48EE-8EF0-84FD9F3FB9AA}"/>
              </a:ext>
            </a:extLst>
          </p:cNvPr>
          <p:cNvSpPr>
            <a:spLocks xmlns:a="http://schemas.openxmlformats.org/drawingml/2006/main" noGrp="1"/>
          </p:cNvSpPr>
          <p:nvPr/>
        </p:nvSpPr>
        <p:spPr>
          <a:xfrm xmlns:a="http://schemas.openxmlformats.org/drawingml/2006/main">
            <a:off x="3730752"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EXTRACT</a:t>
            </a:r>
            <a:endParaRPr sz="1100" b="0" u="none">
              <a:solidFill>
                <a:srgbClr val="000000"/>
              </a:solidFill>
              <a:latin typeface="Arial"/>
              <a:ea typeface="Arial"/>
              <a:cs typeface="Arial"/>
            </a:endParaRPr>
          </a:p>
        </p:txBody>
      </p:sp>
      <p:sp>
        <p:nvSpPr>
          <p:cNvPr id="146" name="Text 12">
            <a:extLst xmlns:a="http://schemas.openxmlformats.org/drawingml/2006/main">
              <a:ext uri="{FF2B5EF4-FFF2-40B4-BE49-F238E27FC236}">
                <a16:creationId xmlns:a16="http://schemas.microsoft.com/office/drawing/2014/main" id="{3040942F-34DE-4EA6-B94B-ABA8ED52A405}"/>
              </a:ext>
            </a:extLst>
          </p:cNvPr>
          <p:cNvSpPr>
            <a:spLocks xmlns:a="http://schemas.openxmlformats.org/drawingml/2006/main" noGrp="1"/>
          </p:cNvSpPr>
          <p:nvPr/>
        </p:nvSpPr>
        <p:spPr>
          <a:xfrm xmlns:a="http://schemas.openxmlformats.org/drawingml/2006/main">
            <a:off x="3657600"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B1020"/>
                </a:solidFill>
                <a:latin typeface="Aptos Display"/>
                <a:ea typeface="Aptos Display"/>
                <a:cs typeface="Aptos Display"/>
              </a:rPr>
              <a:t>Possible facts</a:t>
            </a:r>
            <a:endParaRPr sz="1900" b="0" u="none">
              <a:solidFill>
                <a:srgbClr val="000000"/>
              </a:solidFill>
              <a:latin typeface="Arial"/>
              <a:ea typeface="Arial"/>
              <a:cs typeface="Arial"/>
            </a:endParaRPr>
          </a:p>
        </p:txBody>
      </p:sp>
      <p:sp>
        <p:nvSpPr>
          <p:cNvPr id="147" name="Shape 13">
            <a:extLst xmlns:a="http://schemas.openxmlformats.org/drawingml/2006/main">
              <a:ext uri="{FF2B5EF4-FFF2-40B4-BE49-F238E27FC236}">
                <a16:creationId xmlns:a16="http://schemas.microsoft.com/office/drawing/2014/main" id="{8CC321B9-D944-43CC-A423-6F1237A1E00D}"/>
              </a:ext>
            </a:extLst>
          </p:cNvPr>
          <p:cNvSpPr>
            <a:spLocks xmlns:a="http://schemas.openxmlformats.org/drawingml/2006/main" noGrp="1"/>
          </p:cNvSpPr>
          <p:nvPr/>
        </p:nvSpPr>
        <p:spPr>
          <a:xfrm xmlns:a="http://schemas.openxmlformats.org/drawingml/2006/main">
            <a:off x="6382512" y="2212848"/>
            <a:ext cx="2249424" cy="1207008"/>
          </a:xfrm>
          <a:prstGeom xmlns:a="http://schemas.openxmlformats.org/drawingml/2006/main" prst="roundRect">
            <a:avLst>
              <a:gd name="adj" fmla="val 804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48" name="Text 14">
            <a:extLst xmlns:a="http://schemas.openxmlformats.org/drawingml/2006/main">
              <a:ext uri="{FF2B5EF4-FFF2-40B4-BE49-F238E27FC236}">
                <a16:creationId xmlns:a16="http://schemas.microsoft.com/office/drawing/2014/main" id="{8526F5D3-1268-4032-A80E-0257A00BAE85}"/>
              </a:ext>
            </a:extLst>
          </p:cNvPr>
          <p:cNvSpPr>
            <a:spLocks xmlns:a="http://schemas.openxmlformats.org/drawingml/2006/main" noGrp="1"/>
          </p:cNvSpPr>
          <p:nvPr/>
        </p:nvSpPr>
        <p:spPr>
          <a:xfrm xmlns:a="http://schemas.openxmlformats.org/drawingml/2006/main">
            <a:off x="6547104"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FFFFFF"/>
                </a:solidFill>
                <a:latin typeface="Aptos"/>
                <a:ea typeface="Aptos"/>
                <a:cs typeface="Aptos"/>
              </a:rPr>
              <a:t>EVIDENCE GATE</a:t>
            </a:r>
            <a:endParaRPr sz="1100" b="0" u="none">
              <a:solidFill>
                <a:srgbClr val="000000"/>
              </a:solidFill>
              <a:latin typeface="Arial"/>
              <a:ea typeface="Arial"/>
              <a:cs typeface="Arial"/>
            </a:endParaRPr>
          </a:p>
        </p:txBody>
      </p:sp>
      <p:sp>
        <p:nvSpPr>
          <p:cNvPr id="149" name="Text 15">
            <a:extLst xmlns:a="http://schemas.openxmlformats.org/drawingml/2006/main">
              <a:ext uri="{FF2B5EF4-FFF2-40B4-BE49-F238E27FC236}">
                <a16:creationId xmlns:a16="http://schemas.microsoft.com/office/drawing/2014/main" id="{95691DC1-CDEB-4E3D-9FCA-EE75F3A581C0}"/>
              </a:ext>
            </a:extLst>
          </p:cNvPr>
          <p:cNvSpPr>
            <a:spLocks xmlns:a="http://schemas.openxmlformats.org/drawingml/2006/main" noGrp="1"/>
          </p:cNvSpPr>
          <p:nvPr/>
        </p:nvSpPr>
        <p:spPr>
          <a:xfrm xmlns:a="http://schemas.openxmlformats.org/drawingml/2006/main">
            <a:off x="6473952"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FFFFFF"/>
                </a:solidFill>
                <a:latin typeface="Aptos Display"/>
                <a:ea typeface="Aptos Display"/>
                <a:cs typeface="Aptos Display"/>
              </a:rPr>
              <a:t>Quoted support</a:t>
            </a:r>
            <a:endParaRPr sz="19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pPr>
            <a:r>
              <a:rPr sz="1600" b="1" u="none">
                <a:solidFill>
                  <a:srgbClr val="FFFFFF"/>
                </a:solidFill>
                <a:latin typeface="Aptos Display"/>
                <a:ea typeface="Aptos Display"/>
                <a:cs typeface="Aptos Display"/>
              </a:rPr>
              <a:t>+ source fit</a:t>
            </a:r>
            <a:endParaRPr sz="1900" b="0" u="none">
              <a:solidFill>
                <a:srgbClr val="000000"/>
              </a:solidFill>
              <a:latin typeface="Arial"/>
              <a:ea typeface="Arial"/>
              <a:cs typeface="Arial"/>
            </a:endParaRPr>
          </a:p>
        </p:txBody>
      </p:sp>
      <p:sp>
        <p:nvSpPr>
          <p:cNvPr id="150" name="Shape 16">
            <a:extLst xmlns:a="http://schemas.openxmlformats.org/drawingml/2006/main">
              <a:ext uri="{FF2B5EF4-FFF2-40B4-BE49-F238E27FC236}">
                <a16:creationId xmlns:a16="http://schemas.microsoft.com/office/drawing/2014/main" id="{D50B9FE9-4DFD-4F9D-90B0-3583DCEF3A8C}"/>
              </a:ext>
            </a:extLst>
          </p:cNvPr>
          <p:cNvSpPr>
            <a:spLocks xmlns:a="http://schemas.openxmlformats.org/drawingml/2006/main" noGrp="1"/>
          </p:cNvSpPr>
          <p:nvPr/>
        </p:nvSpPr>
        <p:spPr>
          <a:xfrm xmlns:a="http://schemas.openxmlformats.org/drawingml/2006/main">
            <a:off x="9198864" y="2212848"/>
            <a:ext cx="2249424" cy="1207008"/>
          </a:xfrm>
          <a:prstGeom xmlns:a="http://schemas.openxmlformats.org/drawingml/2006/main" prst="roundRect">
            <a:avLst>
              <a:gd name="adj" fmla="val 10606"/>
            </a:avLst>
          </a:prstGeom>
          <a:solidFill xmlns:a="http://schemas.openxmlformats.org/drawingml/2006/main">
            <a:srgbClr val="E7F7F4"/>
          </a:solidFill>
          <a:ln xmlns:a="http://schemas.openxmlformats.org/drawingml/2006/main" w="12700">
            <a:solidFill>
              <a:srgbClr val="E7F7F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1" name="Text 17">
            <a:extLst xmlns:a="http://schemas.openxmlformats.org/drawingml/2006/main">
              <a:ext uri="{FF2B5EF4-FFF2-40B4-BE49-F238E27FC236}">
                <a16:creationId xmlns:a16="http://schemas.microsoft.com/office/drawing/2014/main" id="{1552D616-80EF-4E4D-B833-014B91D5DBD5}"/>
              </a:ext>
            </a:extLst>
          </p:cNvPr>
          <p:cNvSpPr>
            <a:spLocks xmlns:a="http://schemas.openxmlformats.org/drawingml/2006/main" noGrp="1"/>
          </p:cNvSpPr>
          <p:nvPr/>
        </p:nvSpPr>
        <p:spPr>
          <a:xfrm xmlns:a="http://schemas.openxmlformats.org/drawingml/2006/main">
            <a:off x="9363456"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F766E"/>
                </a:solidFill>
                <a:latin typeface="Aptos"/>
                <a:ea typeface="Aptos"/>
                <a:cs typeface="Aptos"/>
              </a:rPr>
              <a:t>PASS → REPORT</a:t>
            </a:r>
            <a:endParaRPr sz="1100" b="0" u="none">
              <a:solidFill>
                <a:srgbClr val="000000"/>
              </a:solidFill>
              <a:latin typeface="Arial"/>
              <a:ea typeface="Arial"/>
              <a:cs typeface="Arial"/>
            </a:endParaRPr>
          </a:p>
        </p:txBody>
      </p:sp>
      <p:sp>
        <p:nvSpPr>
          <p:cNvPr id="152" name="Text 18">
            <a:extLst xmlns:a="http://schemas.openxmlformats.org/drawingml/2006/main">
              <a:ext uri="{FF2B5EF4-FFF2-40B4-BE49-F238E27FC236}">
                <a16:creationId xmlns:a16="http://schemas.microsoft.com/office/drawing/2014/main" id="{D859982C-46A0-48F7-B8CE-234787CFCFDD}"/>
              </a:ext>
            </a:extLst>
          </p:cNvPr>
          <p:cNvSpPr>
            <a:spLocks xmlns:a="http://schemas.openxmlformats.org/drawingml/2006/main" noGrp="1"/>
          </p:cNvSpPr>
          <p:nvPr/>
        </p:nvSpPr>
        <p:spPr>
          <a:xfrm xmlns:a="http://schemas.openxmlformats.org/drawingml/2006/main">
            <a:off x="9290304"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F766E"/>
                </a:solidFill>
                <a:latin typeface="Aptos Display"/>
                <a:ea typeface="Aptos Display"/>
                <a:cs typeface="Aptos Display"/>
              </a:rPr>
              <a:t>Supported facts + questions</a:t>
            </a:r>
            <a:endParaRPr sz="1900" b="0" u="none">
              <a:solidFill>
                <a:srgbClr val="000000"/>
              </a:solidFill>
              <a:latin typeface="Arial"/>
              <a:ea typeface="Arial"/>
              <a:cs typeface="Arial"/>
            </a:endParaRPr>
          </a:p>
        </p:txBody>
      </p:sp>
      <p:sp>
        <p:nvSpPr>
          <p:cNvPr id="153" name="Text 19">
            <a:extLst xmlns:a="http://schemas.openxmlformats.org/drawingml/2006/main">
              <a:ext uri="{FF2B5EF4-FFF2-40B4-BE49-F238E27FC236}">
                <a16:creationId xmlns:a16="http://schemas.microsoft.com/office/drawing/2014/main" id="{FE825CC1-6EE7-4F00-AAB3-75ACBACC59F1}"/>
              </a:ext>
            </a:extLst>
          </p:cNvPr>
          <p:cNvSpPr>
            <a:spLocks xmlns:a="http://schemas.openxmlformats.org/drawingml/2006/main" noGrp="1"/>
          </p:cNvSpPr>
          <p:nvPr/>
        </p:nvSpPr>
        <p:spPr>
          <a:xfrm xmlns:a="http://schemas.openxmlformats.org/drawingml/2006/main">
            <a:off x="3438144" y="4096512"/>
            <a:ext cx="1810512"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000" b="1" u="none" spc="99">
                <a:solidFill>
                  <a:srgbClr val="2563EB"/>
                </a:solidFill>
                <a:latin typeface="Aptos"/>
                <a:ea typeface="Aptos"/>
                <a:cs typeface="Aptos"/>
              </a:rPr>
              <a:t>RETRY → RESEARCH</a:t>
            </a:r>
            <a:endParaRPr sz="1000" b="0" u="none">
              <a:solidFill>
                <a:srgbClr val="000000"/>
              </a:solidFill>
              <a:latin typeface="Arial"/>
              <a:ea typeface="Arial"/>
              <a:cs typeface="Arial"/>
            </a:endParaRPr>
          </a:p>
        </p:txBody>
      </p:sp>
      <p:sp>
        <p:nvSpPr>
          <p:cNvPr id="154" name="Shape 20">
            <a:extLst xmlns:a="http://schemas.openxmlformats.org/drawingml/2006/main">
              <a:ext uri="{FF2B5EF4-FFF2-40B4-BE49-F238E27FC236}">
                <a16:creationId xmlns:a16="http://schemas.microsoft.com/office/drawing/2014/main" id="{EC944899-C6E2-44E6-A5AA-F5D6FB1787CB}"/>
              </a:ext>
            </a:extLst>
          </p:cNvPr>
          <p:cNvSpPr>
            <a:spLocks xmlns:a="http://schemas.openxmlformats.org/drawingml/2006/main" noGrp="1"/>
          </p:cNvSpPr>
          <p:nvPr/>
        </p:nvSpPr>
        <p:spPr>
          <a:xfrm xmlns:a="http://schemas.openxmlformats.org/drawingml/2006/main">
            <a:off x="6382512" y="4443984"/>
            <a:ext cx="2249424" cy="640080"/>
          </a:xfrm>
          <a:prstGeom xmlns:a="http://schemas.openxmlformats.org/drawingml/2006/main" prst="roundRect">
            <a:avLst>
              <a:gd name="adj" fmla="val 1724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5" name="Text 21">
            <a:extLst xmlns:a="http://schemas.openxmlformats.org/drawingml/2006/main">
              <a:ext uri="{FF2B5EF4-FFF2-40B4-BE49-F238E27FC236}">
                <a16:creationId xmlns:a16="http://schemas.microsoft.com/office/drawing/2014/main" id="{FBAEC982-E50D-4D6F-BF8A-2C7AB2245809}"/>
              </a:ext>
            </a:extLst>
          </p:cNvPr>
          <p:cNvSpPr>
            <a:spLocks xmlns:a="http://schemas.openxmlformats.org/drawingml/2006/main" noGrp="1"/>
          </p:cNvSpPr>
          <p:nvPr/>
        </p:nvSpPr>
        <p:spPr>
          <a:xfrm xmlns:a="http://schemas.openxmlformats.org/drawingml/2006/main">
            <a:off x="6455664" y="4544568"/>
            <a:ext cx="2103120" cy="43891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B45309"/>
                </a:solidFill>
                <a:latin typeface="Aptos"/>
                <a:ea typeface="Aptos"/>
                <a:cs typeface="Aptos"/>
              </a:rPr>
              <a:t>OUT OF RETRIES → UNDETERMINED</a:t>
            </a:r>
            <a:endParaRPr sz="1050" b="0" u="none">
              <a:solidFill>
                <a:srgbClr val="000000"/>
              </a:solidFill>
              <a:latin typeface="Arial"/>
              <a:ea typeface="Arial"/>
              <a:cs typeface="Arial"/>
            </a:endParaRPr>
          </a:p>
        </p:txBody>
      </p:sp>
      <p:sp>
        <p:nvSpPr>
          <p:cNvPr id="156" name="Shape 22">
            <a:extLst xmlns:a="http://schemas.openxmlformats.org/drawingml/2006/main">
              <a:ext uri="{FF2B5EF4-FFF2-40B4-BE49-F238E27FC236}">
                <a16:creationId xmlns:a16="http://schemas.microsoft.com/office/drawing/2014/main" id="{230BF84D-201F-4CCE-BCCD-EAC9E244BEC5}"/>
              </a:ext>
            </a:extLst>
          </p:cNvPr>
          <p:cNvSpPr>
            <a:spLocks xmlns:a="http://schemas.openxmlformats.org/drawingml/2006/main" noGrp="1"/>
          </p:cNvSpPr>
          <p:nvPr/>
        </p:nvSpPr>
        <p:spPr>
          <a:xfrm xmlns:a="http://schemas.openxmlformats.org/drawingml/2006/main">
            <a:off x="749880" y="5596200"/>
            <a:ext cx="10625040" cy="566640"/>
          </a:xfrm>
          <a:prstGeom xmlns:a="http://schemas.openxmlformats.org/drawingml/2006/main" prst="roundRect">
            <a:avLst>
              <a:gd name="adj" fmla="val 12903"/>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7" name="Text 23">
            <a:extLst xmlns:a="http://schemas.openxmlformats.org/drawingml/2006/main">
              <a:ext uri="{FF2B5EF4-FFF2-40B4-BE49-F238E27FC236}">
                <a16:creationId xmlns:a16="http://schemas.microsoft.com/office/drawing/2014/main" id="{741BB1AA-DE08-4755-9147-8634B6302692}"/>
              </a:ext>
            </a:extLst>
          </p:cNvPr>
          <p:cNvSpPr>
            <a:spLocks xmlns:a="http://schemas.openxmlformats.org/drawingml/2006/main" noGrp="1"/>
          </p:cNvSpPr>
          <p:nvPr/>
        </p:nvSpPr>
        <p:spPr>
          <a:xfrm xmlns:a="http://schemas.openxmlformats.org/drawingml/2006/main">
            <a:off x="1005840" y="5769720"/>
            <a:ext cx="180975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OUTSIDE LANGGRAPH</a:t>
            </a:r>
            <a:endParaRPr sz="1050" b="0" u="none">
              <a:solidFill>
                <a:srgbClr val="000000"/>
              </a:solidFill>
              <a:latin typeface="Arial"/>
              <a:ea typeface="Arial"/>
              <a:cs typeface="Arial"/>
            </a:endParaRPr>
          </a:p>
        </p:txBody>
      </p:sp>
      <p:sp>
        <p:nvSpPr>
          <p:cNvPr id="159" name="Text 25">
            <a:extLst xmlns:a="http://schemas.openxmlformats.org/drawingml/2006/main">
              <a:ext uri="{FF2B5EF4-FFF2-40B4-BE49-F238E27FC236}">
                <a16:creationId xmlns:a16="http://schemas.microsoft.com/office/drawing/2014/main" id="{44112745-0E93-4B38-90A9-43B58C39A1C9}"/>
              </a:ext>
            </a:extLst>
          </p:cNvPr>
          <p:cNvSpPr>
            <a:spLocks xmlns:a="http://schemas.openxmlformats.org/drawingml/2006/main" noGrp="1"/>
          </p:cNvSpPr>
          <p:nvPr/>
        </p:nvSpPr>
        <p:spPr>
          <a:xfrm xmlns:a="http://schemas.openxmlformats.org/drawingml/2006/main">
            <a:off x="3429000" y="5687640"/>
            <a:ext cx="59400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n8n</a:t>
            </a:r>
            <a:endParaRPr sz="1800" b="0" u="none">
              <a:solidFill>
                <a:srgbClr val="000000"/>
              </a:solidFill>
              <a:latin typeface="Arial"/>
              <a:ea typeface="Arial"/>
              <a:cs typeface="Arial"/>
            </a:endParaRPr>
          </a:p>
        </p:txBody>
      </p:sp>
      <p:sp>
        <p:nvSpPr>
          <p:cNvPr id="160" name="Shape 26">
            <a:extLst xmlns:a="http://schemas.openxmlformats.org/drawingml/2006/main">
              <a:ext uri="{FF2B5EF4-FFF2-40B4-BE49-F238E27FC236}">
                <a16:creationId xmlns:a16="http://schemas.microsoft.com/office/drawing/2014/main" id="{F28D05C9-B1F5-4B70-A314-80ED557F1598}"/>
              </a:ext>
            </a:extLst>
          </p:cNvPr>
          <p:cNvSpPr>
            <a:spLocks xmlns:a="http://schemas.openxmlformats.org/drawingml/2006/main" noGrp="1"/>
          </p:cNvSpPr>
          <p:nvPr/>
        </p:nvSpPr>
        <p:spPr>
          <a:xfrm xmlns:a="http://schemas.openxmlformats.org/drawingml/2006/main">
            <a:off x="4160520" y="5870160"/>
            <a:ext cx="914400" cy="360"/>
          </a:xfrm>
          <a:prstGeom xmlns:a="http://schemas.openxmlformats.org/drawingml/2006/main" prst="line">
            <a:avLst/>
          </a:prstGeom>
          <a:ln xmlns:a="http://schemas.openxmlformats.org/drawingml/2006/main" w="17780">
            <a:solidFill>
              <a:srgbClr val="64748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1" name="Text 27">
            <a:extLst xmlns:a="http://schemas.openxmlformats.org/drawingml/2006/main">
              <a:ext uri="{FF2B5EF4-FFF2-40B4-BE49-F238E27FC236}">
                <a16:creationId xmlns:a16="http://schemas.microsoft.com/office/drawing/2014/main" id="{A528B397-011E-4133-95E2-BF49887C7AA3}"/>
              </a:ext>
            </a:extLst>
          </p:cNvPr>
          <p:cNvSpPr>
            <a:spLocks xmlns:a="http://schemas.openxmlformats.org/drawingml/2006/main" noGrp="1"/>
          </p:cNvSpPr>
          <p:nvPr/>
        </p:nvSpPr>
        <p:spPr>
          <a:xfrm xmlns:a="http://schemas.openxmlformats.org/drawingml/2006/main">
            <a:off x="5266800" y="5687640"/>
            <a:ext cx="12340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Notion report</a:t>
            </a:r>
            <a:endParaRPr sz="1800" b="0" u="none">
              <a:solidFill>
                <a:srgbClr val="000000"/>
              </a:solidFill>
              <a:latin typeface="Arial"/>
              <a:ea typeface="Arial"/>
              <a:cs typeface="Arial"/>
            </a:endParaRPr>
          </a:p>
        </p:txBody>
      </p:sp>
      <p:sp>
        <p:nvSpPr>
          <p:cNvPr id="162" name="Text 28">
            <a:extLst xmlns:a="http://schemas.openxmlformats.org/drawingml/2006/main">
              <a:ext uri="{FF2B5EF4-FFF2-40B4-BE49-F238E27FC236}">
                <a16:creationId xmlns:a16="http://schemas.microsoft.com/office/drawing/2014/main" id="{685E5C88-0537-433B-9CE8-5EB0BF39B75C}"/>
              </a:ext>
            </a:extLst>
          </p:cNvPr>
          <p:cNvSpPr>
            <a:spLocks xmlns:a="http://schemas.openxmlformats.org/drawingml/2006/main" noGrp="1"/>
          </p:cNvSpPr>
          <p:nvPr/>
        </p:nvSpPr>
        <p:spPr>
          <a:xfrm xmlns:a="http://schemas.openxmlformats.org/drawingml/2006/main">
            <a:off x="6784920" y="5715000"/>
            <a:ext cx="416016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r" defTabSz="914400">
              <a:lnSpc>
                <a:spcPct val="100000"/>
              </a:lnSpc>
              <a:buNone/>
              <a:tabLst>
                <a:tab pos="0" algn="l"/>
              </a:tabLst>
            </a:pPr>
            <a:r>
              <a:rPr sz="1350" b="0" u="none">
                <a:solidFill>
                  <a:srgbClr val="64748B"/>
                </a:solidFill>
                <a:latin typeface="Aptos"/>
                <a:ea typeface="Aptos"/>
                <a:cs typeface="Aptos"/>
              </a:rPr>
              <a:t>n8n files the finished report. It does not make decisions.</a:t>
            </a:r>
            <a:endParaRPr sz="1350" b="0" u="none">
              <a:solidFill>
                <a:srgbClr val="000000"/>
              </a:solidFill>
              <a:latin typeface="Arial"/>
              <a:ea typeface="Arial"/>
              <a:cs typeface="Arial"/>
            </a:endParaRPr>
          </a:p>
        </p:txBody>
      </p:sp>
      <p:sp>
        <p:nvSpPr>
          <p:cNvPr id="163" name="Text 29">
            <a:extLst xmlns:a="http://schemas.openxmlformats.org/drawingml/2006/main">
              <a:ext uri="{FF2B5EF4-FFF2-40B4-BE49-F238E27FC236}">
                <a16:creationId xmlns:a16="http://schemas.microsoft.com/office/drawing/2014/main" id="{FCC59A14-10DA-4CA7-AED8-95C1A2FB2B7F}"/>
              </a:ext>
            </a:extLst>
          </p:cNvPr>
          <p:cNvSpPr>
            <a:spLocks xmlns:a="http://schemas.openxmlformats.org/drawingml/2006/main" noGrp="1"/>
          </p:cNvSpPr>
          <p:nvPr/>
        </p:nvSpPr>
        <p:spPr>
          <a:xfrm xmlns:a="http://schemas.openxmlformats.org/drawingml/2006/main">
            <a:off x="713137" y="6428137"/>
            <a:ext cx="3048000" cy="16411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ARCHITECTURE</a:t>
            </a:r>
            <a:endParaRPr sz="900" b="0" u="none">
              <a:solidFill>
                <a:srgbClr val="000000"/>
              </a:solidFill>
              <a:latin typeface="Arial"/>
              <a:ea typeface="Arial"/>
              <a:cs typeface="Arial"/>
            </a:endParaRPr>
          </a:p>
        </p:txBody>
      </p:sp>
      <p:sp>
        <p:nvSpPr>
          <p:cNvPr id="164" name="PlaceHolder 1">
            <a:extLst xmlns:a="http://schemas.openxmlformats.org/drawingml/2006/main">
              <a:ext uri="{FF2B5EF4-FFF2-40B4-BE49-F238E27FC236}">
                <a16:creationId xmlns:a16="http://schemas.microsoft.com/office/drawing/2014/main" id="{7921EEFA-F2AA-41FB-B325-EA328ACA8B2A}"/>
              </a:ext>
            </a:extLst>
          </p:cNvPr>
          <p:cNvSpPr>
            <a:spLocks xmlns:a="http://schemas.openxmlformats.org/drawingml/2006/main" noGrp="1"/>
          </p:cNvSpPr>
          <p:nvPr>
            <p:ph type="sldNum" idx="10"/>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8C630A04-5A25-9E0C-9436-126091DB86B3}" type="slidenum">
              <a:rPr sz="900" b="0" u="none">
                <a:solidFill>
                  <a:srgbClr val="94A3B8"/>
                </a:solidFill>
                <a:latin typeface="Aptos"/>
                <a:ea typeface="Aptos"/>
                <a:cs typeface="Aptos"/>
              </a:rPr>
              <a:t>6</a:t>
            </a:fld>
            <a:endParaRPr sz="900" b="0" u="none">
              <a:solidFill>
                <a:srgbClr val="000000"/>
              </a:solidFill>
              <a:latin typeface="Times New Roman"/>
              <a:ea typeface="Times New Roman"/>
              <a:cs typeface="Times New Roman"/>
            </a:endParaRPr>
          </a:p>
        </p:txBody>
      </p:sp>
      <p:sp>
        <p:nvSpPr>
          <p:cNvPr id="165" name="LangGraph Boundary">
            <a:extLst xmlns:a="http://schemas.openxmlformats.org/drawingml/2006/main">
              <a:ext uri="{FF2B5EF4-FFF2-40B4-BE49-F238E27FC236}">
                <a16:creationId xmlns:a16="http://schemas.microsoft.com/office/drawing/2014/main" id="{C26BA395-B948-4459-9BEB-80D326C885EE}"/>
              </a:ext>
            </a:extLst>
          </p:cNvPr>
          <p:cNvSpPr>
            <a:spLocks xmlns:a="http://schemas.openxmlformats.org/drawingml/2006/main" noGrp="1"/>
          </p:cNvSpPr>
          <p:nvPr/>
        </p:nvSpPr>
        <p:spPr>
          <a:xfrm xmlns:a="http://schemas.openxmlformats.org/drawingml/2006/main">
            <a:off x="512064" y="1938528"/>
            <a:ext cx="11164824" cy="3392424"/>
          </a:xfrm>
          <a:prstGeom xmlns:a="http://schemas.openxmlformats.org/drawingml/2006/main" prst="roundRect">
            <a:avLst>
              <a:gd name="adj" fmla="val 3158"/>
            </a:avLst>
          </a:prstGeom>
          <a:noFill xmlns:a="http://schemas.openxmlformats.org/drawingml/2006/main"/>
          <a:ln xmlns:a="http://schemas.openxmlformats.org/drawingml/2006/main" w="15240">
            <a:solidFill>
              <a:srgbClr val="93C5FD"/>
            </a:solidFill>
            <a:prstDash val="solid"/>
          </a:ln>
        </p:spPr>
      </p:sp>
      <p:sp>
        <p:nvSpPr>
          <p:cNvPr id="934" name="Retry V1">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a:off x="6812280" y="3438144"/>
            <a:ext cx="0" cy="566928"/>
          </a:xfrm>
          <a:prstGeom xmlns:a="http://schemas.openxmlformats.org/drawingml/2006/main" prst="line">
            <a:avLst/>
          </a:prstGeom>
          <a:ln xmlns:a="http://schemas.openxmlformats.org/drawingml/2006/main" w="22860">
            <a:solidFill>
              <a:srgbClr val="2563EB"/>
            </a:solidFill>
            <a:prstDash val="dash"/>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35" name="Retry V2">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flipV="1">
            <a:off x="1874519" y="3438144"/>
            <a:ext cx="0" cy="566928"/>
          </a:xfrm>
          <a:prstGeom xmlns:a="http://schemas.openxmlformats.org/drawingml/2006/main" prst="line">
            <a:avLst/>
          </a:prstGeom>
          <a:ln xmlns:a="http://schemas.openxmlformats.org/drawingml/2006/main" w="22860">
            <a:solidFill>
              <a:srgbClr val="2563EB"/>
            </a:solidFill>
            <a:prstDash val="dash"/>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Tree>
    <p:extLst>
      <p:ext uri="{BB962C8B-B14F-4D97-AF65-F5344CB8AC3E}">
        <p14:creationId xmlns:p14="http://schemas.microsoft.com/office/powerpoint/2010/main" val="169205956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5" name="Text 0">
            <a:extLst xmlns:a="http://schemas.openxmlformats.org/drawingml/2006/main">
              <a:ext uri="{FF2B5EF4-FFF2-40B4-BE49-F238E27FC236}">
                <a16:creationId xmlns:a16="http://schemas.microsoft.com/office/drawing/2014/main" id="{D31306D0-4594-4E66-BB31-963969ECED40}"/>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POST-MVP • VENDOR DRIFT</a:t>
            </a:r>
            <a:endParaRPr sz="1100" b="0" u="none">
              <a:solidFill>
                <a:srgbClr val="000000"/>
              </a:solidFill>
              <a:latin typeface="Arial"/>
              <a:ea typeface="Arial"/>
              <a:cs typeface="Arial"/>
            </a:endParaRPr>
          </a:p>
        </p:txBody>
      </p:sp>
      <p:sp>
        <p:nvSpPr>
          <p:cNvPr id="166" name="Text 1">
            <a:extLst xmlns:a="http://schemas.openxmlformats.org/drawingml/2006/main">
              <a:ext uri="{FF2B5EF4-FFF2-40B4-BE49-F238E27FC236}">
                <a16:creationId xmlns:a16="http://schemas.microsoft.com/office/drawing/2014/main" id="{B2EA6B29-E353-4856-BB2A-939C6024C15D}"/>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881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Vendor updates can change a client's AI inventory</a:t>
            </a:r>
            <a:endParaRPr sz="4000" b="0" u="none">
              <a:solidFill>
                <a:srgbClr val="000000"/>
              </a:solidFill>
              <a:latin typeface="Arial"/>
              <a:ea typeface="Arial"/>
              <a:cs typeface="Arial"/>
            </a:endParaRPr>
          </a:p>
        </p:txBody>
      </p:sp>
      <p:sp>
        <p:nvSpPr>
          <p:cNvPr id="167" name="Text 2">
            <a:extLst xmlns:a="http://schemas.openxmlformats.org/drawingml/2006/main">
              <a:ext uri="{FF2B5EF4-FFF2-40B4-BE49-F238E27FC236}">
                <a16:creationId xmlns:a16="http://schemas.microsoft.com/office/drawing/2014/main" id="{0EEB6E1A-E431-4A16-93FA-618FC510899B}"/>
              </a:ext>
            </a:extLst>
          </p:cNvPr>
          <p:cNvSpPr>
            <a:spLocks xmlns:a="http://schemas.openxmlformats.org/drawingml/2006/main" noGrp="1"/>
          </p:cNvSpPr>
          <p:nvPr/>
        </p:nvSpPr>
        <p:spPr>
          <a:xfrm xmlns:a="http://schemas.openxmlformats.org/drawingml/2006/main">
            <a:off x="749880" y="1833563"/>
            <a:ext cx="54864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DESIGNED, NOT BUILT — THE NEXT STEP</a:t>
            </a:r>
            <a:endParaRPr sz="1050" b="0" u="none">
              <a:solidFill>
                <a:srgbClr val="000000"/>
              </a:solidFill>
              <a:latin typeface="Arial"/>
              <a:ea typeface="Arial"/>
              <a:cs typeface="Arial"/>
            </a:endParaRPr>
          </a:p>
        </p:txBody>
      </p:sp>
      <p:sp>
        <p:nvSpPr>
          <p:cNvPr id="168" name="Shape 3">
            <a:extLst xmlns:a="http://schemas.openxmlformats.org/drawingml/2006/main">
              <a:ext uri="{FF2B5EF4-FFF2-40B4-BE49-F238E27FC236}">
                <a16:creationId xmlns:a16="http://schemas.microsoft.com/office/drawing/2014/main" id="{17EF9BA1-3679-48B8-A4AF-C646BA50CCDB}"/>
              </a:ext>
            </a:extLst>
          </p:cNvPr>
          <p:cNvSpPr>
            <a:spLocks xmlns:a="http://schemas.openxmlformats.org/drawingml/2006/main" noGrp="1"/>
          </p:cNvSpPr>
          <p:nvPr/>
        </p:nvSpPr>
        <p:spPr>
          <a:xfrm xmlns:a="http://schemas.openxmlformats.org/drawingml/2006/main">
            <a:off x="2404872" y="3447000"/>
            <a:ext cx="7315200" cy="360"/>
          </a:xfrm>
          <a:prstGeom xmlns:a="http://schemas.openxmlformats.org/drawingml/2006/main" prst="line">
            <a:avLst/>
          </a:prstGeom>
          <a:ln xmlns:a="http://schemas.openxmlformats.org/drawingml/2006/main" w="508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9" name="Shape 4">
            <a:extLst xmlns:a="http://schemas.openxmlformats.org/drawingml/2006/main">
              <a:ext uri="{FF2B5EF4-FFF2-40B4-BE49-F238E27FC236}">
                <a16:creationId xmlns:a16="http://schemas.microsoft.com/office/drawing/2014/main" id="{3C6B4316-F3D3-4418-B41A-64B19F541A6B}"/>
              </a:ext>
            </a:extLst>
          </p:cNvPr>
          <p:cNvSpPr>
            <a:spLocks xmlns:a="http://schemas.openxmlformats.org/drawingml/2006/main" noGrp="1"/>
          </p:cNvSpPr>
          <p:nvPr/>
        </p:nvSpPr>
        <p:spPr>
          <a:xfrm xmlns:a="http://schemas.openxmlformats.org/drawingml/2006/main">
            <a:off x="2194812"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0" name="Text 5">
            <a:extLst xmlns:a="http://schemas.openxmlformats.org/drawingml/2006/main">
              <a:ext uri="{FF2B5EF4-FFF2-40B4-BE49-F238E27FC236}">
                <a16:creationId xmlns:a16="http://schemas.microsoft.com/office/drawing/2014/main" id="{0BB3DC31-21C0-41D3-B6E4-3C4BB6804672}"/>
              </a:ext>
            </a:extLst>
          </p:cNvPr>
          <p:cNvSpPr>
            <a:spLocks xmlns:a="http://schemas.openxmlformats.org/drawingml/2006/main" noGrp="1"/>
          </p:cNvSpPr>
          <p:nvPr/>
        </p:nvSpPr>
        <p:spPr>
          <a:xfrm xmlns:a="http://schemas.openxmlformats.org/drawingml/2006/main">
            <a:off x="1892807"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MAY</a:t>
            </a:r>
            <a:endParaRPr sz="1100" b="0" u="none">
              <a:solidFill>
                <a:srgbClr val="000000"/>
              </a:solidFill>
              <a:latin typeface="Arial"/>
              <a:ea typeface="Arial"/>
              <a:cs typeface="Arial"/>
            </a:endParaRPr>
          </a:p>
        </p:txBody>
      </p:sp>
      <p:sp>
        <p:nvSpPr>
          <p:cNvPr id="171" name="Shape 6">
            <a:extLst xmlns:a="http://schemas.openxmlformats.org/drawingml/2006/main">
              <a:ext uri="{FF2B5EF4-FFF2-40B4-BE49-F238E27FC236}">
                <a16:creationId xmlns:a16="http://schemas.microsoft.com/office/drawing/2014/main" id="{5873C6EB-85E7-4F2B-A274-FB8F9EEB6CA9}"/>
              </a:ext>
            </a:extLst>
          </p:cNvPr>
          <p:cNvSpPr>
            <a:spLocks xmlns:a="http://schemas.openxmlformats.org/drawingml/2006/main" noGrp="1"/>
          </p:cNvSpPr>
          <p:nvPr/>
        </p:nvSpPr>
        <p:spPr>
          <a:xfrm xmlns:a="http://schemas.openxmlformats.org/drawingml/2006/main">
            <a:off x="749808" y="3822191"/>
            <a:ext cx="3310128" cy="1161288"/>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2" name="Text 7">
            <a:extLst xmlns:a="http://schemas.openxmlformats.org/drawingml/2006/main">
              <a:ext uri="{FF2B5EF4-FFF2-40B4-BE49-F238E27FC236}">
                <a16:creationId xmlns:a16="http://schemas.microsoft.com/office/drawing/2014/main" id="{91D862EC-C9EC-402F-838C-B1098F41134F}"/>
              </a:ext>
            </a:extLst>
          </p:cNvPr>
          <p:cNvSpPr>
            <a:spLocks xmlns:a="http://schemas.openxmlformats.org/drawingml/2006/main" noGrp="1"/>
          </p:cNvSpPr>
          <p:nvPr/>
        </p:nvSpPr>
        <p:spPr>
          <a:xfrm xmlns:a="http://schemas.openxmlformats.org/drawingml/2006/main">
            <a:off x="978407"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0B1020"/>
                </a:solidFill>
                <a:latin typeface="Aptos Display"/>
                <a:ea typeface="Aptos Display"/>
                <a:cs typeface="Aptos Display"/>
              </a:rPr>
              <a:t>No evidenced AI ranking</a:t>
            </a:r>
            <a:endParaRPr sz="2000" b="0" u="none">
              <a:solidFill>
                <a:srgbClr val="000000"/>
              </a:solidFill>
              <a:latin typeface="Arial"/>
              <a:ea typeface="Arial"/>
              <a:cs typeface="Arial"/>
            </a:endParaRPr>
          </a:p>
        </p:txBody>
      </p:sp>
      <p:sp>
        <p:nvSpPr>
          <p:cNvPr id="173" name="Text 8">
            <a:extLst xmlns:a="http://schemas.openxmlformats.org/drawingml/2006/main">
              <a:ext uri="{FF2B5EF4-FFF2-40B4-BE49-F238E27FC236}">
                <a16:creationId xmlns:a16="http://schemas.microsoft.com/office/drawing/2014/main" id="{AE47C620-C1F0-40E2-A939-2AB9E2FCC45A}"/>
              </a:ext>
            </a:extLst>
          </p:cNvPr>
          <p:cNvSpPr>
            <a:spLocks xmlns:a="http://schemas.openxmlformats.org/drawingml/2006/main" noGrp="1"/>
          </p:cNvSpPr>
          <p:nvPr/>
        </p:nvSpPr>
        <p:spPr>
          <a:xfrm xmlns:a="http://schemas.openxmlformats.org/drawingml/2006/main">
            <a:off x="978407"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Client already uses the hiring software</a:t>
            </a:r>
            <a:endParaRPr sz="1350" b="0" u="none">
              <a:solidFill>
                <a:srgbClr val="000000"/>
              </a:solidFill>
              <a:latin typeface="Arial"/>
              <a:ea typeface="Arial"/>
              <a:cs typeface="Arial"/>
            </a:endParaRPr>
          </a:p>
        </p:txBody>
      </p:sp>
      <p:sp>
        <p:nvSpPr>
          <p:cNvPr id="174" name="Shape 9">
            <a:extLst xmlns:a="http://schemas.openxmlformats.org/drawingml/2006/main">
              <a:ext uri="{FF2B5EF4-FFF2-40B4-BE49-F238E27FC236}">
                <a16:creationId xmlns:a16="http://schemas.microsoft.com/office/drawing/2014/main" id="{A9942CC6-CA00-4F44-8AC2-23BECCBF8B8A}"/>
              </a:ext>
            </a:extLst>
          </p:cNvPr>
          <p:cNvSpPr>
            <a:spLocks xmlns:a="http://schemas.openxmlformats.org/drawingml/2006/main" noGrp="1"/>
          </p:cNvSpPr>
          <p:nvPr/>
        </p:nvSpPr>
        <p:spPr>
          <a:xfrm xmlns:a="http://schemas.openxmlformats.org/drawingml/2006/main">
            <a:off x="5852412"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5" name="Text 10">
            <a:extLst xmlns:a="http://schemas.openxmlformats.org/drawingml/2006/main">
              <a:ext uri="{FF2B5EF4-FFF2-40B4-BE49-F238E27FC236}">
                <a16:creationId xmlns:a16="http://schemas.microsoft.com/office/drawing/2014/main" id="{4C63E38B-D579-4FBE-9B2C-D44FC6FE736A}"/>
              </a:ext>
            </a:extLst>
          </p:cNvPr>
          <p:cNvSpPr>
            <a:spLocks xmlns:a="http://schemas.openxmlformats.org/drawingml/2006/main" noGrp="1"/>
          </p:cNvSpPr>
          <p:nvPr/>
        </p:nvSpPr>
        <p:spPr>
          <a:xfrm xmlns:a="http://schemas.openxmlformats.org/drawingml/2006/main">
            <a:off x="5550408"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JUNE</a:t>
            </a:r>
            <a:endParaRPr sz="1100" b="0" u="none">
              <a:solidFill>
                <a:srgbClr val="000000"/>
              </a:solidFill>
              <a:latin typeface="Arial"/>
              <a:ea typeface="Arial"/>
              <a:cs typeface="Arial"/>
            </a:endParaRPr>
          </a:p>
        </p:txBody>
      </p:sp>
      <p:sp>
        <p:nvSpPr>
          <p:cNvPr id="176" name="Shape 11">
            <a:extLst xmlns:a="http://schemas.openxmlformats.org/drawingml/2006/main">
              <a:ext uri="{FF2B5EF4-FFF2-40B4-BE49-F238E27FC236}">
                <a16:creationId xmlns:a16="http://schemas.microsoft.com/office/drawing/2014/main" id="{BC0B8906-E6B7-4ABA-9B54-93717530FCC3}"/>
              </a:ext>
            </a:extLst>
          </p:cNvPr>
          <p:cNvSpPr>
            <a:spLocks xmlns:a="http://schemas.openxmlformats.org/drawingml/2006/main" noGrp="1"/>
          </p:cNvSpPr>
          <p:nvPr/>
        </p:nvSpPr>
        <p:spPr>
          <a:xfrm xmlns:a="http://schemas.openxmlformats.org/drawingml/2006/main">
            <a:off x="4407408" y="3822191"/>
            <a:ext cx="3310128" cy="1161288"/>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7" name="Text 12">
            <a:extLst xmlns:a="http://schemas.openxmlformats.org/drawingml/2006/main">
              <a:ext uri="{FF2B5EF4-FFF2-40B4-BE49-F238E27FC236}">
                <a16:creationId xmlns:a16="http://schemas.microsoft.com/office/drawing/2014/main" id="{206C9828-74A4-48D1-AD10-1BA8631CC2D8}"/>
              </a:ext>
            </a:extLst>
          </p:cNvPr>
          <p:cNvSpPr>
            <a:spLocks xmlns:a="http://schemas.openxmlformats.org/drawingml/2006/main" noGrp="1"/>
          </p:cNvSpPr>
          <p:nvPr/>
        </p:nvSpPr>
        <p:spPr>
          <a:xfrm xmlns:a="http://schemas.openxmlformats.org/drawingml/2006/main">
            <a:off x="4636008"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0B1020"/>
                </a:solidFill>
                <a:latin typeface="Aptos Display"/>
                <a:ea typeface="Aptos Display"/>
                <a:cs typeface="Aptos Display"/>
              </a:rPr>
              <a:t>Vendor adds AI CV ranking</a:t>
            </a:r>
            <a:endParaRPr sz="2000" b="0" u="none">
              <a:solidFill>
                <a:srgbClr val="000000"/>
              </a:solidFill>
              <a:latin typeface="Arial"/>
              <a:ea typeface="Arial"/>
              <a:cs typeface="Arial"/>
            </a:endParaRPr>
          </a:p>
        </p:txBody>
      </p:sp>
      <p:sp>
        <p:nvSpPr>
          <p:cNvPr id="178" name="Text 13">
            <a:extLst xmlns:a="http://schemas.openxmlformats.org/drawingml/2006/main">
              <a:ext uri="{FF2B5EF4-FFF2-40B4-BE49-F238E27FC236}">
                <a16:creationId xmlns:a16="http://schemas.microsoft.com/office/drawing/2014/main" id="{47DA6A0C-6EC3-4967-91D8-332AC0E4BA71}"/>
              </a:ext>
            </a:extLst>
          </p:cNvPr>
          <p:cNvSpPr>
            <a:spLocks xmlns:a="http://schemas.openxmlformats.org/drawingml/2006/main" noGrp="1"/>
          </p:cNvSpPr>
          <p:nvPr/>
        </p:nvSpPr>
        <p:spPr>
          <a:xfrm xmlns:a="http://schemas.openxmlformats.org/drawingml/2006/main">
            <a:off x="4636008"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No new client purchase</a:t>
            </a:r>
            <a:endParaRPr sz="1350" b="0" u="none">
              <a:solidFill>
                <a:srgbClr val="000000"/>
              </a:solidFill>
              <a:latin typeface="Arial"/>
              <a:ea typeface="Arial"/>
              <a:cs typeface="Arial"/>
            </a:endParaRPr>
          </a:p>
        </p:txBody>
      </p:sp>
      <p:sp>
        <p:nvSpPr>
          <p:cNvPr id="179" name="Shape 14">
            <a:extLst xmlns:a="http://schemas.openxmlformats.org/drawingml/2006/main">
              <a:ext uri="{FF2B5EF4-FFF2-40B4-BE49-F238E27FC236}">
                <a16:creationId xmlns:a16="http://schemas.microsoft.com/office/drawing/2014/main" id="{058C8C15-3A99-4123-A788-D7FDED8C9A47}"/>
              </a:ext>
            </a:extLst>
          </p:cNvPr>
          <p:cNvSpPr>
            <a:spLocks xmlns:a="http://schemas.openxmlformats.org/drawingml/2006/main" noGrp="1"/>
          </p:cNvSpPr>
          <p:nvPr/>
        </p:nvSpPr>
        <p:spPr>
          <a:xfrm xmlns:a="http://schemas.openxmlformats.org/drawingml/2006/main">
            <a:off x="9436752" y="3090600"/>
            <a:ext cx="566640" cy="56664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0" name="Text 15">
            <a:extLst xmlns:a="http://schemas.openxmlformats.org/drawingml/2006/main">
              <a:ext uri="{FF2B5EF4-FFF2-40B4-BE49-F238E27FC236}">
                <a16:creationId xmlns:a16="http://schemas.microsoft.com/office/drawing/2014/main" id="{6F087A88-8B14-487C-809D-99DB9AB8B025}"/>
              </a:ext>
            </a:extLst>
          </p:cNvPr>
          <p:cNvSpPr>
            <a:spLocks xmlns:a="http://schemas.openxmlformats.org/drawingml/2006/main" noGrp="1"/>
          </p:cNvSpPr>
          <p:nvPr/>
        </p:nvSpPr>
        <p:spPr>
          <a:xfrm xmlns:a="http://schemas.openxmlformats.org/drawingml/2006/main">
            <a:off x="9208008"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2563EB"/>
                </a:solidFill>
                <a:latin typeface="Aptos"/>
                <a:ea typeface="Aptos"/>
                <a:cs typeface="Aptos"/>
              </a:rPr>
              <a:t>JULY ALERT</a:t>
            </a:r>
            <a:endParaRPr sz="1100" b="0" u="none">
              <a:solidFill>
                <a:srgbClr val="000000"/>
              </a:solidFill>
              <a:latin typeface="Arial"/>
              <a:ea typeface="Arial"/>
              <a:cs typeface="Arial"/>
            </a:endParaRPr>
          </a:p>
        </p:txBody>
      </p:sp>
      <p:sp>
        <p:nvSpPr>
          <p:cNvPr id="181" name="Shape 16">
            <a:extLst xmlns:a="http://schemas.openxmlformats.org/drawingml/2006/main">
              <a:ext uri="{FF2B5EF4-FFF2-40B4-BE49-F238E27FC236}">
                <a16:creationId xmlns:a16="http://schemas.microsoft.com/office/drawing/2014/main" id="{1658AA7A-27BE-4213-A01C-64FCABF3FB6B}"/>
              </a:ext>
            </a:extLst>
          </p:cNvPr>
          <p:cNvSpPr>
            <a:spLocks xmlns:a="http://schemas.openxmlformats.org/drawingml/2006/main" noGrp="1"/>
          </p:cNvSpPr>
          <p:nvPr/>
        </p:nvSpPr>
        <p:spPr>
          <a:xfrm xmlns:a="http://schemas.openxmlformats.org/drawingml/2006/main">
            <a:off x="8065008" y="3822191"/>
            <a:ext cx="3310128" cy="1161288"/>
          </a:xfrm>
          <a:prstGeom xmlns:a="http://schemas.openxmlformats.org/drawingml/2006/main" prst="roundRect">
            <a:avLst>
              <a:gd name="adj" fmla="val 1013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2" name="Text 17">
            <a:extLst xmlns:a="http://schemas.openxmlformats.org/drawingml/2006/main">
              <a:ext uri="{FF2B5EF4-FFF2-40B4-BE49-F238E27FC236}">
                <a16:creationId xmlns:a16="http://schemas.microsoft.com/office/drawing/2014/main" id="{B113E239-ED3C-4A03-A253-7243C35C6515}"/>
              </a:ext>
            </a:extLst>
          </p:cNvPr>
          <p:cNvSpPr>
            <a:spLocks xmlns:a="http://schemas.openxmlformats.org/drawingml/2006/main" noGrp="1"/>
          </p:cNvSpPr>
          <p:nvPr/>
        </p:nvSpPr>
        <p:spPr>
          <a:xfrm xmlns:a="http://schemas.openxmlformats.org/drawingml/2006/main">
            <a:off x="8293608"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FFFFFF"/>
                </a:solidFill>
                <a:latin typeface="Aptos Display"/>
                <a:ea typeface="Aptos Display"/>
                <a:cs typeface="Aptos Display"/>
              </a:rPr>
              <a:t>The AI inventory changed</a:t>
            </a:r>
            <a:endParaRPr sz="2200" b="0" u="none">
              <a:solidFill>
                <a:srgbClr val="000000"/>
              </a:solidFill>
              <a:latin typeface="Arial"/>
              <a:ea typeface="Arial"/>
              <a:cs typeface="Arial"/>
            </a:endParaRPr>
          </a:p>
        </p:txBody>
      </p:sp>
      <p:sp>
        <p:nvSpPr>
          <p:cNvPr id="183" name="Text 18">
            <a:extLst xmlns:a="http://schemas.openxmlformats.org/drawingml/2006/main">
              <a:ext uri="{FF2B5EF4-FFF2-40B4-BE49-F238E27FC236}">
                <a16:creationId xmlns:a16="http://schemas.microsoft.com/office/drawing/2014/main" id="{A89862D7-2956-4574-98AC-CE70D260055E}"/>
              </a:ext>
            </a:extLst>
          </p:cNvPr>
          <p:cNvSpPr>
            <a:spLocks xmlns:a="http://schemas.openxmlformats.org/drawingml/2006/main" noGrp="1"/>
          </p:cNvSpPr>
          <p:nvPr/>
        </p:nvSpPr>
        <p:spPr>
          <a:xfrm xmlns:a="http://schemas.openxmlformats.org/drawingml/2006/main">
            <a:off x="8293608"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EAF2FF"/>
                </a:solidFill>
                <a:latin typeface="Aptos"/>
                <a:ea typeface="Aptos"/>
                <a:cs typeface="Aptos"/>
              </a:rPr>
              <a:t>Alert the adviser</a:t>
            </a:r>
            <a:endParaRPr sz="1350" b="0" u="none">
              <a:solidFill>
                <a:srgbClr val="000000"/>
              </a:solidFill>
              <a:latin typeface="Arial"/>
              <a:ea typeface="Arial"/>
              <a:cs typeface="Arial"/>
            </a:endParaRPr>
          </a:p>
        </p:txBody>
      </p:sp>
      <p:sp>
        <p:nvSpPr>
          <p:cNvPr id="184" name="Text 19">
            <a:extLst xmlns:a="http://schemas.openxmlformats.org/drawingml/2006/main">
              <a:ext uri="{FF2B5EF4-FFF2-40B4-BE49-F238E27FC236}">
                <a16:creationId xmlns:a16="http://schemas.microsoft.com/office/drawing/2014/main" id="{94E770F1-1007-437A-8483-3714290AF765}"/>
              </a:ext>
            </a:extLst>
          </p:cNvPr>
          <p:cNvSpPr>
            <a:spLocks xmlns:a="http://schemas.openxmlformats.org/drawingml/2006/main" noGrp="1"/>
          </p:cNvSpPr>
          <p:nvPr/>
        </p:nvSpPr>
        <p:spPr>
          <a:xfrm xmlns:a="http://schemas.openxmlformats.org/drawingml/2006/main">
            <a:off x="1915668" y="5669280"/>
            <a:ext cx="21484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64748B"/>
                </a:solidFill>
                <a:latin typeface="Aptos"/>
                <a:ea typeface="Aptos"/>
                <a:cs typeface="Aptos"/>
              </a:rPr>
              <a:t>PILOT WITH ADVISERS</a:t>
            </a:r>
            <a:endParaRPr sz="1100" b="0" u="none">
              <a:solidFill>
                <a:srgbClr val="000000"/>
              </a:solidFill>
              <a:latin typeface="Arial"/>
              <a:ea typeface="Arial"/>
              <a:cs typeface="Arial"/>
            </a:endParaRPr>
          </a:p>
        </p:txBody>
      </p:sp>
      <p:sp>
        <p:nvSpPr>
          <p:cNvPr id="185" name="Shape 20">
            <a:extLst xmlns:a="http://schemas.openxmlformats.org/drawingml/2006/main">
              <a:ext uri="{FF2B5EF4-FFF2-40B4-BE49-F238E27FC236}">
                <a16:creationId xmlns:a16="http://schemas.microsoft.com/office/drawing/2014/main" id="{1002F08D-4F3F-482E-9EC4-702CE51C9D27}"/>
              </a:ext>
            </a:extLst>
          </p:cNvPr>
          <p:cNvSpPr>
            <a:spLocks xmlns:a="http://schemas.openxmlformats.org/drawingml/2006/main" noGrp="1"/>
          </p:cNvSpPr>
          <p:nvPr/>
        </p:nvSpPr>
        <p:spPr>
          <a:xfrm xmlns:a="http://schemas.openxmlformats.org/drawingml/2006/main">
            <a:off x="4082508"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6" name="Text 21">
            <a:extLst xmlns:a="http://schemas.openxmlformats.org/drawingml/2006/main">
              <a:ext uri="{FF2B5EF4-FFF2-40B4-BE49-F238E27FC236}">
                <a16:creationId xmlns:a16="http://schemas.microsoft.com/office/drawing/2014/main" id="{91CE1227-C385-4BA4-B222-1875ED58A44E}"/>
              </a:ext>
            </a:extLst>
          </p:cNvPr>
          <p:cNvSpPr>
            <a:spLocks xmlns:a="http://schemas.openxmlformats.org/drawingml/2006/main" noGrp="1"/>
          </p:cNvSpPr>
          <p:nvPr/>
        </p:nvSpPr>
        <p:spPr>
          <a:xfrm xmlns:a="http://schemas.openxmlformats.org/drawingml/2006/main">
            <a:off x="4686228" y="5669280"/>
            <a:ext cx="246852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2563EB"/>
                </a:solidFill>
                <a:latin typeface="Aptos"/>
                <a:ea typeface="Aptos"/>
                <a:cs typeface="Aptos"/>
              </a:rPr>
              <a:t>PROVE ALERTS USEFUL</a:t>
            </a:r>
            <a:endParaRPr sz="1100" b="0" u="none">
              <a:solidFill>
                <a:srgbClr val="000000"/>
              </a:solidFill>
              <a:latin typeface="Arial"/>
              <a:ea typeface="Arial"/>
              <a:cs typeface="Arial"/>
            </a:endParaRPr>
          </a:p>
        </p:txBody>
      </p:sp>
      <p:sp>
        <p:nvSpPr>
          <p:cNvPr id="187" name="Shape 22">
            <a:extLst xmlns:a="http://schemas.openxmlformats.org/drawingml/2006/main">
              <a:ext uri="{FF2B5EF4-FFF2-40B4-BE49-F238E27FC236}">
                <a16:creationId xmlns:a16="http://schemas.microsoft.com/office/drawing/2014/main" id="{A8C5E434-E906-44BC-A1C5-6568CF89C1BE}"/>
              </a:ext>
            </a:extLst>
          </p:cNvPr>
          <p:cNvSpPr>
            <a:spLocks xmlns:a="http://schemas.openxmlformats.org/drawingml/2006/main" noGrp="1"/>
          </p:cNvSpPr>
          <p:nvPr/>
        </p:nvSpPr>
        <p:spPr>
          <a:xfrm xmlns:a="http://schemas.openxmlformats.org/drawingml/2006/main">
            <a:off x="7173468"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8" name="Text 23">
            <a:extLst xmlns:a="http://schemas.openxmlformats.org/drawingml/2006/main">
              <a:ext uri="{FF2B5EF4-FFF2-40B4-BE49-F238E27FC236}">
                <a16:creationId xmlns:a16="http://schemas.microsoft.com/office/drawing/2014/main" id="{B9B2584B-4382-4D2C-84F7-D706864EDC35}"/>
              </a:ext>
            </a:extLst>
          </p:cNvPr>
          <p:cNvSpPr>
            <a:spLocks xmlns:a="http://schemas.openxmlformats.org/drawingml/2006/main" noGrp="1"/>
          </p:cNvSpPr>
          <p:nvPr/>
        </p:nvSpPr>
        <p:spPr>
          <a:xfrm xmlns:a="http://schemas.openxmlformats.org/drawingml/2006/main">
            <a:off x="7786187" y="5669280"/>
            <a:ext cx="24228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1D4ED8"/>
                </a:solidFill>
                <a:latin typeface="Aptos"/>
                <a:ea typeface="Aptos"/>
                <a:cs typeface="Aptos"/>
              </a:rPr>
              <a:t>MONITOR ONGOING</a:t>
            </a:r>
            <a:endParaRPr sz="1100" b="0" u="none">
              <a:solidFill>
                <a:srgbClr val="000000"/>
              </a:solidFill>
              <a:latin typeface="Arial"/>
              <a:ea typeface="Arial"/>
              <a:cs typeface="Arial"/>
            </a:endParaRPr>
          </a:p>
        </p:txBody>
      </p:sp>
      <p:sp>
        <p:nvSpPr>
          <p:cNvPr id="189" name="Text 24">
            <a:extLst xmlns:a="http://schemas.openxmlformats.org/drawingml/2006/main">
              <a:ext uri="{FF2B5EF4-FFF2-40B4-BE49-F238E27FC236}">
                <a16:creationId xmlns:a16="http://schemas.microsoft.com/office/drawing/2014/main" id="{6B3D67CA-B90E-41E0-B032-E8A38E7BC0B2}"/>
              </a:ext>
            </a:extLst>
          </p:cNvPr>
          <p:cNvSpPr>
            <a:spLocks xmlns:a="http://schemas.openxmlformats.org/drawingml/2006/main" noGrp="1"/>
          </p:cNvSpPr>
          <p:nvPr/>
        </p:nvSpPr>
        <p:spPr>
          <a:xfrm xmlns:a="http://schemas.openxmlformats.org/drawingml/2006/main">
            <a:off x="749880" y="5998320"/>
            <a:ext cx="106066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1339" lnSpcReduction="9999"/>
          </a:bodyPr>
          <a:lstStyle xmlns:a="http://schemas.openxmlformats.org/drawingml/2006/main"/>
          <a:p xmlns:a="http://schemas.openxmlformats.org/drawingml/2006/main">
            <a:pPr algn="ctr" defTabSz="914400">
              <a:lnSpc>
                <a:spcPct val="100000"/>
              </a:lnSpc>
              <a:buNone/>
              <a:tabLst>
                <a:tab pos="0" algn="l"/>
              </a:tabLst>
            </a:pPr>
            <a:r>
              <a:rPr sz="2100" b="1" u="none">
                <a:solidFill>
                  <a:srgbClr val="0B1020"/>
                </a:solidFill>
                <a:latin typeface="Aptos Display"/>
                <a:ea typeface="Aptos Display"/>
                <a:cs typeface="Aptos Display"/>
              </a:rPr>
              <a:t>Turn a blank-page scan into an auditable, recurring conversation.</a:t>
            </a:r>
            <a:endParaRPr sz="2100" b="0" u="none">
              <a:solidFill>
                <a:srgbClr val="000000"/>
              </a:solidFill>
              <a:latin typeface="Arial"/>
              <a:ea typeface="Arial"/>
              <a:cs typeface="Arial"/>
            </a:endParaRPr>
          </a:p>
        </p:txBody>
      </p:sp>
      <p:sp>
        <p:nvSpPr>
          <p:cNvPr id="190" name="Text 25">
            <a:extLst xmlns:a="http://schemas.openxmlformats.org/drawingml/2006/main">
              <a:ext uri="{FF2B5EF4-FFF2-40B4-BE49-F238E27FC236}">
                <a16:creationId xmlns:a16="http://schemas.microsoft.com/office/drawing/2014/main" id="{7ED0E0F8-4801-4D94-8911-FDF052482537}"/>
              </a:ext>
            </a:extLst>
          </p:cNvPr>
          <p:cNvSpPr>
            <a:spLocks xmlns:a="http://schemas.openxmlformats.org/drawingml/2006/main" noGrp="1"/>
          </p:cNvSpPr>
          <p:nvPr/>
        </p:nvSpPr>
        <p:spPr>
          <a:xfrm xmlns:a="http://schemas.openxmlformats.org/drawingml/2006/main">
            <a:off x="713160" y="6428160"/>
            <a:ext cx="310896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POST-MVP PATH</a:t>
            </a:r>
            <a:endParaRPr sz="900" b="0" u="none">
              <a:solidFill>
                <a:srgbClr val="000000"/>
              </a:solidFill>
              <a:latin typeface="Arial"/>
              <a:ea typeface="Arial"/>
              <a:cs typeface="Arial"/>
            </a:endParaRPr>
          </a:p>
        </p:txBody>
      </p:sp>
      <p:sp>
        <p:nvSpPr>
          <p:cNvPr id="191" name="PlaceHolder 1">
            <a:extLst xmlns:a="http://schemas.openxmlformats.org/drawingml/2006/main">
              <a:ext uri="{FF2B5EF4-FFF2-40B4-BE49-F238E27FC236}">
                <a16:creationId xmlns:a16="http://schemas.microsoft.com/office/drawing/2014/main" id="{95379090-48E0-44A1-8D3E-B6BD6BB3C4C8}"/>
              </a:ext>
            </a:extLst>
          </p:cNvPr>
          <p:cNvSpPr>
            <a:spLocks xmlns:a="http://schemas.openxmlformats.org/drawingml/2006/main" noGrp="1"/>
          </p:cNvSpPr>
          <p:nvPr>
            <p:ph type="sldNum" idx="1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3D7D1C8-AE23-AA48-DF65-C742588DBE47}" type="slidenum">
              <a:rPr sz="900" b="0" u="none">
                <a:solidFill>
                  <a:srgbClr val="94A3B8"/>
                </a:solidFill>
                <a:latin typeface="Aptos"/>
                <a:ea typeface="Aptos"/>
                <a:cs typeface="Aptos"/>
              </a:rPr>
              <a:t>7</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63457195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92" name="Text 0">
            <a:extLst xmlns:a="http://schemas.openxmlformats.org/drawingml/2006/main">
              <a:ext uri="{FF2B5EF4-FFF2-40B4-BE49-F238E27FC236}">
                <a16:creationId xmlns:a16="http://schemas.microsoft.com/office/drawing/2014/main" id="{19EFEC4B-93A2-4739-BDFA-4C205ED650EF}"/>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EVALUATION</a:t>
            </a:r>
            <a:endParaRPr sz="1100" b="0" u="none">
              <a:solidFill>
                <a:srgbClr val="000000"/>
              </a:solidFill>
              <a:latin typeface="Arial"/>
              <a:ea typeface="Arial"/>
              <a:cs typeface="Arial"/>
            </a:endParaRPr>
          </a:p>
        </p:txBody>
      </p:sp>
      <p:sp>
        <p:nvSpPr>
          <p:cNvPr id="193" name="Text 1">
            <a:extLst xmlns:a="http://schemas.openxmlformats.org/drawingml/2006/main">
              <a:ext uri="{FF2B5EF4-FFF2-40B4-BE49-F238E27FC236}">
                <a16:creationId xmlns:a16="http://schemas.microsoft.com/office/drawing/2014/main" id="{D1AE4FFD-D66F-40B9-B1E2-669138525E9E}"/>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600" b="1" u="none">
                <a:solidFill>
                  <a:srgbClr val="0B1020"/>
                </a:solidFill>
                <a:latin typeface="Aptos Display"/>
                <a:ea typeface="Aptos Display"/>
                <a:cs typeface="Aptos Display"/>
              </a:rPr>
              <a:t>The honesty controls pass; research quality still needs work</a:t>
            </a:r>
            <a:endParaRPr sz="3600" b="0" u="none">
              <a:solidFill>
                <a:srgbClr val="000000"/>
              </a:solidFill>
              <a:latin typeface="Arial"/>
              <a:ea typeface="Arial"/>
              <a:cs typeface="Arial"/>
            </a:endParaRPr>
          </a:p>
        </p:txBody>
      </p:sp>
      <p:sp>
        <p:nvSpPr>
          <p:cNvPr id="194" name="Text 2">
            <a:extLst xmlns:a="http://schemas.openxmlformats.org/drawingml/2006/main">
              <a:ext uri="{FF2B5EF4-FFF2-40B4-BE49-F238E27FC236}">
                <a16:creationId xmlns:a16="http://schemas.microsoft.com/office/drawing/2014/main" id="{B95A86C9-23CF-4478-9CF6-45E3A00E1B70}"/>
              </a:ext>
            </a:extLst>
          </p:cNvPr>
          <p:cNvSpPr>
            <a:spLocks xmlns:a="http://schemas.openxmlformats.org/drawingml/2006/main" noGrp="1"/>
          </p:cNvSpPr>
          <p:nvPr/>
        </p:nvSpPr>
        <p:spPr>
          <a:xfrm xmlns:a="http://schemas.openxmlformats.org/drawingml/2006/main">
            <a:off x="749808" y="1938528"/>
            <a:ext cx="29260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HELD IN EVERY RUN</a:t>
            </a:r>
            <a:endParaRPr sz="1100" b="0" u="none">
              <a:solidFill>
                <a:srgbClr val="000000"/>
              </a:solidFill>
              <a:latin typeface="Arial"/>
              <a:ea typeface="Arial"/>
              <a:cs typeface="Arial"/>
            </a:endParaRPr>
          </a:p>
        </p:txBody>
      </p:sp>
      <p:sp>
        <p:nvSpPr>
          <p:cNvPr id="195" name="Text 3">
            <a:extLst xmlns:a="http://schemas.openxmlformats.org/drawingml/2006/main">
              <a:ext uri="{FF2B5EF4-FFF2-40B4-BE49-F238E27FC236}">
                <a16:creationId xmlns:a16="http://schemas.microsoft.com/office/drawing/2014/main" id="{8DBA1692-5C6A-4791-98CB-CE4A7CB35991}"/>
              </a:ext>
            </a:extLst>
          </p:cNvPr>
          <p:cNvSpPr>
            <a:spLocks xmlns:a="http://schemas.openxmlformats.org/drawingml/2006/main" noGrp="1"/>
          </p:cNvSpPr>
          <p:nvPr/>
        </p:nvSpPr>
        <p:spPr>
          <a:xfrm xmlns:a="http://schemas.openxmlformats.org/drawingml/2006/main">
            <a:off x="6446520" y="1938528"/>
            <a:ext cx="29260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B45309"/>
                </a:solidFill>
                <a:latin typeface="Aptos"/>
                <a:ea typeface="Aptos"/>
                <a:cs typeface="Aptos"/>
              </a:rPr>
              <a:t>SHORT OF TARGET</a:t>
            </a:r>
            <a:endParaRPr sz="1100" b="0" u="none">
              <a:solidFill>
                <a:srgbClr val="000000"/>
              </a:solidFill>
              <a:latin typeface="Arial"/>
              <a:ea typeface="Arial"/>
              <a:cs typeface="Arial"/>
            </a:endParaRPr>
          </a:p>
        </p:txBody>
      </p:sp>
      <p:sp>
        <p:nvSpPr>
          <p:cNvPr id="196" name="Shape 4">
            <a:extLst xmlns:a="http://schemas.openxmlformats.org/drawingml/2006/main">
              <a:ext uri="{FF2B5EF4-FFF2-40B4-BE49-F238E27FC236}">
                <a16:creationId xmlns:a16="http://schemas.microsoft.com/office/drawing/2014/main" id="{8196031A-69B5-444D-9F3D-64C15312189A}"/>
              </a:ext>
            </a:extLst>
          </p:cNvPr>
          <p:cNvSpPr>
            <a:spLocks xmlns:a="http://schemas.openxmlformats.org/drawingml/2006/main" noGrp="1"/>
          </p:cNvSpPr>
          <p:nvPr/>
        </p:nvSpPr>
        <p:spPr>
          <a:xfrm xmlns:a="http://schemas.openxmlformats.org/drawingml/2006/main">
            <a:off x="749808" y="224942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97" name="Text 5">
            <a:extLst xmlns:a="http://schemas.openxmlformats.org/drawingml/2006/main">
              <a:ext uri="{FF2B5EF4-FFF2-40B4-BE49-F238E27FC236}">
                <a16:creationId xmlns:a16="http://schemas.microsoft.com/office/drawing/2014/main" id="{BE3A56A1-8028-4C9E-9655-8AF1029726B3}"/>
              </a:ext>
            </a:extLst>
          </p:cNvPr>
          <p:cNvSpPr>
            <a:spLocks xmlns:a="http://schemas.openxmlformats.org/drawingml/2006/main" noGrp="1"/>
          </p:cNvSpPr>
          <p:nvPr/>
        </p:nvSpPr>
        <p:spPr>
          <a:xfrm xmlns:a="http://schemas.openxmlformats.org/drawingml/2006/main">
            <a:off x="914400" y="244144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Stayed silent when nothing was public</a:t>
            </a:r>
            <a:endParaRPr sz="2800" b="0" u="none">
              <a:solidFill>
                <a:srgbClr val="000000"/>
              </a:solidFill>
              <a:latin typeface="Arial"/>
              <a:ea typeface="Arial"/>
              <a:cs typeface="Arial"/>
            </a:endParaRPr>
          </a:p>
        </p:txBody>
      </p:sp>
      <p:sp>
        <p:nvSpPr>
          <p:cNvPr id="198" name="Text 6">
            <a:extLst xmlns:a="http://schemas.openxmlformats.org/drawingml/2006/main">
              <a:ext uri="{FF2B5EF4-FFF2-40B4-BE49-F238E27FC236}">
                <a16:creationId xmlns:a16="http://schemas.microsoft.com/office/drawing/2014/main" id="{265D3931-223D-4EDD-A158-5088DA916643}"/>
              </a:ext>
            </a:extLst>
          </p:cNvPr>
          <p:cNvSpPr>
            <a:spLocks xmlns:a="http://schemas.openxmlformats.org/drawingml/2006/main" noGrp="1"/>
          </p:cNvSpPr>
          <p:nvPr/>
        </p:nvSpPr>
        <p:spPr>
          <a:xfrm xmlns:a="http://schemas.openxmlformats.org/drawingml/2006/main">
            <a:off x="914400" y="275234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3 of 3 companies with no public AI footprint → no claim made</a:t>
            </a:r>
            <a:endParaRPr sz="1250" b="0" u="none">
              <a:solidFill>
                <a:srgbClr val="000000"/>
              </a:solidFill>
              <a:latin typeface="Arial"/>
              <a:ea typeface="Arial"/>
              <a:cs typeface="Arial"/>
            </a:endParaRPr>
          </a:p>
        </p:txBody>
      </p:sp>
      <p:sp>
        <p:nvSpPr>
          <p:cNvPr id="199" name="Shape 7">
            <a:extLst xmlns:a="http://schemas.openxmlformats.org/drawingml/2006/main">
              <a:ext uri="{FF2B5EF4-FFF2-40B4-BE49-F238E27FC236}">
                <a16:creationId xmlns:a16="http://schemas.microsoft.com/office/drawing/2014/main" id="{B0702F60-B270-4879-9F8C-3C0C3C683373}"/>
              </a:ext>
            </a:extLst>
          </p:cNvPr>
          <p:cNvSpPr>
            <a:spLocks xmlns:a="http://schemas.openxmlformats.org/drawingml/2006/main" noGrp="1"/>
          </p:cNvSpPr>
          <p:nvPr/>
        </p:nvSpPr>
        <p:spPr>
          <a:xfrm xmlns:a="http://schemas.openxmlformats.org/drawingml/2006/main">
            <a:off x="749808" y="325526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0" name="Text 8">
            <a:extLst xmlns:a="http://schemas.openxmlformats.org/drawingml/2006/main">
              <a:ext uri="{FF2B5EF4-FFF2-40B4-BE49-F238E27FC236}">
                <a16:creationId xmlns:a16="http://schemas.microsoft.com/office/drawing/2014/main" id="{2FE8C594-B359-4192-B3F6-DC8562714766}"/>
              </a:ext>
            </a:extLst>
          </p:cNvPr>
          <p:cNvSpPr>
            <a:spLocks xmlns:a="http://schemas.openxmlformats.org/drawingml/2006/main" noGrp="1"/>
          </p:cNvSpPr>
          <p:nvPr/>
        </p:nvSpPr>
        <p:spPr>
          <a:xfrm xmlns:a="http://schemas.openxmlformats.org/drawingml/2006/main">
            <a:off x="914400" y="344728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Invented nothing on those companies</a:t>
            </a:r>
            <a:endParaRPr sz="2800" b="0" u="none">
              <a:solidFill>
                <a:srgbClr val="000000"/>
              </a:solidFill>
              <a:latin typeface="Arial"/>
              <a:ea typeface="Arial"/>
              <a:cs typeface="Arial"/>
            </a:endParaRPr>
          </a:p>
        </p:txBody>
      </p:sp>
      <p:sp>
        <p:nvSpPr>
          <p:cNvPr id="201" name="Text 9">
            <a:extLst xmlns:a="http://schemas.openxmlformats.org/drawingml/2006/main">
              <a:ext uri="{FF2B5EF4-FFF2-40B4-BE49-F238E27FC236}">
                <a16:creationId xmlns:a16="http://schemas.microsoft.com/office/drawing/2014/main" id="{D03E132A-3776-49F1-916D-5C98743E2832}"/>
              </a:ext>
            </a:extLst>
          </p:cNvPr>
          <p:cNvSpPr>
            <a:spLocks xmlns:a="http://schemas.openxmlformats.org/drawingml/2006/main" noGrp="1"/>
          </p:cNvSpPr>
          <p:nvPr/>
        </p:nvSpPr>
        <p:spPr>
          <a:xfrm xmlns:a="http://schemas.openxmlformats.org/drawingml/2006/main">
            <a:off x="914400" y="375818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0 false claims across those 3 scans</a:t>
            </a:r>
            <a:endParaRPr sz="1250" b="0" u="none">
              <a:solidFill>
                <a:srgbClr val="000000"/>
              </a:solidFill>
              <a:latin typeface="Arial"/>
              <a:ea typeface="Arial"/>
              <a:cs typeface="Arial"/>
            </a:endParaRPr>
          </a:p>
        </p:txBody>
      </p:sp>
      <p:sp>
        <p:nvSpPr>
          <p:cNvPr id="202" name="Shape 10">
            <a:extLst xmlns:a="http://schemas.openxmlformats.org/drawingml/2006/main">
              <a:ext uri="{FF2B5EF4-FFF2-40B4-BE49-F238E27FC236}">
                <a16:creationId xmlns:a16="http://schemas.microsoft.com/office/drawing/2014/main" id="{BC2F9AB4-BEB6-44C5-8031-0CC2037B92F0}"/>
              </a:ext>
            </a:extLst>
          </p:cNvPr>
          <p:cNvSpPr>
            <a:spLocks xmlns:a="http://schemas.openxmlformats.org/drawingml/2006/main" noGrp="1"/>
          </p:cNvSpPr>
          <p:nvPr/>
        </p:nvSpPr>
        <p:spPr>
          <a:xfrm xmlns:a="http://schemas.openxmlformats.org/drawingml/2006/main">
            <a:off x="749808" y="426110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3" name="Text 11">
            <a:extLst xmlns:a="http://schemas.openxmlformats.org/drawingml/2006/main">
              <a:ext uri="{FF2B5EF4-FFF2-40B4-BE49-F238E27FC236}">
                <a16:creationId xmlns:a16="http://schemas.microsoft.com/office/drawing/2014/main" id="{03DC1155-D461-4B82-9F26-25E40D9ABB8B}"/>
              </a:ext>
            </a:extLst>
          </p:cNvPr>
          <p:cNvSpPr>
            <a:spLocks xmlns:a="http://schemas.openxmlformats.org/drawingml/2006/main" noGrp="1"/>
          </p:cNvSpPr>
          <p:nvPr/>
        </p:nvSpPr>
        <p:spPr>
          <a:xfrm xmlns:a="http://schemas.openxmlformats.org/drawingml/2006/main">
            <a:off x="914400" y="445312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Every finding traceable to its source</a:t>
            </a:r>
            <a:endParaRPr sz="2800" b="0" u="none">
              <a:solidFill>
                <a:srgbClr val="000000"/>
              </a:solidFill>
              <a:latin typeface="Arial"/>
              <a:ea typeface="Arial"/>
              <a:cs typeface="Arial"/>
            </a:endParaRPr>
          </a:p>
        </p:txBody>
      </p:sp>
      <p:sp>
        <p:nvSpPr>
          <p:cNvPr id="204" name="Text 12">
            <a:extLst xmlns:a="http://schemas.openxmlformats.org/drawingml/2006/main">
              <a:ext uri="{FF2B5EF4-FFF2-40B4-BE49-F238E27FC236}">
                <a16:creationId xmlns:a16="http://schemas.microsoft.com/office/drawing/2014/main" id="{AA881CBF-E2AF-4429-BE07-971E9E41230B}"/>
              </a:ext>
            </a:extLst>
          </p:cNvPr>
          <p:cNvSpPr>
            <a:spLocks xmlns:a="http://schemas.openxmlformats.org/drawingml/2006/main" noGrp="1"/>
          </p:cNvSpPr>
          <p:nvPr/>
        </p:nvSpPr>
        <p:spPr>
          <a:xfrm xmlns:a="http://schemas.openxmlformats.org/drawingml/2006/main">
            <a:off x="914400" y="476402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All 64 findings: source quoted, fetched and re-checked</a:t>
            </a:r>
            <a:endParaRPr sz="1250" b="0" u="none">
              <a:solidFill>
                <a:srgbClr val="000000"/>
              </a:solidFill>
              <a:latin typeface="Arial"/>
              <a:ea typeface="Arial"/>
              <a:cs typeface="Arial"/>
            </a:endParaRPr>
          </a:p>
        </p:txBody>
      </p:sp>
      <p:sp>
        <p:nvSpPr>
          <p:cNvPr id="205" name="Shape 13">
            <a:extLst xmlns:a="http://schemas.openxmlformats.org/drawingml/2006/main">
              <a:ext uri="{FF2B5EF4-FFF2-40B4-BE49-F238E27FC236}">
                <a16:creationId xmlns:a16="http://schemas.microsoft.com/office/drawing/2014/main" id="{26CE3924-57E1-4EF8-B7B8-B9A460DC7732}"/>
              </a:ext>
            </a:extLst>
          </p:cNvPr>
          <p:cNvSpPr>
            <a:spLocks xmlns:a="http://schemas.openxmlformats.org/drawingml/2006/main" noGrp="1"/>
          </p:cNvSpPr>
          <p:nvPr/>
        </p:nvSpPr>
        <p:spPr>
          <a:xfrm xmlns:a="http://schemas.openxmlformats.org/drawingml/2006/main">
            <a:off x="6446520" y="224942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6" name="Text 14">
            <a:extLst xmlns:a="http://schemas.openxmlformats.org/drawingml/2006/main">
              <a:ext uri="{FF2B5EF4-FFF2-40B4-BE49-F238E27FC236}">
                <a16:creationId xmlns:a16="http://schemas.microsoft.com/office/drawing/2014/main" id="{CFDE188C-C7E5-4322-A97F-5E50BAC12F43}"/>
              </a:ext>
            </a:extLst>
          </p:cNvPr>
          <p:cNvSpPr>
            <a:spLocks xmlns:a="http://schemas.openxmlformats.org/drawingml/2006/main" noGrp="1"/>
          </p:cNvSpPr>
          <p:nvPr/>
        </p:nvSpPr>
        <p:spPr>
          <a:xfrm xmlns:a="http://schemas.openxmlformats.org/drawingml/2006/main">
            <a:off x="9921240" y="227685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2000" b="1" u="none">
                <a:solidFill>
                  <a:srgbClr val="B45309"/>
                </a:solidFill>
                <a:latin typeface="Aptos Display"/>
                <a:ea typeface="Aptos Display"/>
                <a:cs typeface="Aptos Display"/>
              </a:rPr>
              <a:t>44%</a:t>
            </a:r>
            <a:endParaRPr sz="2700" b="0" u="none">
              <a:solidFill>
                <a:srgbClr val="000000"/>
              </a:solidFill>
              <a:latin typeface="Arial"/>
              <a:ea typeface="Arial"/>
              <a:cs typeface="Arial"/>
            </a:endParaRPr>
          </a:p>
        </p:txBody>
      </p:sp>
      <p:sp>
        <p:nvSpPr>
          <p:cNvPr id="207" name="Text 15">
            <a:extLst xmlns:a="http://schemas.openxmlformats.org/drawingml/2006/main">
              <a:ext uri="{FF2B5EF4-FFF2-40B4-BE49-F238E27FC236}">
                <a16:creationId xmlns:a16="http://schemas.microsoft.com/office/drawing/2014/main" id="{8322B8B9-DD0E-4600-9760-940A8452B613}"/>
              </a:ext>
            </a:extLst>
          </p:cNvPr>
          <p:cNvSpPr>
            <a:spLocks xmlns:a="http://schemas.openxmlformats.org/drawingml/2006/main" noGrp="1"/>
          </p:cNvSpPr>
          <p:nvPr/>
        </p:nvSpPr>
        <p:spPr>
          <a:xfrm xmlns:a="http://schemas.openxmlformats.org/drawingml/2006/main">
            <a:off x="6647688" y="233172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Known AI systems found</a:t>
            </a:r>
            <a:endParaRPr sz="1500" b="0" u="none">
              <a:solidFill>
                <a:srgbClr val="000000"/>
              </a:solidFill>
              <a:latin typeface="Arial"/>
              <a:ea typeface="Arial"/>
              <a:cs typeface="Arial"/>
            </a:endParaRPr>
          </a:p>
        </p:txBody>
      </p:sp>
      <p:sp>
        <p:nvSpPr>
          <p:cNvPr id="208" name="Text 16">
            <a:extLst xmlns:a="http://schemas.openxmlformats.org/drawingml/2006/main">
              <a:ext uri="{FF2B5EF4-FFF2-40B4-BE49-F238E27FC236}">
                <a16:creationId xmlns:a16="http://schemas.microsoft.com/office/drawing/2014/main" id="{C83BDBD6-162B-43A3-9B9F-A2F907196BD3}"/>
              </a:ext>
            </a:extLst>
          </p:cNvPr>
          <p:cNvSpPr>
            <a:spLocks xmlns:a="http://schemas.openxmlformats.org/drawingml/2006/main" noGrp="1"/>
          </p:cNvSpPr>
          <p:nvPr/>
        </p:nvSpPr>
        <p:spPr>
          <a:xfrm xmlns:a="http://schemas.openxmlformats.org/drawingml/2006/main">
            <a:off x="6647688" y="2907791"/>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target 75%   ·   higher is better</a:t>
            </a:r>
            <a:endParaRPr sz="1200" b="0" u="none">
              <a:solidFill>
                <a:srgbClr val="000000"/>
              </a:solidFill>
              <a:latin typeface="Arial"/>
              <a:ea typeface="Arial"/>
              <a:cs typeface="Arial"/>
            </a:endParaRPr>
          </a:p>
        </p:txBody>
      </p:sp>
      <p:sp>
        <p:nvSpPr>
          <p:cNvPr id="209" name="Shape 17">
            <a:extLst xmlns:a="http://schemas.openxmlformats.org/drawingml/2006/main">
              <a:ext uri="{FF2B5EF4-FFF2-40B4-BE49-F238E27FC236}">
                <a16:creationId xmlns:a16="http://schemas.microsoft.com/office/drawing/2014/main" id="{0DB9825D-7508-4995-95C7-934EDA4F37E1}"/>
              </a:ext>
            </a:extLst>
          </p:cNvPr>
          <p:cNvSpPr>
            <a:spLocks xmlns:a="http://schemas.openxmlformats.org/drawingml/2006/main" noGrp="1"/>
          </p:cNvSpPr>
          <p:nvPr/>
        </p:nvSpPr>
        <p:spPr>
          <a:xfrm xmlns:a="http://schemas.openxmlformats.org/drawingml/2006/main">
            <a:off x="6446520" y="325526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0" name="Text 18">
            <a:extLst xmlns:a="http://schemas.openxmlformats.org/drawingml/2006/main">
              <a:ext uri="{FF2B5EF4-FFF2-40B4-BE49-F238E27FC236}">
                <a16:creationId xmlns:a16="http://schemas.microsoft.com/office/drawing/2014/main" id="{17848AE0-FF6F-40E1-98A0-DB4C36391EA8}"/>
              </a:ext>
            </a:extLst>
          </p:cNvPr>
          <p:cNvSpPr>
            <a:spLocks xmlns:a="http://schemas.openxmlformats.org/drawingml/2006/main" noGrp="1"/>
          </p:cNvSpPr>
          <p:nvPr/>
        </p:nvSpPr>
        <p:spPr>
          <a:xfrm xmlns:a="http://schemas.openxmlformats.org/drawingml/2006/main">
            <a:off x="9921240" y="328269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2000" b="1" u="none">
                <a:solidFill>
                  <a:srgbClr val="B45309"/>
                </a:solidFill>
                <a:latin typeface="Aptos Display"/>
                <a:ea typeface="Aptos Display"/>
                <a:cs typeface="Aptos Display"/>
              </a:rPr>
              <a:t>74%</a:t>
            </a:r>
            <a:endParaRPr sz="2700" b="0" u="none">
              <a:solidFill>
                <a:srgbClr val="000000"/>
              </a:solidFill>
              <a:latin typeface="Arial"/>
              <a:ea typeface="Arial"/>
              <a:cs typeface="Arial"/>
            </a:endParaRPr>
          </a:p>
        </p:txBody>
      </p:sp>
      <p:sp>
        <p:nvSpPr>
          <p:cNvPr id="211" name="Text 19">
            <a:extLst xmlns:a="http://schemas.openxmlformats.org/drawingml/2006/main">
              <a:ext uri="{FF2B5EF4-FFF2-40B4-BE49-F238E27FC236}">
                <a16:creationId xmlns:a16="http://schemas.microsoft.com/office/drawing/2014/main" id="{8D7682D7-13A7-457B-B39E-C3D67C88EE7E}"/>
              </a:ext>
            </a:extLst>
          </p:cNvPr>
          <p:cNvSpPr>
            <a:spLocks xmlns:a="http://schemas.openxmlformats.org/drawingml/2006/main" noGrp="1"/>
          </p:cNvSpPr>
          <p:nvPr/>
        </p:nvSpPr>
        <p:spPr>
          <a:xfrm xmlns:a="http://schemas.openxmlformats.org/drawingml/2006/main">
            <a:off x="6647688" y="333756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Company role labelled right</a:t>
            </a:r>
            <a:endParaRPr sz="1500" b="0" u="none">
              <a:solidFill>
                <a:srgbClr val="000000"/>
              </a:solidFill>
              <a:latin typeface="Arial"/>
              <a:ea typeface="Arial"/>
              <a:cs typeface="Arial"/>
            </a:endParaRPr>
          </a:p>
        </p:txBody>
      </p:sp>
      <p:sp>
        <p:nvSpPr>
          <p:cNvPr id="212" name="Text 20">
            <a:extLst xmlns:a="http://schemas.openxmlformats.org/drawingml/2006/main">
              <a:ext uri="{FF2B5EF4-FFF2-40B4-BE49-F238E27FC236}">
                <a16:creationId xmlns:a16="http://schemas.microsoft.com/office/drawing/2014/main" id="{F48EC716-45C8-4BDE-B38C-BEB97565F84F}"/>
              </a:ext>
            </a:extLst>
          </p:cNvPr>
          <p:cNvSpPr>
            <a:spLocks xmlns:a="http://schemas.openxmlformats.org/drawingml/2006/main" noGrp="1"/>
          </p:cNvSpPr>
          <p:nvPr/>
        </p:nvSpPr>
        <p:spPr>
          <a:xfrm xmlns:a="http://schemas.openxmlformats.org/drawingml/2006/main">
            <a:off x="6647688" y="3913632"/>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target 90%   ·   higher is better   ·   provider vs deployer</a:t>
            </a:r>
            <a:endParaRPr sz="1200" b="0" u="none">
              <a:solidFill>
                <a:srgbClr val="000000"/>
              </a:solidFill>
              <a:latin typeface="Arial"/>
              <a:ea typeface="Arial"/>
              <a:cs typeface="Arial"/>
            </a:endParaRPr>
          </a:p>
        </p:txBody>
      </p:sp>
      <p:sp>
        <p:nvSpPr>
          <p:cNvPr id="213" name="Shape 21">
            <a:extLst xmlns:a="http://schemas.openxmlformats.org/drawingml/2006/main">
              <a:ext uri="{FF2B5EF4-FFF2-40B4-BE49-F238E27FC236}">
                <a16:creationId xmlns:a16="http://schemas.microsoft.com/office/drawing/2014/main" id="{612E23E4-AB61-4840-9EC1-1E5C1F1B7BEB}"/>
              </a:ext>
            </a:extLst>
          </p:cNvPr>
          <p:cNvSpPr>
            <a:spLocks xmlns:a="http://schemas.openxmlformats.org/drawingml/2006/main" noGrp="1"/>
          </p:cNvSpPr>
          <p:nvPr/>
        </p:nvSpPr>
        <p:spPr>
          <a:xfrm xmlns:a="http://schemas.openxmlformats.org/drawingml/2006/main">
            <a:off x="6446520" y="426110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4" name="Text 22">
            <a:extLst xmlns:a="http://schemas.openxmlformats.org/drawingml/2006/main">
              <a:ext uri="{FF2B5EF4-FFF2-40B4-BE49-F238E27FC236}">
                <a16:creationId xmlns:a16="http://schemas.microsoft.com/office/drawing/2014/main" id="{979C9888-DF46-4225-90BC-23760AD0D020}"/>
              </a:ext>
            </a:extLst>
          </p:cNvPr>
          <p:cNvSpPr>
            <a:spLocks xmlns:a="http://schemas.openxmlformats.org/drawingml/2006/main" noGrp="1"/>
          </p:cNvSpPr>
          <p:nvPr/>
        </p:nvSpPr>
        <p:spPr>
          <a:xfrm xmlns:a="http://schemas.openxmlformats.org/drawingml/2006/main">
            <a:off x="9921240" y="428853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2000" b="1" u="none">
                <a:solidFill>
                  <a:srgbClr val="B45309"/>
                </a:solidFill>
                <a:latin typeface="Aptos Display"/>
                <a:ea typeface="Aptos Display"/>
                <a:cs typeface="Aptos Display"/>
              </a:rPr>
              <a:t>33%</a:t>
            </a:r>
            <a:endParaRPr sz="2700" b="0" u="none">
              <a:solidFill>
                <a:srgbClr val="000000"/>
              </a:solidFill>
              <a:latin typeface="Arial"/>
              <a:ea typeface="Arial"/>
              <a:cs typeface="Arial"/>
            </a:endParaRPr>
          </a:p>
        </p:txBody>
      </p:sp>
      <p:sp>
        <p:nvSpPr>
          <p:cNvPr id="215" name="Text 23">
            <a:extLst xmlns:a="http://schemas.openxmlformats.org/drawingml/2006/main">
              <a:ext uri="{FF2B5EF4-FFF2-40B4-BE49-F238E27FC236}">
                <a16:creationId xmlns:a16="http://schemas.microsoft.com/office/drawing/2014/main" id="{7780F269-F960-4E65-A61F-8069902E5080}"/>
              </a:ext>
            </a:extLst>
          </p:cNvPr>
          <p:cNvSpPr>
            <a:spLocks xmlns:a="http://schemas.openxmlformats.org/drawingml/2006/main" noGrp="1"/>
          </p:cNvSpPr>
          <p:nvPr/>
        </p:nvSpPr>
        <p:spPr>
          <a:xfrm xmlns:a="http://schemas.openxmlformats.org/drawingml/2006/main">
            <a:off x="6647688" y="434340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Claimed use without proof</a:t>
            </a:r>
            <a:endParaRPr sz="1500" b="0" u="none">
              <a:solidFill>
                <a:srgbClr val="000000"/>
              </a:solidFill>
              <a:latin typeface="Arial"/>
              <a:ea typeface="Arial"/>
              <a:cs typeface="Arial"/>
            </a:endParaRPr>
          </a:p>
        </p:txBody>
      </p:sp>
      <p:sp>
        <p:nvSpPr>
          <p:cNvPr id="216" name="Text 24">
            <a:extLst xmlns:a="http://schemas.openxmlformats.org/drawingml/2006/main">
              <a:ext uri="{FF2B5EF4-FFF2-40B4-BE49-F238E27FC236}">
                <a16:creationId xmlns:a16="http://schemas.microsoft.com/office/drawing/2014/main" id="{FC47EF03-61B4-49CB-AE05-4DA53320EB08}"/>
              </a:ext>
            </a:extLst>
          </p:cNvPr>
          <p:cNvSpPr>
            <a:spLocks xmlns:a="http://schemas.openxmlformats.org/drawingml/2006/main" noGrp="1"/>
          </p:cNvSpPr>
          <p:nvPr/>
        </p:nvSpPr>
        <p:spPr>
          <a:xfrm xmlns:a="http://schemas.openxmlformats.org/drawingml/2006/main">
            <a:off x="6647688" y="4919472"/>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limit 10%   ·   lower is better</a:t>
            </a:r>
            <a:endParaRPr sz="1200" b="0" u="none">
              <a:solidFill>
                <a:srgbClr val="000000"/>
              </a:solidFill>
              <a:latin typeface="Arial"/>
              <a:ea typeface="Arial"/>
              <a:cs typeface="Arial"/>
            </a:endParaRPr>
          </a:p>
        </p:txBody>
      </p:sp>
      <p:sp>
        <p:nvSpPr>
          <p:cNvPr id="217" name="Shape 25">
            <a:extLst xmlns:a="http://schemas.openxmlformats.org/drawingml/2006/main">
              <a:ext uri="{FF2B5EF4-FFF2-40B4-BE49-F238E27FC236}">
                <a16:creationId xmlns:a16="http://schemas.microsoft.com/office/drawing/2014/main" id="{6049E9B7-C302-47A3-A59F-7D688BDECAB6}"/>
              </a:ext>
            </a:extLst>
          </p:cNvPr>
          <p:cNvSpPr>
            <a:spLocks xmlns:a="http://schemas.openxmlformats.org/drawingml/2006/main" noGrp="1"/>
          </p:cNvSpPr>
          <p:nvPr/>
        </p:nvSpPr>
        <p:spPr>
          <a:xfrm xmlns:a="http://schemas.openxmlformats.org/drawingml/2006/main">
            <a:off x="749808" y="5449824"/>
            <a:ext cx="10634472" cy="731520"/>
          </a:xfrm>
          <a:prstGeom xmlns:a="http://schemas.openxmlformats.org/drawingml/2006/main" prst="roundRect">
            <a:avLst>
              <a:gd name="adj" fmla="val 13158"/>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8" name="Text 26">
            <a:extLst xmlns:a="http://schemas.openxmlformats.org/drawingml/2006/main">
              <a:ext uri="{FF2B5EF4-FFF2-40B4-BE49-F238E27FC236}">
                <a16:creationId xmlns:a16="http://schemas.microsoft.com/office/drawing/2014/main" id="{4C09B2C6-BD0C-4FF3-8140-A0446743FC45}"/>
              </a:ext>
            </a:extLst>
          </p:cNvPr>
          <p:cNvSpPr>
            <a:spLocks xmlns:a="http://schemas.openxmlformats.org/drawingml/2006/main" noGrp="1"/>
          </p:cNvSpPr>
          <p:nvPr/>
        </p:nvSpPr>
        <p:spPr>
          <a:xfrm xmlns:a="http://schemas.openxmlformats.org/drawingml/2006/main">
            <a:off x="987552" y="5577840"/>
            <a:ext cx="2926080" cy="20116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000" b="1" u="none" spc="99">
                <a:solidFill>
                  <a:srgbClr val="B45309"/>
                </a:solidFill>
                <a:latin typeface="Aptos"/>
                <a:ea typeface="Aptos"/>
                <a:cs typeface="Aptos"/>
              </a:rPr>
              <a:t>SAME CODE, TWO ANSWERS</a:t>
            </a:r>
            <a:endParaRPr sz="1050" b="0" u="none">
              <a:solidFill>
                <a:srgbClr val="000000"/>
              </a:solidFill>
              <a:latin typeface="Arial"/>
              <a:ea typeface="Arial"/>
              <a:cs typeface="Arial"/>
            </a:endParaRPr>
          </a:p>
        </p:txBody>
      </p:sp>
      <p:sp>
        <p:nvSpPr>
          <p:cNvPr id="219" name="Text 27">
            <a:extLst xmlns:a="http://schemas.openxmlformats.org/drawingml/2006/main">
              <a:ext uri="{FF2B5EF4-FFF2-40B4-BE49-F238E27FC236}">
                <a16:creationId xmlns:a16="http://schemas.microsoft.com/office/drawing/2014/main" id="{BE224489-3823-4A86-A978-5C3DDA20F7C3}"/>
              </a:ext>
            </a:extLst>
          </p:cNvPr>
          <p:cNvSpPr>
            <a:spLocks xmlns:a="http://schemas.openxmlformats.org/drawingml/2006/main" noGrp="1"/>
          </p:cNvSpPr>
          <p:nvPr/>
        </p:nvSpPr>
        <p:spPr>
          <a:xfrm xmlns:a="http://schemas.openxmlformats.org/drawingml/2006/main">
            <a:off x="987552" y="5797296"/>
            <a:ext cx="3108960"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50" b="1" u="none">
                <a:solidFill>
                  <a:srgbClr val="0B1020"/>
                </a:solidFill>
                <a:latin typeface="Aptos Display"/>
                <a:ea typeface="Aptos Display"/>
                <a:cs typeface="Aptos Display"/>
              </a:rPr>
              <a:t>Systems found: 56% → 44%</a:t>
            </a:r>
            <a:endParaRPr sz="1800" b="0" u="none">
              <a:solidFill>
                <a:srgbClr val="000000"/>
              </a:solidFill>
              <a:latin typeface="Arial"/>
              <a:ea typeface="Arial"/>
              <a:cs typeface="Arial"/>
            </a:endParaRPr>
          </a:p>
        </p:txBody>
      </p:sp>
      <p:sp>
        <p:nvSpPr>
          <p:cNvPr id="220" name="Shape 28">
            <a:extLst xmlns:a="http://schemas.openxmlformats.org/drawingml/2006/main">
              <a:ext uri="{FF2B5EF4-FFF2-40B4-BE49-F238E27FC236}">
                <a16:creationId xmlns:a16="http://schemas.microsoft.com/office/drawing/2014/main" id="{B1FDB213-06E0-4DD2-A976-4519115FE18F}"/>
              </a:ext>
            </a:extLst>
          </p:cNvPr>
          <p:cNvSpPr>
            <a:spLocks xmlns:a="http://schemas.openxmlformats.org/drawingml/2006/main" noGrp="1"/>
          </p:cNvSpPr>
          <p:nvPr/>
        </p:nvSpPr>
        <p:spPr>
          <a:xfrm xmlns:a="http://schemas.openxmlformats.org/drawingml/2006/main">
            <a:off x="4315968" y="5614416"/>
            <a:ext cx="0" cy="402336"/>
          </a:xfrm>
          <a:prstGeom xmlns:a="http://schemas.openxmlformats.org/drawingml/2006/main" prst="line">
            <a:avLst/>
          </a:prstGeom>
          <a:ln xmlns:a="http://schemas.openxmlformats.org/drawingml/2006/main" w="3175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2" name="Text 30">
            <a:extLst xmlns:a="http://schemas.openxmlformats.org/drawingml/2006/main">
              <a:ext uri="{FF2B5EF4-FFF2-40B4-BE49-F238E27FC236}">
                <a16:creationId xmlns:a16="http://schemas.microsoft.com/office/drawing/2014/main" id="{1D95A243-1684-425D-9F32-ED7B214EAACD}"/>
              </a:ext>
            </a:extLst>
          </p:cNvPr>
          <p:cNvSpPr>
            <a:spLocks xmlns:a="http://schemas.openxmlformats.org/drawingml/2006/main" noGrp="1"/>
          </p:cNvSpPr>
          <p:nvPr/>
        </p:nvSpPr>
        <p:spPr>
          <a:xfrm xmlns:a="http://schemas.openxmlformats.org/drawingml/2006/main">
            <a:off x="4590288" y="5541264"/>
            <a:ext cx="6611112" cy="56692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l" defTabSz="914400">
              <a:lnSpc>
                <a:spcPct val="100000"/>
              </a:lnSpc>
              <a:buNone/>
              <a:tabLst>
                <a:tab pos="0" algn="l"/>
              </a:tabLst>
            </a:pPr>
            <a:r>
              <a:rPr sz="1350" b="1" u="none">
                <a:solidFill>
                  <a:srgbClr val="0B1020"/>
                </a:solidFill>
                <a:latin typeface="Aptos"/>
                <a:ea typeface="Aptos"/>
                <a:cs typeface="Aptos"/>
              </a:rPr>
              <a:t>One run cannot prove an improvement. The honesty controls are worth quoting because they never moved.</a:t>
            </a:r>
            <a:endParaRPr sz="1400" b="0" u="none">
              <a:solidFill>
                <a:srgbClr val="000000"/>
              </a:solidFill>
              <a:latin typeface="Arial"/>
              <a:ea typeface="Arial"/>
              <a:cs typeface="Arial"/>
            </a:endParaRPr>
          </a:p>
        </p:txBody>
      </p:sp>
      <p:sp>
        <p:nvSpPr>
          <p:cNvPr id="223" name="Text 31">
            <a:extLst xmlns:a="http://schemas.openxmlformats.org/drawingml/2006/main">
              <a:ext uri="{FF2B5EF4-FFF2-40B4-BE49-F238E27FC236}">
                <a16:creationId xmlns:a16="http://schemas.microsoft.com/office/drawing/2014/main" id="{C2FCF663-4561-4B33-8A1D-D78276D7568E}"/>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EVALUATION</a:t>
            </a:r>
            <a:endParaRPr sz="900" b="0" u="none">
              <a:solidFill>
                <a:srgbClr val="000000"/>
              </a:solidFill>
              <a:latin typeface="Arial"/>
              <a:ea typeface="Arial"/>
              <a:cs typeface="Arial"/>
            </a:endParaRPr>
          </a:p>
        </p:txBody>
      </p:sp>
      <p:sp>
        <p:nvSpPr>
          <p:cNvPr id="224" name="PlaceHolder 1">
            <a:extLst xmlns:a="http://schemas.openxmlformats.org/drawingml/2006/main">
              <a:ext uri="{FF2B5EF4-FFF2-40B4-BE49-F238E27FC236}">
                <a16:creationId xmlns:a16="http://schemas.microsoft.com/office/drawing/2014/main" id="{8A0B43A9-585F-428E-BB9F-5CEDFC03C9A5}"/>
              </a:ext>
            </a:extLst>
          </p:cNvPr>
          <p:cNvSpPr>
            <a:spLocks xmlns:a="http://schemas.openxmlformats.org/drawingml/2006/main" noGrp="1"/>
          </p:cNvSpPr>
          <p:nvPr>
            <p:ph type="sldNum" idx="12"/>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BA58DA2A-B818-18A9-29C1-B697728D5BCE}" type="slidenum">
              <a:rPr sz="900" b="0" u="none">
                <a:solidFill>
                  <a:srgbClr val="94A3B8"/>
                </a:solidFill>
                <a:latin typeface="Aptos"/>
                <a:ea typeface="Aptos"/>
                <a:cs typeface="Aptos"/>
              </a:rPr>
              <a:t>8</a:t>
            </a:fld>
            <a:endParaRPr sz="900" b="0" u="none">
              <a:solidFill>
                <a:srgbClr val="000000"/>
              </a:solidFill>
              <a:latin typeface="Times New Roman"/>
              <a:ea typeface="Times New Roman"/>
              <a:cs typeface="Times New Roman"/>
            </a:endParaRPr>
          </a:p>
        </p:txBody>
      </p:sp>
      <p:sp>
        <p:nvSpPr>
          <p:cNvPr id="777" name="Text Context">
            <a:extLst xmlns:a="http://schemas.openxmlformats.org/drawingml/2006/main">
              <a:ext uri="{FF2B5EF4-FFF2-40B4-BE49-F238E27FC236}">
                <a16:creationId xmlns:a16="http://schemas.microsoft.com/office/drawing/2014/main" id="{B95A86C9-23CF-4478-9CF6-45E3A00E1B70}"/>
              </a:ext>
            </a:extLst>
          </p:cNvPr>
          <p:cNvSpPr>
            <a:spLocks xmlns:a="http://schemas.openxmlformats.org/drawingml/2006/main" noGrp="1"/>
          </p:cNvSpPr>
          <p:nvPr/>
        </p:nvSpPr>
        <p:spPr>
          <a:xfrm xmlns:a="http://schemas.openxmlformats.org/drawingml/2006/main">
            <a:off x="749808" y="1591056"/>
            <a:ext cx="10634472"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l" defTabSz="914400">
              <a:lnSpc>
                <a:spcPct val="100000"/>
              </a:lnSpc>
              <a:buNone/>
              <a:tabLst>
                <a:tab pos="0" algn="l"/>
              </a:tabLst>
            </a:pPr>
            <a:r>
              <a:rPr sz="1100" b="0" u="none" spc="119">
                <a:solidFill>
                  <a:srgbClr val="64748B"/>
                </a:solidFill>
                <a:latin typeface="Aptos"/>
                <a:ea typeface="Aptos"/>
                <a:cs typeface="Aptos"/>
              </a:rPr>
              <a:t>Tested against 12 companies with known answers — including 3 with no public AI footprint</a:t>
            </a:r>
            <a:endParaRPr sz="1100" b="0" u="none">
              <a:solidFill>
                <a:srgbClr val="000000"/>
              </a:solidFill>
              <a:latin typeface="Arial"/>
              <a:ea typeface="Arial"/>
              <a:cs typeface="Arial"/>
            </a:endParaRPr>
          </a:p>
        </p:txBody>
      </p:sp>
      <p:sp>
        <p:nvSpPr>
          <p:cNvPr id="778" name="Rounded Rectangle 777">
            <a:extLst xmlns:a="http://schemas.openxmlformats.org/drawingml/2006/main">
              <a:ext uri="{FF2B5EF4-FFF2-40B4-BE49-F238E27FC236}">
                <a16:creationId xmlns:a16="http://schemas.microsoft.com/office/drawing/2014/main" id="{3FF65F1F-F246-4C7E-9DB8-AB9501227147}"/>
              </a:ext>
            </a:extLst>
          </p:cNvPr>
          <p:cNvSpPr>
            <a:spLocks xmlns:a="http://schemas.openxmlformats.org/drawingml/2006/main" noGrp="1"/>
          </p:cNvSpPr>
          <p:nvPr/>
        </p:nvSpPr>
        <p:spPr>
          <a:xfrm xmlns:a="http://schemas.openxmlformats.org/drawingml/2006/main">
            <a:off x="6647688" y="2706624"/>
            <a:ext cx="4535424" cy="128016"/>
          </a:xfrm>
          <a:prstGeom xmlns:a="http://schemas.openxmlformats.org/drawingml/2006/main" prst="roundRect">
            <a:avLst>
              <a:gd name="adj" fmla="val 50000"/>
            </a:avLst>
          </a:prstGeom>
          <a:solidFill xmlns:a="http://schemas.openxmlformats.org/drawingml/2006/main">
            <a:srgbClr val="F3D9B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79" name="Rounded Rectangle 778">
            <a:extLst xmlns:a="http://schemas.openxmlformats.org/drawingml/2006/main">
              <a:ext uri="{FF2B5EF4-FFF2-40B4-BE49-F238E27FC236}">
                <a16:creationId xmlns:a16="http://schemas.microsoft.com/office/drawing/2014/main" id="{8D1B59A7-AE1A-4296-B29B-11851FD43371}"/>
              </a:ext>
            </a:extLst>
          </p:cNvPr>
          <p:cNvSpPr>
            <a:spLocks xmlns:a="http://schemas.openxmlformats.org/drawingml/2006/main" noGrp="1"/>
          </p:cNvSpPr>
          <p:nvPr/>
        </p:nvSpPr>
        <p:spPr>
          <a:xfrm xmlns:a="http://schemas.openxmlformats.org/drawingml/2006/main">
            <a:off x="6647688" y="2706624"/>
            <a:ext cx="2013728" cy="128016"/>
          </a:xfrm>
          <a:prstGeom xmlns:a="http://schemas.openxmlformats.org/drawingml/2006/main" prst="roundRect">
            <a:avLst>
              <a:gd name="adj" fmla="val 50000"/>
            </a:avLst>
          </a:prstGeom>
          <a:solidFill xmlns:a="http://schemas.openxmlformats.org/drawingml/2006/main">
            <a:srgbClr val="B4530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0" name="Rectangle 779">
            <a:extLst xmlns:a="http://schemas.openxmlformats.org/drawingml/2006/main">
              <a:ext uri="{FF2B5EF4-FFF2-40B4-BE49-F238E27FC236}">
                <a16:creationId xmlns:a16="http://schemas.microsoft.com/office/drawing/2014/main" id="{12ECBF05-95A9-46DA-8C70-CFE185A7EDC8}"/>
              </a:ext>
            </a:extLst>
          </p:cNvPr>
          <p:cNvSpPr>
            <a:spLocks xmlns:a="http://schemas.openxmlformats.org/drawingml/2006/main" noGrp="1"/>
          </p:cNvSpPr>
          <p:nvPr/>
        </p:nvSpPr>
        <p:spPr>
          <a:xfrm xmlns:a="http://schemas.openxmlformats.org/drawingml/2006/main">
            <a:off x="10035539" y="2642616"/>
            <a:ext cx="27432" cy="256032"/>
          </a:xfrm>
          <a:prstGeom xmlns:a="http://schemas.openxmlformats.org/drawingml/2006/main" prst="rect">
            <a:avLst/>
          </a:prstGeom>
          <a:solidFill xmlns:a="http://schemas.openxmlformats.org/drawingml/2006/main">
            <a:srgbClr val="0B102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1" name="Rounded Rectangle 780">
            <a:extLst xmlns:a="http://schemas.openxmlformats.org/drawingml/2006/main">
              <a:ext uri="{FF2B5EF4-FFF2-40B4-BE49-F238E27FC236}">
                <a16:creationId xmlns:a16="http://schemas.microsoft.com/office/drawing/2014/main" id="{3D7251BA-EC82-4B04-8C05-6193DE487152}"/>
              </a:ext>
            </a:extLst>
          </p:cNvPr>
          <p:cNvSpPr>
            <a:spLocks xmlns:a="http://schemas.openxmlformats.org/drawingml/2006/main" noGrp="1"/>
          </p:cNvSpPr>
          <p:nvPr/>
        </p:nvSpPr>
        <p:spPr>
          <a:xfrm xmlns:a="http://schemas.openxmlformats.org/drawingml/2006/main">
            <a:off x="6647688" y="3712464"/>
            <a:ext cx="4535424" cy="128016"/>
          </a:xfrm>
          <a:prstGeom xmlns:a="http://schemas.openxmlformats.org/drawingml/2006/main" prst="roundRect">
            <a:avLst>
              <a:gd name="adj" fmla="val 50000"/>
            </a:avLst>
          </a:prstGeom>
          <a:solidFill xmlns:a="http://schemas.openxmlformats.org/drawingml/2006/main">
            <a:srgbClr val="F3D9B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2" name="Rounded Rectangle 781">
            <a:extLst xmlns:a="http://schemas.openxmlformats.org/drawingml/2006/main">
              <a:ext uri="{FF2B5EF4-FFF2-40B4-BE49-F238E27FC236}">
                <a16:creationId xmlns:a16="http://schemas.microsoft.com/office/drawing/2014/main" id="{C3A69D42-4797-4EEC-A72C-98DABDF5A243}"/>
              </a:ext>
            </a:extLst>
          </p:cNvPr>
          <p:cNvSpPr>
            <a:spLocks xmlns:a="http://schemas.openxmlformats.org/drawingml/2006/main" noGrp="1"/>
          </p:cNvSpPr>
          <p:nvPr/>
        </p:nvSpPr>
        <p:spPr>
          <a:xfrm xmlns:a="http://schemas.openxmlformats.org/drawingml/2006/main">
            <a:off x="6647688" y="3712464"/>
            <a:ext cx="3351678" cy="128016"/>
          </a:xfrm>
          <a:prstGeom xmlns:a="http://schemas.openxmlformats.org/drawingml/2006/main" prst="roundRect">
            <a:avLst>
              <a:gd name="adj" fmla="val 50000"/>
            </a:avLst>
          </a:prstGeom>
          <a:solidFill xmlns:a="http://schemas.openxmlformats.org/drawingml/2006/main">
            <a:srgbClr val="B4530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3" name="Rectangle 782">
            <a:extLst xmlns:a="http://schemas.openxmlformats.org/drawingml/2006/main">
              <a:ext uri="{FF2B5EF4-FFF2-40B4-BE49-F238E27FC236}">
                <a16:creationId xmlns:a16="http://schemas.microsoft.com/office/drawing/2014/main" id="{1071C6EF-AFAE-4D6E-B5D8-846A60ACF94D}"/>
              </a:ext>
            </a:extLst>
          </p:cNvPr>
          <p:cNvSpPr>
            <a:spLocks xmlns:a="http://schemas.openxmlformats.org/drawingml/2006/main" noGrp="1"/>
          </p:cNvSpPr>
          <p:nvPr/>
        </p:nvSpPr>
        <p:spPr>
          <a:xfrm xmlns:a="http://schemas.openxmlformats.org/drawingml/2006/main">
            <a:off x="10715853" y="3648456"/>
            <a:ext cx="27432" cy="256032"/>
          </a:xfrm>
          <a:prstGeom xmlns:a="http://schemas.openxmlformats.org/drawingml/2006/main" prst="rect">
            <a:avLst/>
          </a:prstGeom>
          <a:solidFill xmlns:a="http://schemas.openxmlformats.org/drawingml/2006/main">
            <a:srgbClr val="0B102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4" name="Rounded Rectangle 783">
            <a:extLst xmlns:a="http://schemas.openxmlformats.org/drawingml/2006/main">
              <a:ext uri="{FF2B5EF4-FFF2-40B4-BE49-F238E27FC236}">
                <a16:creationId xmlns:a16="http://schemas.microsoft.com/office/drawing/2014/main" id="{7503D16D-8CD3-4371-AA47-0480691F8D53}"/>
              </a:ext>
            </a:extLst>
          </p:cNvPr>
          <p:cNvSpPr>
            <a:spLocks xmlns:a="http://schemas.openxmlformats.org/drawingml/2006/main" noGrp="1"/>
          </p:cNvSpPr>
          <p:nvPr/>
        </p:nvSpPr>
        <p:spPr>
          <a:xfrm xmlns:a="http://schemas.openxmlformats.org/drawingml/2006/main">
            <a:off x="6647688" y="4718304"/>
            <a:ext cx="4535424" cy="128016"/>
          </a:xfrm>
          <a:prstGeom xmlns:a="http://schemas.openxmlformats.org/drawingml/2006/main" prst="roundRect">
            <a:avLst>
              <a:gd name="adj" fmla="val 50000"/>
            </a:avLst>
          </a:prstGeom>
          <a:solidFill xmlns:a="http://schemas.openxmlformats.org/drawingml/2006/main">
            <a:srgbClr val="F3D9B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5" name="Rounded Rectangle 784">
            <a:extLst xmlns:a="http://schemas.openxmlformats.org/drawingml/2006/main">
              <a:ext uri="{FF2B5EF4-FFF2-40B4-BE49-F238E27FC236}">
                <a16:creationId xmlns:a16="http://schemas.microsoft.com/office/drawing/2014/main" id="{F0CC2C07-7414-4BE8-91AA-D9E94C76EAF1}"/>
              </a:ext>
            </a:extLst>
          </p:cNvPr>
          <p:cNvSpPr>
            <a:spLocks xmlns:a="http://schemas.openxmlformats.org/drawingml/2006/main" noGrp="1"/>
          </p:cNvSpPr>
          <p:nvPr/>
        </p:nvSpPr>
        <p:spPr>
          <a:xfrm xmlns:a="http://schemas.openxmlformats.org/drawingml/2006/main">
            <a:off x="6647688" y="4718304"/>
            <a:ext cx="1510296" cy="128016"/>
          </a:xfrm>
          <a:prstGeom xmlns:a="http://schemas.openxmlformats.org/drawingml/2006/main" prst="roundRect">
            <a:avLst>
              <a:gd name="adj" fmla="val 50000"/>
            </a:avLst>
          </a:prstGeom>
          <a:solidFill xmlns:a="http://schemas.openxmlformats.org/drawingml/2006/main">
            <a:srgbClr val="B4530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6" name="Rectangle 785">
            <a:extLst xmlns:a="http://schemas.openxmlformats.org/drawingml/2006/main">
              <a:ext uri="{FF2B5EF4-FFF2-40B4-BE49-F238E27FC236}">
                <a16:creationId xmlns:a16="http://schemas.microsoft.com/office/drawing/2014/main" id="{05035308-45E1-4C98-A2DB-239A9C34DC24}"/>
              </a:ext>
            </a:extLst>
          </p:cNvPr>
          <p:cNvSpPr>
            <a:spLocks xmlns:a="http://schemas.openxmlformats.org/drawingml/2006/main" noGrp="1"/>
          </p:cNvSpPr>
          <p:nvPr/>
        </p:nvSpPr>
        <p:spPr>
          <a:xfrm xmlns:a="http://schemas.openxmlformats.org/drawingml/2006/main">
            <a:off x="7087514" y="4654296"/>
            <a:ext cx="27432" cy="256032"/>
          </a:xfrm>
          <a:prstGeom xmlns:a="http://schemas.openxmlformats.org/drawingml/2006/main" prst="rect">
            <a:avLst/>
          </a:prstGeom>
          <a:solidFill xmlns:a="http://schemas.openxmlformats.org/drawingml/2006/main">
            <a:srgbClr val="0B102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extLst>
      <p:ext uri="{BB962C8B-B14F-4D97-AF65-F5344CB8AC3E}">
        <p14:creationId xmlns:p14="http://schemas.microsoft.com/office/powerpoint/2010/main" val="11901113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25" name="Text 0">
            <a:extLst xmlns:a="http://schemas.openxmlformats.org/drawingml/2006/main">
              <a:ext uri="{FF2B5EF4-FFF2-40B4-BE49-F238E27FC236}">
                <a16:creationId xmlns:a16="http://schemas.microsoft.com/office/drawing/2014/main" id="{FE84A012-AD9E-4777-B398-0CDD08F3E192}"/>
              </a:ext>
            </a:extLst>
          </p:cNvPr>
          <p:cNvSpPr>
            <a:spLocks xmlns:a="http://schemas.openxmlformats.org/drawingml/2006/main" noGrp="1"/>
          </p:cNvSpPr>
          <p:nvPr/>
        </p:nvSpPr>
        <p:spPr>
          <a:xfrm xmlns:a="http://schemas.openxmlformats.org/drawingml/2006/main">
            <a:off x="713232"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SCOPE</a:t>
            </a:r>
            <a:endParaRPr sz="1100" b="0" u="none">
              <a:solidFill>
                <a:srgbClr val="000000"/>
              </a:solidFill>
              <a:latin typeface="Arial"/>
              <a:ea typeface="Arial"/>
              <a:cs typeface="Arial"/>
            </a:endParaRPr>
          </a:p>
        </p:txBody>
      </p:sp>
      <p:sp>
        <p:nvSpPr>
          <p:cNvPr id="226" name="Text 1">
            <a:extLst xmlns:a="http://schemas.openxmlformats.org/drawingml/2006/main">
              <a:ext uri="{FF2B5EF4-FFF2-40B4-BE49-F238E27FC236}">
                <a16:creationId xmlns:a16="http://schemas.microsoft.com/office/drawing/2014/main" id="{2D8899FC-643B-439D-ADD1-173988E9E44C}"/>
              </a:ext>
            </a:extLst>
          </p:cNvPr>
          <p:cNvSpPr>
            <a:spLocks xmlns:a="http://schemas.openxmlformats.org/drawingml/2006/main" noGrp="1"/>
          </p:cNvSpPr>
          <p:nvPr/>
        </p:nvSpPr>
        <p:spPr>
          <a:xfrm xmlns:a="http://schemas.openxmlformats.org/drawingml/2006/main">
            <a:off x="713137" y="713137"/>
            <a:ext cx="10743819" cy="5715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19999"/>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Discovery finds facts; the checker applies the law</a:t>
            </a:r>
            <a:endParaRPr sz="3800" b="0" u="none">
              <a:solidFill>
                <a:srgbClr val="000000"/>
              </a:solidFill>
              <a:latin typeface="Arial"/>
              <a:ea typeface="Arial"/>
              <a:cs typeface="Arial"/>
            </a:endParaRPr>
          </a:p>
        </p:txBody>
      </p:sp>
      <p:sp>
        <p:nvSpPr>
          <p:cNvPr id="227" name="Shape 2">
            <a:extLst xmlns:a="http://schemas.openxmlformats.org/drawingml/2006/main">
              <a:ext uri="{FF2B5EF4-FFF2-40B4-BE49-F238E27FC236}">
                <a16:creationId xmlns:a16="http://schemas.microsoft.com/office/drawing/2014/main" id="{4C88A50C-CE58-4753-B410-8BCD1891D515}"/>
              </a:ext>
            </a:extLst>
          </p:cNvPr>
          <p:cNvSpPr>
            <a:spLocks xmlns:a="http://schemas.openxmlformats.org/drawingml/2006/main" noGrp="1"/>
          </p:cNvSpPr>
          <p:nvPr/>
        </p:nvSpPr>
        <p:spPr>
          <a:xfrm xmlns:a="http://schemas.openxmlformats.org/drawingml/2006/main">
            <a:off x="4974336" y="3456360"/>
            <a:ext cx="786383"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8" name="Shape 3">
            <a:extLst xmlns:a="http://schemas.openxmlformats.org/drawingml/2006/main">
              <a:ext uri="{FF2B5EF4-FFF2-40B4-BE49-F238E27FC236}">
                <a16:creationId xmlns:a16="http://schemas.microsoft.com/office/drawing/2014/main" id="{6326EB9D-61AF-4E15-8CFB-07CA482283B7}"/>
              </a:ext>
            </a:extLst>
          </p:cNvPr>
          <p:cNvSpPr>
            <a:spLocks xmlns:a="http://schemas.openxmlformats.org/drawingml/2006/main" noGrp="1"/>
          </p:cNvSpPr>
          <p:nvPr/>
        </p:nvSpPr>
        <p:spPr>
          <a:xfrm xmlns:a="http://schemas.openxmlformats.org/drawingml/2006/main">
            <a:off x="6345936" y="3456360"/>
            <a:ext cx="786383"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9" name="Shape 4">
            <a:extLst xmlns:a="http://schemas.openxmlformats.org/drawingml/2006/main">
              <a:ext uri="{FF2B5EF4-FFF2-40B4-BE49-F238E27FC236}">
                <a16:creationId xmlns:a16="http://schemas.microsoft.com/office/drawing/2014/main" id="{0A2276C7-2D87-4201-9A4C-C8FEE27F03E5}"/>
              </a:ext>
            </a:extLst>
          </p:cNvPr>
          <p:cNvSpPr>
            <a:spLocks xmlns:a="http://schemas.openxmlformats.org/drawingml/2006/main" noGrp="1"/>
          </p:cNvSpPr>
          <p:nvPr/>
        </p:nvSpPr>
        <p:spPr>
          <a:xfrm xmlns:a="http://schemas.openxmlformats.org/drawingml/2006/main">
            <a:off x="749880" y="1892880"/>
            <a:ext cx="4224240" cy="3309840"/>
          </a:xfrm>
          <a:prstGeom xmlns:a="http://schemas.openxmlformats.org/drawingml/2006/main" prst="roundRect">
            <a:avLst>
              <a:gd name="adj" fmla="val 4420"/>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30" name="Text 5">
            <a:extLst xmlns:a="http://schemas.openxmlformats.org/drawingml/2006/main">
              <a:ext uri="{FF2B5EF4-FFF2-40B4-BE49-F238E27FC236}">
                <a16:creationId xmlns:a16="http://schemas.microsoft.com/office/drawing/2014/main" id="{EBEAECA0-A8AA-4994-A82F-A8D6E9ECC4E7}"/>
              </a:ext>
            </a:extLst>
          </p:cNvPr>
          <p:cNvSpPr>
            <a:spLocks xmlns:a="http://schemas.openxmlformats.org/drawingml/2006/main" noGrp="1"/>
          </p:cNvSpPr>
          <p:nvPr/>
        </p:nvSpPr>
        <p:spPr>
          <a:xfrm xmlns:a="http://schemas.openxmlformats.org/drawingml/2006/main">
            <a:off x="1078920" y="2240280"/>
            <a:ext cx="191988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AI PRE-SCAN</a:t>
            </a:r>
            <a:endParaRPr sz="1100" b="0" u="none">
              <a:solidFill>
                <a:srgbClr val="000000"/>
              </a:solidFill>
              <a:latin typeface="Arial"/>
              <a:ea typeface="Arial"/>
              <a:cs typeface="Arial"/>
            </a:endParaRPr>
          </a:p>
        </p:txBody>
      </p:sp>
      <p:sp>
        <p:nvSpPr>
          <p:cNvPr id="231" name="Text 6">
            <a:extLst xmlns:a="http://schemas.openxmlformats.org/drawingml/2006/main">
              <a:ext uri="{FF2B5EF4-FFF2-40B4-BE49-F238E27FC236}">
                <a16:creationId xmlns:a16="http://schemas.microsoft.com/office/drawing/2014/main" id="{27F60434-0AB0-4D70-B071-2A94CED83BF6}"/>
              </a:ext>
            </a:extLst>
          </p:cNvPr>
          <p:cNvSpPr>
            <a:spLocks xmlns:a="http://schemas.openxmlformats.org/drawingml/2006/main" noGrp="1"/>
          </p:cNvSpPr>
          <p:nvPr/>
        </p:nvSpPr>
        <p:spPr>
          <a:xfrm xmlns:a="http://schemas.openxmlformats.org/drawingml/2006/main">
            <a:off x="1078920" y="2670120"/>
            <a:ext cx="3749039"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Establish the facts</a:t>
            </a:r>
            <a:endParaRPr sz="2700" b="0" u="none">
              <a:solidFill>
                <a:srgbClr val="000000"/>
              </a:solidFill>
              <a:latin typeface="Arial"/>
              <a:ea typeface="Arial"/>
              <a:cs typeface="Arial"/>
            </a:endParaRPr>
          </a:p>
        </p:txBody>
      </p:sp>
      <p:sp>
        <p:nvSpPr>
          <p:cNvPr id="232" name="Shape 7">
            <a:extLst xmlns:a="http://schemas.openxmlformats.org/drawingml/2006/main">
              <a:ext uri="{FF2B5EF4-FFF2-40B4-BE49-F238E27FC236}">
                <a16:creationId xmlns:a16="http://schemas.microsoft.com/office/drawing/2014/main" id="{7A47C345-683C-433F-A119-EE7C7B112BB5}"/>
              </a:ext>
            </a:extLst>
          </p:cNvPr>
          <p:cNvSpPr>
            <a:spLocks xmlns:a="http://schemas.openxmlformats.org/drawingml/2006/main" noGrp="1"/>
          </p:cNvSpPr>
          <p:nvPr/>
        </p:nvSpPr>
        <p:spPr>
          <a:xfrm xmlns:a="http://schemas.openxmlformats.org/drawingml/2006/main">
            <a:off x="1097280" y="33649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3" name="Text 8">
            <a:extLst xmlns:a="http://schemas.openxmlformats.org/drawingml/2006/main">
              <a:ext uri="{FF2B5EF4-FFF2-40B4-BE49-F238E27FC236}">
                <a16:creationId xmlns:a16="http://schemas.microsoft.com/office/drawing/2014/main" id="{62F51FF9-DBBE-4186-AD8A-2680DDAB95C7}"/>
              </a:ext>
            </a:extLst>
          </p:cNvPr>
          <p:cNvSpPr>
            <a:spLocks xmlns:a="http://schemas.openxmlformats.org/drawingml/2006/main" noGrp="1"/>
          </p:cNvSpPr>
          <p:nvPr/>
        </p:nvSpPr>
        <p:spPr>
          <a:xfrm xmlns:a="http://schemas.openxmlformats.org/drawingml/2006/main">
            <a:off x="138996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Possible systems</a:t>
            </a:r>
            <a:endParaRPr sz="1450" b="0" u="none">
              <a:solidFill>
                <a:srgbClr val="000000"/>
              </a:solidFill>
              <a:latin typeface="Arial"/>
              <a:ea typeface="Arial"/>
              <a:cs typeface="Arial"/>
            </a:endParaRPr>
          </a:p>
        </p:txBody>
      </p:sp>
      <p:sp>
        <p:nvSpPr>
          <p:cNvPr id="234" name="Shape 9">
            <a:extLst xmlns:a="http://schemas.openxmlformats.org/drawingml/2006/main">
              <a:ext uri="{FF2B5EF4-FFF2-40B4-BE49-F238E27FC236}">
                <a16:creationId xmlns:a16="http://schemas.microsoft.com/office/drawing/2014/main" id="{E4E87F43-583E-4CF3-A8DC-4EF4A4CA0A43}"/>
              </a:ext>
            </a:extLst>
          </p:cNvPr>
          <p:cNvSpPr>
            <a:spLocks xmlns:a="http://schemas.openxmlformats.org/drawingml/2006/main" noGrp="1"/>
          </p:cNvSpPr>
          <p:nvPr/>
        </p:nvSpPr>
        <p:spPr>
          <a:xfrm xmlns:a="http://schemas.openxmlformats.org/drawingml/2006/main">
            <a:off x="1097280" y="37580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5" name="Text 10">
            <a:extLst xmlns:a="http://schemas.openxmlformats.org/drawingml/2006/main">
              <a:ext uri="{FF2B5EF4-FFF2-40B4-BE49-F238E27FC236}">
                <a16:creationId xmlns:a16="http://schemas.microsoft.com/office/drawing/2014/main" id="{FAA99820-0616-4587-8C52-28E42C53C23A}"/>
              </a:ext>
            </a:extLst>
          </p:cNvPr>
          <p:cNvSpPr>
            <a:spLocks xmlns:a="http://schemas.openxmlformats.org/drawingml/2006/main" noGrp="1"/>
          </p:cNvSpPr>
          <p:nvPr/>
        </p:nvSpPr>
        <p:spPr>
          <a:xfrm xmlns:a="http://schemas.openxmlformats.org/drawingml/2006/main">
            <a:off x="138996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Exact quoted evidence</a:t>
            </a:r>
            <a:endParaRPr sz="1450" b="0" u="none">
              <a:solidFill>
                <a:srgbClr val="000000"/>
              </a:solidFill>
              <a:latin typeface="Arial"/>
              <a:ea typeface="Arial"/>
              <a:cs typeface="Arial"/>
            </a:endParaRPr>
          </a:p>
        </p:txBody>
      </p:sp>
      <p:sp>
        <p:nvSpPr>
          <p:cNvPr id="236" name="Shape 11">
            <a:extLst xmlns:a="http://schemas.openxmlformats.org/drawingml/2006/main">
              <a:ext uri="{FF2B5EF4-FFF2-40B4-BE49-F238E27FC236}">
                <a16:creationId xmlns:a16="http://schemas.microsoft.com/office/drawing/2014/main" id="{C6106C08-9CAC-485A-BA62-3739E08DCDE0}"/>
              </a:ext>
            </a:extLst>
          </p:cNvPr>
          <p:cNvSpPr>
            <a:spLocks xmlns:a="http://schemas.openxmlformats.org/drawingml/2006/main" noGrp="1"/>
          </p:cNvSpPr>
          <p:nvPr/>
        </p:nvSpPr>
        <p:spPr>
          <a:xfrm xmlns:a="http://schemas.openxmlformats.org/drawingml/2006/main">
            <a:off x="1097280" y="41515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7" name="Text 12">
            <a:extLst xmlns:a="http://schemas.openxmlformats.org/drawingml/2006/main">
              <a:ext uri="{FF2B5EF4-FFF2-40B4-BE49-F238E27FC236}">
                <a16:creationId xmlns:a16="http://schemas.microsoft.com/office/drawing/2014/main" id="{66E3F9CA-6DE5-4355-9DDD-CF1B99861008}"/>
              </a:ext>
            </a:extLst>
          </p:cNvPr>
          <p:cNvSpPr>
            <a:spLocks xmlns:a="http://schemas.openxmlformats.org/drawingml/2006/main" noGrp="1"/>
          </p:cNvSpPr>
          <p:nvPr/>
        </p:nvSpPr>
        <p:spPr>
          <a:xfrm xmlns:a="http://schemas.openxmlformats.org/drawingml/2006/main">
            <a:off x="138996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Where every fact came from</a:t>
            </a:r>
            <a:endParaRPr sz="1450" b="0" u="none">
              <a:solidFill>
                <a:srgbClr val="000000"/>
              </a:solidFill>
              <a:latin typeface="Arial"/>
              <a:ea typeface="Arial"/>
              <a:cs typeface="Arial"/>
            </a:endParaRPr>
          </a:p>
        </p:txBody>
      </p:sp>
      <p:sp>
        <p:nvSpPr>
          <p:cNvPr id="238" name="Shape 13">
            <a:extLst xmlns:a="http://schemas.openxmlformats.org/drawingml/2006/main">
              <a:ext uri="{FF2B5EF4-FFF2-40B4-BE49-F238E27FC236}">
                <a16:creationId xmlns:a16="http://schemas.microsoft.com/office/drawing/2014/main" id="{6C4404D9-ACEA-417F-B32C-71802B614B7B}"/>
              </a:ext>
            </a:extLst>
          </p:cNvPr>
          <p:cNvSpPr>
            <a:spLocks xmlns:a="http://schemas.openxmlformats.org/drawingml/2006/main" noGrp="1"/>
          </p:cNvSpPr>
          <p:nvPr/>
        </p:nvSpPr>
        <p:spPr>
          <a:xfrm xmlns:a="http://schemas.openxmlformats.org/drawingml/2006/main">
            <a:off x="1097280" y="45446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9" name="Text 14">
            <a:extLst xmlns:a="http://schemas.openxmlformats.org/drawingml/2006/main">
              <a:ext uri="{FF2B5EF4-FFF2-40B4-BE49-F238E27FC236}">
                <a16:creationId xmlns:a16="http://schemas.microsoft.com/office/drawing/2014/main" id="{F45F05F5-F6AA-4B7F-8F6C-59648FAB94BA}"/>
              </a:ext>
            </a:extLst>
          </p:cNvPr>
          <p:cNvSpPr>
            <a:spLocks xmlns:a="http://schemas.openxmlformats.org/drawingml/2006/main" noGrp="1"/>
          </p:cNvSpPr>
          <p:nvPr/>
        </p:nvSpPr>
        <p:spPr>
          <a:xfrm xmlns:a="http://schemas.openxmlformats.org/drawingml/2006/main">
            <a:off x="138996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Unresolved questions</a:t>
            </a:r>
            <a:endParaRPr sz="1450" b="0" u="none">
              <a:solidFill>
                <a:srgbClr val="000000"/>
              </a:solidFill>
              <a:latin typeface="Arial"/>
              <a:ea typeface="Arial"/>
              <a:cs typeface="Arial"/>
            </a:endParaRPr>
          </a:p>
        </p:txBody>
      </p:sp>
      <p:sp>
        <p:nvSpPr>
          <p:cNvPr id="240" name="Shape 15">
            <a:extLst xmlns:a="http://schemas.openxmlformats.org/drawingml/2006/main">
              <a:ext uri="{FF2B5EF4-FFF2-40B4-BE49-F238E27FC236}">
                <a16:creationId xmlns:a16="http://schemas.microsoft.com/office/drawing/2014/main" id="{B6D66E97-82DC-4F99-9ADB-A530B26217CD}"/>
              </a:ext>
            </a:extLst>
          </p:cNvPr>
          <p:cNvSpPr>
            <a:spLocks xmlns:a="http://schemas.openxmlformats.org/drawingml/2006/main" noGrp="1"/>
          </p:cNvSpPr>
          <p:nvPr/>
        </p:nvSpPr>
        <p:spPr>
          <a:xfrm xmlns:a="http://schemas.openxmlformats.org/drawingml/2006/main">
            <a:off x="5760720" y="3136320"/>
            <a:ext cx="585000" cy="585000"/>
          </a:xfrm>
          <a:prstGeom xmlns:a="http://schemas.openxmlformats.org/drawingml/2006/main" prst="ellipse">
            <a:avLst/>
          </a:prstGeom>
          <a:solidFill xmlns:a="http://schemas.openxmlformats.org/drawingml/2006/main">
            <a:srgbClr val="FFFFFF"/>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1" name="Text 16">
            <a:extLst xmlns:a="http://schemas.openxmlformats.org/drawingml/2006/main">
              <a:ext uri="{FF2B5EF4-FFF2-40B4-BE49-F238E27FC236}">
                <a16:creationId xmlns:a16="http://schemas.microsoft.com/office/drawing/2014/main" id="{F7FFCB3C-9BB5-48F2-8911-40684D53A3B9}"/>
              </a:ext>
            </a:extLst>
          </p:cNvPr>
          <p:cNvSpPr>
            <a:spLocks xmlns:a="http://schemas.openxmlformats.org/drawingml/2006/main" noGrp="1"/>
          </p:cNvSpPr>
          <p:nvPr/>
        </p:nvSpPr>
        <p:spPr>
          <a:xfrm xmlns:a="http://schemas.openxmlformats.org/drawingml/2006/main">
            <a:off x="5532120" y="3831480"/>
            <a:ext cx="104220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HUMAN</a:t>
            </a:r>
            <a:endParaRPr sz="1050" b="0" u="none">
              <a:solidFill>
                <a:srgbClr val="000000"/>
              </a:solidFill>
              <a:latin typeface="Arial"/>
              <a:ea typeface="Arial"/>
              <a:cs typeface="Arial"/>
            </a:endParaRPr>
          </a:p>
        </p:txBody>
      </p:sp>
      <p:sp>
        <p:nvSpPr>
          <p:cNvPr id="242" name="Text 17">
            <a:extLst xmlns:a="http://schemas.openxmlformats.org/drawingml/2006/main">
              <a:ext uri="{FF2B5EF4-FFF2-40B4-BE49-F238E27FC236}">
                <a16:creationId xmlns:a16="http://schemas.microsoft.com/office/drawing/2014/main" id="{185837D8-05FB-447B-9912-019505D0DAD3}"/>
              </a:ext>
            </a:extLst>
          </p:cNvPr>
          <p:cNvSpPr>
            <a:spLocks xmlns:a="http://schemas.openxmlformats.org/drawingml/2006/main" noGrp="1"/>
          </p:cNvSpPr>
          <p:nvPr/>
        </p:nvSpPr>
        <p:spPr>
          <a:xfrm xmlns:a="http://schemas.openxmlformats.org/drawingml/2006/main">
            <a:off x="5532120" y="4078080"/>
            <a:ext cx="10422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REVIEW</a:t>
            </a:r>
            <a:endParaRPr sz="1050" b="0" u="none">
              <a:solidFill>
                <a:srgbClr val="000000"/>
              </a:solidFill>
              <a:latin typeface="Arial"/>
              <a:ea typeface="Arial"/>
              <a:cs typeface="Arial"/>
            </a:endParaRPr>
          </a:p>
        </p:txBody>
      </p:sp>
      <p:sp>
        <p:nvSpPr>
          <p:cNvPr id="243" name="Shape 18">
            <a:extLst xmlns:a="http://schemas.openxmlformats.org/drawingml/2006/main">
              <a:ext uri="{FF2B5EF4-FFF2-40B4-BE49-F238E27FC236}">
                <a16:creationId xmlns:a16="http://schemas.microsoft.com/office/drawing/2014/main" id="{2C9B8C63-54C6-4397-B9B6-9F30BFEC55CD}"/>
              </a:ext>
            </a:extLst>
          </p:cNvPr>
          <p:cNvSpPr>
            <a:spLocks xmlns:a="http://schemas.openxmlformats.org/drawingml/2006/main" noGrp="1"/>
          </p:cNvSpPr>
          <p:nvPr/>
        </p:nvSpPr>
        <p:spPr>
          <a:xfrm xmlns:a="http://schemas.openxmlformats.org/drawingml/2006/main">
            <a:off x="7132320" y="1892880"/>
            <a:ext cx="4251600" cy="3309840"/>
          </a:xfrm>
          <a:prstGeom xmlns:a="http://schemas.openxmlformats.org/drawingml/2006/main" prst="roundRect">
            <a:avLst>
              <a:gd name="adj" fmla="val 4420"/>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4" name="Text 19">
            <a:extLst xmlns:a="http://schemas.openxmlformats.org/drawingml/2006/main">
              <a:ext uri="{FF2B5EF4-FFF2-40B4-BE49-F238E27FC236}">
                <a16:creationId xmlns:a16="http://schemas.microsoft.com/office/drawing/2014/main" id="{92E944D8-8286-4FAE-A8EF-88616127027F}"/>
              </a:ext>
            </a:extLst>
          </p:cNvPr>
          <p:cNvSpPr>
            <a:spLocks xmlns:a="http://schemas.openxmlformats.org/drawingml/2006/main" noGrp="1"/>
          </p:cNvSpPr>
          <p:nvPr/>
        </p:nvSpPr>
        <p:spPr>
          <a:xfrm xmlns:a="http://schemas.openxmlformats.org/drawingml/2006/main">
            <a:off x="7461360" y="2240280"/>
            <a:ext cx="251424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DETERMINISTIC CHECKER</a:t>
            </a:r>
            <a:endParaRPr sz="1100" b="0" u="none">
              <a:solidFill>
                <a:srgbClr val="000000"/>
              </a:solidFill>
              <a:latin typeface="Arial"/>
              <a:ea typeface="Arial"/>
              <a:cs typeface="Arial"/>
            </a:endParaRPr>
          </a:p>
        </p:txBody>
      </p:sp>
      <p:sp>
        <p:nvSpPr>
          <p:cNvPr id="245" name="Text 20">
            <a:extLst xmlns:a="http://schemas.openxmlformats.org/drawingml/2006/main">
              <a:ext uri="{FF2B5EF4-FFF2-40B4-BE49-F238E27FC236}">
                <a16:creationId xmlns:a16="http://schemas.microsoft.com/office/drawing/2014/main" id="{C238E7F4-CD09-4AA4-8590-2F2D2354609D}"/>
              </a:ext>
            </a:extLst>
          </p:cNvPr>
          <p:cNvSpPr>
            <a:spLocks xmlns:a="http://schemas.openxmlformats.org/drawingml/2006/main" noGrp="1"/>
          </p:cNvSpPr>
          <p:nvPr/>
        </p:nvSpPr>
        <p:spPr>
          <a:xfrm xmlns:a="http://schemas.openxmlformats.org/drawingml/2006/main">
            <a:off x="7461360" y="2670120"/>
            <a:ext cx="3749039"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Determine the law</a:t>
            </a:r>
            <a:endParaRPr sz="2700" b="0" u="none">
              <a:solidFill>
                <a:srgbClr val="000000"/>
              </a:solidFill>
              <a:latin typeface="Arial"/>
              <a:ea typeface="Arial"/>
              <a:cs typeface="Arial"/>
            </a:endParaRPr>
          </a:p>
        </p:txBody>
      </p:sp>
      <p:sp>
        <p:nvSpPr>
          <p:cNvPr id="246" name="Shape 21">
            <a:extLst xmlns:a="http://schemas.openxmlformats.org/drawingml/2006/main">
              <a:ext uri="{FF2B5EF4-FFF2-40B4-BE49-F238E27FC236}">
                <a16:creationId xmlns:a16="http://schemas.microsoft.com/office/drawing/2014/main" id="{340332C6-573A-4CF6-8D12-1BB9F1476100}"/>
              </a:ext>
            </a:extLst>
          </p:cNvPr>
          <p:cNvSpPr>
            <a:spLocks xmlns:a="http://schemas.openxmlformats.org/drawingml/2006/main" noGrp="1"/>
          </p:cNvSpPr>
          <p:nvPr/>
        </p:nvSpPr>
        <p:spPr>
          <a:xfrm xmlns:a="http://schemas.openxmlformats.org/drawingml/2006/main">
            <a:off x="7479720" y="33649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7" name="Text 22">
            <a:extLst xmlns:a="http://schemas.openxmlformats.org/drawingml/2006/main">
              <a:ext uri="{FF2B5EF4-FFF2-40B4-BE49-F238E27FC236}">
                <a16:creationId xmlns:a16="http://schemas.microsoft.com/office/drawing/2014/main" id="{43D30892-A717-4014-A01E-709CFC9D3156}"/>
              </a:ext>
            </a:extLst>
          </p:cNvPr>
          <p:cNvSpPr>
            <a:spLocks xmlns:a="http://schemas.openxmlformats.org/drawingml/2006/main" noGrp="1"/>
          </p:cNvSpPr>
          <p:nvPr/>
        </p:nvSpPr>
        <p:spPr>
          <a:xfrm xmlns:a="http://schemas.openxmlformats.org/drawingml/2006/main">
            <a:off x="777240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Confirm the facts</a:t>
            </a:r>
            <a:endParaRPr sz="1450" b="0" u="none">
              <a:solidFill>
                <a:srgbClr val="000000"/>
              </a:solidFill>
              <a:latin typeface="Arial"/>
              <a:ea typeface="Arial"/>
              <a:cs typeface="Arial"/>
            </a:endParaRPr>
          </a:p>
        </p:txBody>
      </p:sp>
      <p:sp>
        <p:nvSpPr>
          <p:cNvPr id="248" name="Shape 23">
            <a:extLst xmlns:a="http://schemas.openxmlformats.org/drawingml/2006/main">
              <a:ext uri="{FF2B5EF4-FFF2-40B4-BE49-F238E27FC236}">
                <a16:creationId xmlns:a16="http://schemas.microsoft.com/office/drawing/2014/main" id="{1A2A68BD-D836-46A1-9F83-210D88DB57C7}"/>
              </a:ext>
            </a:extLst>
          </p:cNvPr>
          <p:cNvSpPr>
            <a:spLocks xmlns:a="http://schemas.openxmlformats.org/drawingml/2006/main" noGrp="1"/>
          </p:cNvSpPr>
          <p:nvPr/>
        </p:nvSpPr>
        <p:spPr>
          <a:xfrm xmlns:a="http://schemas.openxmlformats.org/drawingml/2006/main">
            <a:off x="7479720" y="37580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9" name="Text 24">
            <a:extLst xmlns:a="http://schemas.openxmlformats.org/drawingml/2006/main">
              <a:ext uri="{FF2B5EF4-FFF2-40B4-BE49-F238E27FC236}">
                <a16:creationId xmlns:a16="http://schemas.microsoft.com/office/drawing/2014/main" id="{79251DEB-21A1-4AAE-90FB-6347080ADCC6}"/>
              </a:ext>
            </a:extLst>
          </p:cNvPr>
          <p:cNvSpPr>
            <a:spLocks xmlns:a="http://schemas.openxmlformats.org/drawingml/2006/main" noGrp="1"/>
          </p:cNvSpPr>
          <p:nvPr/>
        </p:nvSpPr>
        <p:spPr>
          <a:xfrm xmlns:a="http://schemas.openxmlformats.org/drawingml/2006/main">
            <a:off x="777240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Classify risk</a:t>
            </a:r>
            <a:endParaRPr sz="1450" b="0" u="none">
              <a:solidFill>
                <a:srgbClr val="000000"/>
              </a:solidFill>
              <a:latin typeface="Arial"/>
              <a:ea typeface="Arial"/>
              <a:cs typeface="Arial"/>
            </a:endParaRPr>
          </a:p>
        </p:txBody>
      </p:sp>
      <p:sp>
        <p:nvSpPr>
          <p:cNvPr id="250" name="Shape 25">
            <a:extLst xmlns:a="http://schemas.openxmlformats.org/drawingml/2006/main">
              <a:ext uri="{FF2B5EF4-FFF2-40B4-BE49-F238E27FC236}">
                <a16:creationId xmlns:a16="http://schemas.microsoft.com/office/drawing/2014/main" id="{F022F9A9-A6F0-4B05-A715-AD21011C9519}"/>
              </a:ext>
            </a:extLst>
          </p:cNvPr>
          <p:cNvSpPr>
            <a:spLocks xmlns:a="http://schemas.openxmlformats.org/drawingml/2006/main" noGrp="1"/>
          </p:cNvSpPr>
          <p:nvPr/>
        </p:nvSpPr>
        <p:spPr>
          <a:xfrm xmlns:a="http://schemas.openxmlformats.org/drawingml/2006/main">
            <a:off x="7479720" y="41515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1" name="Text 26">
            <a:extLst xmlns:a="http://schemas.openxmlformats.org/drawingml/2006/main">
              <a:ext uri="{FF2B5EF4-FFF2-40B4-BE49-F238E27FC236}">
                <a16:creationId xmlns:a16="http://schemas.microsoft.com/office/drawing/2014/main" id="{61A612F6-FF5D-4157-AB10-85D7676F0511}"/>
              </a:ext>
            </a:extLst>
          </p:cNvPr>
          <p:cNvSpPr>
            <a:spLocks xmlns:a="http://schemas.openxmlformats.org/drawingml/2006/main" noGrp="1"/>
          </p:cNvSpPr>
          <p:nvPr/>
        </p:nvSpPr>
        <p:spPr>
          <a:xfrm xmlns:a="http://schemas.openxmlformats.org/drawingml/2006/main">
            <a:off x="777240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Determine obligations</a:t>
            </a:r>
            <a:endParaRPr sz="1450" b="0" u="none">
              <a:solidFill>
                <a:srgbClr val="000000"/>
              </a:solidFill>
              <a:latin typeface="Arial"/>
              <a:ea typeface="Arial"/>
              <a:cs typeface="Arial"/>
            </a:endParaRPr>
          </a:p>
        </p:txBody>
      </p:sp>
      <p:sp>
        <p:nvSpPr>
          <p:cNvPr id="252" name="Shape 27">
            <a:extLst xmlns:a="http://schemas.openxmlformats.org/drawingml/2006/main">
              <a:ext uri="{FF2B5EF4-FFF2-40B4-BE49-F238E27FC236}">
                <a16:creationId xmlns:a16="http://schemas.microsoft.com/office/drawing/2014/main" id="{EEAC2EC9-1693-48A5-8C55-1D52396B156F}"/>
              </a:ext>
            </a:extLst>
          </p:cNvPr>
          <p:cNvSpPr>
            <a:spLocks xmlns:a="http://schemas.openxmlformats.org/drawingml/2006/main" noGrp="1"/>
          </p:cNvSpPr>
          <p:nvPr/>
        </p:nvSpPr>
        <p:spPr>
          <a:xfrm xmlns:a="http://schemas.openxmlformats.org/drawingml/2006/main">
            <a:off x="7479720" y="45446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3" name="Text 28">
            <a:extLst xmlns:a="http://schemas.openxmlformats.org/drawingml/2006/main">
              <a:ext uri="{FF2B5EF4-FFF2-40B4-BE49-F238E27FC236}">
                <a16:creationId xmlns:a16="http://schemas.microsoft.com/office/drawing/2014/main" id="{6753719E-65F6-4161-8ED1-F5D1144DFD4E}"/>
              </a:ext>
            </a:extLst>
          </p:cNvPr>
          <p:cNvSpPr>
            <a:spLocks xmlns:a="http://schemas.openxmlformats.org/drawingml/2006/main" noGrp="1"/>
          </p:cNvSpPr>
          <p:nvPr/>
        </p:nvSpPr>
        <p:spPr>
          <a:xfrm xmlns:a="http://schemas.openxmlformats.org/drawingml/2006/main">
            <a:off x="777240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Preserve legal accountability</a:t>
            </a:r>
            <a:endParaRPr sz="1450" b="0" u="none">
              <a:solidFill>
                <a:srgbClr val="000000"/>
              </a:solidFill>
              <a:latin typeface="Arial"/>
              <a:ea typeface="Arial"/>
              <a:cs typeface="Arial"/>
            </a:endParaRPr>
          </a:p>
        </p:txBody>
      </p:sp>
      <p:sp>
        <p:nvSpPr>
          <p:cNvPr id="254" name="Shape 29">
            <a:extLst xmlns:a="http://schemas.openxmlformats.org/drawingml/2006/main">
              <a:ext uri="{FF2B5EF4-FFF2-40B4-BE49-F238E27FC236}">
                <a16:creationId xmlns:a16="http://schemas.microsoft.com/office/drawing/2014/main" id="{0F8A7D1A-0CC4-4E3C-975C-4F17E640C72D}"/>
              </a:ext>
            </a:extLst>
          </p:cNvPr>
          <p:cNvSpPr>
            <a:spLocks xmlns:a="http://schemas.openxmlformats.org/drawingml/2006/main" noGrp="1"/>
          </p:cNvSpPr>
          <p:nvPr/>
        </p:nvSpPr>
        <p:spPr>
          <a:xfrm xmlns:a="http://schemas.openxmlformats.org/drawingml/2006/main">
            <a:off x="749880" y="5541120"/>
            <a:ext cx="10634040" cy="585000"/>
          </a:xfrm>
          <a:prstGeom xmlns:a="http://schemas.openxmlformats.org/drawingml/2006/main" prst="roundRect">
            <a:avLst>
              <a:gd name="adj" fmla="val 1562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55" name="Text 30">
            <a:extLst xmlns:a="http://schemas.openxmlformats.org/drawingml/2006/main">
              <a:ext uri="{FF2B5EF4-FFF2-40B4-BE49-F238E27FC236}">
                <a16:creationId xmlns:a16="http://schemas.microsoft.com/office/drawing/2014/main" id="{8D1E05C0-9AAF-4334-9B86-F553DAE585C8}"/>
              </a:ext>
            </a:extLst>
          </p:cNvPr>
          <p:cNvSpPr>
            <a:spLocks xmlns:a="http://schemas.openxmlformats.org/drawingml/2006/main" noGrp="1"/>
          </p:cNvSpPr>
          <p:nvPr/>
        </p:nvSpPr>
        <p:spPr>
          <a:xfrm xmlns:a="http://schemas.openxmlformats.org/drawingml/2006/main">
            <a:off x="987480" y="5733360"/>
            <a:ext cx="1334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NEVER CLAIMED</a:t>
            </a:r>
            <a:endParaRPr sz="1050" b="0" u="none">
              <a:solidFill>
                <a:srgbClr val="000000"/>
              </a:solidFill>
              <a:latin typeface="Arial"/>
              <a:ea typeface="Arial"/>
              <a:cs typeface="Arial"/>
            </a:endParaRPr>
          </a:p>
        </p:txBody>
      </p:sp>
      <p:sp>
        <p:nvSpPr>
          <p:cNvPr id="256" name="Text 31">
            <a:extLst xmlns:a="http://schemas.openxmlformats.org/drawingml/2006/main">
              <a:ext uri="{FF2B5EF4-FFF2-40B4-BE49-F238E27FC236}">
                <a16:creationId xmlns:a16="http://schemas.microsoft.com/office/drawing/2014/main" id="{6AF4350F-6A6C-4777-B567-E54797ABA89E}"/>
              </a:ext>
            </a:extLst>
          </p:cNvPr>
          <p:cNvSpPr>
            <a:spLocks xmlns:a="http://schemas.openxmlformats.org/drawingml/2006/main" noGrp="1"/>
          </p:cNvSpPr>
          <p:nvPr/>
        </p:nvSpPr>
        <p:spPr>
          <a:xfrm xmlns:a="http://schemas.openxmlformats.org/drawingml/2006/main">
            <a:off x="2505600" y="5687640"/>
            <a:ext cx="836640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400" b="1" u="none">
                <a:solidFill>
                  <a:srgbClr val="273244"/>
                </a:solidFill>
                <a:latin typeface="Aptos"/>
                <a:ea typeface="Aptos"/>
                <a:cs typeface="Aptos"/>
              </a:rPr>
              <a:t>complete internal visibility  •  legal advice  •  autonomous compliance decisions</a:t>
            </a:r>
            <a:endParaRPr sz="1400" b="0" u="none">
              <a:solidFill>
                <a:srgbClr val="000000"/>
              </a:solidFill>
              <a:latin typeface="Arial"/>
              <a:ea typeface="Arial"/>
              <a:cs typeface="Arial"/>
            </a:endParaRPr>
          </a:p>
        </p:txBody>
      </p:sp>
      <p:sp>
        <p:nvSpPr>
          <p:cNvPr id="257" name="Text 32">
            <a:extLst xmlns:a="http://schemas.openxmlformats.org/drawingml/2006/main">
              <a:ext uri="{FF2B5EF4-FFF2-40B4-BE49-F238E27FC236}">
                <a16:creationId xmlns:a16="http://schemas.microsoft.com/office/drawing/2014/main" id="{C172EFDA-B878-456D-9442-994166207527}"/>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SCOPE</a:t>
            </a:r>
            <a:endParaRPr sz="900" b="0" u="none">
              <a:solidFill>
                <a:srgbClr val="000000"/>
              </a:solidFill>
              <a:latin typeface="Arial"/>
              <a:ea typeface="Arial"/>
              <a:cs typeface="Arial"/>
            </a:endParaRPr>
          </a:p>
        </p:txBody>
      </p:sp>
      <p:sp>
        <p:nvSpPr>
          <p:cNvPr id="258" name="PlaceHolder 1">
            <a:extLst xmlns:a="http://schemas.openxmlformats.org/drawingml/2006/main">
              <a:ext uri="{FF2B5EF4-FFF2-40B4-BE49-F238E27FC236}">
                <a16:creationId xmlns:a16="http://schemas.microsoft.com/office/drawing/2014/main" id="{5BF07703-FA62-4737-AF0D-9CF738DA09DF}"/>
              </a:ext>
            </a:extLst>
          </p:cNvPr>
          <p:cNvSpPr>
            <a:spLocks xmlns:a="http://schemas.openxmlformats.org/drawingml/2006/main" noGrp="1"/>
          </p:cNvSpPr>
          <p:nvPr>
            <p:ph type="sldNum" idx="13"/>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388657AE-30A1-5A7A-6A7F-315D84436430}" type="slidenum">
              <a:rPr sz="900" b="0" u="none">
                <a:solidFill>
                  <a:srgbClr val="94A3B8"/>
                </a:solidFill>
                <a:latin typeface="Aptos"/>
                <a:ea typeface="Aptos"/>
                <a:cs typeface="Aptos"/>
              </a:rPr>
              <a:t>9</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47575036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59" name="Text 0">
            <a:extLst xmlns:a="http://schemas.openxmlformats.org/drawingml/2006/main">
              <a:ext uri="{FF2B5EF4-FFF2-40B4-BE49-F238E27FC236}">
                <a16:creationId xmlns:a16="http://schemas.microsoft.com/office/drawing/2014/main" id="{7C4AE6D1-77AB-4314-B324-B27D06A6A4F3}"/>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DELIVERY</a:t>
            </a:r>
            <a:endParaRPr sz="1100" b="0" u="none">
              <a:solidFill>
                <a:srgbClr val="000000"/>
              </a:solidFill>
              <a:latin typeface="Arial"/>
              <a:ea typeface="Arial"/>
              <a:cs typeface="Arial"/>
            </a:endParaRPr>
          </a:p>
        </p:txBody>
      </p:sp>
      <p:sp>
        <p:nvSpPr>
          <p:cNvPr id="260" name="Text 1">
            <a:extLst xmlns:a="http://schemas.openxmlformats.org/drawingml/2006/main">
              <a:ext uri="{FF2B5EF4-FFF2-40B4-BE49-F238E27FC236}">
                <a16:creationId xmlns:a16="http://schemas.microsoft.com/office/drawing/2014/main" id="{CFC4C048-08F9-4DEF-90C1-92DD32F41BFB}"/>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The MVP is built, integrated and tested</a:t>
            </a:r>
            <a:endParaRPr sz="4000" b="0" u="none">
              <a:solidFill>
                <a:srgbClr val="000000"/>
              </a:solidFill>
              <a:latin typeface="Arial"/>
              <a:ea typeface="Arial"/>
              <a:cs typeface="Arial"/>
            </a:endParaRPr>
          </a:p>
        </p:txBody>
      </p:sp>
      <p:sp>
        <p:nvSpPr>
          <p:cNvPr id="261" name="Shape 2">
            <a:extLst xmlns:a="http://schemas.openxmlformats.org/drawingml/2006/main">
              <a:ext uri="{FF2B5EF4-FFF2-40B4-BE49-F238E27FC236}">
                <a16:creationId xmlns:a16="http://schemas.microsoft.com/office/drawing/2014/main" id="{CAAED393-0BC2-4706-860B-853F6A2C5CB2}"/>
              </a:ext>
            </a:extLst>
          </p:cNvPr>
          <p:cNvSpPr>
            <a:spLocks xmlns:a="http://schemas.openxmlformats.org/drawingml/2006/main" noGrp="1"/>
          </p:cNvSpPr>
          <p:nvPr/>
        </p:nvSpPr>
        <p:spPr>
          <a:xfrm xmlns:a="http://schemas.openxmlformats.org/drawingml/2006/main">
            <a:off x="749880" y="1719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2" name="Shape 3">
            <a:extLst xmlns:a="http://schemas.openxmlformats.org/drawingml/2006/main">
              <a:ext uri="{FF2B5EF4-FFF2-40B4-BE49-F238E27FC236}">
                <a16:creationId xmlns:a16="http://schemas.microsoft.com/office/drawing/2014/main" id="{136D9F9B-D91F-41F1-84EE-AB592471C6BF}"/>
              </a:ext>
            </a:extLst>
          </p:cNvPr>
          <p:cNvSpPr>
            <a:spLocks xmlns:a="http://schemas.openxmlformats.org/drawingml/2006/main" noGrp="1"/>
          </p:cNvSpPr>
          <p:nvPr/>
        </p:nvSpPr>
        <p:spPr>
          <a:xfrm xmlns:a="http://schemas.openxmlformats.org/drawingml/2006/main">
            <a:off x="749880" y="1719000"/>
            <a:ext cx="109440" cy="65808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3" name="Text 4">
            <a:extLst xmlns:a="http://schemas.openxmlformats.org/drawingml/2006/main">
              <a:ext uri="{FF2B5EF4-FFF2-40B4-BE49-F238E27FC236}">
                <a16:creationId xmlns:a16="http://schemas.microsoft.com/office/drawing/2014/main" id="{FDBE1951-85F4-40FB-9A9A-92417313E9F1}"/>
              </a:ext>
            </a:extLst>
          </p:cNvPr>
          <p:cNvSpPr>
            <a:spLocks xmlns:a="http://schemas.openxmlformats.org/drawingml/2006/main" noGrp="1"/>
          </p:cNvSpPr>
          <p:nvPr/>
        </p:nvSpPr>
        <p:spPr>
          <a:xfrm xmlns:a="http://schemas.openxmlformats.org/drawingml/2006/main">
            <a:off x="1060560" y="1911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2563EB"/>
                </a:solidFill>
                <a:latin typeface="Aptos"/>
                <a:ea typeface="Aptos"/>
                <a:cs typeface="Aptos"/>
              </a:rPr>
              <a:t>RUNS</a:t>
            </a:r>
            <a:endParaRPr sz="1050" b="0" u="none">
              <a:solidFill>
                <a:srgbClr val="000000"/>
              </a:solidFill>
              <a:latin typeface="Arial"/>
              <a:ea typeface="Arial"/>
              <a:cs typeface="Arial"/>
            </a:endParaRPr>
          </a:p>
        </p:txBody>
      </p:sp>
      <p:sp>
        <p:nvSpPr>
          <p:cNvPr id="264" name="Text 5">
            <a:extLst xmlns:a="http://schemas.openxmlformats.org/drawingml/2006/main">
              <a:ext uri="{FF2B5EF4-FFF2-40B4-BE49-F238E27FC236}">
                <a16:creationId xmlns:a16="http://schemas.microsoft.com/office/drawing/2014/main" id="{168ADAE5-476A-41D3-93BC-7C03595CACB0}"/>
              </a:ext>
            </a:extLst>
          </p:cNvPr>
          <p:cNvSpPr>
            <a:spLocks xmlns:a="http://schemas.openxmlformats.org/drawingml/2006/main" noGrp="1"/>
          </p:cNvSpPr>
          <p:nvPr/>
        </p:nvSpPr>
        <p:spPr>
          <a:xfrm xmlns:a="http://schemas.openxmlformats.org/drawingml/2006/main">
            <a:off x="2578680" y="185616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Browser UI + CLI from a company-name trigger</a:t>
            </a:r>
            <a:endParaRPr sz="2000" b="0" u="none">
              <a:solidFill>
                <a:srgbClr val="000000"/>
              </a:solidFill>
              <a:latin typeface="Arial"/>
              <a:ea typeface="Arial"/>
              <a:cs typeface="Arial"/>
            </a:endParaRPr>
          </a:p>
        </p:txBody>
      </p:sp>
      <p:sp>
        <p:nvSpPr>
          <p:cNvPr id="265" name="Shape 6">
            <a:extLst xmlns:a="http://schemas.openxmlformats.org/drawingml/2006/main">
              <a:ext uri="{FF2B5EF4-FFF2-40B4-BE49-F238E27FC236}">
                <a16:creationId xmlns:a16="http://schemas.microsoft.com/office/drawing/2014/main" id="{99B7567D-5491-4B92-9C5E-9171BF1EC9C8}"/>
              </a:ext>
            </a:extLst>
          </p:cNvPr>
          <p:cNvSpPr>
            <a:spLocks xmlns:a="http://schemas.openxmlformats.org/drawingml/2006/main" noGrp="1"/>
          </p:cNvSpPr>
          <p:nvPr/>
        </p:nvSpPr>
        <p:spPr>
          <a:xfrm xmlns:a="http://schemas.openxmlformats.org/drawingml/2006/main">
            <a:off x="749880" y="2578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6" name="Shape 7">
            <a:extLst xmlns:a="http://schemas.openxmlformats.org/drawingml/2006/main">
              <a:ext uri="{FF2B5EF4-FFF2-40B4-BE49-F238E27FC236}">
                <a16:creationId xmlns:a16="http://schemas.microsoft.com/office/drawing/2014/main" id="{7C69F7CA-61E5-4DF2-A609-65DA045C34B3}"/>
              </a:ext>
            </a:extLst>
          </p:cNvPr>
          <p:cNvSpPr>
            <a:spLocks xmlns:a="http://schemas.openxmlformats.org/drawingml/2006/main" noGrp="1"/>
          </p:cNvSpPr>
          <p:nvPr/>
        </p:nvSpPr>
        <p:spPr>
          <a:xfrm xmlns:a="http://schemas.openxmlformats.org/drawingml/2006/main">
            <a:off x="749880" y="2578680"/>
            <a:ext cx="109440" cy="65808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7" name="Text 8">
            <a:extLst xmlns:a="http://schemas.openxmlformats.org/drawingml/2006/main">
              <a:ext uri="{FF2B5EF4-FFF2-40B4-BE49-F238E27FC236}">
                <a16:creationId xmlns:a16="http://schemas.microsoft.com/office/drawing/2014/main" id="{AEABF63C-C625-42F6-BA0E-7E853AD83821}"/>
              </a:ext>
            </a:extLst>
          </p:cNvPr>
          <p:cNvSpPr>
            <a:spLocks xmlns:a="http://schemas.openxmlformats.org/drawingml/2006/main" noGrp="1"/>
          </p:cNvSpPr>
          <p:nvPr/>
        </p:nvSpPr>
        <p:spPr>
          <a:xfrm xmlns:a="http://schemas.openxmlformats.org/drawingml/2006/main">
            <a:off x="1060560" y="2770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3B82F6"/>
                </a:solidFill>
                <a:latin typeface="Aptos"/>
                <a:ea typeface="Aptos"/>
                <a:cs typeface="Aptos"/>
              </a:rPr>
              <a:t>FINDS EVIDENCE</a:t>
            </a:r>
            <a:endParaRPr sz="1050" b="0" u="none">
              <a:solidFill>
                <a:srgbClr val="000000"/>
              </a:solidFill>
              <a:latin typeface="Arial"/>
              <a:ea typeface="Arial"/>
              <a:cs typeface="Arial"/>
            </a:endParaRPr>
          </a:p>
        </p:txBody>
      </p:sp>
      <p:sp>
        <p:nvSpPr>
          <p:cNvPr id="268" name="Text 9">
            <a:extLst xmlns:a="http://schemas.openxmlformats.org/drawingml/2006/main">
              <a:ext uri="{FF2B5EF4-FFF2-40B4-BE49-F238E27FC236}">
                <a16:creationId xmlns:a16="http://schemas.microsoft.com/office/drawing/2014/main" id="{D5090502-B11F-4005-8D92-9C4F0E10D2CE}"/>
              </a:ext>
            </a:extLst>
          </p:cNvPr>
          <p:cNvSpPr>
            <a:spLocks xmlns:a="http://schemas.openxmlformats.org/drawingml/2006/main" noGrp="1"/>
          </p:cNvSpPr>
          <p:nvPr/>
        </p:nvSpPr>
        <p:spPr>
          <a:xfrm xmlns:a="http://schemas.openxmlformats.org/drawingml/2006/main">
            <a:off x="2578680" y="271584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Serper · NewsAPI · GLEIF · Wikidata</a:t>
            </a:r>
            <a:endParaRPr sz="2000" b="0" u="none">
              <a:solidFill>
                <a:srgbClr val="000000"/>
              </a:solidFill>
              <a:latin typeface="Arial"/>
              <a:ea typeface="Arial"/>
              <a:cs typeface="Arial"/>
            </a:endParaRPr>
          </a:p>
        </p:txBody>
      </p:sp>
      <p:sp>
        <p:nvSpPr>
          <p:cNvPr id="269" name="Shape 10">
            <a:extLst xmlns:a="http://schemas.openxmlformats.org/drawingml/2006/main">
              <a:ext uri="{FF2B5EF4-FFF2-40B4-BE49-F238E27FC236}">
                <a16:creationId xmlns:a16="http://schemas.microsoft.com/office/drawing/2014/main" id="{0EA0FB3D-5C2E-4E9F-8E16-C8449341B373}"/>
              </a:ext>
            </a:extLst>
          </p:cNvPr>
          <p:cNvSpPr>
            <a:spLocks xmlns:a="http://schemas.openxmlformats.org/drawingml/2006/main" noGrp="1"/>
          </p:cNvSpPr>
          <p:nvPr/>
        </p:nvSpPr>
        <p:spPr>
          <a:xfrm xmlns:a="http://schemas.openxmlformats.org/drawingml/2006/main">
            <a:off x="749880" y="3438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0" name="Shape 11">
            <a:extLst xmlns:a="http://schemas.openxmlformats.org/drawingml/2006/main">
              <a:ext uri="{FF2B5EF4-FFF2-40B4-BE49-F238E27FC236}">
                <a16:creationId xmlns:a16="http://schemas.microsoft.com/office/drawing/2014/main" id="{755BA3E9-469D-4F7E-AA49-2D29BD419EDD}"/>
              </a:ext>
            </a:extLst>
          </p:cNvPr>
          <p:cNvSpPr>
            <a:spLocks xmlns:a="http://schemas.openxmlformats.org/drawingml/2006/main" noGrp="1"/>
          </p:cNvSpPr>
          <p:nvPr/>
        </p:nvSpPr>
        <p:spPr>
          <a:xfrm xmlns:a="http://schemas.openxmlformats.org/drawingml/2006/main">
            <a:off x="749880" y="343800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1" name="Text 12">
            <a:extLst xmlns:a="http://schemas.openxmlformats.org/drawingml/2006/main">
              <a:ext uri="{FF2B5EF4-FFF2-40B4-BE49-F238E27FC236}">
                <a16:creationId xmlns:a16="http://schemas.microsoft.com/office/drawing/2014/main" id="{C3FB0E0E-2542-4D86-B1CA-86FEF4CB89A7}"/>
              </a:ext>
            </a:extLst>
          </p:cNvPr>
          <p:cNvSpPr>
            <a:spLocks xmlns:a="http://schemas.openxmlformats.org/drawingml/2006/main" noGrp="1"/>
          </p:cNvSpPr>
          <p:nvPr/>
        </p:nvSpPr>
        <p:spPr>
          <a:xfrm xmlns:a="http://schemas.openxmlformats.org/drawingml/2006/main">
            <a:off x="1060560" y="3630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VERIFIES</a:t>
            </a:r>
            <a:endParaRPr sz="1050" b="0" u="none">
              <a:solidFill>
                <a:srgbClr val="000000"/>
              </a:solidFill>
              <a:latin typeface="Arial"/>
              <a:ea typeface="Arial"/>
              <a:cs typeface="Arial"/>
            </a:endParaRPr>
          </a:p>
        </p:txBody>
      </p:sp>
      <p:sp>
        <p:nvSpPr>
          <p:cNvPr id="272" name="Text 13">
            <a:extLst xmlns:a="http://schemas.openxmlformats.org/drawingml/2006/main">
              <a:ext uri="{FF2B5EF4-FFF2-40B4-BE49-F238E27FC236}">
                <a16:creationId xmlns:a16="http://schemas.microsoft.com/office/drawing/2014/main" id="{F7CA283A-AAA3-4330-ADCF-02449F589E0C}"/>
              </a:ext>
            </a:extLst>
          </p:cNvPr>
          <p:cNvSpPr>
            <a:spLocks xmlns:a="http://schemas.openxmlformats.org/drawingml/2006/main" noGrp="1"/>
          </p:cNvSpPr>
          <p:nvPr/>
        </p:nvSpPr>
        <p:spPr>
          <a:xfrm xmlns:a="http://schemas.openxmlformats.org/drawingml/2006/main">
            <a:off x="2578680" y="3547872"/>
            <a:ext cx="6720840" cy="43891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OpenAI extraction · Pinecone evidence store · deterministic gate</a:t>
            </a:r>
            <a:endParaRPr sz="2000" b="0" u="none">
              <a:solidFill>
                <a:srgbClr val="000000"/>
              </a:solidFill>
              <a:latin typeface="Arial"/>
              <a:ea typeface="Arial"/>
              <a:cs typeface="Arial"/>
            </a:endParaRPr>
          </a:p>
        </p:txBody>
      </p:sp>
      <p:sp>
        <p:nvSpPr>
          <p:cNvPr id="273" name="Shape 14">
            <a:extLst xmlns:a="http://schemas.openxmlformats.org/drawingml/2006/main">
              <a:ext uri="{FF2B5EF4-FFF2-40B4-BE49-F238E27FC236}">
                <a16:creationId xmlns:a16="http://schemas.microsoft.com/office/drawing/2014/main" id="{39BA4F69-81BE-4D7B-A27A-8A699C5FD7BB}"/>
              </a:ext>
            </a:extLst>
          </p:cNvPr>
          <p:cNvSpPr>
            <a:spLocks xmlns:a="http://schemas.openxmlformats.org/drawingml/2006/main" noGrp="1"/>
          </p:cNvSpPr>
          <p:nvPr/>
        </p:nvSpPr>
        <p:spPr>
          <a:xfrm xmlns:a="http://schemas.openxmlformats.org/drawingml/2006/main">
            <a:off x="749880" y="4297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4" name="Shape 15">
            <a:extLst xmlns:a="http://schemas.openxmlformats.org/drawingml/2006/main">
              <a:ext uri="{FF2B5EF4-FFF2-40B4-BE49-F238E27FC236}">
                <a16:creationId xmlns:a16="http://schemas.microsoft.com/office/drawing/2014/main" id="{C445623C-520A-4828-98A1-A5CC4FD27800}"/>
              </a:ext>
            </a:extLst>
          </p:cNvPr>
          <p:cNvSpPr>
            <a:spLocks xmlns:a="http://schemas.openxmlformats.org/drawingml/2006/main" noGrp="1"/>
          </p:cNvSpPr>
          <p:nvPr/>
        </p:nvSpPr>
        <p:spPr>
          <a:xfrm xmlns:a="http://schemas.openxmlformats.org/drawingml/2006/main">
            <a:off x="749880" y="429768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5" name="Text 16">
            <a:extLst xmlns:a="http://schemas.openxmlformats.org/drawingml/2006/main">
              <a:ext uri="{FF2B5EF4-FFF2-40B4-BE49-F238E27FC236}">
                <a16:creationId xmlns:a16="http://schemas.microsoft.com/office/drawing/2014/main" id="{193A7B1C-5209-41B5-AC63-6FEC5C9C6F07}"/>
              </a:ext>
            </a:extLst>
          </p:cNvPr>
          <p:cNvSpPr>
            <a:spLocks xmlns:a="http://schemas.openxmlformats.org/drawingml/2006/main" noGrp="1"/>
          </p:cNvSpPr>
          <p:nvPr/>
        </p:nvSpPr>
        <p:spPr>
          <a:xfrm xmlns:a="http://schemas.openxmlformats.org/drawingml/2006/main">
            <a:off x="1060560" y="4489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DELIVERS</a:t>
            </a:r>
            <a:endParaRPr sz="1050" b="0" u="none">
              <a:solidFill>
                <a:srgbClr val="000000"/>
              </a:solidFill>
              <a:latin typeface="Arial"/>
              <a:ea typeface="Arial"/>
              <a:cs typeface="Arial"/>
            </a:endParaRPr>
          </a:p>
        </p:txBody>
      </p:sp>
      <p:sp>
        <p:nvSpPr>
          <p:cNvPr id="276" name="Text 17">
            <a:extLst xmlns:a="http://schemas.openxmlformats.org/drawingml/2006/main">
              <a:ext uri="{FF2B5EF4-FFF2-40B4-BE49-F238E27FC236}">
                <a16:creationId xmlns:a16="http://schemas.microsoft.com/office/drawing/2014/main" id="{61B04E95-1158-4800-B894-25F4D5FF1219}"/>
              </a:ext>
            </a:extLst>
          </p:cNvPr>
          <p:cNvSpPr>
            <a:spLocks xmlns:a="http://schemas.openxmlformats.org/drawingml/2006/main" noGrp="1"/>
          </p:cNvSpPr>
          <p:nvPr/>
        </p:nvSpPr>
        <p:spPr>
          <a:xfrm xmlns:a="http://schemas.openxmlformats.org/drawingml/2006/main">
            <a:off x="2578680" y="443484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Markdown report · n8n → Notion</a:t>
            </a:r>
            <a:endParaRPr sz="2000" b="0" u="none">
              <a:solidFill>
                <a:srgbClr val="000000"/>
              </a:solidFill>
              <a:latin typeface="Arial"/>
              <a:ea typeface="Arial"/>
              <a:cs typeface="Arial"/>
            </a:endParaRPr>
          </a:p>
        </p:txBody>
      </p:sp>
      <p:sp>
        <p:nvSpPr>
          <p:cNvPr id="277" name="Shape 18">
            <a:extLst xmlns:a="http://schemas.openxmlformats.org/drawingml/2006/main">
              <a:ext uri="{FF2B5EF4-FFF2-40B4-BE49-F238E27FC236}">
                <a16:creationId xmlns:a16="http://schemas.microsoft.com/office/drawing/2014/main" id="{0F33F73C-32C2-4655-AC9E-24608AD9F002}"/>
              </a:ext>
            </a:extLst>
          </p:cNvPr>
          <p:cNvSpPr>
            <a:spLocks xmlns:a="http://schemas.openxmlformats.org/drawingml/2006/main" noGrp="1"/>
          </p:cNvSpPr>
          <p:nvPr/>
        </p:nvSpPr>
        <p:spPr>
          <a:xfrm xmlns:a="http://schemas.openxmlformats.org/drawingml/2006/main">
            <a:off x="9399960" y="3337560"/>
            <a:ext cx="621720"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8" name="Shape 19">
            <a:extLst xmlns:a="http://schemas.openxmlformats.org/drawingml/2006/main">
              <a:ext uri="{FF2B5EF4-FFF2-40B4-BE49-F238E27FC236}">
                <a16:creationId xmlns:a16="http://schemas.microsoft.com/office/drawing/2014/main" id="{BF783B1E-8B38-426C-AA09-348731B575E1}"/>
              </a:ext>
            </a:extLst>
          </p:cNvPr>
          <p:cNvSpPr>
            <a:spLocks xmlns:a="http://schemas.openxmlformats.org/drawingml/2006/main" noGrp="1"/>
          </p:cNvSpPr>
          <p:nvPr/>
        </p:nvSpPr>
        <p:spPr>
          <a:xfrm xmlns:a="http://schemas.openxmlformats.org/drawingml/2006/main">
            <a:off x="10040040" y="2596896"/>
            <a:ext cx="1352880" cy="1481040"/>
          </a:xfrm>
          <a:prstGeom xmlns:a="http://schemas.openxmlformats.org/drawingml/2006/main" prst="roundRect">
            <a:avLst>
              <a:gd name="adj" fmla="val 9459"/>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9" name="Text 20">
            <a:extLst xmlns:a="http://schemas.openxmlformats.org/drawingml/2006/main">
              <a:ext uri="{FF2B5EF4-FFF2-40B4-BE49-F238E27FC236}">
                <a16:creationId xmlns:a16="http://schemas.microsoft.com/office/drawing/2014/main" id="{352924FC-A129-4E16-ABB1-CCC0430C44CE}"/>
              </a:ext>
            </a:extLst>
          </p:cNvPr>
          <p:cNvSpPr>
            <a:spLocks xmlns:a="http://schemas.openxmlformats.org/drawingml/2006/main" noGrp="1"/>
          </p:cNvSpPr>
          <p:nvPr/>
        </p:nvSpPr>
        <p:spPr>
          <a:xfrm xmlns:a="http://schemas.openxmlformats.org/drawingml/2006/main">
            <a:off x="10115550" y="2907791"/>
            <a:ext cx="1200150" cy="78590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EVIDENCE-</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BACKED</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REPORT</a:t>
            </a:r>
            <a:endParaRPr sz="1800" b="0" u="none">
              <a:solidFill>
                <a:srgbClr val="000000"/>
              </a:solidFill>
              <a:latin typeface="Arial"/>
              <a:ea typeface="Arial"/>
              <a:cs typeface="Arial"/>
            </a:endParaRPr>
          </a:p>
        </p:txBody>
      </p:sp>
      <p:sp>
        <p:nvSpPr>
          <p:cNvPr id="280" name="Shape 21">
            <a:extLst xmlns:a="http://schemas.openxmlformats.org/drawingml/2006/main">
              <a:ext uri="{FF2B5EF4-FFF2-40B4-BE49-F238E27FC236}">
                <a16:creationId xmlns:a16="http://schemas.microsoft.com/office/drawing/2014/main" id="{EE4F0A70-22D2-4146-8481-8D15CFA30BF4}"/>
              </a:ext>
            </a:extLst>
          </p:cNvPr>
          <p:cNvSpPr>
            <a:spLocks xmlns:a="http://schemas.openxmlformats.org/drawingml/2006/main" noGrp="1"/>
          </p:cNvSpPr>
          <p:nvPr/>
        </p:nvSpPr>
        <p:spPr>
          <a:xfrm xmlns:a="http://schemas.openxmlformats.org/drawingml/2006/main">
            <a:off x="749880" y="5394960"/>
            <a:ext cx="6537600" cy="639720"/>
          </a:xfrm>
          <a:prstGeom xmlns:a="http://schemas.openxmlformats.org/drawingml/2006/main" prst="roundRect">
            <a:avLst>
              <a:gd name="adj" fmla="val 1428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1" name="Text 22">
            <a:extLst xmlns:a="http://schemas.openxmlformats.org/drawingml/2006/main">
              <a:ext uri="{FF2B5EF4-FFF2-40B4-BE49-F238E27FC236}">
                <a16:creationId xmlns:a16="http://schemas.microsoft.com/office/drawing/2014/main" id="{A470695E-E76B-48EB-BD7C-7B49E106AA5F}"/>
              </a:ext>
            </a:extLst>
          </p:cNvPr>
          <p:cNvSpPr>
            <a:spLocks xmlns:a="http://schemas.openxmlformats.org/drawingml/2006/main" noGrp="1"/>
          </p:cNvSpPr>
          <p:nvPr/>
        </p:nvSpPr>
        <p:spPr>
          <a:xfrm xmlns:a="http://schemas.openxmlformats.org/drawingml/2006/main">
            <a:off x="969120" y="5596200"/>
            <a:ext cx="17827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12-company evaluation</a:t>
            </a:r>
            <a:endParaRPr sz="1350" b="0" u="none">
              <a:solidFill>
                <a:srgbClr val="000000"/>
              </a:solidFill>
              <a:latin typeface="Arial"/>
              <a:ea typeface="Arial"/>
              <a:cs typeface="Arial"/>
            </a:endParaRPr>
          </a:p>
        </p:txBody>
      </p:sp>
      <p:sp>
        <p:nvSpPr>
          <p:cNvPr id="282" name="Shape 23">
            <a:extLst xmlns:a="http://schemas.openxmlformats.org/drawingml/2006/main">
              <a:ext uri="{FF2B5EF4-FFF2-40B4-BE49-F238E27FC236}">
                <a16:creationId xmlns:a16="http://schemas.microsoft.com/office/drawing/2014/main" id="{B4B96333-DA51-490F-88B6-E24785E2C8F1}"/>
              </a:ext>
            </a:extLst>
          </p:cNvPr>
          <p:cNvSpPr>
            <a:spLocks xmlns:a="http://schemas.openxmlformats.org/drawingml/2006/main" noGrp="1"/>
          </p:cNvSpPr>
          <p:nvPr/>
        </p:nvSpPr>
        <p:spPr>
          <a:xfrm xmlns:a="http://schemas.openxmlformats.org/drawingml/2006/main">
            <a:off x="297180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3" name="Text 24">
            <a:extLst xmlns:a="http://schemas.openxmlformats.org/drawingml/2006/main">
              <a:ext uri="{FF2B5EF4-FFF2-40B4-BE49-F238E27FC236}">
                <a16:creationId xmlns:a16="http://schemas.microsoft.com/office/drawing/2014/main" id="{E086E65B-7A35-4B11-BCD0-FAA7D2B518BE}"/>
              </a:ext>
            </a:extLst>
          </p:cNvPr>
          <p:cNvSpPr>
            <a:spLocks xmlns:a="http://schemas.openxmlformats.org/drawingml/2006/main" noGrp="1"/>
          </p:cNvSpPr>
          <p:nvPr/>
        </p:nvSpPr>
        <p:spPr>
          <a:xfrm xmlns:a="http://schemas.openxmlformats.org/drawingml/2006/main">
            <a:off x="3200400" y="5596200"/>
            <a:ext cx="20570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2 retained sample reports</a:t>
            </a:r>
            <a:endParaRPr sz="1350" b="0" u="none">
              <a:solidFill>
                <a:srgbClr val="000000"/>
              </a:solidFill>
              <a:latin typeface="Arial"/>
              <a:ea typeface="Arial"/>
              <a:cs typeface="Arial"/>
            </a:endParaRPr>
          </a:p>
        </p:txBody>
      </p:sp>
      <p:sp>
        <p:nvSpPr>
          <p:cNvPr id="284" name="Shape 25">
            <a:extLst xmlns:a="http://schemas.openxmlformats.org/drawingml/2006/main">
              <a:ext uri="{FF2B5EF4-FFF2-40B4-BE49-F238E27FC236}">
                <a16:creationId xmlns:a16="http://schemas.microsoft.com/office/drawing/2014/main" id="{DA588051-8909-479C-9F86-D80CD05D896C}"/>
              </a:ext>
            </a:extLst>
          </p:cNvPr>
          <p:cNvSpPr>
            <a:spLocks xmlns:a="http://schemas.openxmlformats.org/drawingml/2006/main" noGrp="1"/>
          </p:cNvSpPr>
          <p:nvPr/>
        </p:nvSpPr>
        <p:spPr>
          <a:xfrm xmlns:a="http://schemas.openxmlformats.org/drawingml/2006/main">
            <a:off x="546804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5" name="Text 26">
            <a:extLst xmlns:a="http://schemas.openxmlformats.org/drawingml/2006/main">
              <a:ext uri="{FF2B5EF4-FFF2-40B4-BE49-F238E27FC236}">
                <a16:creationId xmlns:a16="http://schemas.microsoft.com/office/drawing/2014/main" id="{0097827B-F517-4059-9A4E-5A48292DCD42}"/>
              </a:ext>
            </a:extLst>
          </p:cNvPr>
          <p:cNvSpPr>
            <a:spLocks xmlns:a="http://schemas.openxmlformats.org/drawingml/2006/main" noGrp="1"/>
          </p:cNvSpPr>
          <p:nvPr/>
        </p:nvSpPr>
        <p:spPr>
          <a:xfrm xmlns:a="http://schemas.openxmlformats.org/drawingml/2006/main">
            <a:off x="5696640" y="5596200"/>
            <a:ext cx="13255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107 offline tests</a:t>
            </a:r>
            <a:endParaRPr sz="1350" b="0" u="none">
              <a:solidFill>
                <a:srgbClr val="000000"/>
              </a:solidFill>
              <a:latin typeface="Arial"/>
              <a:ea typeface="Arial"/>
              <a:cs typeface="Arial"/>
            </a:endParaRPr>
          </a:p>
        </p:txBody>
      </p:sp>
      <p:sp>
        <p:nvSpPr>
          <p:cNvPr id="286" name="Shape 27">
            <a:extLst xmlns:a="http://schemas.openxmlformats.org/drawingml/2006/main">
              <a:ext uri="{FF2B5EF4-FFF2-40B4-BE49-F238E27FC236}">
                <a16:creationId xmlns:a16="http://schemas.microsoft.com/office/drawing/2014/main" id="{157BB4EA-03FF-4374-A592-9B9FE232EA60}"/>
              </a:ext>
            </a:extLst>
          </p:cNvPr>
          <p:cNvSpPr>
            <a:spLocks xmlns:a="http://schemas.openxmlformats.org/drawingml/2006/main" noGrp="1"/>
          </p:cNvSpPr>
          <p:nvPr/>
        </p:nvSpPr>
        <p:spPr>
          <a:xfrm xmlns:a="http://schemas.openxmlformats.org/drawingml/2006/main">
            <a:off x="7598520" y="5394960"/>
            <a:ext cx="3785400" cy="639720"/>
          </a:xfrm>
          <a:prstGeom xmlns:a="http://schemas.openxmlformats.org/drawingml/2006/main" prst="roundRect">
            <a:avLst>
              <a:gd name="adj" fmla="val 14286"/>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7" name="Text 28">
            <a:extLst xmlns:a="http://schemas.openxmlformats.org/drawingml/2006/main">
              <a:ext uri="{FF2B5EF4-FFF2-40B4-BE49-F238E27FC236}">
                <a16:creationId xmlns:a16="http://schemas.microsoft.com/office/drawing/2014/main" id="{25E8279F-124B-4CB6-986E-F26D7B393EDB}"/>
              </a:ext>
            </a:extLst>
          </p:cNvPr>
          <p:cNvSpPr>
            <a:spLocks xmlns:a="http://schemas.openxmlformats.org/drawingml/2006/main" noGrp="1"/>
          </p:cNvSpPr>
          <p:nvPr/>
        </p:nvSpPr>
        <p:spPr>
          <a:xfrm xmlns:a="http://schemas.openxmlformats.org/drawingml/2006/main">
            <a:off x="7827120" y="5523120"/>
            <a:ext cx="178272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00" b="1" u="none" spc="79">
                <a:solidFill>
                  <a:srgbClr val="B45309"/>
                </a:solidFill>
                <a:latin typeface="Aptos"/>
                <a:ea typeface="Aptos"/>
                <a:cs typeface="Aptos"/>
              </a:rPr>
              <a:t>DESIGNED, NOT BUILT</a:t>
            </a:r>
            <a:endParaRPr sz="1000" b="0" u="none">
              <a:solidFill>
                <a:srgbClr val="000000"/>
              </a:solidFill>
              <a:latin typeface="Arial"/>
              <a:ea typeface="Arial"/>
              <a:cs typeface="Arial"/>
            </a:endParaRPr>
          </a:p>
        </p:txBody>
      </p:sp>
      <p:sp>
        <p:nvSpPr>
          <p:cNvPr id="288" name="Text 29">
            <a:extLst xmlns:a="http://schemas.openxmlformats.org/drawingml/2006/main">
              <a:ext uri="{FF2B5EF4-FFF2-40B4-BE49-F238E27FC236}">
                <a16:creationId xmlns:a16="http://schemas.microsoft.com/office/drawing/2014/main" id="{39068CD3-73A7-4B9A-A5EC-15F7AFA6180B}"/>
              </a:ext>
            </a:extLst>
          </p:cNvPr>
          <p:cNvSpPr>
            <a:spLocks xmlns:a="http://schemas.openxmlformats.org/drawingml/2006/main" noGrp="1"/>
          </p:cNvSpPr>
          <p:nvPr/>
        </p:nvSpPr>
        <p:spPr>
          <a:xfrm xmlns:a="http://schemas.openxmlformats.org/drawingml/2006/main">
            <a:off x="7827120" y="5751720"/>
            <a:ext cx="324576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50" b="0" u="none">
                <a:solidFill>
                  <a:srgbClr val="273244"/>
                </a:solidFill>
                <a:latin typeface="Aptos"/>
                <a:ea typeface="Aptos"/>
                <a:cs typeface="Aptos"/>
              </a:rPr>
              <a:t>scheduled sweeps · vendor-corpus ingestion</a:t>
            </a:r>
            <a:endParaRPr sz="1150" b="0" u="none">
              <a:solidFill>
                <a:srgbClr val="000000"/>
              </a:solidFill>
              <a:latin typeface="Arial"/>
              <a:ea typeface="Arial"/>
              <a:cs typeface="Arial"/>
            </a:endParaRPr>
          </a:p>
        </p:txBody>
      </p:sp>
      <p:sp>
        <p:nvSpPr>
          <p:cNvPr id="289" name="Text 30">
            <a:extLst xmlns:a="http://schemas.openxmlformats.org/drawingml/2006/main">
              <a:ext uri="{FF2B5EF4-FFF2-40B4-BE49-F238E27FC236}">
                <a16:creationId xmlns:a16="http://schemas.microsoft.com/office/drawing/2014/main" id="{887A6F48-F66C-4176-9340-C658888CAE11}"/>
              </a:ext>
            </a:extLst>
          </p:cNvPr>
          <p:cNvSpPr>
            <a:spLocks xmlns:a="http://schemas.openxmlformats.org/drawingml/2006/main" noGrp="1"/>
          </p:cNvSpPr>
          <p:nvPr/>
        </p:nvSpPr>
        <p:spPr>
          <a:xfrm xmlns:a="http://schemas.openxmlformats.org/drawingml/2006/main">
            <a:off x="713160" y="6428160"/>
            <a:ext cx="310896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DELIVERY</a:t>
            </a:r>
            <a:endParaRPr sz="900" b="0" u="none">
              <a:solidFill>
                <a:srgbClr val="000000"/>
              </a:solidFill>
              <a:latin typeface="Arial"/>
              <a:ea typeface="Arial"/>
              <a:cs typeface="Arial"/>
            </a:endParaRPr>
          </a:p>
        </p:txBody>
      </p:sp>
      <p:sp>
        <p:nvSpPr>
          <p:cNvPr id="290" name="PlaceHolder 1">
            <a:extLst xmlns:a="http://schemas.openxmlformats.org/drawingml/2006/main">
              <a:ext uri="{FF2B5EF4-FFF2-40B4-BE49-F238E27FC236}">
                <a16:creationId xmlns:a16="http://schemas.microsoft.com/office/drawing/2014/main" id="{3071EFA8-BCF4-4CE4-BC4B-A1713C7A635E}"/>
              </a:ext>
            </a:extLst>
          </p:cNvPr>
          <p:cNvSpPr>
            <a:spLocks xmlns:a="http://schemas.openxmlformats.org/drawingml/2006/main" noGrp="1"/>
          </p:cNvSpPr>
          <p:nvPr>
            <p:ph type="sldNum" idx="14"/>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B7BEEEC-A170-5376-2B6E-CB54687B0CB1}" type="slidenum">
              <a:rPr sz="900" b="0" u="none">
                <a:solidFill>
                  <a:srgbClr val="94A3B8"/>
                </a:solidFill>
                <a:latin typeface="Aptos"/>
                <a:ea typeface="Aptos"/>
                <a:cs typeface="Aptos"/>
              </a:rPr>
              <a:t>10</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038109785"/>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2026-08-14T11:05:12.1540000Z</dcterms:created>
  <dcterms:modified xsi:type="dcterms:W3CDTF">2026-08-14T11:05:12.1540000Z</dcterms:modified>
</coreProperties>
</file>