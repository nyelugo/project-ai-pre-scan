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34"/>
    <p:restoredTop sz="73427"/>
  </p:normalViewPr>
  <p:slideViewPr>
    <p:cSldViewPr snapToGrid="0">
      <p:cViewPr>
        <p:scale>
          <a:sx n="110" d="100"/>
          <a:sy n="110" d="100"/>
        </p:scale>
        <p:origin x="824" y="1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[Ask the room.] What AI does your company actually use?</a:t>
            </a:r>
          </a:p>
          <a:p>
            <a:endParaRPr dirty="0"/>
          </a:p>
          <a:p>
            <a:r>
              <a:rPr dirty="0"/>
              <a:t>• Under the EU AI Act, every European SME will soon owe regulators that answer — in writing.</a:t>
            </a:r>
          </a:p>
          <a:p>
            <a:endParaRPr dirty="0"/>
          </a:p>
          <a:p>
            <a:r>
              <a:rPr dirty="0"/>
              <a:t>• AI Pre-Scan drafts it from just a company name. Minutes, not weeks, from public evidence.</a:t>
            </a:r>
          </a:p>
          <a:p>
            <a:endParaRPr dirty="0"/>
          </a:p>
          <a:p>
            <a:r>
              <a:rPr dirty="0"/>
              <a:t>• One rule makes it trustworthy: it would rather hand you a question than a false answer.</a:t>
            </a:r>
          </a:p>
          <a:p>
            <a:endParaRPr dirty="0"/>
          </a:p>
          <a:p>
            <a:r>
              <a:rPr dirty="0"/>
              <a:t>[Point to the card.] One real scan. Top half: one of two evidenced systems, and we can show the sentence that proves it. Bottom half: the standing question public pages cannot settle — whether either system was renamed, repurposed or retrained.</a:t>
            </a:r>
          </a:p>
          <a:p>
            <a:endParaRPr dirty="0"/>
          </a:p>
          <a:p>
            <a:r>
              <a:rPr dirty="0"/>
              <a:t>[Pause.]</a:t>
            </a:r>
          </a:p>
          <a:p>
            <a:endParaRPr dirty="0"/>
          </a:p>
          <a:p>
            <a:r>
              <a:rPr dirty="0"/>
              <a:t>• The problem starts before any compliance form is opened.</a:t>
            </a:r>
          </a:p>
          <a:p>
            <a:endParaRPr dirty="0"/>
          </a:p>
          <a:p>
            <a:r>
              <a:rPr dirty="0"/>
              <a:t>[If asked — HOW]</a:t>
            </a:r>
          </a:p>
          <a:p>
            <a:r>
              <a:rPr dirty="0"/>
              <a:t>– How long does a scan take?  A couple of minutes per company. You will see it run on slide 4.</a:t>
            </a:r>
          </a:p>
          <a:p>
            <a:r>
              <a:rPr dirty="0"/>
              <a:t>– How do you know that top half is proven?  </a:t>
            </a:r>
            <a:r>
              <a:rPr dirty="0" err="1"/>
              <a:t>Personio's</a:t>
            </a:r>
            <a:r>
              <a:rPr dirty="0"/>
              <a:t> own Assistant page says it, word for word — the scan keeps the sentence, the page and the fetch date.</a:t>
            </a:r>
          </a:p>
          <a:p>
            <a:endParaRPr dirty="0"/>
          </a:p>
          <a:p>
            <a:r>
              <a:rPr dirty="0"/>
              <a:t>[Sources]</a:t>
            </a:r>
          </a:p>
          <a:p>
            <a:r>
              <a:rPr dirty="0"/>
              <a:t>- docs/elevator-</a:t>
            </a:r>
            <a:r>
              <a:rPr dirty="0" err="1"/>
              <a:t>pitch.md</a:t>
            </a:r>
            <a:endParaRPr dirty="0"/>
          </a:p>
          <a:p>
            <a:r>
              <a:rPr dirty="0"/>
              <a:t>- </a:t>
            </a:r>
            <a:r>
              <a:rPr dirty="0" err="1"/>
              <a:t>README.md</a:t>
            </a:r>
            <a:endParaRPr dirty="0"/>
          </a:p>
          <a:p>
            <a:r>
              <a:rPr dirty="0"/>
              <a:t>- </a:t>
            </a:r>
            <a:r>
              <a:rPr dirty="0" err="1"/>
              <a:t>src</a:t>
            </a:r>
            <a:r>
              <a:rPr dirty="0"/>
              <a:t>/</a:t>
            </a:r>
            <a:r>
              <a:rPr dirty="0" err="1"/>
              <a:t>ai_prescan</a:t>
            </a:r>
            <a:r>
              <a:rPr dirty="0"/>
              <a:t>/</a:t>
            </a:r>
            <a:r>
              <a:rPr dirty="0" err="1"/>
              <a:t>fixtures.py</a:t>
            </a:r>
            <a:endParaRPr dirty="0"/>
          </a:p>
          <a:p>
            <a:r>
              <a:rPr dirty="0"/>
              <a:t>- European Commission, “AI Act”: https://digital-</a:t>
            </a:r>
            <a:r>
              <a:rPr dirty="0" err="1"/>
              <a:t>strategy.ec.europa.eu</a:t>
            </a:r>
            <a:r>
              <a:rPr dirty="0"/>
              <a:t>/</a:t>
            </a:r>
            <a:r>
              <a:rPr dirty="0" err="1"/>
              <a:t>en</a:t>
            </a:r>
            <a:r>
              <a:rPr dirty="0"/>
              <a:t>/</a:t>
            </a:r>
            <a:r>
              <a:rPr dirty="0" err="1"/>
              <a:t>factpages</a:t>
            </a:r>
            <a:r>
              <a:rPr dirty="0"/>
              <a:t>/ai-act</a:t>
            </a:r>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 Compliance tools assess one known system at a time. Someone has to hand them the list.</a:t>
            </a:r>
          </a:p>
          <a:p>
            <a:endParaRPr dirty="0"/>
          </a:p>
          <a:p>
            <a:r>
              <a:rPr dirty="0"/>
              <a:t>• For most SMEs that list does not exist — and it cannot be written from memory.</a:t>
            </a:r>
          </a:p>
          <a:p>
            <a:endParaRPr dirty="0"/>
          </a:p>
          <a:p>
            <a:r>
              <a:rPr dirty="0"/>
              <a:t>• AI arrives in a vendor update. On a company card. In an employee's personal tools. Nobody ever decided to “adopt AI”.</a:t>
            </a:r>
          </a:p>
          <a:p>
            <a:endParaRPr dirty="0"/>
          </a:p>
          <a:p>
            <a:r>
              <a:rPr dirty="0"/>
              <a:t>• So the form says: list every AI system. And the SME honestly asks: “Which systems are those?”</a:t>
            </a:r>
          </a:p>
          <a:p>
            <a:endParaRPr dirty="0"/>
          </a:p>
          <a:p>
            <a:r>
              <a:rPr dirty="0"/>
              <a:t>[Pause.]</a:t>
            </a:r>
          </a:p>
          <a:p>
            <a:endParaRPr dirty="0"/>
          </a:p>
          <a:p>
            <a:r>
              <a:rPr dirty="0"/>
              <a:t>• The inventory has to be drafted from evidence. That drafting is the missing step — and it is the product.</a:t>
            </a:r>
          </a:p>
          <a:p>
            <a:endParaRPr dirty="0"/>
          </a:p>
          <a:p>
            <a:r>
              <a:rPr dirty="0"/>
              <a:t>[If asked — HOW]</a:t>
            </a:r>
          </a:p>
          <a:p>
            <a:r>
              <a:rPr dirty="0"/>
              <a:t>– How would an SME build this list today?  Interviews and memory. Which is exactly what misses AI that arrived in a vendor update.</a:t>
            </a:r>
          </a:p>
          <a:p>
            <a:r>
              <a:rPr dirty="0"/>
              <a:t>– How does the scan solve the third bullet — tools that leave no record?  It does not, and never claims to. Anything not public becomes a client question, not a blind spot pretending to be covered.</a:t>
            </a:r>
          </a:p>
          <a:p>
            <a:endParaRPr dirty="0"/>
          </a:p>
          <a:p>
            <a:r>
              <a:rPr dirty="0"/>
              <a:t>[Sources]</a:t>
            </a:r>
          </a:p>
          <a:p>
            <a:r>
              <a:rPr dirty="0"/>
              <a:t>- docs/elevator-</a:t>
            </a:r>
            <a:r>
              <a:rPr dirty="0" err="1"/>
              <a:t>pitch.md</a:t>
            </a:r>
            <a:endParaRPr dirty="0"/>
          </a:p>
          <a:p>
            <a:r>
              <a:rPr dirty="0"/>
              <a:t>- docs/demo-</a:t>
            </a:r>
            <a:r>
              <a:rPr dirty="0" err="1"/>
              <a:t>plan.md</a:t>
            </a:r>
            <a:endParaRPr dirty="0"/>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 The only input is a company name.</a:t>
            </a:r>
          </a:p>
          <a:p>
            <a:endParaRPr dirty="0"/>
          </a:p>
          <a:p>
            <a:r>
              <a:rPr dirty="0"/>
              <a:t>• [Point to card 1.] </a:t>
            </a:r>
            <a:r>
              <a:rPr dirty="0" err="1"/>
              <a:t>LangGraph</a:t>
            </a:r>
            <a:r>
              <a:rPr dirty="0"/>
              <a:t> runs the research loop. Search and identity tools find relevant URLs, and the fetcher retrieves the actual page text.</a:t>
            </a:r>
          </a:p>
          <a:p>
            <a:endParaRPr dirty="0"/>
          </a:p>
          <a:p>
            <a:r>
              <a:rPr dirty="0"/>
              <a:t>• Those pages can come from the company itself, a vendor, a careers page or credible news coverage.</a:t>
            </a:r>
          </a:p>
          <a:p>
            <a:endParaRPr dirty="0"/>
          </a:p>
          <a:p>
            <a:r>
              <a:rPr dirty="0"/>
              <a:t>• [Point to card 2.] OpenAI reads each fetched page and proposes a candidate system fact with a verbatim supporting sentence from that same page.</a:t>
            </a:r>
          </a:p>
          <a:p>
            <a:endParaRPr dirty="0"/>
          </a:p>
          <a:p>
            <a:r>
              <a:rPr dirty="0"/>
              <a:t>• Deterministic code checks that the sentence really appears on the page and describes AI </a:t>
            </a:r>
            <a:r>
              <a:rPr dirty="0" err="1"/>
              <a:t>behaviour</a:t>
            </a:r>
            <a:r>
              <a:rPr dirty="0"/>
              <a:t>. The evidence gate then checks source traceability and whether the page is current enough for the claim.</a:t>
            </a:r>
          </a:p>
          <a:p>
            <a:endParaRPr dirty="0"/>
          </a:p>
          <a:p>
            <a:r>
              <a:rPr dirty="0"/>
              <a:t>• If a check fails, </a:t>
            </a:r>
            <a:r>
              <a:rPr dirty="0" err="1"/>
              <a:t>LangGraph</a:t>
            </a:r>
            <a:r>
              <a:rPr dirty="0"/>
              <a:t> researches again. If support still cannot be found, the candidate becomes undetermined rather than a fact.</a:t>
            </a:r>
          </a:p>
          <a:p>
            <a:endParaRPr dirty="0"/>
          </a:p>
          <a:p>
            <a:r>
              <a:rPr dirty="0"/>
              <a:t>• [Point to card 3.] The adviser and client confirm the draft inventory and answer the questions public evidence cannot settle.</a:t>
            </a:r>
          </a:p>
          <a:p>
            <a:endParaRPr dirty="0"/>
          </a:p>
          <a:p>
            <a:r>
              <a:rPr dirty="0"/>
              <a:t>• Applying the law remains a separate human-led step.</a:t>
            </a:r>
          </a:p>
          <a:p>
            <a:endParaRPr dirty="0"/>
          </a:p>
          <a:p>
            <a:r>
              <a:rPr dirty="0"/>
              <a:t>• [Pause.]</a:t>
            </a:r>
          </a:p>
          <a:p>
            <a:endParaRPr dirty="0"/>
          </a:p>
          <a:p>
            <a:r>
              <a:rPr dirty="0"/>
              <a:t>• So every stage has a named owner, and the supporting quote never appears from nowhere.</a:t>
            </a:r>
          </a:p>
          <a:p>
            <a:endParaRPr dirty="0"/>
          </a:p>
          <a:p>
            <a:r>
              <a:rPr dirty="0"/>
              <a:t>[If asked — HOW]</a:t>
            </a:r>
          </a:p>
          <a:p>
            <a:r>
              <a:rPr dirty="0"/>
              <a:t>– Which tools handle research?  </a:t>
            </a:r>
            <a:r>
              <a:rPr dirty="0" err="1"/>
              <a:t>LangGraph</a:t>
            </a:r>
            <a:r>
              <a:rPr dirty="0"/>
              <a:t> orchestrates </a:t>
            </a:r>
            <a:r>
              <a:rPr dirty="0" err="1"/>
              <a:t>Serper</a:t>
            </a:r>
            <a:r>
              <a:rPr dirty="0"/>
              <a:t> and </a:t>
            </a:r>
            <a:r>
              <a:rPr dirty="0" err="1"/>
              <a:t>NewsAPI</a:t>
            </a:r>
            <a:r>
              <a:rPr dirty="0"/>
              <a:t> for discovery, GLEIF and </a:t>
            </a:r>
            <a:r>
              <a:rPr dirty="0" err="1"/>
              <a:t>Wikidata</a:t>
            </a:r>
            <a:r>
              <a:rPr dirty="0"/>
              <a:t> for identity, and the page fetcher for the source text.</a:t>
            </a:r>
          </a:p>
          <a:p>
            <a:r>
              <a:rPr dirty="0"/>
              <a:t>– Where does the quote come from?  The same fetched webpage as the candidate fact. Code rejects it if the wording is not present in that page text.</a:t>
            </a:r>
          </a:p>
          <a:p>
            <a:r>
              <a:rPr dirty="0"/>
              <a:t>– What does the adviser add?  Internal confirmation and context that cannot be seen publicly, before any legal classification.</a:t>
            </a:r>
          </a:p>
          <a:p>
            <a:endParaRPr dirty="0"/>
          </a:p>
          <a:p>
            <a:r>
              <a:rPr dirty="0"/>
              <a:t>[Sources]</a:t>
            </a:r>
          </a:p>
          <a:p>
            <a:r>
              <a:rPr dirty="0"/>
              <a:t>- </a:t>
            </a:r>
            <a:r>
              <a:rPr dirty="0" err="1"/>
              <a:t>src</a:t>
            </a:r>
            <a:r>
              <a:rPr dirty="0"/>
              <a:t>/</a:t>
            </a:r>
            <a:r>
              <a:rPr dirty="0" err="1"/>
              <a:t>ai_prescan</a:t>
            </a:r>
            <a:r>
              <a:rPr dirty="0"/>
              <a:t>/</a:t>
            </a:r>
            <a:r>
              <a:rPr dirty="0" err="1"/>
              <a:t>graph.py</a:t>
            </a:r>
            <a:endParaRPr dirty="0"/>
          </a:p>
          <a:p>
            <a:r>
              <a:rPr dirty="0"/>
              <a:t>- </a:t>
            </a:r>
            <a:r>
              <a:rPr dirty="0" err="1"/>
              <a:t>src</a:t>
            </a:r>
            <a:r>
              <a:rPr dirty="0"/>
              <a:t>/</a:t>
            </a:r>
            <a:r>
              <a:rPr dirty="0" err="1"/>
              <a:t>ai_prescan</a:t>
            </a:r>
            <a:r>
              <a:rPr dirty="0"/>
              <a:t>/</a:t>
            </a:r>
            <a:r>
              <a:rPr dirty="0" err="1"/>
              <a:t>extract.py</a:t>
            </a:r>
            <a:endParaRPr dirty="0"/>
          </a:p>
          <a:p>
            <a:r>
              <a:rPr dirty="0"/>
              <a:t>- </a:t>
            </a:r>
            <a:r>
              <a:rPr dirty="0" err="1"/>
              <a:t>src</a:t>
            </a:r>
            <a:r>
              <a:rPr dirty="0"/>
              <a:t>/</a:t>
            </a:r>
            <a:r>
              <a:rPr dirty="0" err="1"/>
              <a:t>ai_prescan</a:t>
            </a:r>
            <a:r>
              <a:rPr dirty="0"/>
              <a:t>/</a:t>
            </a:r>
            <a:r>
              <a:rPr dirty="0" err="1"/>
              <a:t>gate.py</a:t>
            </a:r>
            <a:endParaRPr dirty="0"/>
          </a:p>
          <a:p>
            <a:r>
              <a:rPr dirty="0"/>
              <a:t>- docs/</a:t>
            </a:r>
            <a:r>
              <a:rPr dirty="0" err="1"/>
              <a:t>architecture.md</a:t>
            </a:r>
            <a:endParaRPr dirty="0"/>
          </a:p>
          <a:p>
            <a:r>
              <a:rPr dirty="0"/>
              <a:t>- docs/report-</a:t>
            </a:r>
            <a:r>
              <a:rPr dirty="0" err="1"/>
              <a:t>spec.md</a:t>
            </a:r>
            <a:endParaRPr dirty="0"/>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 [Enter </a:t>
            </a:r>
            <a:r>
              <a:rPr dirty="0" err="1"/>
              <a:t>Personio</a:t>
            </a:r>
            <a:r>
              <a:rPr dirty="0"/>
              <a:t> and press Scan.]</a:t>
            </a:r>
          </a:p>
          <a:p>
            <a:endParaRPr dirty="0"/>
          </a:p>
          <a:p>
            <a:r>
              <a:rPr dirty="0"/>
              <a:t>• I start with nothing but a company name — and take my hands off the keyboard.</a:t>
            </a:r>
          </a:p>
          <a:p>
            <a:endParaRPr dirty="0"/>
          </a:p>
          <a:p>
            <a:r>
              <a:rPr dirty="0"/>
              <a:t>• [If the workflow loops back to research, point to it.]</a:t>
            </a:r>
          </a:p>
          <a:p>
            <a:endParaRPr dirty="0"/>
          </a:p>
          <a:p>
            <a:r>
              <a:rPr dirty="0"/>
              <a:t>• That loop-back is deliberate: the gate refused a claim, so the system went back for better evidence.</a:t>
            </a:r>
          </a:p>
          <a:p>
            <a:endParaRPr dirty="0"/>
          </a:p>
          <a:p>
            <a:r>
              <a:rPr dirty="0"/>
              <a:t>• [Open the </a:t>
            </a:r>
            <a:r>
              <a:rPr dirty="0" err="1"/>
              <a:t>Personio</a:t>
            </a:r>
            <a:r>
              <a:rPr dirty="0"/>
              <a:t> result. Point to the highlighted quote.]</a:t>
            </a:r>
          </a:p>
          <a:p>
            <a:endParaRPr dirty="0"/>
          </a:p>
          <a:p>
            <a:r>
              <a:rPr dirty="0"/>
              <a:t>• Two possible systems: both proven, zero undetermined.</a:t>
            </a:r>
          </a:p>
          <a:p>
            <a:endParaRPr dirty="0"/>
          </a:p>
          <a:p>
            <a:r>
              <a:rPr dirty="0"/>
              <a:t>• The card highlights </a:t>
            </a:r>
            <a:r>
              <a:rPr dirty="0" err="1"/>
              <a:t>Personio</a:t>
            </a:r>
            <a:r>
              <a:rPr dirty="0"/>
              <a:t> Assistant. What makes it proven is this exact sentence from </a:t>
            </a:r>
            <a:r>
              <a:rPr dirty="0" err="1"/>
              <a:t>Personio's</a:t>
            </a:r>
            <a:r>
              <a:rPr dirty="0"/>
              <a:t> own page — not the model's wording.</a:t>
            </a:r>
          </a:p>
          <a:p>
            <a:endParaRPr dirty="0"/>
          </a:p>
          <a:p>
            <a:r>
              <a:rPr dirty="0"/>
              <a:t>• One question still goes to the client: was either tool renamed, repurposed, configured or retrained? Public evidence cannot settle that.</a:t>
            </a:r>
          </a:p>
          <a:p>
            <a:endParaRPr dirty="0"/>
          </a:p>
          <a:p>
            <a:r>
              <a:rPr dirty="0"/>
              <a:t>• [Switch to Ballymaloe Foods.]</a:t>
            </a:r>
          </a:p>
          <a:p>
            <a:endParaRPr dirty="0"/>
          </a:p>
          <a:p>
            <a:r>
              <a:rPr dirty="0"/>
              <a:t>• Here the scan found nothing public — so it claimed nothing, and produced one question.</a:t>
            </a:r>
          </a:p>
          <a:p>
            <a:endParaRPr dirty="0"/>
          </a:p>
          <a:p>
            <a:r>
              <a:rPr dirty="0"/>
              <a:t>• No public evidence is not the same as no AI use. It means an outside scan cannot make that claim.</a:t>
            </a:r>
          </a:p>
          <a:p>
            <a:endParaRPr dirty="0"/>
          </a:p>
          <a:p>
            <a:r>
              <a:rPr dirty="0"/>
              <a:t>• [If the live run fails, open the retained samples — same pipeline, output unedited.]</a:t>
            </a:r>
          </a:p>
          <a:p>
            <a:endParaRPr dirty="0"/>
          </a:p>
          <a:p>
            <a:r>
              <a:rPr dirty="0"/>
              <a:t>• [Pause.]</a:t>
            </a:r>
          </a:p>
          <a:p>
            <a:endParaRPr dirty="0"/>
          </a:p>
          <a:p>
            <a:r>
              <a:rPr dirty="0"/>
              <a:t>• Two companies, two honest results. That honesty is enforced — next slide.</a:t>
            </a:r>
          </a:p>
          <a:p>
            <a:endParaRPr dirty="0"/>
          </a:p>
          <a:p>
            <a:r>
              <a:rPr dirty="0"/>
              <a:t>[If asked — HOW]</a:t>
            </a:r>
          </a:p>
          <a:p>
            <a:r>
              <a:rPr dirty="0"/>
              <a:t>– How do we know these reports are real?  Same pipeline, output unedited — and every finding carries its source URL, a content hash and a fetch date, so anyone can re-check.</a:t>
            </a:r>
          </a:p>
          <a:p>
            <a:r>
              <a:rPr dirty="0"/>
              <a:t>– What happens with a large company vs a tiny one?  Exactly what you see: rich footprint gives findings; nothing public gives an honest zero. The evaluation covers both bands.</a:t>
            </a:r>
          </a:p>
          <a:p>
            <a:r>
              <a:rPr dirty="0"/>
              <a:t>– What if the page changes after the scan?  The stored hash no longer matches — a silently edited page is detectable, not invisible.</a:t>
            </a:r>
          </a:p>
          <a:p>
            <a:endParaRPr dirty="0"/>
          </a:p>
          <a:p>
            <a:r>
              <a:rPr dirty="0"/>
              <a:t>[Sources]</a:t>
            </a:r>
          </a:p>
          <a:p>
            <a:r>
              <a:rPr dirty="0"/>
              <a:t>- </a:t>
            </a:r>
            <a:r>
              <a:rPr dirty="0" err="1"/>
              <a:t>src</a:t>
            </a:r>
            <a:r>
              <a:rPr dirty="0"/>
              <a:t>/</a:t>
            </a:r>
            <a:r>
              <a:rPr dirty="0" err="1"/>
              <a:t>ai_prescan</a:t>
            </a:r>
            <a:r>
              <a:rPr dirty="0"/>
              <a:t>/</a:t>
            </a:r>
            <a:r>
              <a:rPr dirty="0" err="1"/>
              <a:t>fixtures.py</a:t>
            </a:r>
            <a:endParaRPr dirty="0"/>
          </a:p>
          <a:p>
            <a:r>
              <a:rPr dirty="0"/>
              <a:t>- samples/</a:t>
            </a:r>
            <a:r>
              <a:rPr dirty="0" err="1"/>
              <a:t>ballymaloe-foods.md</a:t>
            </a:r>
            <a:endParaRPr dirty="0"/>
          </a:p>
          <a:p>
            <a:r>
              <a:rPr dirty="0"/>
              <a:t>- docs/demo-</a:t>
            </a:r>
            <a:r>
              <a:rPr dirty="0" err="1"/>
              <a:t>plan.md</a:t>
            </a:r>
            <a:endParaRPr dirty="0"/>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 Nothing ships unless three checks pass.</a:t>
            </a:r>
          </a:p>
          <a:p>
            <a:endParaRPr dirty="0"/>
          </a:p>
          <a:p>
            <a:r>
              <a:rPr dirty="0"/>
              <a:t>• One: the quoted sentence really is on the page.</a:t>
            </a:r>
          </a:p>
          <a:p>
            <a:endParaRPr dirty="0"/>
          </a:p>
          <a:p>
            <a:r>
              <a:rPr dirty="0"/>
              <a:t>• Two: we know whose page it is and when we fetched it.</a:t>
            </a:r>
          </a:p>
          <a:p>
            <a:endParaRPr dirty="0"/>
          </a:p>
          <a:p>
            <a:r>
              <a:rPr dirty="0"/>
              <a:t>• Three: the page is recent enough to support the claim.</a:t>
            </a:r>
          </a:p>
          <a:p>
            <a:endParaRPr dirty="0"/>
          </a:p>
          <a:p>
            <a:r>
              <a:rPr dirty="0"/>
              <a:t>• Fail a check → search again. Still unproven → it becomes a client question, not a fact.</a:t>
            </a:r>
          </a:p>
          <a:p>
            <a:endParaRPr dirty="0"/>
          </a:p>
          <a:p>
            <a:r>
              <a:rPr dirty="0"/>
              <a:t>• The record, across every run: 100% of unproven claims refused. Zero false claims where nothing was public. Zero findings missing their source.</a:t>
            </a:r>
          </a:p>
          <a:p>
            <a:endParaRPr dirty="0"/>
          </a:p>
          <a:p>
            <a:r>
              <a:rPr dirty="0"/>
              <a:t>• [Pause.]</a:t>
            </a:r>
          </a:p>
          <a:p>
            <a:endParaRPr dirty="0"/>
          </a:p>
          <a:p>
            <a:r>
              <a:rPr dirty="0"/>
              <a:t>• The trust comes from the gate, not from asking the model to be careful.</a:t>
            </a:r>
          </a:p>
          <a:p>
            <a:endParaRPr dirty="0"/>
          </a:p>
          <a:p>
            <a:r>
              <a:rPr dirty="0"/>
              <a:t>• The gate also explains the architecture — next slide.</a:t>
            </a:r>
          </a:p>
          <a:p>
            <a:endParaRPr dirty="0"/>
          </a:p>
          <a:p>
            <a:r>
              <a:rPr dirty="0"/>
              <a:t>[If asked — HOW]</a:t>
            </a:r>
          </a:p>
          <a:p>
            <a:r>
              <a:rPr dirty="0"/>
              <a:t>– How is check one enforced?  Exact string match against the fetched page text, in code. The model cannot talk its way past it.</a:t>
            </a:r>
          </a:p>
          <a:p>
            <a:r>
              <a:rPr dirty="0"/>
              <a:t>– How do you catch a silently edited page?  Same URL, different content hash — treated as different evidence.</a:t>
            </a:r>
          </a:p>
          <a:p>
            <a:r>
              <a:rPr dirty="0"/>
              <a:t>– How does it choose between retry and undetermined?  It retries while search options remain. Once search is exhausted, the claim becomes undetermined and the reason is recorded.</a:t>
            </a:r>
          </a:p>
          <a:p>
            <a:endParaRPr dirty="0"/>
          </a:p>
          <a:p>
            <a:r>
              <a:rPr dirty="0"/>
              <a:t>[Sources]</a:t>
            </a:r>
          </a:p>
          <a:p>
            <a:r>
              <a:rPr dirty="0"/>
              <a:t>- </a:t>
            </a:r>
            <a:r>
              <a:rPr dirty="0" err="1"/>
              <a:t>src</a:t>
            </a:r>
            <a:r>
              <a:rPr dirty="0"/>
              <a:t>/</a:t>
            </a:r>
            <a:r>
              <a:rPr dirty="0" err="1"/>
              <a:t>ai_prescan</a:t>
            </a:r>
            <a:r>
              <a:rPr dirty="0"/>
              <a:t>/</a:t>
            </a:r>
            <a:r>
              <a:rPr dirty="0" err="1"/>
              <a:t>gate.py</a:t>
            </a:r>
            <a:endParaRPr dirty="0"/>
          </a:p>
          <a:p>
            <a:r>
              <a:rPr dirty="0"/>
              <a:t>- eval/</a:t>
            </a:r>
            <a:r>
              <a:rPr dirty="0" err="1"/>
              <a:t>results.md</a:t>
            </a:r>
            <a:endParaRPr dirty="0"/>
          </a:p>
          <a:p>
            <a:r>
              <a:rPr dirty="0"/>
              <a:t>- docs/</a:t>
            </a:r>
            <a:r>
              <a:rPr dirty="0" err="1"/>
              <a:t>architecture.md</a:t>
            </a:r>
            <a:endParaRPr dirty="0"/>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 The blue outline is the </a:t>
            </a:r>
            <a:r>
              <a:rPr dirty="0" err="1"/>
              <a:t>LangGraph</a:t>
            </a:r>
            <a:r>
              <a:rPr dirty="0"/>
              <a:t> boundary.</a:t>
            </a:r>
          </a:p>
          <a:p>
            <a:endParaRPr dirty="0"/>
          </a:p>
          <a:p>
            <a:r>
              <a:rPr dirty="0"/>
              <a:t>• Inside it are research, extraction, the evidence gate, retry state and report routing.</a:t>
            </a:r>
          </a:p>
          <a:p>
            <a:endParaRPr dirty="0"/>
          </a:p>
          <a:p>
            <a:r>
              <a:rPr dirty="0"/>
              <a:t>• The retry budget is three research passes in total: one initial pass and up to two loop-backs.</a:t>
            </a:r>
          </a:p>
          <a:p>
            <a:endParaRPr dirty="0"/>
          </a:p>
          <a:p>
            <a:r>
              <a:rPr dirty="0"/>
              <a:t>• If any candidate needs better evidence, </a:t>
            </a:r>
            <a:r>
              <a:rPr dirty="0" err="1"/>
              <a:t>LangGraph</a:t>
            </a:r>
            <a:r>
              <a:rPr dirty="0"/>
              <a:t> reruns the whole research stage. This is a scan-level retry, not a separate retry budget for each claim.</a:t>
            </a:r>
          </a:p>
          <a:p>
            <a:endParaRPr dirty="0"/>
          </a:p>
          <a:p>
            <a:r>
              <a:rPr dirty="0"/>
              <a:t>• If every candidate settles earlier, the workflow moves straight to the report.</a:t>
            </a:r>
          </a:p>
          <a:p>
            <a:endParaRPr dirty="0"/>
          </a:p>
          <a:p>
            <a:r>
              <a:rPr dirty="0"/>
              <a:t>• On the third pass, the search budget is exhausted. Anything still unsupported becomes undetermined, with the reason retained.</a:t>
            </a:r>
          </a:p>
          <a:p>
            <a:endParaRPr dirty="0"/>
          </a:p>
          <a:p>
            <a:r>
              <a:rPr dirty="0"/>
              <a:t>• Three passes is a fixed MVP guardrail to bound runtime and API use. It is not dynamically calculated from confidence or failure type, and it has not yet been empirically calibrated.</a:t>
            </a:r>
          </a:p>
          <a:p>
            <a:endParaRPr dirty="0"/>
          </a:p>
          <a:p>
            <a:r>
              <a:rPr dirty="0"/>
              <a:t>• The current retry reruns the research plan. It is not yet a targeted query strategy built from the failed check.</a:t>
            </a:r>
          </a:p>
          <a:p>
            <a:endParaRPr dirty="0"/>
          </a:p>
          <a:p>
            <a:r>
              <a:rPr dirty="0"/>
              <a:t>• Nothing is forced through.</a:t>
            </a:r>
          </a:p>
          <a:p>
            <a:endParaRPr dirty="0"/>
          </a:p>
          <a:p>
            <a:r>
              <a:rPr dirty="0"/>
              <a:t>• The grey rail sits outside </a:t>
            </a:r>
            <a:r>
              <a:rPr dirty="0" err="1"/>
              <a:t>LangGraph</a:t>
            </a:r>
            <a:r>
              <a:rPr dirty="0"/>
              <a:t>: n8n only files the finished report in Notion.</a:t>
            </a:r>
          </a:p>
          <a:p>
            <a:endParaRPr dirty="0"/>
          </a:p>
          <a:p>
            <a:r>
              <a:rPr dirty="0"/>
              <a:t>• n8n does not research, judge evidence or make compliance decisions.</a:t>
            </a:r>
          </a:p>
          <a:p>
            <a:endParaRPr dirty="0"/>
          </a:p>
          <a:p>
            <a:r>
              <a:rPr dirty="0"/>
              <a:t>• We verified delivery from the Notion API response—not only from an n8n success message.</a:t>
            </a:r>
          </a:p>
          <a:p>
            <a:endParaRPr dirty="0"/>
          </a:p>
          <a:p>
            <a:r>
              <a:rPr dirty="0"/>
              <a:t>• The same architecture points to a recurring product, not just a one-off scan.</a:t>
            </a:r>
          </a:p>
          <a:p>
            <a:endParaRPr dirty="0"/>
          </a:p>
          <a:p>
            <a:r>
              <a:rPr dirty="0"/>
              <a:t>[If asked — HOW]</a:t>
            </a:r>
          </a:p>
          <a:p>
            <a:r>
              <a:rPr dirty="0"/>
              <a:t>– Why three passes?  It is a fixed MVP safety limit for runtime and API cost, not a model confidence threshold. It still needs pilot calibration.</a:t>
            </a:r>
          </a:p>
          <a:p>
            <a:r>
              <a:rPr dirty="0"/>
              <a:t>– Is that three retries?  No. Three passes total means one initial research pass and at most two retries.</a:t>
            </a:r>
          </a:p>
          <a:p>
            <a:r>
              <a:rPr dirty="0"/>
              <a:t>– Is the retry per claim?  No. Any retry request sends the scan-level research stage around again; unresolved claims become undetermined after pass three.</a:t>
            </a:r>
          </a:p>
          <a:p>
            <a:r>
              <a:rPr dirty="0"/>
              <a:t>– Why is n8n kept outside?  It only files the finished report. If delivery fails, the evidence is untouched—and delivery was verified from the Notion API response, not n8n's success banner.</a:t>
            </a:r>
          </a:p>
          <a:p>
            <a:endParaRPr dirty="0"/>
          </a:p>
          <a:p>
            <a:r>
              <a:rPr dirty="0"/>
              <a:t>[Sources]</a:t>
            </a:r>
          </a:p>
          <a:p>
            <a:r>
              <a:rPr dirty="0"/>
              <a:t>- </a:t>
            </a:r>
            <a:r>
              <a:rPr dirty="0" err="1"/>
              <a:t>src</a:t>
            </a:r>
            <a:r>
              <a:rPr dirty="0"/>
              <a:t>/</a:t>
            </a:r>
            <a:r>
              <a:rPr dirty="0" err="1"/>
              <a:t>ai_prescan</a:t>
            </a:r>
            <a:r>
              <a:rPr dirty="0"/>
              <a:t>/</a:t>
            </a:r>
            <a:r>
              <a:rPr dirty="0" err="1"/>
              <a:t>graph.py</a:t>
            </a:r>
            <a:endParaRPr dirty="0"/>
          </a:p>
          <a:p>
            <a:r>
              <a:rPr dirty="0"/>
              <a:t>- </a:t>
            </a:r>
            <a:r>
              <a:rPr dirty="0" err="1"/>
              <a:t>src</a:t>
            </a:r>
            <a:r>
              <a:rPr dirty="0"/>
              <a:t>/</a:t>
            </a:r>
            <a:r>
              <a:rPr dirty="0" err="1"/>
              <a:t>ai_prescan</a:t>
            </a:r>
            <a:r>
              <a:rPr dirty="0"/>
              <a:t>/</a:t>
            </a:r>
            <a:r>
              <a:rPr dirty="0" err="1"/>
              <a:t>gate.py</a:t>
            </a:r>
            <a:endParaRPr dirty="0"/>
          </a:p>
          <a:p>
            <a:r>
              <a:rPr dirty="0"/>
              <a:t>- </a:t>
            </a:r>
            <a:r>
              <a:rPr dirty="0" err="1"/>
              <a:t>stack_decision.md</a:t>
            </a:r>
            <a:endParaRPr dirty="0"/>
          </a:p>
          <a:p>
            <a:r>
              <a:rPr dirty="0"/>
              <a:t>- docs/</a:t>
            </a:r>
            <a:r>
              <a:rPr dirty="0" err="1"/>
              <a:t>architecture.md</a:t>
            </a:r>
            <a:endParaRPr dirty="0"/>
          </a:p>
          <a:p>
            <a:r>
              <a:rPr dirty="0"/>
              <a:t>- workflows/</a:t>
            </a:r>
            <a:r>
              <a:rPr dirty="0" err="1"/>
              <a:t>README.md</a:t>
            </a:r>
            <a:endParaRPr dirty="0"/>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 Today the MVP is an on-demand scan of one company. Everything on this slide is designed, not built.</a:t>
            </a:r>
          </a:p>
          <a:p>
            <a:endParaRPr dirty="0"/>
          </a:p>
          <a:p>
            <a:r>
              <a:rPr dirty="0"/>
              <a:t>• May: the client already uses hiring software. No AI feature evidenced.</a:t>
            </a:r>
          </a:p>
          <a:p>
            <a:endParaRPr dirty="0"/>
          </a:p>
          <a:p>
            <a:r>
              <a:rPr dirty="0"/>
              <a:t>• June: the vendor adds AI CV-ranking. The client buys nothing new.</a:t>
            </a:r>
          </a:p>
          <a:p>
            <a:endParaRPr dirty="0"/>
          </a:p>
          <a:p>
            <a:r>
              <a:rPr dirty="0"/>
              <a:t>• July: the adviser gets an alert — this client's AI inventory just changed.</a:t>
            </a:r>
          </a:p>
          <a:p>
            <a:endParaRPr dirty="0"/>
          </a:p>
          <a:p>
            <a:r>
              <a:rPr dirty="0"/>
              <a:t>• One vendor update like that can ripple across an adviser's entire portfolio.</a:t>
            </a:r>
          </a:p>
          <a:p>
            <a:endParaRPr dirty="0"/>
          </a:p>
          <a:p>
            <a:r>
              <a:rPr dirty="0"/>
              <a:t>• The test ahead: pilot with advisers, prove the alerts are useful, then ongoing monitoring.</a:t>
            </a:r>
          </a:p>
          <a:p>
            <a:endParaRPr dirty="0"/>
          </a:p>
          <a:p>
            <a:r>
              <a:rPr dirty="0"/>
              <a:t>• [Pause.]</a:t>
            </a:r>
          </a:p>
          <a:p>
            <a:endParaRPr dirty="0"/>
          </a:p>
          <a:p>
            <a:r>
              <a:rPr dirty="0"/>
              <a:t>• That turns a blank-page scan into an auditable, recurring conversation.</a:t>
            </a:r>
          </a:p>
          <a:p>
            <a:endParaRPr dirty="0"/>
          </a:p>
          <a:p>
            <a:r>
              <a:rPr dirty="0"/>
              <a:t>• [End the timed talk here. Appendix only for questions.]</a:t>
            </a:r>
          </a:p>
          <a:p>
            <a:endParaRPr dirty="0"/>
          </a:p>
          <a:p>
            <a:r>
              <a:rPr dirty="0"/>
              <a:t>[If asked — HOW]</a:t>
            </a:r>
          </a:p>
          <a:p>
            <a:r>
              <a:rPr dirty="0"/>
              <a:t>– How would drift be detected?  Re-scan on a schedule and diff against the last inventory; vendor-corpus ingestion would watch vendor releases. Both designed, not built.</a:t>
            </a:r>
          </a:p>
          <a:p>
            <a:r>
              <a:rPr dirty="0"/>
              <a:t>– How do you avoid alert noise?  Unproven. That is precisely what the adviser pilot has to prove before monitoring is sold.</a:t>
            </a:r>
          </a:p>
          <a:p>
            <a:endParaRPr dirty="0"/>
          </a:p>
          <a:p>
            <a:r>
              <a:rPr dirty="0"/>
              <a:t>[Sources]</a:t>
            </a:r>
          </a:p>
          <a:p>
            <a:r>
              <a:rPr dirty="0"/>
              <a:t>- </a:t>
            </a:r>
            <a:r>
              <a:rPr dirty="0" err="1"/>
              <a:t>gtm_future_sprints.md</a:t>
            </a:r>
            <a:endParaRPr dirty="0"/>
          </a:p>
          <a:p>
            <a:r>
              <a:rPr dirty="0"/>
              <a:t>- docs/elevator-</a:t>
            </a:r>
            <a:r>
              <a:rPr dirty="0" err="1"/>
              <a:t>pitch.md</a:t>
            </a:r>
            <a:endParaRPr dirty="0"/>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 This slide has two halves: what held every time on the left, what did not on the right.</a:t>
            </a:r>
          </a:p>
          <a:p>
            <a:endParaRPr dirty="0"/>
          </a:p>
          <a:p>
            <a:r>
              <a:rPr dirty="0"/>
              <a:t>• Left, in plain terms. When there was nothing public to find, the system said so — all three companies with no public AI footprint came back undetermined, and it invented nothing about them. And every finding it did make traces back to a source that was checked: none failed that check, across sixty-four findings.</a:t>
            </a:r>
          </a:p>
          <a:p>
            <a:endParaRPr dirty="0"/>
          </a:p>
          <a:p>
            <a:r>
              <a:rPr dirty="0"/>
              <a:t>• Right: three places we fall short. The bar is what we got, the dark line is where we need to be.</a:t>
            </a:r>
          </a:p>
          <a:p>
            <a:endParaRPr dirty="0"/>
          </a:p>
          <a:p>
            <a:r>
              <a:rPr dirty="0"/>
              <a:t>• We find about 45% of the systems we should. We want 75%.</a:t>
            </a:r>
          </a:p>
          <a:p>
            <a:endParaRPr dirty="0"/>
          </a:p>
          <a:p>
            <a:r>
              <a:rPr dirty="0"/>
              <a:t>• We label a company's role — provider or deployer, which decides who carries the obligation — correctly about 74% of the time. We want 90%.</a:t>
            </a:r>
          </a:p>
          <a:p>
            <a:endParaRPr dirty="0"/>
          </a:p>
          <a:p>
            <a:r>
              <a:rPr dirty="0"/>
              <a:t>• The third one runs the other way: lower is better. Where a vendor has an AI capability, we wrongly report the client as deploying it a third of the time. The limit is 10%.</a:t>
            </a:r>
          </a:p>
          <a:p>
            <a:endParaRPr dirty="0"/>
          </a:p>
          <a:p>
            <a:r>
              <a:rPr dirty="0"/>
              <a:t>• Worth separating two things that sound alike. "Stayed silent" on the left is about no evidence at all — we never guess into a vacuum. "Claimed use without proof" on the right is a different failure: the capability genuinely exists, and we over-read that as the client using it. The first is perfect. The second is our worst number.</a:t>
            </a:r>
          </a:p>
          <a:p>
            <a:endParaRPr dirty="0"/>
          </a:p>
          <a:p>
            <a:r>
              <a:rPr dirty="0"/>
              <a:t>• [Pause.]</a:t>
            </a:r>
          </a:p>
          <a:p>
            <a:endParaRPr dirty="0"/>
          </a:p>
          <a:p>
            <a:r>
              <a:rPr dirty="0"/>
              <a:t>• The strip at the bottom is why I trust the left column and not the right. Identical code, two runs: 56% and 44%. Search results move, pages change under stable URLs, and extraction is not deterministic.</a:t>
            </a:r>
          </a:p>
          <a:p>
            <a:endParaRPr dirty="0"/>
          </a:p>
          <a:p>
            <a:r>
              <a:rPr dirty="0"/>
              <a:t>• So one run cannot prove an improvement. The honesty controls are the numbers worth quoting because they never moved — and before I claim any tuning worked, this needs repeated runs or a frozen page cache.</a:t>
            </a:r>
          </a:p>
          <a:p>
            <a:endParaRPr dirty="0"/>
          </a:p>
          <a:p>
            <a:r>
              <a:rPr dirty="0"/>
              <a:t>[If asked — HOW]</a:t>
            </a:r>
          </a:p>
          <a:p>
            <a:r>
              <a:rPr dirty="0"/>
              <a:t>– How was ground truth built?  Twelve companies, hand-verified, in four bands of three — including three with no public AI footprint, where even the empty searches are documented.</a:t>
            </a:r>
          </a:p>
          <a:p>
            <a:r>
              <a:rPr dirty="0"/>
              <a:t>– How do you know 56→44 is noise and not a regression?  Identical code in both runs. Only the web moved. That is the whole point of the strip.</a:t>
            </a:r>
          </a:p>
          <a:p>
            <a:r>
              <a:rPr dirty="0"/>
              <a:t>– How will you improve recall?  Not until runs are comparable — repeated runs with a variance estimate, or a frozen page cache, come first. Otherwise tuning chases noise.</a:t>
            </a:r>
          </a:p>
          <a:p>
            <a:endParaRPr dirty="0"/>
          </a:p>
          <a:p>
            <a:r>
              <a:rPr dirty="0"/>
              <a:t>[Sources]</a:t>
            </a:r>
          </a:p>
          <a:p>
            <a:r>
              <a:rPr dirty="0"/>
              <a:t>- eval/</a:t>
            </a:r>
            <a:r>
              <a:rPr dirty="0" err="1"/>
              <a:t>results.json</a:t>
            </a:r>
            <a:endParaRPr dirty="0"/>
          </a:p>
          <a:p>
            <a:r>
              <a:rPr dirty="0"/>
              <a:t>- docs/eval-</a:t>
            </a:r>
            <a:r>
              <a:rPr dirty="0" err="1"/>
              <a:t>plan.md</a:t>
            </a:r>
            <a:endParaRPr dirty="0"/>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 The boundary is deliberate.</a:t>
            </a:r>
          </a:p>
          <a:p>
            <a:endParaRPr dirty="0"/>
          </a:p>
          <a:p>
            <a:r>
              <a:rPr dirty="0"/>
              <a:t>• AI Pre-Scan establishes facts from public sources: possible systems, the exact quoted evidence, where every fact came from, and the questions still open.</a:t>
            </a:r>
          </a:p>
          <a:p>
            <a:endParaRPr dirty="0"/>
          </a:p>
          <a:p>
            <a:r>
              <a:rPr dirty="0"/>
              <a:t>• It does not classify legal risk.</a:t>
            </a:r>
          </a:p>
          <a:p>
            <a:endParaRPr dirty="0"/>
          </a:p>
          <a:p>
            <a:r>
              <a:rPr dirty="0"/>
              <a:t>• An adviser confirms the facts with the client — that is the human-review checkpoint.</a:t>
            </a:r>
          </a:p>
          <a:p>
            <a:endParaRPr dirty="0"/>
          </a:p>
          <a:p>
            <a:r>
              <a:rPr dirty="0"/>
              <a:t>• Only then does a separate deterministic checker classify risk and determine obligations.</a:t>
            </a:r>
          </a:p>
          <a:p>
            <a:endParaRPr dirty="0"/>
          </a:p>
          <a:p>
            <a:r>
              <a:rPr dirty="0"/>
              <a:t>• Internal tools, systems behind a login, employees' personal AI — all outside an external scan's field of view, and we say so.</a:t>
            </a:r>
          </a:p>
          <a:p>
            <a:endParaRPr dirty="0"/>
          </a:p>
          <a:p>
            <a:r>
              <a:rPr dirty="0"/>
              <a:t>• [Pause.]</a:t>
            </a:r>
          </a:p>
          <a:p>
            <a:endParaRPr dirty="0"/>
          </a:p>
          <a:p>
            <a:r>
              <a:rPr dirty="0"/>
              <a:t>• Never claimed: complete visibility, legal advice, or an autonomous compliance decision.</a:t>
            </a:r>
          </a:p>
          <a:p>
            <a:endParaRPr dirty="0"/>
          </a:p>
          <a:p>
            <a:r>
              <a:rPr dirty="0"/>
              <a:t>[If asked — HOW]</a:t>
            </a:r>
          </a:p>
          <a:p>
            <a:r>
              <a:rPr dirty="0"/>
              <a:t>– How does the checker consume this?  As checker-ready rows: every factual field it needs, confirmed by the adviser before anything is classified.</a:t>
            </a:r>
          </a:p>
          <a:p>
            <a:r>
              <a:rPr dirty="0"/>
              <a:t>– How is the checker different from the scan?  The scan gathers facts with AI help and proves them. The checker is deterministic rules applying the AI Act to confirmed facts. No model decides a legal outcome.</a:t>
            </a:r>
          </a:p>
          <a:p>
            <a:endParaRPr dirty="0"/>
          </a:p>
          <a:p>
            <a:r>
              <a:rPr dirty="0"/>
              <a:t>[Sources]</a:t>
            </a:r>
          </a:p>
          <a:p>
            <a:r>
              <a:rPr dirty="0"/>
              <a:t>- </a:t>
            </a:r>
            <a:r>
              <a:rPr dirty="0" err="1"/>
              <a:t>README.md</a:t>
            </a:r>
            <a:endParaRPr dirty="0"/>
          </a:p>
          <a:p>
            <a:r>
              <a:rPr dirty="0"/>
              <a:t>- docs/report-</a:t>
            </a:r>
            <a:r>
              <a:rPr dirty="0" err="1"/>
              <a:t>spec.md</a:t>
            </a:r>
            <a:endParaRPr dirty="0"/>
          </a:p>
          <a:p>
            <a:r>
              <a:rPr dirty="0"/>
              <a:t>- docs/elevator-</a:t>
            </a:r>
            <a:r>
              <a:rPr dirty="0" err="1"/>
              <a:t>pitch.md</a:t>
            </a:r>
            <a:endParaRPr dirty="0"/>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 The MVP works end to end.</a:t>
            </a:r>
          </a:p>
          <a:p>
            <a:endParaRPr dirty="0"/>
          </a:p>
          <a:p>
            <a:r>
              <a:rPr dirty="0"/>
              <a:t>• It runs in the browser or from the command line with a company-name trigger.</a:t>
            </a:r>
          </a:p>
          <a:p>
            <a:endParaRPr dirty="0"/>
          </a:p>
          <a:p>
            <a:r>
              <a:rPr dirty="0"/>
              <a:t>• It finds evidence through </a:t>
            </a:r>
            <a:r>
              <a:rPr dirty="0" err="1"/>
              <a:t>Serper</a:t>
            </a:r>
            <a:r>
              <a:rPr dirty="0"/>
              <a:t>, </a:t>
            </a:r>
            <a:r>
              <a:rPr dirty="0" err="1"/>
              <a:t>NewsAPI</a:t>
            </a:r>
            <a:r>
              <a:rPr dirty="0"/>
              <a:t>, GLEIF and </a:t>
            </a:r>
            <a:r>
              <a:rPr dirty="0" err="1"/>
              <a:t>Wikidata</a:t>
            </a:r>
            <a:r>
              <a:rPr dirty="0"/>
              <a:t>.</a:t>
            </a:r>
          </a:p>
          <a:p>
            <a:endParaRPr dirty="0"/>
          </a:p>
          <a:p>
            <a:r>
              <a:rPr dirty="0"/>
              <a:t>• OpenAI supports extraction, Pinecone stores evidence and the deterministic gate verifies each finding.</a:t>
            </a:r>
          </a:p>
          <a:p>
            <a:endParaRPr dirty="0"/>
          </a:p>
          <a:p>
            <a:r>
              <a:rPr dirty="0"/>
              <a:t>• The output is a Markdown report; n8n can deliver it into Notion.</a:t>
            </a:r>
          </a:p>
          <a:p>
            <a:endParaRPr dirty="0"/>
          </a:p>
          <a:p>
            <a:r>
              <a:rPr dirty="0"/>
              <a:t>• The evidence base includes a twelve-company evaluation, two retained sample reports and 107 passing offline tests.</a:t>
            </a:r>
          </a:p>
          <a:p>
            <a:endParaRPr dirty="0"/>
          </a:p>
          <a:p>
            <a:r>
              <a:rPr dirty="0"/>
              <a:t>• The retained samples are generated artefacts—not hand-edited showcase copy.</a:t>
            </a:r>
          </a:p>
          <a:p>
            <a:endParaRPr dirty="0"/>
          </a:p>
          <a:p>
            <a:r>
              <a:rPr dirty="0"/>
              <a:t>• [Pause.]</a:t>
            </a:r>
          </a:p>
          <a:p>
            <a:endParaRPr dirty="0"/>
          </a:p>
          <a:p>
            <a:r>
              <a:rPr dirty="0"/>
              <a:t>• Scheduled sweeps and vendor-corpus ingestion are designed next steps, not part of the built MVP.</a:t>
            </a:r>
          </a:p>
          <a:p>
            <a:endParaRPr dirty="0"/>
          </a:p>
          <a:p>
            <a:r>
              <a:rPr dirty="0"/>
              <a:t>[If asked — HOW]</a:t>
            </a:r>
          </a:p>
          <a:p>
            <a:r>
              <a:rPr dirty="0"/>
              <a:t>– How is it tested?  107 offline tests, plus the twelve-company evaluation and the two retained sample reports.</a:t>
            </a:r>
          </a:p>
          <a:p>
            <a:r>
              <a:rPr dirty="0"/>
              <a:t>– How does delivery work?  A webhook posts the finished report to n8n, which files it in Notion — verified against the Notion API response.</a:t>
            </a:r>
          </a:p>
          <a:p>
            <a:r>
              <a:rPr dirty="0"/>
              <a:t>– What does a scan cost?  Not formally benchmarked. It is a small number of search and model calls per company — the checks themselves are free, they are code. Measuring cost per scan is part of pilot prep.</a:t>
            </a:r>
          </a:p>
          <a:p>
            <a:endParaRPr dirty="0"/>
          </a:p>
          <a:p>
            <a:r>
              <a:rPr dirty="0"/>
              <a:t>[Sources]</a:t>
            </a:r>
          </a:p>
          <a:p>
            <a:r>
              <a:rPr dirty="0"/>
              <a:t>- </a:t>
            </a:r>
            <a:r>
              <a:rPr dirty="0" err="1"/>
              <a:t>README.md</a:t>
            </a:r>
            <a:endParaRPr dirty="0"/>
          </a:p>
          <a:p>
            <a:r>
              <a:rPr dirty="0"/>
              <a:t>- docs/</a:t>
            </a:r>
            <a:r>
              <a:rPr dirty="0" err="1"/>
              <a:t>architecture.md</a:t>
            </a:r>
            <a:endParaRPr dirty="0"/>
          </a:p>
          <a:p>
            <a:r>
              <a:rPr dirty="0"/>
              <a:t>- workflows/</a:t>
            </a:r>
            <a:r>
              <a:rPr dirty="0" err="1"/>
              <a:t>README.md</a:t>
            </a:r>
            <a:endParaRPr dirty="0"/>
          </a:p>
          <a:p>
            <a:r>
              <a:rPr dirty="0"/>
              <a:t>- eval/</a:t>
            </a:r>
            <a:r>
              <a:rPr dirty="0" err="1"/>
              <a:t>results.md</a:t>
            </a:r>
            <a:endParaRPr dirty="0"/>
          </a:p>
          <a:p>
            <a:r>
              <a:rPr dirty="0"/>
              <a:t>- samples/</a:t>
            </a:r>
            <a:r>
              <a:rPr dirty="0" err="1"/>
              <a:t>personio.md</a:t>
            </a:r>
            <a:endParaRPr dirty="0"/>
          </a:p>
          <a:p>
            <a:r>
              <a:rPr dirty="0"/>
              <a:t>- samples/</a:t>
            </a:r>
            <a:r>
              <a:rPr dirty="0" err="1"/>
              <a:t>ballymaloe-foods.md</a:t>
            </a:r>
            <a:endParaRPr dirty="0"/>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MASTER">
    <p:bg>
      <p:bgPr>
        <a:solidFill>
          <a:srgbClr val="FBFCFE"/>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4D166689-95A8-483D-8E18-D9579C377F9E}"/>
              </a:ext>
            </a:extLst>
          </p:cNvPr>
          <p:cNvSpPr>
            <a:spLocks noGrp="1"/>
          </p:cNvSpPr>
          <p:nvPr/>
        </p:nvSpPr>
        <p:spPr>
          <a:xfrm>
            <a:off x="0" y="0"/>
            <a:ext cx="109440" cy="6857640"/>
          </a:xfrm>
          <a:prstGeom prst="rect">
            <a:avLst/>
          </a:prstGeom>
          <a:solidFill>
            <a:srgbClr val="2563EB"/>
          </a:solidFill>
          <a:ln w="12700">
            <a:solidFill>
              <a:srgbClr val="2563EB"/>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FFFFFF"/>
              </a:solidFill>
              <a:latin typeface="Arial"/>
              <a:ea typeface="Arial"/>
              <a:cs typeface="Arial"/>
            </a:endParaRPr>
          </a:p>
        </p:txBody>
      </p:sp>
      <p:sp>
        <p:nvSpPr>
          <p:cNvPr id="3" name="PlaceHolder 1">
            <a:extLst>
              <a:ext uri="{FF2B5EF4-FFF2-40B4-BE49-F238E27FC236}">
                <a16:creationId xmlns:a16="http://schemas.microsoft.com/office/drawing/2014/main" id="{7BD02B0F-168B-48D7-82C0-1C1D72DD8BBA}"/>
              </a:ext>
            </a:extLst>
          </p:cNvPr>
          <p:cNvSpPr>
            <a:spLocks noGrp="1"/>
          </p:cNvSpPr>
          <p:nvPr>
            <p:ph type="sldNum" idx="1"/>
          </p:nvPr>
        </p:nvSpPr>
        <p:spPr>
          <a:xfrm>
            <a:off x="11292840" y="6428160"/>
            <a:ext cx="319680" cy="182520"/>
          </a:xfrm>
          <a:prstGeom prst="rect">
            <a:avLst/>
          </a:prstGeom>
          <a:noFill/>
          <a:ln w="0">
            <a:noFill/>
          </a:ln>
        </p:spPr>
        <p:txBody>
          <a:bodyPr lIns="0" tIns="0" rIns="0" bIns="0" anchor="t">
            <a:noAutofit/>
          </a:bodyPr>
          <a:lstStyle>
            <a:lvl1pPr indent="0" algn="r" defTabSz="914400">
              <a:lnSpc>
                <a:spcPct val="100000"/>
              </a:lnSpc>
              <a:buNone/>
              <a:defRPr sz="900" b="0" u="none">
                <a:solidFill>
                  <a:srgbClr val="94A3B8"/>
                </a:solidFill>
                <a:latin typeface="Aptos"/>
                <a:ea typeface="Aptos"/>
                <a:cs typeface="Aptos"/>
              </a:defRPr>
            </a:lvl1pPr>
          </a:lstStyle>
          <a:p>
            <a:pPr indent="0" algn="r" defTabSz="914400">
              <a:lnSpc>
                <a:spcPct val="100000"/>
              </a:lnSpc>
              <a:buNone/>
            </a:pPr>
            <a:fld id="{A95547B3-D671-4D4C-B9A9-29366E135E7C}" type="slidenum">
              <a:rPr sz="900" b="0" u="none">
                <a:solidFill>
                  <a:srgbClr val="94A3B8"/>
                </a:solidFill>
                <a:latin typeface="Aptos"/>
                <a:ea typeface="Aptos"/>
                <a:cs typeface="Aptos"/>
              </a:rPr>
              <a:t>‹#›</a:t>
            </a:fld>
            <a:endParaRPr sz="900" b="0" u="none">
              <a:solidFill>
                <a:srgbClr val="000000"/>
              </a:solidFill>
              <a:latin typeface="Times New Roman"/>
              <a:ea typeface="Times New Roman"/>
              <a:cs typeface="Times New Roman"/>
            </a:endParaRPr>
          </a:p>
        </p:txBody>
      </p:sp>
      <p:sp>
        <p:nvSpPr>
          <p:cNvPr id="4" name="PlaceHolder 2">
            <a:extLst>
              <a:ext uri="{FF2B5EF4-FFF2-40B4-BE49-F238E27FC236}">
                <a16:creationId xmlns:a16="http://schemas.microsoft.com/office/drawing/2014/main" id="{20FBEA45-2BB8-4D2C-9D8E-BE7A91B9FD9B}"/>
              </a:ext>
            </a:extLst>
          </p:cNvPr>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sz="1800" b="0" u="none">
                <a:solidFill>
                  <a:schemeClr val="dk1"/>
                </a:solidFill>
                <a:latin typeface="Aptos"/>
                <a:ea typeface="Aptos"/>
                <a:cs typeface="Aptos"/>
              </a:defRPr>
            </a:lvl1pPr>
          </a:lstStyle>
          <a:p>
            <a:pPr indent="0" algn="l">
              <a:buNone/>
            </a:pPr>
            <a:r>
              <a:rPr sz="1800" b="0" u="none">
                <a:solidFill>
                  <a:schemeClr val="dk1"/>
                </a:solidFill>
                <a:latin typeface="Aptos"/>
                <a:ea typeface="Aptos"/>
                <a:cs typeface="Aptos"/>
              </a:rPr>
              <a:t>Click to edit the title text format</a:t>
            </a:r>
          </a:p>
        </p:txBody>
      </p:sp>
      <p:sp>
        <p:nvSpPr>
          <p:cNvPr id="5" name="PlaceHolder 3">
            <a:extLst>
              <a:ext uri="{FF2B5EF4-FFF2-40B4-BE49-F238E27FC236}">
                <a16:creationId xmlns:a16="http://schemas.microsoft.com/office/drawing/2014/main" id="{CEED2F09-57BF-4B7E-9012-007BC6D6CA7B}"/>
              </a:ext>
            </a:extLst>
          </p:cNvPr>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a:buChar char=""/>
              <a:defRPr sz="3200" b="0" u="none">
                <a:solidFill>
                  <a:schemeClr val="dk1"/>
                </a:solidFill>
                <a:latin typeface="Aptos"/>
                <a:ea typeface="Aptos"/>
                <a:cs typeface="Aptos"/>
              </a:defRPr>
            </a:lvl1pPr>
            <a:lvl2pPr algn="l">
              <a:spcBef>
                <a:spcPts val="1134"/>
              </a:spcBef>
              <a:buClr>
                <a:srgbClr val="000000"/>
              </a:buClr>
              <a:buSzPct val="75000"/>
              <a:buFont typeface="Symbol"/>
              <a:buChar char=""/>
              <a:defRPr sz="2400" b="0" u="none">
                <a:solidFill>
                  <a:schemeClr val="dk1"/>
                </a:solidFill>
                <a:latin typeface="Aptos"/>
                <a:ea typeface="Aptos"/>
                <a:cs typeface="Aptos"/>
              </a:defRPr>
            </a:lvl2pPr>
            <a:lvl3pPr algn="l">
              <a:spcBef>
                <a:spcPts val="850"/>
              </a:spcBef>
              <a:buClr>
                <a:srgbClr val="000000"/>
              </a:buClr>
              <a:buSzPct val="45000"/>
              <a:buFont typeface="Wingdings"/>
              <a:buChar char=""/>
              <a:defRPr sz="2000" b="0" u="none">
                <a:solidFill>
                  <a:schemeClr val="dk1"/>
                </a:solidFill>
                <a:latin typeface="Aptos"/>
                <a:ea typeface="Aptos"/>
                <a:cs typeface="Aptos"/>
              </a:defRPr>
            </a:lvl3pPr>
            <a:lvl4pPr algn="l">
              <a:spcBef>
                <a:spcPts val="567"/>
              </a:spcBef>
              <a:buClr>
                <a:srgbClr val="000000"/>
              </a:buClr>
              <a:buSzPct val="75000"/>
              <a:buFont typeface="Symbol"/>
              <a:buChar char=""/>
              <a:defRPr sz="2000" b="0" u="none">
                <a:solidFill>
                  <a:schemeClr val="dk1"/>
                </a:solidFill>
                <a:latin typeface="Aptos"/>
                <a:ea typeface="Aptos"/>
                <a:cs typeface="Aptos"/>
              </a:defRPr>
            </a:lvl4pPr>
            <a:lvl5pPr algn="l">
              <a:spcBef>
                <a:spcPts val="283"/>
              </a:spcBef>
              <a:buClr>
                <a:srgbClr val="000000"/>
              </a:buClr>
              <a:buSzPct val="45000"/>
              <a:buFont typeface="Wingdings"/>
              <a:buChar char=""/>
              <a:defRPr sz="2000" b="0" u="none">
                <a:solidFill>
                  <a:schemeClr val="dk1"/>
                </a:solidFill>
                <a:latin typeface="Aptos"/>
                <a:ea typeface="Aptos"/>
                <a:cs typeface="Aptos"/>
              </a:defRPr>
            </a:lvl5pPr>
            <a:lvl6pPr algn="l">
              <a:spcBef>
                <a:spcPts val="283"/>
              </a:spcBef>
              <a:buClr>
                <a:srgbClr val="000000"/>
              </a:buClr>
              <a:buSzPct val="45000"/>
              <a:buFont typeface="Wingdings"/>
              <a:buChar char=""/>
              <a:defRPr sz="2000" b="0" u="none">
                <a:solidFill>
                  <a:schemeClr val="dk1"/>
                </a:solidFill>
                <a:latin typeface="Aptos"/>
                <a:ea typeface="Aptos"/>
                <a:cs typeface="Aptos"/>
              </a:defRPr>
            </a:lvl6pPr>
            <a:lvl7pPr algn="l">
              <a:spcBef>
                <a:spcPts val="283"/>
              </a:spcBef>
              <a:buClr>
                <a:srgbClr val="000000"/>
              </a:buClr>
              <a:buSzPct val="45000"/>
              <a:buFont typeface="Wingdings"/>
              <a:buChar char=""/>
              <a:defRPr sz="2000" b="0" u="none">
                <a:solidFill>
                  <a:schemeClr val="dk1"/>
                </a:solidFill>
                <a:latin typeface="Aptos"/>
                <a:ea typeface="Aptos"/>
                <a:cs typeface="Aptos"/>
              </a:defRPr>
            </a:lvl7pPr>
          </a:lstStyle>
          <a:p>
            <a:pPr marL="432000" indent="-324000" algn="l">
              <a:spcBef>
                <a:spcPts val="1417"/>
              </a:spcBef>
              <a:buClr>
                <a:srgbClr val="000000"/>
              </a:buClr>
              <a:buSzPct val="45000"/>
              <a:buFont typeface="Wingdings"/>
              <a:buChar char=""/>
            </a:pPr>
            <a:r>
              <a:rPr sz="3200" b="0" u="none">
                <a:solidFill>
                  <a:schemeClr val="dk1"/>
                </a:solidFill>
                <a:latin typeface="Aptos"/>
                <a:ea typeface="Aptos"/>
                <a:cs typeface="Aptos"/>
              </a:rPr>
              <a:t>Click to edit the outline text format</a:t>
            </a:r>
          </a:p>
          <a:p>
            <a:pPr marL="864000" lvl="1" indent="-324000" algn="l">
              <a:spcBef>
                <a:spcPts val="1134"/>
              </a:spcBef>
              <a:buClr>
                <a:srgbClr val="000000"/>
              </a:buClr>
              <a:buSzPct val="75000"/>
              <a:buFont typeface="Symbol"/>
              <a:buChar char=""/>
            </a:pPr>
            <a:r>
              <a:rPr sz="2400" b="0" u="none">
                <a:solidFill>
                  <a:schemeClr val="dk1"/>
                </a:solidFill>
                <a:latin typeface="Aptos"/>
                <a:ea typeface="Aptos"/>
                <a:cs typeface="Aptos"/>
              </a:rPr>
              <a:t>Second Outline Level</a:t>
            </a:r>
          </a:p>
          <a:p>
            <a:pPr marL="1296000" lvl="2" indent="-288000" algn="l">
              <a:spcBef>
                <a:spcPts val="850"/>
              </a:spcBef>
              <a:buClr>
                <a:srgbClr val="000000"/>
              </a:buClr>
              <a:buSzPct val="45000"/>
              <a:buFont typeface="Wingdings"/>
              <a:buChar char=""/>
            </a:pPr>
            <a:r>
              <a:rPr sz="2000" b="0" u="none">
                <a:solidFill>
                  <a:schemeClr val="dk1"/>
                </a:solidFill>
                <a:latin typeface="Aptos"/>
                <a:ea typeface="Aptos"/>
                <a:cs typeface="Aptos"/>
              </a:rPr>
              <a:t>Third Outline Level</a:t>
            </a:r>
          </a:p>
          <a:p>
            <a:pPr marL="1728000" lvl="3" indent="-216000" algn="l">
              <a:spcBef>
                <a:spcPts val="567"/>
              </a:spcBef>
              <a:buClr>
                <a:srgbClr val="000000"/>
              </a:buClr>
              <a:buSzPct val="75000"/>
              <a:buFont typeface="Symbol"/>
              <a:buChar char=""/>
            </a:pPr>
            <a:r>
              <a:rPr sz="2000" b="0" u="none">
                <a:solidFill>
                  <a:schemeClr val="dk1"/>
                </a:solidFill>
                <a:latin typeface="Aptos"/>
                <a:ea typeface="Aptos"/>
                <a:cs typeface="Aptos"/>
              </a:rPr>
              <a:t>Fourth Outline Level</a:t>
            </a:r>
          </a:p>
          <a:p>
            <a:pPr marL="2160000" lvl="4" indent="-216000" algn="l">
              <a:spcBef>
                <a:spcPts val="283"/>
              </a:spcBef>
              <a:buClr>
                <a:srgbClr val="000000"/>
              </a:buClr>
              <a:buSzPct val="45000"/>
              <a:buFont typeface="Wingdings"/>
              <a:buChar char=""/>
            </a:pPr>
            <a:r>
              <a:rPr sz="2000" b="0" u="none">
                <a:solidFill>
                  <a:schemeClr val="dk1"/>
                </a:solidFill>
                <a:latin typeface="Aptos"/>
                <a:ea typeface="Aptos"/>
                <a:cs typeface="Aptos"/>
              </a:rPr>
              <a:t>Fifth Outline Level</a:t>
            </a:r>
          </a:p>
          <a:p>
            <a:pPr marL="2592000" lvl="5" indent="-216000" algn="l">
              <a:spcBef>
                <a:spcPts val="283"/>
              </a:spcBef>
              <a:buClr>
                <a:srgbClr val="000000"/>
              </a:buClr>
              <a:buSzPct val="45000"/>
              <a:buFont typeface="Wingdings"/>
              <a:buChar char=""/>
            </a:pPr>
            <a:r>
              <a:rPr sz="2000" b="0" u="none">
                <a:solidFill>
                  <a:schemeClr val="dk1"/>
                </a:solidFill>
                <a:latin typeface="Aptos"/>
                <a:ea typeface="Aptos"/>
                <a:cs typeface="Aptos"/>
              </a:rPr>
              <a:t>Sixth Outline Level</a:t>
            </a:r>
          </a:p>
          <a:p>
            <a:pPr marL="3024000" lvl="6" indent="-216000" algn="l">
              <a:spcBef>
                <a:spcPts val="283"/>
              </a:spcBef>
              <a:buClr>
                <a:srgbClr val="000000"/>
              </a:buClr>
              <a:buSzPct val="45000"/>
              <a:buFont typeface="Wingdings"/>
              <a:buChar char=""/>
            </a:pPr>
            <a:r>
              <a:rPr sz="2000" b="0" u="none">
                <a:solidFill>
                  <a:schemeClr val="dk1"/>
                </a:solidFill>
                <a:latin typeface="Aptos"/>
                <a:ea typeface="Aptos"/>
                <a:cs typeface="Aptos"/>
              </a:rPr>
              <a:t>Seventh Outline Level</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12" name="Text 0">
            <a:extLst>
              <a:ext uri="{FF2B5EF4-FFF2-40B4-BE49-F238E27FC236}">
                <a16:creationId xmlns:a16="http://schemas.microsoft.com/office/drawing/2014/main" id="{87FD0AC4-A85F-4062-BF64-BC31229386BB}"/>
              </a:ext>
            </a:extLst>
          </p:cNvPr>
          <p:cNvSpPr>
            <a:spLocks noGrp="1"/>
          </p:cNvSpPr>
          <p:nvPr/>
        </p:nvSpPr>
        <p:spPr>
          <a:xfrm>
            <a:off x="731520" y="567000"/>
            <a:ext cx="21942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200" b="1" u="none" spc="221">
                <a:solidFill>
                  <a:srgbClr val="2563EB"/>
                </a:solidFill>
                <a:latin typeface="Aptos"/>
                <a:ea typeface="Aptos"/>
                <a:cs typeface="Aptos"/>
              </a:rPr>
              <a:t>AI PRE-SCAN</a:t>
            </a:r>
            <a:endParaRPr sz="1200" b="0" u="none">
              <a:solidFill>
                <a:srgbClr val="000000"/>
              </a:solidFill>
              <a:latin typeface="Arial"/>
              <a:ea typeface="Arial"/>
              <a:cs typeface="Arial"/>
            </a:endParaRPr>
          </a:p>
        </p:txBody>
      </p:sp>
      <p:sp>
        <p:nvSpPr>
          <p:cNvPr id="13" name="Text 1">
            <a:extLst>
              <a:ext uri="{FF2B5EF4-FFF2-40B4-BE49-F238E27FC236}">
                <a16:creationId xmlns:a16="http://schemas.microsoft.com/office/drawing/2014/main" id="{E7DFE0B7-4D05-495F-BCBB-46AF6E849665}"/>
              </a:ext>
            </a:extLst>
          </p:cNvPr>
          <p:cNvSpPr>
            <a:spLocks noGrp="1"/>
          </p:cNvSpPr>
          <p:nvPr/>
        </p:nvSpPr>
        <p:spPr>
          <a:xfrm>
            <a:off x="731520" y="1161288"/>
            <a:ext cx="5989320" cy="237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fontScale="77500" lnSpcReduction="19999"/>
          </a:bodyPr>
          <a:lstStyle/>
          <a:p>
            <a:pPr defTabSz="914400">
              <a:lnSpc>
                <a:spcPct val="100000"/>
              </a:lnSpc>
              <a:buNone/>
              <a:tabLst>
                <a:tab pos="0" algn="l"/>
              </a:tabLst>
            </a:pPr>
            <a:r>
              <a:rPr sz="5200" b="1" u="none">
                <a:solidFill>
                  <a:srgbClr val="0B1020"/>
                </a:solidFill>
                <a:latin typeface="Aptos Display"/>
                <a:ea typeface="Aptos Display"/>
                <a:cs typeface="Aptos Display"/>
              </a:rPr>
              <a:t>What AI does your company actually use?</a:t>
            </a:r>
            <a:endParaRPr sz="5200" b="0" u="none">
              <a:solidFill>
                <a:srgbClr val="000000"/>
              </a:solidFill>
              <a:latin typeface="Arial"/>
              <a:ea typeface="Arial"/>
              <a:cs typeface="Arial"/>
            </a:endParaRPr>
          </a:p>
        </p:txBody>
      </p:sp>
      <p:sp>
        <p:nvSpPr>
          <p:cNvPr id="14" name="Text 2">
            <a:extLst>
              <a:ext uri="{FF2B5EF4-FFF2-40B4-BE49-F238E27FC236}">
                <a16:creationId xmlns:a16="http://schemas.microsoft.com/office/drawing/2014/main" id="{98374123-18DF-43B2-AE69-45CC83D97A74}"/>
              </a:ext>
            </a:extLst>
          </p:cNvPr>
          <p:cNvSpPr>
            <a:spLocks noGrp="1"/>
          </p:cNvSpPr>
          <p:nvPr/>
        </p:nvSpPr>
        <p:spPr>
          <a:xfrm>
            <a:off x="749808" y="3703320"/>
            <a:ext cx="5623560" cy="146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6000"/>
              </a:lnSpc>
              <a:buNone/>
              <a:tabLst>
                <a:tab pos="0" algn="l"/>
              </a:tabLst>
            </a:pPr>
            <a:r>
              <a:rPr sz="2000" b="0" u="none">
                <a:solidFill>
                  <a:srgbClr val="334155"/>
                </a:solidFill>
                <a:latin typeface="Aptos"/>
                <a:ea typeface="Aptos"/>
                <a:cs typeface="Aptos"/>
              </a:rPr>
              <a:t>The answer every SME will soon owe under the EU AI Act — drafted in minutes, by a scan that would rather hand you a question than a false answer.</a:t>
            </a:r>
            <a:endParaRPr sz="2100" b="0" u="none">
              <a:solidFill>
                <a:srgbClr val="000000"/>
              </a:solidFill>
              <a:latin typeface="Arial"/>
              <a:ea typeface="Arial"/>
              <a:cs typeface="Arial"/>
            </a:endParaRPr>
          </a:p>
        </p:txBody>
      </p:sp>
      <p:sp>
        <p:nvSpPr>
          <p:cNvPr id="16" name="Shape 4">
            <a:extLst>
              <a:ext uri="{FF2B5EF4-FFF2-40B4-BE49-F238E27FC236}">
                <a16:creationId xmlns:a16="http://schemas.microsoft.com/office/drawing/2014/main" id="{4B83DE43-CEE5-4A51-8D91-942D78E30CD2}"/>
              </a:ext>
            </a:extLst>
          </p:cNvPr>
          <p:cNvSpPr>
            <a:spLocks noGrp="1"/>
          </p:cNvSpPr>
          <p:nvPr/>
        </p:nvSpPr>
        <p:spPr>
          <a:xfrm>
            <a:off x="6903720" y="1124640"/>
            <a:ext cx="4388760" cy="4370400"/>
          </a:xfrm>
          <a:prstGeom prst="roundRect">
            <a:avLst>
              <a:gd name="adj" fmla="val 3347"/>
            </a:avLst>
          </a:prstGeom>
          <a:solidFill>
            <a:srgbClr val="FFFFFF"/>
          </a:solidFill>
          <a:ln w="12700">
            <a:solidFill>
              <a:srgbClr val="D8E2F2"/>
            </a:solidFill>
          </a:ln>
          <a:effectLst>
            <a:outerShdw blurRad="19080" dist="50402" dir="2700000" algn="bl" rotWithShape="0">
              <a:srgbClr val="0B102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17" name="Text 5">
            <a:extLst>
              <a:ext uri="{FF2B5EF4-FFF2-40B4-BE49-F238E27FC236}">
                <a16:creationId xmlns:a16="http://schemas.microsoft.com/office/drawing/2014/main" id="{4DCDC336-8589-4187-BE2A-BE6D50DF8384}"/>
              </a:ext>
            </a:extLst>
          </p:cNvPr>
          <p:cNvSpPr>
            <a:spLocks noGrp="1"/>
          </p:cNvSpPr>
          <p:nvPr/>
        </p:nvSpPr>
        <p:spPr>
          <a:xfrm>
            <a:off x="7260336" y="1444752"/>
            <a:ext cx="2404872" cy="21945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950" b="1" u="none" spc="150">
                <a:solidFill>
                  <a:srgbClr val="2563EB"/>
                </a:solidFill>
                <a:latin typeface="Aptos"/>
                <a:ea typeface="Aptos"/>
                <a:cs typeface="Aptos"/>
              </a:rPr>
              <a:t>PERSONIO  ·  HR SOFTWARE</a:t>
            </a:r>
            <a:endParaRPr sz="1100" b="0" u="none">
              <a:solidFill>
                <a:srgbClr val="000000"/>
              </a:solidFill>
              <a:latin typeface="Arial"/>
              <a:ea typeface="Arial"/>
              <a:cs typeface="Arial"/>
            </a:endParaRPr>
          </a:p>
        </p:txBody>
      </p:sp>
      <p:sp>
        <p:nvSpPr>
          <p:cNvPr id="18" name="Text 6">
            <a:extLst>
              <a:ext uri="{FF2B5EF4-FFF2-40B4-BE49-F238E27FC236}">
                <a16:creationId xmlns:a16="http://schemas.microsoft.com/office/drawing/2014/main" id="{B6BFCD2F-2932-4AB5-A3DB-E0DC24CE0FF3}"/>
              </a:ext>
            </a:extLst>
          </p:cNvPr>
          <p:cNvSpPr>
            <a:spLocks noGrp="1"/>
          </p:cNvSpPr>
          <p:nvPr/>
        </p:nvSpPr>
        <p:spPr>
          <a:xfrm>
            <a:off x="9802440" y="1426320"/>
            <a:ext cx="959760" cy="255600"/>
          </a:xfrm>
          <a:prstGeom prst="rect">
            <a:avLst/>
          </a:prstGeom>
          <a:solidFill>
            <a:srgbClr val="E7F7F4"/>
          </a:solidFill>
          <a:ln w="12700">
            <a:solidFill>
              <a:srgbClr val="B7E4DC"/>
            </a:solid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buNone/>
              <a:tabLst>
                <a:tab pos="0" algn="l"/>
              </a:tabLst>
            </a:pPr>
            <a:r>
              <a:rPr sz="1000" b="1" u="none">
                <a:solidFill>
                  <a:srgbClr val="0F766E"/>
                </a:solidFill>
                <a:latin typeface="Aptos"/>
                <a:ea typeface="Aptos"/>
                <a:cs typeface="Aptos"/>
              </a:rPr>
              <a:t>EVIDENCED</a:t>
            </a:r>
            <a:endParaRPr sz="1000" b="0" u="none">
              <a:solidFill>
                <a:srgbClr val="000000"/>
              </a:solidFill>
              <a:latin typeface="Arial"/>
              <a:ea typeface="Arial"/>
              <a:cs typeface="Arial"/>
            </a:endParaRPr>
          </a:p>
        </p:txBody>
      </p:sp>
      <p:sp>
        <p:nvSpPr>
          <p:cNvPr id="19" name="Text 7">
            <a:extLst>
              <a:ext uri="{FF2B5EF4-FFF2-40B4-BE49-F238E27FC236}">
                <a16:creationId xmlns:a16="http://schemas.microsoft.com/office/drawing/2014/main" id="{BF52DA37-E023-4BBA-A2D1-8E12E9DC113A}"/>
              </a:ext>
            </a:extLst>
          </p:cNvPr>
          <p:cNvSpPr>
            <a:spLocks noGrp="1"/>
          </p:cNvSpPr>
          <p:nvPr/>
        </p:nvSpPr>
        <p:spPr>
          <a:xfrm>
            <a:off x="7260336" y="2286000"/>
            <a:ext cx="3520440" cy="822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0000" lnSpcReduction="9999"/>
          </a:bodyPr>
          <a:lstStyle/>
          <a:p>
            <a:pPr defTabSz="914400">
              <a:lnSpc>
                <a:spcPct val="100000"/>
              </a:lnSpc>
              <a:buNone/>
              <a:tabLst>
                <a:tab pos="0" algn="l"/>
              </a:tabLst>
            </a:pPr>
            <a:r>
              <a:rPr sz="2000" b="1" u="none">
                <a:solidFill>
                  <a:srgbClr val="0B1020"/>
                </a:solidFill>
                <a:latin typeface="Aptos Display"/>
                <a:ea typeface="Aptos Display"/>
                <a:cs typeface="Aptos Display"/>
              </a:rPr>
              <a:t>Offers its own AI assistant for HR questions and workforce insights</a:t>
            </a:r>
            <a:endParaRPr sz="2200" b="0" u="none">
              <a:solidFill>
                <a:srgbClr val="000000"/>
              </a:solidFill>
              <a:latin typeface="Arial"/>
              <a:ea typeface="Arial"/>
              <a:cs typeface="Arial"/>
            </a:endParaRPr>
          </a:p>
        </p:txBody>
      </p:sp>
      <p:sp>
        <p:nvSpPr>
          <p:cNvPr id="21" name="Shape 9">
            <a:extLst>
              <a:ext uri="{FF2B5EF4-FFF2-40B4-BE49-F238E27FC236}">
                <a16:creationId xmlns:a16="http://schemas.microsoft.com/office/drawing/2014/main" id="{A400C2A8-7BE8-4F7A-B873-E2535012B1E0}"/>
              </a:ext>
            </a:extLst>
          </p:cNvPr>
          <p:cNvSpPr>
            <a:spLocks noGrp="1"/>
          </p:cNvSpPr>
          <p:nvPr/>
        </p:nvSpPr>
        <p:spPr>
          <a:xfrm>
            <a:off x="7260336" y="3310128"/>
            <a:ext cx="3611880" cy="0"/>
          </a:xfrm>
          <a:prstGeom prst="line">
            <a:avLst/>
          </a:prstGeom>
          <a:ln w="12700">
            <a:solidFill>
              <a:srgbClr val="E2E8F0"/>
            </a:solidFill>
          </a:ln>
        </p:spPr>
        <p:style>
          <a:lnRef idx="0">
            <a:scrgbClr r="0" g="0" b="0"/>
          </a:lnRef>
          <a:fillRef idx="0">
            <a:scrgbClr r="0" g="0" b="0"/>
          </a:fillRef>
          <a:effectRef idx="0">
            <a:scrgbClr r="0" g="0" b="0"/>
          </a:effectRef>
          <a:fontRef idx="minor"/>
        </p:style>
        <p:txBody>
          <a:bodyPr lIns="90000" tIns="-44640" rIns="90000" bIns="-44640" anchor="t">
            <a:noAutofit/>
          </a:bodyPr>
          <a:lstStyle/>
          <a:p>
            <a:endParaRPr sz="1800" b="0" u="none">
              <a:solidFill>
                <a:srgbClr val="000000"/>
              </a:solidFill>
              <a:latin typeface="Arial"/>
              <a:ea typeface="Arial"/>
              <a:cs typeface="Arial"/>
            </a:endParaRPr>
          </a:p>
        </p:txBody>
      </p:sp>
      <p:sp>
        <p:nvSpPr>
          <p:cNvPr id="22" name="Text 10">
            <a:extLst>
              <a:ext uri="{FF2B5EF4-FFF2-40B4-BE49-F238E27FC236}">
                <a16:creationId xmlns:a16="http://schemas.microsoft.com/office/drawing/2014/main" id="{C154DD58-1B31-466E-AC5B-0D37E0399CE3}"/>
              </a:ext>
            </a:extLst>
          </p:cNvPr>
          <p:cNvSpPr>
            <a:spLocks noGrp="1"/>
          </p:cNvSpPr>
          <p:nvPr/>
        </p:nvSpPr>
        <p:spPr>
          <a:xfrm>
            <a:off x="7260336" y="3493008"/>
            <a:ext cx="3154680" cy="228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200" b="1" u="none">
                <a:solidFill>
                  <a:srgbClr val="64748B"/>
                </a:solidFill>
                <a:latin typeface="Aptos"/>
                <a:ea typeface="Aptos"/>
                <a:cs typeface="Aptos"/>
              </a:rPr>
              <a:t>What public evidence cannot settle</a:t>
            </a:r>
            <a:endParaRPr sz="1200" b="0" u="none">
              <a:solidFill>
                <a:srgbClr val="000000"/>
              </a:solidFill>
              <a:latin typeface="Arial"/>
              <a:ea typeface="Arial"/>
              <a:cs typeface="Arial"/>
            </a:endParaRPr>
          </a:p>
        </p:txBody>
      </p:sp>
      <p:sp>
        <p:nvSpPr>
          <p:cNvPr id="23" name="Text 11">
            <a:extLst>
              <a:ext uri="{FF2B5EF4-FFF2-40B4-BE49-F238E27FC236}">
                <a16:creationId xmlns:a16="http://schemas.microsoft.com/office/drawing/2014/main" id="{C7FD9175-3DE2-4D19-9DAD-C6214EC893AC}"/>
              </a:ext>
            </a:extLst>
          </p:cNvPr>
          <p:cNvSpPr>
            <a:spLocks noGrp="1"/>
          </p:cNvSpPr>
          <p:nvPr/>
        </p:nvSpPr>
        <p:spPr>
          <a:xfrm>
            <a:off x="7260336" y="3858768"/>
            <a:ext cx="3520440" cy="822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fontScale="90000" lnSpcReduction="19999"/>
          </a:bodyPr>
          <a:lstStyle/>
          <a:p>
            <a:pPr defTabSz="914400">
              <a:lnSpc>
                <a:spcPct val="100000"/>
              </a:lnSpc>
              <a:buNone/>
              <a:tabLst>
                <a:tab pos="0" algn="l"/>
              </a:tabLst>
            </a:pPr>
            <a:r>
              <a:rPr sz="2000" b="1" u="none">
                <a:solidFill>
                  <a:srgbClr val="0B1020"/>
                </a:solidFill>
                <a:latin typeface="Aptos Display"/>
                <a:ea typeface="Aptos Display"/>
                <a:cs typeface="Aptos Display"/>
              </a:rPr>
              <a:t>Has either system been renamed, repurposed or retrained?</a:t>
            </a:r>
            <a:endParaRPr sz="2200" b="0" u="none">
              <a:solidFill>
                <a:srgbClr val="000000"/>
              </a:solidFill>
              <a:latin typeface="Arial"/>
              <a:ea typeface="Arial"/>
              <a:cs typeface="Arial"/>
            </a:endParaRPr>
          </a:p>
        </p:txBody>
      </p:sp>
      <p:sp>
        <p:nvSpPr>
          <p:cNvPr id="24" name="Text 12">
            <a:extLst>
              <a:ext uri="{FF2B5EF4-FFF2-40B4-BE49-F238E27FC236}">
                <a16:creationId xmlns:a16="http://schemas.microsoft.com/office/drawing/2014/main" id="{6E9BDD08-A28B-4EE7-99E7-6153730EBCBB}"/>
              </a:ext>
            </a:extLst>
          </p:cNvPr>
          <p:cNvSpPr>
            <a:spLocks noGrp="1"/>
          </p:cNvSpPr>
          <p:nvPr/>
        </p:nvSpPr>
        <p:spPr>
          <a:xfrm>
            <a:off x="7260336" y="5047488"/>
            <a:ext cx="1188720" cy="256032"/>
          </a:xfrm>
          <a:prstGeom prst="rect">
            <a:avLst/>
          </a:prstGeom>
          <a:solidFill>
            <a:srgbClr val="FFF5E6"/>
          </a:solidFill>
          <a:ln w="12700">
            <a:solidFill>
              <a:srgbClr val="F7D6A4"/>
            </a:solid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buNone/>
              <a:tabLst>
                <a:tab pos="0" algn="l"/>
              </a:tabLst>
            </a:pPr>
            <a:r>
              <a:rPr sz="1000" b="1" u="none">
                <a:solidFill>
                  <a:srgbClr val="B45309"/>
                </a:solidFill>
                <a:latin typeface="Aptos"/>
                <a:ea typeface="Aptos"/>
                <a:cs typeface="Aptos"/>
              </a:rPr>
              <a:t>ASK CLIENT</a:t>
            </a:r>
            <a:endParaRPr sz="1000" b="0" u="none">
              <a:solidFill>
                <a:srgbClr val="000000"/>
              </a:solidFill>
              <a:latin typeface="Arial"/>
              <a:ea typeface="Arial"/>
              <a:cs typeface="Arial"/>
            </a:endParaRPr>
          </a:p>
        </p:txBody>
      </p:sp>
      <p:sp>
        <p:nvSpPr>
          <p:cNvPr id="25" name="Text 13">
            <a:extLst>
              <a:ext uri="{FF2B5EF4-FFF2-40B4-BE49-F238E27FC236}">
                <a16:creationId xmlns:a16="http://schemas.microsoft.com/office/drawing/2014/main" id="{8B2C9EC7-3537-4EA6-ADE0-67673696026A}"/>
              </a:ext>
            </a:extLst>
          </p:cNvPr>
          <p:cNvSpPr>
            <a:spLocks noGrp="1"/>
          </p:cNvSpPr>
          <p:nvPr/>
        </p:nvSpPr>
        <p:spPr>
          <a:xfrm>
            <a:off x="731520" y="6254640"/>
            <a:ext cx="42058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050" b="0" u="none">
                <a:solidFill>
                  <a:srgbClr val="64748B"/>
                </a:solidFill>
                <a:latin typeface="Aptos"/>
                <a:ea typeface="Aptos"/>
                <a:cs typeface="Aptos"/>
              </a:rPr>
              <a:t>Nnanyelugo Ahukannah  •  Ironhack Project 3</a:t>
            </a:r>
            <a:endParaRPr sz="1050" b="0" u="none">
              <a:solidFill>
                <a:srgbClr val="000000"/>
              </a:solidFill>
              <a:latin typeface="Arial"/>
              <a:ea typeface="Arial"/>
              <a:cs typeface="Arial"/>
            </a:endParaRPr>
          </a:p>
        </p:txBody>
      </p:sp>
      <p:sp>
        <p:nvSpPr>
          <p:cNvPr id="26" name="PlaceHolder 1">
            <a:extLst>
              <a:ext uri="{FF2B5EF4-FFF2-40B4-BE49-F238E27FC236}">
                <a16:creationId xmlns:a16="http://schemas.microsoft.com/office/drawing/2014/main" id="{5AE74680-4B84-4EFF-A0A8-F1131D6F1620}"/>
              </a:ext>
            </a:extLst>
          </p:cNvPr>
          <p:cNvSpPr>
            <a:spLocks noGrp="1"/>
          </p:cNvSpPr>
          <p:nvPr>
            <p:ph type="sldNum" idx="5"/>
          </p:nvPr>
        </p:nvSpPr>
        <p:spPr>
          <a:xfrm>
            <a:off x="11292840" y="6428160"/>
            <a:ext cx="319680" cy="182520"/>
          </a:xfrm>
          <a:prstGeom prst="rect">
            <a:avLst/>
          </a:prstGeom>
          <a:noFill/>
          <a:ln w="0">
            <a:noFill/>
          </a:ln>
        </p:spPr>
        <p:txBody>
          <a:bodyPr lIns="0" tIns="0" rIns="0" bIns="0" anchor="t">
            <a:noAutofit/>
          </a:bodyPr>
          <a:lstStyle>
            <a:lvl1pPr indent="0" algn="r" defTabSz="914400">
              <a:lnSpc>
                <a:spcPct val="100000"/>
              </a:lnSpc>
              <a:buNone/>
              <a:defRPr sz="900" b="0" u="none">
                <a:solidFill>
                  <a:srgbClr val="94A3B8"/>
                </a:solidFill>
                <a:latin typeface="Aptos"/>
                <a:ea typeface="Aptos"/>
                <a:cs typeface="Aptos"/>
              </a:defRPr>
            </a:lvl1pPr>
          </a:lstStyle>
          <a:p>
            <a:pPr indent="0" algn="r" defTabSz="914400">
              <a:lnSpc>
                <a:spcPct val="100000"/>
              </a:lnSpc>
              <a:buNone/>
            </a:pPr>
            <a:fld id="{AD75FED6-38D0-DE9C-92C0-6E7FA635581C}" type="slidenum">
              <a:rPr sz="900" b="0" u="none">
                <a:solidFill>
                  <a:srgbClr val="94A3B8"/>
                </a:solidFill>
                <a:latin typeface="Aptos"/>
                <a:ea typeface="Aptos"/>
                <a:cs typeface="Aptos"/>
              </a:rPr>
              <a:t>1</a:t>
            </a:fld>
            <a:endParaRPr sz="900" b="0" u="none">
              <a:solidFill>
                <a:srgbClr val="000000"/>
              </a:solidFill>
              <a:latin typeface="Times New Roman"/>
              <a:ea typeface="Times New Roman"/>
              <a:cs typeface="Times New Roman"/>
            </a:endParaRPr>
          </a:p>
        </p:txBody>
      </p:sp>
      <p:sp>
        <p:nvSpPr>
          <p:cNvPr id="801" name="Text Card Caption">
            <a:extLst>
              <a:ext uri="{FF2B5EF4-FFF2-40B4-BE49-F238E27FC236}">
                <a16:creationId xmlns:a16="http://schemas.microsoft.com/office/drawing/2014/main" id="{87FD0AC4-A85F-4062-BF64-BC31229386BB}"/>
              </a:ext>
            </a:extLst>
          </p:cNvPr>
          <p:cNvSpPr>
            <a:spLocks noGrp="1"/>
          </p:cNvSpPr>
          <p:nvPr/>
        </p:nvSpPr>
        <p:spPr>
          <a:xfrm>
            <a:off x="6903720" y="786384"/>
            <a:ext cx="4389120" cy="21945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050" b="1" u="none" spc="221">
                <a:solidFill>
                  <a:srgbClr val="64748B"/>
                </a:solidFill>
                <a:latin typeface="Aptos"/>
                <a:ea typeface="Aptos"/>
                <a:cs typeface="Aptos"/>
              </a:rPr>
              <a:t>ONE REAL FINDING FROM ONE REAL SCAN</a:t>
            </a:r>
            <a:endParaRPr sz="1200" b="0" u="none">
              <a:solidFill>
                <a:srgbClr val="000000"/>
              </a:solidFill>
              <a:latin typeface="Arial"/>
              <a:ea typeface="Arial"/>
              <a:cs typeface="Arial"/>
            </a:endParaRPr>
          </a:p>
        </p:txBody>
      </p:sp>
      <p:sp>
        <p:nvSpPr>
          <p:cNvPr id="872" name="Text Proved Label">
            <a:extLst>
              <a:ext uri="{FF2B5EF4-FFF2-40B4-BE49-F238E27FC236}">
                <a16:creationId xmlns:a16="http://schemas.microsoft.com/office/drawing/2014/main" id="{C154DD58-1B31-466E-AC5B-0D37E0399CE3}"/>
              </a:ext>
            </a:extLst>
          </p:cNvPr>
          <p:cNvSpPr>
            <a:spLocks noGrp="1"/>
          </p:cNvSpPr>
          <p:nvPr/>
        </p:nvSpPr>
        <p:spPr>
          <a:xfrm>
            <a:off x="7260336" y="1965960"/>
            <a:ext cx="3154680" cy="228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200" b="1" u="none">
                <a:solidFill>
                  <a:srgbClr val="64748B"/>
                </a:solidFill>
                <a:latin typeface="Aptos"/>
                <a:ea typeface="Aptos"/>
                <a:cs typeface="Aptos"/>
              </a:rPr>
              <a:t>What the scan proved</a:t>
            </a:r>
            <a:endParaRPr sz="1200" b="0" u="none">
              <a:solidFill>
                <a:srgbClr val="000000"/>
              </a:solidFill>
              <a:latin typeface="Arial"/>
              <a:ea typeface="Arial"/>
              <a:cs typeface="Arial"/>
            </a:endParaRPr>
          </a:p>
        </p:txBody>
      </p:sp>
    </p:spTree>
    <p:extLst>
      <p:ext uri="{BB962C8B-B14F-4D97-AF65-F5344CB8AC3E}">
        <p14:creationId xmlns:p14="http://schemas.microsoft.com/office/powerpoint/2010/main" val="8848087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 0">
            <a:extLst>
              <a:ext uri="{FF2B5EF4-FFF2-40B4-BE49-F238E27FC236}">
                <a16:creationId xmlns:a16="http://schemas.microsoft.com/office/drawing/2014/main" id="{99DB633C-66A2-4ACB-8482-14041BEAC5DE}"/>
              </a:ext>
            </a:extLst>
          </p:cNvPr>
          <p:cNvSpPr>
            <a:spLocks noGrp="1"/>
          </p:cNvSpPr>
          <p:nvPr/>
        </p:nvSpPr>
        <p:spPr>
          <a:xfrm>
            <a:off x="713160" y="384120"/>
            <a:ext cx="27428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100" b="1" u="none" spc="181">
                <a:solidFill>
                  <a:srgbClr val="2563EB"/>
                </a:solidFill>
                <a:latin typeface="Aptos"/>
                <a:ea typeface="Aptos"/>
                <a:cs typeface="Aptos"/>
              </a:rPr>
              <a:t>THE GAP</a:t>
            </a:r>
            <a:endParaRPr sz="1100" b="0" u="none">
              <a:solidFill>
                <a:srgbClr val="000000"/>
              </a:solidFill>
              <a:latin typeface="Arial"/>
              <a:ea typeface="Arial"/>
              <a:cs typeface="Arial"/>
            </a:endParaRPr>
          </a:p>
        </p:txBody>
      </p:sp>
      <p:sp>
        <p:nvSpPr>
          <p:cNvPr id="28" name="Text 1">
            <a:extLst>
              <a:ext uri="{FF2B5EF4-FFF2-40B4-BE49-F238E27FC236}">
                <a16:creationId xmlns:a16="http://schemas.microsoft.com/office/drawing/2014/main" id="{B45AE690-4630-4BCA-A68C-156DD6DC0BB9}"/>
              </a:ext>
            </a:extLst>
          </p:cNvPr>
          <p:cNvSpPr>
            <a:spLocks noGrp="1"/>
          </p:cNvSpPr>
          <p:nvPr/>
        </p:nvSpPr>
        <p:spPr>
          <a:xfrm>
            <a:off x="713160" y="713160"/>
            <a:ext cx="10743840" cy="840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fontScale="85000" lnSpcReduction="19999"/>
          </a:bodyPr>
          <a:lstStyle/>
          <a:p>
            <a:pPr defTabSz="914400">
              <a:lnSpc>
                <a:spcPct val="100000"/>
              </a:lnSpc>
              <a:buNone/>
              <a:tabLst>
                <a:tab pos="0" algn="l"/>
              </a:tabLst>
            </a:pPr>
            <a:r>
              <a:rPr sz="3700" b="1" u="none">
                <a:solidFill>
                  <a:srgbClr val="0B1020"/>
                </a:solidFill>
                <a:latin typeface="Aptos Display"/>
                <a:ea typeface="Aptos Display"/>
                <a:cs typeface="Aptos Display"/>
              </a:rPr>
              <a:t>Compliance begins with an inventory most SMEs do not have</a:t>
            </a:r>
            <a:endParaRPr sz="3700" b="0" u="none">
              <a:solidFill>
                <a:srgbClr val="000000"/>
              </a:solidFill>
              <a:latin typeface="Arial"/>
              <a:ea typeface="Arial"/>
              <a:cs typeface="Arial"/>
            </a:endParaRPr>
          </a:p>
        </p:txBody>
      </p:sp>
      <p:sp>
        <p:nvSpPr>
          <p:cNvPr id="29" name="Shape 2">
            <a:extLst>
              <a:ext uri="{FF2B5EF4-FFF2-40B4-BE49-F238E27FC236}">
                <a16:creationId xmlns:a16="http://schemas.microsoft.com/office/drawing/2014/main" id="{D393F70D-20CA-4D29-831C-50CFD4993C6B}"/>
              </a:ext>
            </a:extLst>
          </p:cNvPr>
          <p:cNvSpPr>
            <a:spLocks noGrp="1"/>
          </p:cNvSpPr>
          <p:nvPr/>
        </p:nvSpPr>
        <p:spPr>
          <a:xfrm>
            <a:off x="731520" y="1901880"/>
            <a:ext cx="4160160" cy="3062880"/>
          </a:xfrm>
          <a:prstGeom prst="roundRect">
            <a:avLst>
              <a:gd name="adj" fmla="val 4776"/>
            </a:avLst>
          </a:prstGeom>
          <a:solidFill>
            <a:srgbClr val="FFFFFF"/>
          </a:solidFill>
          <a:ln w="12700">
            <a:solidFill>
              <a:srgbClr val="D8E2F2"/>
            </a:solidFill>
          </a:ln>
          <a:effectLst>
            <a:outerShdw blurRad="241935120" dist="645159960" algn="bl" rotWithShape="0">
              <a:srgbClr val="0B1020"/>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30" name="Text 3">
            <a:extLst>
              <a:ext uri="{FF2B5EF4-FFF2-40B4-BE49-F238E27FC236}">
                <a16:creationId xmlns:a16="http://schemas.microsoft.com/office/drawing/2014/main" id="{C91293DA-F46F-4F91-9E52-AC93B4EBD1BF}"/>
              </a:ext>
            </a:extLst>
          </p:cNvPr>
          <p:cNvSpPr>
            <a:spLocks noGrp="1"/>
          </p:cNvSpPr>
          <p:nvPr/>
        </p:nvSpPr>
        <p:spPr>
          <a:xfrm>
            <a:off x="1042560" y="2212920"/>
            <a:ext cx="28346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100" b="1" u="none" spc="139">
                <a:solidFill>
                  <a:srgbClr val="2563EB"/>
                </a:solidFill>
                <a:latin typeface="Aptos"/>
                <a:ea typeface="Aptos"/>
                <a:cs typeface="Aptos"/>
              </a:rPr>
              <a:t>THE COMPLIANCE FORM ASKS</a:t>
            </a:r>
            <a:endParaRPr sz="1100" b="0" u="none">
              <a:solidFill>
                <a:srgbClr val="000000"/>
              </a:solidFill>
              <a:latin typeface="Arial"/>
              <a:ea typeface="Arial"/>
              <a:cs typeface="Arial"/>
            </a:endParaRPr>
          </a:p>
        </p:txBody>
      </p:sp>
      <p:sp>
        <p:nvSpPr>
          <p:cNvPr id="31" name="Text 4">
            <a:extLst>
              <a:ext uri="{FF2B5EF4-FFF2-40B4-BE49-F238E27FC236}">
                <a16:creationId xmlns:a16="http://schemas.microsoft.com/office/drawing/2014/main" id="{674BE5AA-2B33-4A50-9584-1820C780F867}"/>
              </a:ext>
            </a:extLst>
          </p:cNvPr>
          <p:cNvSpPr>
            <a:spLocks noGrp="1"/>
          </p:cNvSpPr>
          <p:nvPr/>
        </p:nvSpPr>
        <p:spPr>
          <a:xfrm>
            <a:off x="1042560" y="3017520"/>
            <a:ext cx="3520080" cy="1206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fontScale="85000" lnSpcReduction="19999"/>
          </a:bodyPr>
          <a:lstStyle/>
          <a:p>
            <a:pPr defTabSz="914400">
              <a:lnSpc>
                <a:spcPct val="100000"/>
              </a:lnSpc>
              <a:buNone/>
              <a:tabLst>
                <a:tab pos="0" algn="l"/>
              </a:tabLst>
            </a:pPr>
            <a:r>
              <a:rPr sz="2700" b="1" u="none">
                <a:solidFill>
                  <a:srgbClr val="0B1020"/>
                </a:solidFill>
                <a:latin typeface="Aptos Display"/>
                <a:ea typeface="Aptos Display"/>
                <a:cs typeface="Aptos Display"/>
              </a:rPr>
              <a:t>“Complete this form for each AI system used in your organisation.”</a:t>
            </a:r>
            <a:endParaRPr sz="2700" b="0" u="none">
              <a:solidFill>
                <a:srgbClr val="000000"/>
              </a:solidFill>
              <a:latin typeface="Arial"/>
              <a:ea typeface="Arial"/>
              <a:cs typeface="Arial"/>
            </a:endParaRPr>
          </a:p>
        </p:txBody>
      </p:sp>
      <p:sp>
        <p:nvSpPr>
          <p:cNvPr id="33" name="Shape 6">
            <a:extLst>
              <a:ext uri="{FF2B5EF4-FFF2-40B4-BE49-F238E27FC236}">
                <a16:creationId xmlns:a16="http://schemas.microsoft.com/office/drawing/2014/main" id="{5D8B1B33-9258-4759-8044-328E636C229D}"/>
              </a:ext>
            </a:extLst>
          </p:cNvPr>
          <p:cNvSpPr>
            <a:spLocks noGrp="1"/>
          </p:cNvSpPr>
          <p:nvPr/>
        </p:nvSpPr>
        <p:spPr>
          <a:xfrm>
            <a:off x="5056560" y="3447000"/>
            <a:ext cx="1060560" cy="360"/>
          </a:xfrm>
          <a:prstGeom prst="line">
            <a:avLst/>
          </a:prstGeom>
          <a:ln w="38100">
            <a:solidFill>
              <a:srgbClr val="2563EB"/>
            </a:solidFill>
          </a:ln>
        </p:spPr>
        <p:style>
          <a:lnRef idx="0">
            <a:scrgbClr r="0" g="0" b="0"/>
          </a:lnRef>
          <a:fillRef idx="0">
            <a:scrgbClr r="0" g="0" b="0"/>
          </a:fillRef>
          <a:effectRef idx="0">
            <a:scrgbClr r="0" g="0" b="0"/>
          </a:effectRef>
          <a:fontRef idx="minor"/>
        </p:style>
        <p:txBody>
          <a:bodyPr lIns="90000" tIns="-44640" rIns="90000" bIns="-44640" anchor="t">
            <a:noAutofit/>
          </a:bodyPr>
          <a:lstStyle/>
          <a:p>
            <a:endParaRPr sz="1800" b="0" u="none">
              <a:solidFill>
                <a:srgbClr val="000000"/>
              </a:solidFill>
              <a:latin typeface="Arial"/>
              <a:ea typeface="Arial"/>
              <a:cs typeface="Arial"/>
            </a:endParaRPr>
          </a:p>
        </p:txBody>
      </p:sp>
      <p:sp>
        <p:nvSpPr>
          <p:cNvPr id="35" name="Shape 8">
            <a:extLst>
              <a:ext uri="{FF2B5EF4-FFF2-40B4-BE49-F238E27FC236}">
                <a16:creationId xmlns:a16="http://schemas.microsoft.com/office/drawing/2014/main" id="{DCE745DA-1630-4418-9FAE-F75A11496FA0}"/>
              </a:ext>
            </a:extLst>
          </p:cNvPr>
          <p:cNvSpPr>
            <a:spLocks noGrp="1"/>
          </p:cNvSpPr>
          <p:nvPr/>
        </p:nvSpPr>
        <p:spPr>
          <a:xfrm>
            <a:off x="6272640" y="1901880"/>
            <a:ext cx="5147640" cy="3062880"/>
          </a:xfrm>
          <a:prstGeom prst="roundRect">
            <a:avLst>
              <a:gd name="adj" fmla="val 4776"/>
            </a:avLst>
          </a:prstGeom>
          <a:solidFill>
            <a:srgbClr val="F1F5F9"/>
          </a:solidFill>
          <a:ln w="12700">
            <a:solidFill>
              <a:srgbClr val="E2E8F0"/>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36" name="Text 9">
            <a:extLst>
              <a:ext uri="{FF2B5EF4-FFF2-40B4-BE49-F238E27FC236}">
                <a16:creationId xmlns:a16="http://schemas.microsoft.com/office/drawing/2014/main" id="{7F26E8FE-BCC7-4B11-8243-750E2B31D919}"/>
              </a:ext>
            </a:extLst>
          </p:cNvPr>
          <p:cNvSpPr>
            <a:spLocks noGrp="1"/>
          </p:cNvSpPr>
          <p:nvPr/>
        </p:nvSpPr>
        <p:spPr>
          <a:xfrm>
            <a:off x="6583680" y="2212920"/>
            <a:ext cx="21027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100" b="1" u="none" spc="139">
                <a:solidFill>
                  <a:srgbClr val="64748B"/>
                </a:solidFill>
                <a:latin typeface="Aptos"/>
                <a:ea typeface="Aptos"/>
                <a:cs typeface="Aptos"/>
              </a:rPr>
              <a:t>THE SME ASKS</a:t>
            </a:r>
            <a:endParaRPr sz="1100" b="0" u="none">
              <a:solidFill>
                <a:srgbClr val="000000"/>
              </a:solidFill>
              <a:latin typeface="Arial"/>
              <a:ea typeface="Arial"/>
              <a:cs typeface="Arial"/>
            </a:endParaRPr>
          </a:p>
        </p:txBody>
      </p:sp>
      <p:sp>
        <p:nvSpPr>
          <p:cNvPr id="37" name="Text 10">
            <a:extLst>
              <a:ext uri="{FF2B5EF4-FFF2-40B4-BE49-F238E27FC236}">
                <a16:creationId xmlns:a16="http://schemas.microsoft.com/office/drawing/2014/main" id="{C52252CF-307F-46E2-8468-BD24BB522FA3}"/>
              </a:ext>
            </a:extLst>
          </p:cNvPr>
          <p:cNvSpPr>
            <a:spLocks noGrp="1"/>
          </p:cNvSpPr>
          <p:nvPr/>
        </p:nvSpPr>
        <p:spPr>
          <a:xfrm>
            <a:off x="6583680" y="2724840"/>
            <a:ext cx="434304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77500" lnSpcReduction="19999"/>
          </a:bodyPr>
          <a:lstStyle/>
          <a:p>
            <a:pPr defTabSz="914400">
              <a:lnSpc>
                <a:spcPct val="100000"/>
              </a:lnSpc>
              <a:buNone/>
              <a:tabLst>
                <a:tab pos="0" algn="l"/>
              </a:tabLst>
            </a:pPr>
            <a:r>
              <a:rPr sz="3100" b="1" u="none">
                <a:solidFill>
                  <a:srgbClr val="0B1020"/>
                </a:solidFill>
                <a:latin typeface="Aptos Display"/>
                <a:ea typeface="Aptos Display"/>
                <a:cs typeface="Aptos Display"/>
              </a:rPr>
              <a:t>“Which systems are those?”</a:t>
            </a:r>
            <a:endParaRPr sz="3100" b="0" u="none">
              <a:solidFill>
                <a:srgbClr val="000000"/>
              </a:solidFill>
              <a:latin typeface="Arial"/>
              <a:ea typeface="Arial"/>
              <a:cs typeface="Arial"/>
            </a:endParaRPr>
          </a:p>
        </p:txBody>
      </p:sp>
      <p:sp>
        <p:nvSpPr>
          <p:cNvPr id="38" name="Shape 11">
            <a:extLst>
              <a:ext uri="{FF2B5EF4-FFF2-40B4-BE49-F238E27FC236}">
                <a16:creationId xmlns:a16="http://schemas.microsoft.com/office/drawing/2014/main" id="{A859BB8D-8771-4188-9C40-8D9E5982BC48}"/>
              </a:ext>
            </a:extLst>
          </p:cNvPr>
          <p:cNvSpPr>
            <a:spLocks noGrp="1"/>
          </p:cNvSpPr>
          <p:nvPr/>
        </p:nvSpPr>
        <p:spPr>
          <a:xfrm>
            <a:off x="6602040" y="3575160"/>
            <a:ext cx="164160" cy="164160"/>
          </a:xfrm>
          <a:prstGeom prst="ellipse">
            <a:avLst/>
          </a:prstGeom>
          <a:solidFill>
            <a:srgbClr val="2563EB"/>
          </a:solidFill>
          <a:ln w="12700">
            <a:solidFill>
              <a:srgbClr val="2563EB"/>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FFFFFF"/>
              </a:solidFill>
              <a:latin typeface="Arial"/>
              <a:ea typeface="Arial"/>
              <a:cs typeface="Arial"/>
            </a:endParaRPr>
          </a:p>
        </p:txBody>
      </p:sp>
      <p:sp>
        <p:nvSpPr>
          <p:cNvPr id="39" name="Text 12">
            <a:extLst>
              <a:ext uri="{FF2B5EF4-FFF2-40B4-BE49-F238E27FC236}">
                <a16:creationId xmlns:a16="http://schemas.microsoft.com/office/drawing/2014/main" id="{7C4B16BC-2CE0-4EC2-9AA3-2048A1CA00B8}"/>
              </a:ext>
            </a:extLst>
          </p:cNvPr>
          <p:cNvSpPr>
            <a:spLocks noGrp="1"/>
          </p:cNvSpPr>
          <p:nvPr/>
        </p:nvSpPr>
        <p:spPr>
          <a:xfrm>
            <a:off x="6894720" y="3557160"/>
            <a:ext cx="13255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050" b="1" u="none">
                <a:solidFill>
                  <a:srgbClr val="2563EB"/>
                </a:solidFill>
                <a:latin typeface="Aptos"/>
                <a:ea typeface="Aptos"/>
                <a:cs typeface="Aptos"/>
              </a:rPr>
              <a:t>VENDOR UPDATE</a:t>
            </a:r>
            <a:endParaRPr sz="1050" b="0" u="none">
              <a:solidFill>
                <a:srgbClr val="000000"/>
              </a:solidFill>
              <a:latin typeface="Arial"/>
              <a:ea typeface="Arial"/>
              <a:cs typeface="Arial"/>
            </a:endParaRPr>
          </a:p>
        </p:txBody>
      </p:sp>
      <p:sp>
        <p:nvSpPr>
          <p:cNvPr id="40" name="Text 13">
            <a:extLst>
              <a:ext uri="{FF2B5EF4-FFF2-40B4-BE49-F238E27FC236}">
                <a16:creationId xmlns:a16="http://schemas.microsoft.com/office/drawing/2014/main" id="{993B3D48-4EE7-4DF8-B16A-66D3FAE6C013}"/>
              </a:ext>
            </a:extLst>
          </p:cNvPr>
          <p:cNvSpPr>
            <a:spLocks noGrp="1"/>
          </p:cNvSpPr>
          <p:nvPr/>
        </p:nvSpPr>
        <p:spPr>
          <a:xfrm>
            <a:off x="8247960" y="3557160"/>
            <a:ext cx="27702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9999"/>
          </a:bodyPr>
          <a:lstStyle/>
          <a:p>
            <a:pPr defTabSz="914400">
              <a:lnSpc>
                <a:spcPct val="100000"/>
              </a:lnSpc>
              <a:buNone/>
              <a:tabLst>
                <a:tab pos="0" algn="l"/>
              </a:tabLst>
            </a:pPr>
            <a:r>
              <a:rPr sz="1250" b="0" u="none">
                <a:solidFill>
                  <a:srgbClr val="273244"/>
                </a:solidFill>
                <a:latin typeface="Aptos"/>
                <a:ea typeface="Aptos"/>
                <a:cs typeface="Aptos"/>
              </a:rPr>
              <a:t>AI arrives inside software already owned</a:t>
            </a:r>
            <a:endParaRPr sz="1250" b="0" u="none">
              <a:solidFill>
                <a:srgbClr val="000000"/>
              </a:solidFill>
              <a:latin typeface="Arial"/>
              <a:ea typeface="Arial"/>
              <a:cs typeface="Arial"/>
            </a:endParaRPr>
          </a:p>
        </p:txBody>
      </p:sp>
      <p:sp>
        <p:nvSpPr>
          <p:cNvPr id="41" name="Shape 14">
            <a:extLst>
              <a:ext uri="{FF2B5EF4-FFF2-40B4-BE49-F238E27FC236}">
                <a16:creationId xmlns:a16="http://schemas.microsoft.com/office/drawing/2014/main" id="{670F3C92-1E92-4DFD-9804-0A6C241C8CA1}"/>
              </a:ext>
            </a:extLst>
          </p:cNvPr>
          <p:cNvSpPr>
            <a:spLocks noGrp="1"/>
          </p:cNvSpPr>
          <p:nvPr/>
        </p:nvSpPr>
        <p:spPr>
          <a:xfrm>
            <a:off x="6602040" y="3986640"/>
            <a:ext cx="164160" cy="164160"/>
          </a:xfrm>
          <a:prstGeom prst="ellipse">
            <a:avLst/>
          </a:prstGeom>
          <a:solidFill>
            <a:srgbClr val="CBD5E1"/>
          </a:solidFill>
          <a:ln w="12700">
            <a:solidFill>
              <a:srgbClr val="CBD5E1"/>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42" name="Text 15">
            <a:extLst>
              <a:ext uri="{FF2B5EF4-FFF2-40B4-BE49-F238E27FC236}">
                <a16:creationId xmlns:a16="http://schemas.microsoft.com/office/drawing/2014/main" id="{B7035A73-37D2-44B4-B998-E1544708EAD6}"/>
              </a:ext>
            </a:extLst>
          </p:cNvPr>
          <p:cNvSpPr>
            <a:spLocks noGrp="1"/>
          </p:cNvSpPr>
          <p:nvPr/>
        </p:nvSpPr>
        <p:spPr>
          <a:xfrm>
            <a:off x="6894720" y="3968640"/>
            <a:ext cx="13255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050" b="1" u="none">
                <a:solidFill>
                  <a:srgbClr val="64748B"/>
                </a:solidFill>
                <a:latin typeface="Aptos"/>
                <a:ea typeface="Aptos"/>
                <a:cs typeface="Aptos"/>
              </a:rPr>
              <a:t>COMPANY CARD</a:t>
            </a:r>
            <a:endParaRPr sz="1050" b="0" u="none">
              <a:solidFill>
                <a:srgbClr val="000000"/>
              </a:solidFill>
              <a:latin typeface="Arial"/>
              <a:ea typeface="Arial"/>
              <a:cs typeface="Arial"/>
            </a:endParaRPr>
          </a:p>
        </p:txBody>
      </p:sp>
      <p:sp>
        <p:nvSpPr>
          <p:cNvPr id="43" name="Text 16">
            <a:extLst>
              <a:ext uri="{FF2B5EF4-FFF2-40B4-BE49-F238E27FC236}">
                <a16:creationId xmlns:a16="http://schemas.microsoft.com/office/drawing/2014/main" id="{DDD97963-3A87-4F5A-BBFA-AB330B1593B9}"/>
              </a:ext>
            </a:extLst>
          </p:cNvPr>
          <p:cNvSpPr>
            <a:spLocks noGrp="1"/>
          </p:cNvSpPr>
          <p:nvPr/>
        </p:nvSpPr>
        <p:spPr>
          <a:xfrm>
            <a:off x="8247960" y="3968640"/>
            <a:ext cx="27702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85000" lnSpcReduction="9999"/>
          </a:bodyPr>
          <a:lstStyle/>
          <a:p>
            <a:pPr defTabSz="914400">
              <a:lnSpc>
                <a:spcPct val="100000"/>
              </a:lnSpc>
              <a:buNone/>
              <a:tabLst>
                <a:tab pos="0" algn="l"/>
              </a:tabLst>
            </a:pPr>
            <a:r>
              <a:rPr sz="1250" b="0" u="none">
                <a:solidFill>
                  <a:srgbClr val="273244"/>
                </a:solidFill>
                <a:latin typeface="Aptos"/>
                <a:ea typeface="Aptos"/>
                <a:cs typeface="Aptos"/>
              </a:rPr>
              <a:t>A team buys a tool outside central procurement</a:t>
            </a:r>
            <a:endParaRPr sz="1250" b="0" u="none">
              <a:solidFill>
                <a:srgbClr val="000000"/>
              </a:solidFill>
              <a:latin typeface="Arial"/>
              <a:ea typeface="Arial"/>
              <a:cs typeface="Arial"/>
            </a:endParaRPr>
          </a:p>
        </p:txBody>
      </p:sp>
      <p:sp>
        <p:nvSpPr>
          <p:cNvPr id="44" name="Shape 17">
            <a:extLst>
              <a:ext uri="{FF2B5EF4-FFF2-40B4-BE49-F238E27FC236}">
                <a16:creationId xmlns:a16="http://schemas.microsoft.com/office/drawing/2014/main" id="{63D33672-0616-4C57-9CC9-00E7D5055A11}"/>
              </a:ext>
            </a:extLst>
          </p:cNvPr>
          <p:cNvSpPr>
            <a:spLocks noGrp="1"/>
          </p:cNvSpPr>
          <p:nvPr/>
        </p:nvSpPr>
        <p:spPr>
          <a:xfrm>
            <a:off x="6602040" y="4398120"/>
            <a:ext cx="164160" cy="164160"/>
          </a:xfrm>
          <a:prstGeom prst="ellipse">
            <a:avLst/>
          </a:prstGeom>
          <a:solidFill>
            <a:srgbClr val="CBD5E1"/>
          </a:solidFill>
          <a:ln w="12700">
            <a:solidFill>
              <a:srgbClr val="CBD5E1"/>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45" name="Text 18">
            <a:extLst>
              <a:ext uri="{FF2B5EF4-FFF2-40B4-BE49-F238E27FC236}">
                <a16:creationId xmlns:a16="http://schemas.microsoft.com/office/drawing/2014/main" id="{FF4D3EF6-E68F-47E1-818E-AEFF4012EC5D}"/>
              </a:ext>
            </a:extLst>
          </p:cNvPr>
          <p:cNvSpPr>
            <a:spLocks noGrp="1"/>
          </p:cNvSpPr>
          <p:nvPr/>
        </p:nvSpPr>
        <p:spPr>
          <a:xfrm>
            <a:off x="6894720" y="4380120"/>
            <a:ext cx="13255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050" b="1" u="none">
                <a:solidFill>
                  <a:srgbClr val="64748B"/>
                </a:solidFill>
                <a:latin typeface="Aptos"/>
                <a:ea typeface="Aptos"/>
                <a:cs typeface="Aptos"/>
              </a:rPr>
              <a:t>EMPLOYEE TOOL</a:t>
            </a:r>
            <a:endParaRPr sz="1050" b="0" u="none">
              <a:solidFill>
                <a:srgbClr val="000000"/>
              </a:solidFill>
              <a:latin typeface="Arial"/>
              <a:ea typeface="Arial"/>
              <a:cs typeface="Arial"/>
            </a:endParaRPr>
          </a:p>
        </p:txBody>
      </p:sp>
      <p:sp>
        <p:nvSpPr>
          <p:cNvPr id="46" name="Text 19">
            <a:extLst>
              <a:ext uri="{FF2B5EF4-FFF2-40B4-BE49-F238E27FC236}">
                <a16:creationId xmlns:a16="http://schemas.microsoft.com/office/drawing/2014/main" id="{7D8F3E3E-6055-4DB6-92DC-0D3E468CA945}"/>
              </a:ext>
            </a:extLst>
          </p:cNvPr>
          <p:cNvSpPr>
            <a:spLocks noGrp="1"/>
          </p:cNvSpPr>
          <p:nvPr/>
        </p:nvSpPr>
        <p:spPr>
          <a:xfrm>
            <a:off x="8247960" y="4380120"/>
            <a:ext cx="27702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9999"/>
          </a:bodyPr>
          <a:lstStyle/>
          <a:p>
            <a:pPr defTabSz="914400">
              <a:lnSpc>
                <a:spcPct val="100000"/>
              </a:lnSpc>
              <a:buNone/>
              <a:tabLst>
                <a:tab pos="0" algn="l"/>
              </a:tabLst>
            </a:pPr>
            <a:r>
              <a:rPr sz="1250" b="0" u="none">
                <a:solidFill>
                  <a:srgbClr val="273244"/>
                </a:solidFill>
                <a:latin typeface="Aptos"/>
                <a:ea typeface="Aptos"/>
                <a:cs typeface="Aptos"/>
              </a:rPr>
              <a:t>Everyday use that leaves no record</a:t>
            </a:r>
            <a:endParaRPr sz="1250" b="0" u="none">
              <a:solidFill>
                <a:srgbClr val="000000"/>
              </a:solidFill>
              <a:latin typeface="Arial"/>
              <a:ea typeface="Arial"/>
              <a:cs typeface="Arial"/>
            </a:endParaRPr>
          </a:p>
        </p:txBody>
      </p:sp>
      <p:sp>
        <p:nvSpPr>
          <p:cNvPr id="47" name="Text 20">
            <a:extLst>
              <a:ext uri="{FF2B5EF4-FFF2-40B4-BE49-F238E27FC236}">
                <a16:creationId xmlns:a16="http://schemas.microsoft.com/office/drawing/2014/main" id="{C4514B37-99C6-4474-9B72-706580295AF3}"/>
              </a:ext>
            </a:extLst>
          </p:cNvPr>
          <p:cNvSpPr>
            <a:spLocks noGrp="1"/>
          </p:cNvSpPr>
          <p:nvPr/>
        </p:nvSpPr>
        <p:spPr>
          <a:xfrm>
            <a:off x="749880" y="5532120"/>
            <a:ext cx="10515240" cy="548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buNone/>
              <a:tabLst>
                <a:tab pos="0" algn="l"/>
              </a:tabLst>
            </a:pPr>
            <a:r>
              <a:rPr sz="2600" b="1" u="none">
                <a:solidFill>
                  <a:srgbClr val="0B1020"/>
                </a:solidFill>
                <a:latin typeface="Aptos Display"/>
                <a:ea typeface="Aptos Display"/>
                <a:cs typeface="Aptos Display"/>
              </a:rPr>
              <a:t>It has to be drafted from evidence — the missing step.</a:t>
            </a:r>
            <a:endParaRPr sz="2700" b="0" u="none">
              <a:solidFill>
                <a:srgbClr val="000000"/>
              </a:solidFill>
              <a:latin typeface="Arial"/>
              <a:ea typeface="Arial"/>
              <a:cs typeface="Arial"/>
            </a:endParaRPr>
          </a:p>
        </p:txBody>
      </p:sp>
      <p:sp>
        <p:nvSpPr>
          <p:cNvPr id="48" name="Text 21">
            <a:extLst>
              <a:ext uri="{FF2B5EF4-FFF2-40B4-BE49-F238E27FC236}">
                <a16:creationId xmlns:a16="http://schemas.microsoft.com/office/drawing/2014/main" id="{125450FB-675B-4227-A158-6BF501A26656}"/>
              </a:ext>
            </a:extLst>
          </p:cNvPr>
          <p:cNvSpPr>
            <a:spLocks noGrp="1"/>
          </p:cNvSpPr>
          <p:nvPr/>
        </p:nvSpPr>
        <p:spPr>
          <a:xfrm>
            <a:off x="713160" y="6428160"/>
            <a:ext cx="22856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900" b="1" u="none" spc="111">
                <a:solidFill>
                  <a:srgbClr val="64748B"/>
                </a:solidFill>
                <a:latin typeface="Aptos"/>
                <a:ea typeface="Aptos"/>
                <a:cs typeface="Aptos"/>
              </a:rPr>
              <a:t>AI PRE-SCAN  •  THE GAP</a:t>
            </a:r>
            <a:endParaRPr sz="900" b="0" u="none">
              <a:solidFill>
                <a:srgbClr val="000000"/>
              </a:solidFill>
              <a:latin typeface="Arial"/>
              <a:ea typeface="Arial"/>
              <a:cs typeface="Arial"/>
            </a:endParaRPr>
          </a:p>
        </p:txBody>
      </p:sp>
      <p:sp>
        <p:nvSpPr>
          <p:cNvPr id="49" name="PlaceHolder 1">
            <a:extLst>
              <a:ext uri="{FF2B5EF4-FFF2-40B4-BE49-F238E27FC236}">
                <a16:creationId xmlns:a16="http://schemas.microsoft.com/office/drawing/2014/main" id="{FF50E26B-2627-4FEE-BC65-2F0999CBC524}"/>
              </a:ext>
            </a:extLst>
          </p:cNvPr>
          <p:cNvSpPr>
            <a:spLocks noGrp="1"/>
          </p:cNvSpPr>
          <p:nvPr>
            <p:ph type="sldNum" idx="6"/>
          </p:nvPr>
        </p:nvSpPr>
        <p:spPr>
          <a:xfrm>
            <a:off x="11292840" y="6428160"/>
            <a:ext cx="319680" cy="182520"/>
          </a:xfrm>
          <a:prstGeom prst="rect">
            <a:avLst/>
          </a:prstGeom>
          <a:noFill/>
          <a:ln w="0">
            <a:noFill/>
          </a:ln>
        </p:spPr>
        <p:txBody>
          <a:bodyPr lIns="0" tIns="0" rIns="0" bIns="0" anchor="t">
            <a:noAutofit/>
          </a:bodyPr>
          <a:lstStyle>
            <a:lvl1pPr indent="0" algn="r" defTabSz="914400">
              <a:lnSpc>
                <a:spcPct val="100000"/>
              </a:lnSpc>
              <a:buNone/>
              <a:defRPr sz="900" b="0" u="none">
                <a:solidFill>
                  <a:srgbClr val="94A3B8"/>
                </a:solidFill>
                <a:latin typeface="Aptos"/>
                <a:ea typeface="Aptos"/>
                <a:cs typeface="Aptos"/>
              </a:defRPr>
            </a:lvl1pPr>
          </a:lstStyle>
          <a:p>
            <a:pPr indent="0" algn="r" defTabSz="914400">
              <a:lnSpc>
                <a:spcPct val="100000"/>
              </a:lnSpc>
              <a:buNone/>
            </a:pPr>
            <a:fld id="{E2598689-54C9-18A7-3A19-ED76AA08988F}" type="slidenum">
              <a:rPr sz="900" b="0" u="none">
                <a:solidFill>
                  <a:srgbClr val="94A3B8"/>
                </a:solidFill>
                <a:latin typeface="Aptos"/>
                <a:ea typeface="Aptos"/>
                <a:cs typeface="Aptos"/>
              </a:rPr>
              <a:t>2</a:t>
            </a:fld>
            <a:endParaRPr sz="900" b="0" u="non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709303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ext 0">
            <a:extLst>
              <a:ext uri="{FF2B5EF4-FFF2-40B4-BE49-F238E27FC236}">
                <a16:creationId xmlns:a16="http://schemas.microsoft.com/office/drawing/2014/main" id="{371E5BFF-99A8-44B4-A086-832AE82C6C22}"/>
              </a:ext>
            </a:extLst>
          </p:cNvPr>
          <p:cNvSpPr>
            <a:spLocks noGrp="1"/>
          </p:cNvSpPr>
          <p:nvPr/>
        </p:nvSpPr>
        <p:spPr>
          <a:xfrm>
            <a:off x="713160" y="384120"/>
            <a:ext cx="27428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100" b="1" u="none" spc="181">
                <a:solidFill>
                  <a:srgbClr val="2563EB"/>
                </a:solidFill>
                <a:latin typeface="Aptos"/>
                <a:ea typeface="Aptos"/>
                <a:cs typeface="Aptos"/>
              </a:rPr>
              <a:t>THE SYSTEM</a:t>
            </a:r>
            <a:endParaRPr sz="1100" b="0" u="none">
              <a:solidFill>
                <a:srgbClr val="000000"/>
              </a:solidFill>
              <a:latin typeface="Arial"/>
              <a:ea typeface="Arial"/>
              <a:cs typeface="Arial"/>
            </a:endParaRPr>
          </a:p>
        </p:txBody>
      </p:sp>
      <p:sp>
        <p:nvSpPr>
          <p:cNvPr id="51" name="Text 1">
            <a:extLst>
              <a:ext uri="{FF2B5EF4-FFF2-40B4-BE49-F238E27FC236}">
                <a16:creationId xmlns:a16="http://schemas.microsoft.com/office/drawing/2014/main" id="{353B8F74-AB81-44C2-9639-9C53AAED3BE2}"/>
              </a:ext>
            </a:extLst>
          </p:cNvPr>
          <p:cNvSpPr>
            <a:spLocks noGrp="1"/>
          </p:cNvSpPr>
          <p:nvPr/>
        </p:nvSpPr>
        <p:spPr>
          <a:xfrm>
            <a:off x="713160" y="713160"/>
            <a:ext cx="1074384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fontScale="85000" lnSpcReduction="9999"/>
          </a:bodyPr>
          <a:lstStyle/>
          <a:p>
            <a:pPr defTabSz="914400">
              <a:lnSpc>
                <a:spcPct val="100000"/>
              </a:lnSpc>
              <a:buNone/>
              <a:tabLst>
                <a:tab pos="0" algn="l"/>
              </a:tabLst>
            </a:pPr>
            <a:r>
              <a:rPr sz="3900" b="1" u="none">
                <a:solidFill>
                  <a:srgbClr val="0B1020"/>
                </a:solidFill>
                <a:latin typeface="Aptos Display"/>
                <a:ea typeface="Aptos Display"/>
                <a:cs typeface="Aptos Display"/>
              </a:rPr>
              <a:t>One company name becomes an auditable first draft</a:t>
            </a:r>
            <a:endParaRPr sz="3900" b="0" u="none">
              <a:solidFill>
                <a:srgbClr val="000000"/>
              </a:solidFill>
              <a:latin typeface="Arial"/>
              <a:ea typeface="Arial"/>
              <a:cs typeface="Arial"/>
            </a:endParaRPr>
          </a:p>
        </p:txBody>
      </p:sp>
      <p:sp>
        <p:nvSpPr>
          <p:cNvPr id="52" name="Shape 2">
            <a:extLst>
              <a:ext uri="{FF2B5EF4-FFF2-40B4-BE49-F238E27FC236}">
                <a16:creationId xmlns:a16="http://schemas.microsoft.com/office/drawing/2014/main" id="{E086508F-F6DD-4F3B-8295-E5E6F39C3AC4}"/>
              </a:ext>
            </a:extLst>
          </p:cNvPr>
          <p:cNvSpPr>
            <a:spLocks noGrp="1"/>
          </p:cNvSpPr>
          <p:nvPr/>
        </p:nvSpPr>
        <p:spPr>
          <a:xfrm>
            <a:off x="3995928" y="3273480"/>
            <a:ext cx="420624" cy="360"/>
          </a:xfrm>
          <a:prstGeom prst="line">
            <a:avLst/>
          </a:prstGeom>
          <a:ln w="31750">
            <a:solidFill>
              <a:srgbClr val="2563EB"/>
            </a:solidFill>
            <a:tailEnd type="triangle" w="med" len="med"/>
          </a:ln>
        </p:spPr>
        <p:style>
          <a:lnRef idx="0">
            <a:scrgbClr r="0" g="0" b="0"/>
          </a:lnRef>
          <a:fillRef idx="0">
            <a:scrgbClr r="0" g="0" b="0"/>
          </a:fillRef>
          <a:effectRef idx="0">
            <a:scrgbClr r="0" g="0" b="0"/>
          </a:effectRef>
          <a:fontRef idx="minor"/>
        </p:style>
        <p:txBody>
          <a:bodyPr lIns="90000" tIns="-44640" rIns="90000" bIns="-44640" anchor="t">
            <a:noAutofit/>
          </a:bodyPr>
          <a:lstStyle/>
          <a:p>
            <a:endParaRPr sz="1800" b="0" u="none">
              <a:solidFill>
                <a:srgbClr val="000000"/>
              </a:solidFill>
              <a:latin typeface="Arial"/>
              <a:ea typeface="Arial"/>
              <a:cs typeface="Arial"/>
            </a:endParaRPr>
          </a:p>
        </p:txBody>
      </p:sp>
      <p:sp>
        <p:nvSpPr>
          <p:cNvPr id="53" name="Shape 3">
            <a:extLst>
              <a:ext uri="{FF2B5EF4-FFF2-40B4-BE49-F238E27FC236}">
                <a16:creationId xmlns:a16="http://schemas.microsoft.com/office/drawing/2014/main" id="{4E122A2F-5A13-428E-956C-0CD5B5399AEC}"/>
              </a:ext>
            </a:extLst>
          </p:cNvPr>
          <p:cNvSpPr>
            <a:spLocks noGrp="1"/>
          </p:cNvSpPr>
          <p:nvPr/>
        </p:nvSpPr>
        <p:spPr>
          <a:xfrm>
            <a:off x="7754112" y="3273480"/>
            <a:ext cx="420624" cy="360"/>
          </a:xfrm>
          <a:prstGeom prst="line">
            <a:avLst/>
          </a:prstGeom>
          <a:ln w="31750">
            <a:solidFill>
              <a:srgbClr val="2563EB"/>
            </a:solidFill>
            <a:tailEnd type="triangle" w="med" len="med"/>
          </a:ln>
        </p:spPr>
        <p:style>
          <a:lnRef idx="0">
            <a:scrgbClr r="0" g="0" b="0"/>
          </a:lnRef>
          <a:fillRef idx="0">
            <a:scrgbClr r="0" g="0" b="0"/>
          </a:fillRef>
          <a:effectRef idx="0">
            <a:scrgbClr r="0" g="0" b="0"/>
          </a:effectRef>
          <a:fontRef idx="minor"/>
        </p:style>
        <p:txBody>
          <a:bodyPr lIns="90000" tIns="-44640" rIns="90000" bIns="-44640" anchor="t">
            <a:noAutofit/>
          </a:bodyPr>
          <a:lstStyle/>
          <a:p>
            <a:endParaRPr sz="1800" b="0" u="none">
              <a:solidFill>
                <a:srgbClr val="000000"/>
              </a:solidFill>
              <a:latin typeface="Arial"/>
              <a:ea typeface="Arial"/>
              <a:cs typeface="Arial"/>
            </a:endParaRPr>
          </a:p>
        </p:txBody>
      </p:sp>
      <p:sp>
        <p:nvSpPr>
          <p:cNvPr id="54" name="Shape 4">
            <a:extLst>
              <a:ext uri="{FF2B5EF4-FFF2-40B4-BE49-F238E27FC236}">
                <a16:creationId xmlns:a16="http://schemas.microsoft.com/office/drawing/2014/main" id="{AE3D357C-96CC-4F1E-A597-88AC834F2871}"/>
              </a:ext>
            </a:extLst>
          </p:cNvPr>
          <p:cNvSpPr>
            <a:spLocks noGrp="1"/>
          </p:cNvSpPr>
          <p:nvPr/>
        </p:nvSpPr>
        <p:spPr>
          <a:xfrm>
            <a:off x="6085331" y="4443984"/>
            <a:ext cx="360" cy="530352"/>
          </a:xfrm>
          <a:prstGeom prst="line">
            <a:avLst/>
          </a:prstGeom>
          <a:ln w="25400">
            <a:solidFill>
              <a:srgbClr val="B45309"/>
            </a:solidFill>
            <a:tailEnd type="triangle" w="med" len="med"/>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55" name="Shape 5">
            <a:extLst>
              <a:ext uri="{FF2B5EF4-FFF2-40B4-BE49-F238E27FC236}">
                <a16:creationId xmlns:a16="http://schemas.microsoft.com/office/drawing/2014/main" id="{0312D4AC-0560-48FC-A990-2AE0045FFAED}"/>
              </a:ext>
            </a:extLst>
          </p:cNvPr>
          <p:cNvSpPr>
            <a:spLocks noGrp="1"/>
          </p:cNvSpPr>
          <p:nvPr/>
        </p:nvSpPr>
        <p:spPr>
          <a:xfrm>
            <a:off x="749808" y="2057400"/>
            <a:ext cx="3154680" cy="2349720"/>
          </a:xfrm>
          <a:prstGeom prst="roundRect">
            <a:avLst>
              <a:gd name="adj" fmla="val 6226"/>
            </a:avLst>
          </a:prstGeom>
          <a:solidFill>
            <a:srgbClr val="FFFFFF"/>
          </a:solidFill>
          <a:ln w="12700">
            <a:solidFill>
              <a:srgbClr val="D8E2F2"/>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56" name="Shape 6">
            <a:extLst>
              <a:ext uri="{FF2B5EF4-FFF2-40B4-BE49-F238E27FC236}">
                <a16:creationId xmlns:a16="http://schemas.microsoft.com/office/drawing/2014/main" id="{DDB105E0-7B31-46A0-8E53-159979FCE1BE}"/>
              </a:ext>
            </a:extLst>
          </p:cNvPr>
          <p:cNvSpPr>
            <a:spLocks noGrp="1"/>
          </p:cNvSpPr>
          <p:nvPr/>
        </p:nvSpPr>
        <p:spPr>
          <a:xfrm>
            <a:off x="987552" y="2331720"/>
            <a:ext cx="529920" cy="529920"/>
          </a:xfrm>
          <a:prstGeom prst="ellipse">
            <a:avLst/>
          </a:prstGeom>
          <a:solidFill>
            <a:srgbClr val="EAF2FF"/>
          </a:solidFill>
          <a:ln w="12700">
            <a:solidFill>
              <a:srgbClr val="EAF2FF"/>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57" name="Text 7">
            <a:extLst>
              <a:ext uri="{FF2B5EF4-FFF2-40B4-BE49-F238E27FC236}">
                <a16:creationId xmlns:a16="http://schemas.microsoft.com/office/drawing/2014/main" id="{A3295D05-162A-4AB0-BBCC-932AB439864F}"/>
              </a:ext>
            </a:extLst>
          </p:cNvPr>
          <p:cNvSpPr>
            <a:spLocks noGrp="1"/>
          </p:cNvSpPr>
          <p:nvPr/>
        </p:nvSpPr>
        <p:spPr>
          <a:xfrm>
            <a:off x="987552" y="2331720"/>
            <a:ext cx="52992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buNone/>
              <a:tabLst>
                <a:tab pos="0" algn="l"/>
              </a:tabLst>
            </a:pPr>
            <a:r>
              <a:rPr sz="1700" b="1" u="none">
                <a:solidFill>
                  <a:srgbClr val="2563EB"/>
                </a:solidFill>
                <a:latin typeface="Aptos Display"/>
                <a:ea typeface="Aptos Display"/>
                <a:cs typeface="Aptos Display"/>
              </a:rPr>
              <a:t>01</a:t>
            </a:r>
            <a:endParaRPr sz="1700" b="0" u="none">
              <a:solidFill>
                <a:srgbClr val="000000"/>
              </a:solidFill>
              <a:latin typeface="Arial"/>
              <a:ea typeface="Arial"/>
              <a:cs typeface="Arial"/>
            </a:endParaRPr>
          </a:p>
        </p:txBody>
      </p:sp>
      <p:sp>
        <p:nvSpPr>
          <p:cNvPr id="58" name="Text 8">
            <a:extLst>
              <a:ext uri="{FF2B5EF4-FFF2-40B4-BE49-F238E27FC236}">
                <a16:creationId xmlns:a16="http://schemas.microsoft.com/office/drawing/2014/main" id="{147BAFAF-FB23-4817-9910-9C348EDDD2CF}"/>
              </a:ext>
            </a:extLst>
          </p:cNvPr>
          <p:cNvSpPr>
            <a:spLocks noGrp="1"/>
          </p:cNvSpPr>
          <p:nvPr/>
        </p:nvSpPr>
        <p:spPr>
          <a:xfrm>
            <a:off x="1664207" y="2441520"/>
            <a:ext cx="15541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050" b="1" u="none" spc="130">
                <a:solidFill>
                  <a:srgbClr val="2563EB"/>
                </a:solidFill>
                <a:latin typeface="Aptos"/>
                <a:ea typeface="Aptos"/>
                <a:cs typeface="Aptos"/>
              </a:rPr>
              <a:t>LANGGRAPH</a:t>
            </a:r>
            <a:endParaRPr sz="1050" b="0" u="none">
              <a:solidFill>
                <a:srgbClr val="000000"/>
              </a:solidFill>
              <a:latin typeface="Arial"/>
              <a:ea typeface="Arial"/>
              <a:cs typeface="Arial"/>
            </a:endParaRPr>
          </a:p>
        </p:txBody>
      </p:sp>
      <p:sp>
        <p:nvSpPr>
          <p:cNvPr id="59" name="Text 9">
            <a:extLst>
              <a:ext uri="{FF2B5EF4-FFF2-40B4-BE49-F238E27FC236}">
                <a16:creationId xmlns:a16="http://schemas.microsoft.com/office/drawing/2014/main" id="{EECAEA48-6E7C-4D35-BE03-CEE48D281F30}"/>
              </a:ext>
            </a:extLst>
          </p:cNvPr>
          <p:cNvSpPr>
            <a:spLocks noGrp="1"/>
          </p:cNvSpPr>
          <p:nvPr/>
        </p:nvSpPr>
        <p:spPr>
          <a:xfrm>
            <a:off x="1005840" y="2980800"/>
            <a:ext cx="265176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buNone/>
              <a:tabLst>
                <a:tab pos="0" algn="l"/>
              </a:tabLst>
            </a:pPr>
            <a:r>
              <a:rPr sz="2050" b="1" u="none">
                <a:solidFill>
                  <a:srgbClr val="0B1020"/>
                </a:solidFill>
                <a:latin typeface="Aptos Display"/>
                <a:ea typeface="Aptos Display"/>
                <a:cs typeface="Aptos Display"/>
              </a:rPr>
              <a:t>Find + fetch public pages</a:t>
            </a:r>
            <a:endParaRPr sz="2200" b="0" u="none">
              <a:solidFill>
                <a:srgbClr val="000000"/>
              </a:solidFill>
              <a:latin typeface="Arial"/>
              <a:ea typeface="Arial"/>
              <a:cs typeface="Arial"/>
            </a:endParaRPr>
          </a:p>
        </p:txBody>
      </p:sp>
      <p:sp>
        <p:nvSpPr>
          <p:cNvPr id="60" name="Text 10">
            <a:extLst>
              <a:ext uri="{FF2B5EF4-FFF2-40B4-BE49-F238E27FC236}">
                <a16:creationId xmlns:a16="http://schemas.microsoft.com/office/drawing/2014/main" id="{69040ECD-46DB-4A0A-B9E1-BEC5EC5E3123}"/>
              </a:ext>
            </a:extLst>
          </p:cNvPr>
          <p:cNvSpPr>
            <a:spLocks noGrp="1"/>
          </p:cNvSpPr>
          <p:nvPr/>
        </p:nvSpPr>
        <p:spPr>
          <a:xfrm>
            <a:off x="1005840" y="3730680"/>
            <a:ext cx="2642616"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fontScale="96344" lnSpcReduction="9999"/>
          </a:bodyPr>
          <a:lstStyle/>
          <a:p>
            <a:pPr defTabSz="914400">
              <a:lnSpc>
                <a:spcPct val="100000"/>
              </a:lnSpc>
              <a:buNone/>
              <a:tabLst>
                <a:tab pos="0" algn="l"/>
              </a:tabLst>
            </a:pPr>
            <a:r>
              <a:rPr sz="1400" b="0" u="none">
                <a:solidFill>
                  <a:srgbClr val="64748B"/>
                </a:solidFill>
                <a:latin typeface="Aptos"/>
                <a:ea typeface="Aptos"/>
                <a:cs typeface="Aptos"/>
              </a:rPr>
              <a:t>Company · vendor · careers · news</a:t>
            </a:r>
            <a:endParaRPr sz="1400" b="0" u="none">
              <a:solidFill>
                <a:srgbClr val="000000"/>
              </a:solidFill>
              <a:latin typeface="Arial"/>
              <a:ea typeface="Arial"/>
              <a:cs typeface="Arial"/>
            </a:endParaRPr>
          </a:p>
        </p:txBody>
      </p:sp>
      <p:sp>
        <p:nvSpPr>
          <p:cNvPr id="61" name="Shape 11">
            <a:extLst>
              <a:ext uri="{FF2B5EF4-FFF2-40B4-BE49-F238E27FC236}">
                <a16:creationId xmlns:a16="http://schemas.microsoft.com/office/drawing/2014/main" id="{7706239C-35EB-4EC5-9B3D-4472ABEB0983}"/>
              </a:ext>
            </a:extLst>
          </p:cNvPr>
          <p:cNvSpPr>
            <a:spLocks noGrp="1"/>
          </p:cNvSpPr>
          <p:nvPr/>
        </p:nvSpPr>
        <p:spPr>
          <a:xfrm>
            <a:off x="4507992" y="2057400"/>
            <a:ext cx="3154680" cy="2349720"/>
          </a:xfrm>
          <a:prstGeom prst="roundRect">
            <a:avLst>
              <a:gd name="adj" fmla="val 6226"/>
            </a:avLst>
          </a:prstGeom>
          <a:solidFill>
            <a:srgbClr val="2563EB"/>
          </a:solidFill>
          <a:ln w="12700">
            <a:solidFill>
              <a:srgbClr val="2563EB"/>
            </a:solidFill>
          </a:ln>
          <a:effectLst>
            <a:outerShdw algn="bl" rotWithShape="0">
              <a:srgbClr val="0B1020">
                <a:alpha val="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FFFFFF"/>
              </a:solidFill>
              <a:latin typeface="Arial"/>
              <a:ea typeface="Arial"/>
              <a:cs typeface="Arial"/>
            </a:endParaRPr>
          </a:p>
        </p:txBody>
      </p:sp>
      <p:sp>
        <p:nvSpPr>
          <p:cNvPr id="62" name="Shape 12">
            <a:extLst>
              <a:ext uri="{FF2B5EF4-FFF2-40B4-BE49-F238E27FC236}">
                <a16:creationId xmlns:a16="http://schemas.microsoft.com/office/drawing/2014/main" id="{6D86B16C-B6BA-4EC6-977C-E604E791C310}"/>
              </a:ext>
            </a:extLst>
          </p:cNvPr>
          <p:cNvSpPr>
            <a:spLocks noGrp="1"/>
          </p:cNvSpPr>
          <p:nvPr/>
        </p:nvSpPr>
        <p:spPr>
          <a:xfrm>
            <a:off x="4745736" y="2331720"/>
            <a:ext cx="529920" cy="529920"/>
          </a:xfrm>
          <a:prstGeom prst="ellipse">
            <a:avLst/>
          </a:prstGeom>
          <a:solidFill>
            <a:srgbClr val="FFFFFF"/>
          </a:solidFill>
          <a:ln w="12700">
            <a:solidFill>
              <a:srgbClr val="FFFFFF"/>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63" name="Text 13">
            <a:extLst>
              <a:ext uri="{FF2B5EF4-FFF2-40B4-BE49-F238E27FC236}">
                <a16:creationId xmlns:a16="http://schemas.microsoft.com/office/drawing/2014/main" id="{6C7C5E6F-4E20-4333-86A1-345BBF68D36E}"/>
              </a:ext>
            </a:extLst>
          </p:cNvPr>
          <p:cNvSpPr>
            <a:spLocks noGrp="1"/>
          </p:cNvSpPr>
          <p:nvPr/>
        </p:nvSpPr>
        <p:spPr>
          <a:xfrm>
            <a:off x="4745736" y="2331720"/>
            <a:ext cx="52992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buNone/>
              <a:tabLst>
                <a:tab pos="0" algn="l"/>
              </a:tabLst>
            </a:pPr>
            <a:r>
              <a:rPr sz="1700" b="1" u="none">
                <a:solidFill>
                  <a:srgbClr val="2563EB"/>
                </a:solidFill>
                <a:latin typeface="Aptos Display"/>
                <a:ea typeface="Aptos Display"/>
                <a:cs typeface="Aptos Display"/>
              </a:rPr>
              <a:t>02</a:t>
            </a:r>
            <a:endParaRPr sz="1700" b="0" u="none">
              <a:solidFill>
                <a:srgbClr val="000000"/>
              </a:solidFill>
              <a:latin typeface="Arial"/>
              <a:ea typeface="Arial"/>
              <a:cs typeface="Arial"/>
            </a:endParaRPr>
          </a:p>
        </p:txBody>
      </p:sp>
      <p:sp>
        <p:nvSpPr>
          <p:cNvPr id="64" name="Text 14">
            <a:extLst>
              <a:ext uri="{FF2B5EF4-FFF2-40B4-BE49-F238E27FC236}">
                <a16:creationId xmlns:a16="http://schemas.microsoft.com/office/drawing/2014/main" id="{A1FAF686-29FB-4E13-B6F4-8C9D071C26E2}"/>
              </a:ext>
            </a:extLst>
          </p:cNvPr>
          <p:cNvSpPr>
            <a:spLocks noGrp="1"/>
          </p:cNvSpPr>
          <p:nvPr/>
        </p:nvSpPr>
        <p:spPr>
          <a:xfrm>
            <a:off x="5422392" y="2441520"/>
            <a:ext cx="15541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050" b="1" u="none" spc="130">
                <a:solidFill>
                  <a:srgbClr val="DCE8FF"/>
                </a:solidFill>
                <a:latin typeface="Aptos"/>
                <a:ea typeface="Aptos"/>
                <a:cs typeface="Aptos"/>
              </a:rPr>
              <a:t>OPENAI + CODE</a:t>
            </a:r>
            <a:endParaRPr sz="1050" b="0" u="none">
              <a:solidFill>
                <a:srgbClr val="000000"/>
              </a:solidFill>
              <a:latin typeface="Arial"/>
              <a:ea typeface="Arial"/>
              <a:cs typeface="Arial"/>
            </a:endParaRPr>
          </a:p>
        </p:txBody>
      </p:sp>
      <p:sp>
        <p:nvSpPr>
          <p:cNvPr id="65" name="Text 15">
            <a:extLst>
              <a:ext uri="{FF2B5EF4-FFF2-40B4-BE49-F238E27FC236}">
                <a16:creationId xmlns:a16="http://schemas.microsoft.com/office/drawing/2014/main" id="{355CF3EF-30A8-44A2-B105-576317AF8274}"/>
              </a:ext>
            </a:extLst>
          </p:cNvPr>
          <p:cNvSpPr>
            <a:spLocks noGrp="1"/>
          </p:cNvSpPr>
          <p:nvPr/>
        </p:nvSpPr>
        <p:spPr>
          <a:xfrm>
            <a:off x="4764024" y="2980800"/>
            <a:ext cx="265176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buNone/>
              <a:tabLst>
                <a:tab pos="0" algn="l"/>
              </a:tabLst>
            </a:pPr>
            <a:r>
              <a:rPr sz="2050" b="1" u="none">
                <a:solidFill>
                  <a:srgbClr val="FFFFFF"/>
                </a:solidFill>
                <a:latin typeface="Aptos Display"/>
                <a:ea typeface="Aptos Display"/>
                <a:cs typeface="Aptos Display"/>
              </a:rPr>
              <a:t>Extract facts + verify quotes</a:t>
            </a:r>
            <a:endParaRPr sz="2200" b="0" u="none">
              <a:solidFill>
                <a:srgbClr val="000000"/>
              </a:solidFill>
              <a:latin typeface="Arial"/>
              <a:ea typeface="Arial"/>
              <a:cs typeface="Arial"/>
            </a:endParaRPr>
          </a:p>
        </p:txBody>
      </p:sp>
      <p:sp>
        <p:nvSpPr>
          <p:cNvPr id="66" name="Text 16">
            <a:extLst>
              <a:ext uri="{FF2B5EF4-FFF2-40B4-BE49-F238E27FC236}">
                <a16:creationId xmlns:a16="http://schemas.microsoft.com/office/drawing/2014/main" id="{78CEFE59-9470-4478-9E16-B65D36105922}"/>
              </a:ext>
            </a:extLst>
          </p:cNvPr>
          <p:cNvSpPr>
            <a:spLocks noGrp="1"/>
          </p:cNvSpPr>
          <p:nvPr/>
        </p:nvSpPr>
        <p:spPr>
          <a:xfrm>
            <a:off x="4764024" y="3730680"/>
            <a:ext cx="2642616"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fontScale="96344" lnSpcReduction="9999"/>
          </a:bodyPr>
          <a:lstStyle/>
          <a:p>
            <a:pPr defTabSz="914400">
              <a:lnSpc>
                <a:spcPct val="100000"/>
              </a:lnSpc>
              <a:buNone/>
              <a:tabLst>
                <a:tab pos="0" algn="l"/>
              </a:tabLst>
            </a:pPr>
            <a:r>
              <a:rPr sz="1400" b="0" u="none">
                <a:solidFill>
                  <a:srgbClr val="EAF2FF"/>
                </a:solidFill>
                <a:latin typeface="Aptos"/>
                <a:ea typeface="Aptos"/>
                <a:cs typeface="Aptos"/>
              </a:rPr>
              <a:t>Candidate fact + sentence from the same page</a:t>
            </a:r>
            <a:endParaRPr sz="1400" b="0" u="none">
              <a:solidFill>
                <a:srgbClr val="000000"/>
              </a:solidFill>
              <a:latin typeface="Arial"/>
              <a:ea typeface="Arial"/>
              <a:cs typeface="Arial"/>
            </a:endParaRPr>
          </a:p>
        </p:txBody>
      </p:sp>
      <p:sp>
        <p:nvSpPr>
          <p:cNvPr id="67" name="Shape 17">
            <a:extLst>
              <a:ext uri="{FF2B5EF4-FFF2-40B4-BE49-F238E27FC236}">
                <a16:creationId xmlns:a16="http://schemas.microsoft.com/office/drawing/2014/main" id="{908AA2E8-1265-4644-9AD6-F1E8CFE3C37B}"/>
              </a:ext>
            </a:extLst>
          </p:cNvPr>
          <p:cNvSpPr>
            <a:spLocks noGrp="1"/>
          </p:cNvSpPr>
          <p:nvPr/>
        </p:nvSpPr>
        <p:spPr>
          <a:xfrm>
            <a:off x="8266175" y="2057400"/>
            <a:ext cx="3154680" cy="2349720"/>
          </a:xfrm>
          <a:prstGeom prst="roundRect">
            <a:avLst>
              <a:gd name="adj" fmla="val 6226"/>
            </a:avLst>
          </a:prstGeom>
          <a:solidFill>
            <a:srgbClr val="FFFFFF"/>
          </a:solidFill>
          <a:ln w="12700">
            <a:solidFill>
              <a:srgbClr val="D8E2F2"/>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68" name="Shape 18">
            <a:extLst>
              <a:ext uri="{FF2B5EF4-FFF2-40B4-BE49-F238E27FC236}">
                <a16:creationId xmlns:a16="http://schemas.microsoft.com/office/drawing/2014/main" id="{D6730576-E882-4732-A795-A1A6933BD38D}"/>
              </a:ext>
            </a:extLst>
          </p:cNvPr>
          <p:cNvSpPr>
            <a:spLocks noGrp="1"/>
          </p:cNvSpPr>
          <p:nvPr/>
        </p:nvSpPr>
        <p:spPr>
          <a:xfrm>
            <a:off x="8503919" y="2331720"/>
            <a:ext cx="529920" cy="529920"/>
          </a:xfrm>
          <a:prstGeom prst="ellipse">
            <a:avLst/>
          </a:prstGeom>
          <a:solidFill>
            <a:srgbClr val="EAF2FF"/>
          </a:solidFill>
          <a:ln w="12700">
            <a:solidFill>
              <a:srgbClr val="EAF2FF"/>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69" name="Text 19">
            <a:extLst>
              <a:ext uri="{FF2B5EF4-FFF2-40B4-BE49-F238E27FC236}">
                <a16:creationId xmlns:a16="http://schemas.microsoft.com/office/drawing/2014/main" id="{291208BA-7A2E-439C-86FA-4DD18CCC1C22}"/>
              </a:ext>
            </a:extLst>
          </p:cNvPr>
          <p:cNvSpPr>
            <a:spLocks noGrp="1"/>
          </p:cNvSpPr>
          <p:nvPr/>
        </p:nvSpPr>
        <p:spPr>
          <a:xfrm>
            <a:off x="8503920" y="2331720"/>
            <a:ext cx="52992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buNone/>
              <a:tabLst>
                <a:tab pos="0" algn="l"/>
              </a:tabLst>
            </a:pPr>
            <a:r>
              <a:rPr sz="1700" b="1" u="none">
                <a:solidFill>
                  <a:srgbClr val="2563EB"/>
                </a:solidFill>
                <a:latin typeface="Aptos Display"/>
                <a:ea typeface="Aptos Display"/>
                <a:cs typeface="Aptos Display"/>
              </a:rPr>
              <a:t>03</a:t>
            </a:r>
            <a:endParaRPr sz="1700" b="0" u="none">
              <a:solidFill>
                <a:srgbClr val="000000"/>
              </a:solidFill>
              <a:latin typeface="Arial"/>
              <a:ea typeface="Arial"/>
              <a:cs typeface="Arial"/>
            </a:endParaRPr>
          </a:p>
        </p:txBody>
      </p:sp>
      <p:sp>
        <p:nvSpPr>
          <p:cNvPr id="70" name="Text 20">
            <a:extLst>
              <a:ext uri="{FF2B5EF4-FFF2-40B4-BE49-F238E27FC236}">
                <a16:creationId xmlns:a16="http://schemas.microsoft.com/office/drawing/2014/main" id="{65DC8F45-D6D5-4AD4-BA97-4B36F868419A}"/>
              </a:ext>
            </a:extLst>
          </p:cNvPr>
          <p:cNvSpPr>
            <a:spLocks noGrp="1"/>
          </p:cNvSpPr>
          <p:nvPr/>
        </p:nvSpPr>
        <p:spPr>
          <a:xfrm>
            <a:off x="9180576" y="2441520"/>
            <a:ext cx="15541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050" b="1" u="none" spc="130">
                <a:solidFill>
                  <a:srgbClr val="2563EB"/>
                </a:solidFill>
                <a:latin typeface="Aptos"/>
                <a:ea typeface="Aptos"/>
                <a:cs typeface="Aptos"/>
              </a:rPr>
              <a:t>ADVISER + CLIENT</a:t>
            </a:r>
            <a:endParaRPr sz="1050" b="0" u="none">
              <a:solidFill>
                <a:srgbClr val="000000"/>
              </a:solidFill>
              <a:latin typeface="Arial"/>
              <a:ea typeface="Arial"/>
              <a:cs typeface="Arial"/>
            </a:endParaRPr>
          </a:p>
        </p:txBody>
      </p:sp>
      <p:sp>
        <p:nvSpPr>
          <p:cNvPr id="71" name="Text 21">
            <a:extLst>
              <a:ext uri="{FF2B5EF4-FFF2-40B4-BE49-F238E27FC236}">
                <a16:creationId xmlns:a16="http://schemas.microsoft.com/office/drawing/2014/main" id="{A579706B-F54E-40FC-818A-4AB3B03EA763}"/>
              </a:ext>
            </a:extLst>
          </p:cNvPr>
          <p:cNvSpPr>
            <a:spLocks noGrp="1"/>
          </p:cNvSpPr>
          <p:nvPr/>
        </p:nvSpPr>
        <p:spPr>
          <a:xfrm>
            <a:off x="8522207" y="2980800"/>
            <a:ext cx="265176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buNone/>
              <a:tabLst>
                <a:tab pos="0" algn="l"/>
              </a:tabLst>
            </a:pPr>
            <a:r>
              <a:rPr sz="2050" b="1" u="none">
                <a:solidFill>
                  <a:srgbClr val="0B1020"/>
                </a:solidFill>
                <a:latin typeface="Aptos Display"/>
                <a:ea typeface="Aptos Display"/>
                <a:cs typeface="Aptos Display"/>
              </a:rPr>
              <a:t>Confirm the draft</a:t>
            </a:r>
            <a:endParaRPr sz="2200" b="0" u="none">
              <a:solidFill>
                <a:srgbClr val="000000"/>
              </a:solidFill>
              <a:latin typeface="Arial"/>
              <a:ea typeface="Arial"/>
              <a:cs typeface="Arial"/>
            </a:endParaRPr>
          </a:p>
        </p:txBody>
      </p:sp>
      <p:sp>
        <p:nvSpPr>
          <p:cNvPr id="72" name="Text 22">
            <a:extLst>
              <a:ext uri="{FF2B5EF4-FFF2-40B4-BE49-F238E27FC236}">
                <a16:creationId xmlns:a16="http://schemas.microsoft.com/office/drawing/2014/main" id="{BAE93762-FDD3-4AE5-99ED-1547007DC28B}"/>
              </a:ext>
            </a:extLst>
          </p:cNvPr>
          <p:cNvSpPr>
            <a:spLocks noGrp="1"/>
          </p:cNvSpPr>
          <p:nvPr/>
        </p:nvSpPr>
        <p:spPr>
          <a:xfrm>
            <a:off x="8522207" y="3730680"/>
            <a:ext cx="2642616"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lnSpcReduction="9999"/>
          </a:bodyPr>
          <a:lstStyle/>
          <a:p>
            <a:pPr defTabSz="914400">
              <a:lnSpc>
                <a:spcPct val="100000"/>
              </a:lnSpc>
              <a:buNone/>
              <a:tabLst>
                <a:tab pos="0" algn="l"/>
              </a:tabLst>
            </a:pPr>
            <a:r>
              <a:rPr sz="1400" b="0" u="none">
                <a:solidFill>
                  <a:srgbClr val="64748B"/>
                </a:solidFill>
                <a:latin typeface="Aptos"/>
                <a:ea typeface="Aptos"/>
                <a:cs typeface="Aptos"/>
              </a:rPr>
              <a:t>Inventory + focused questions</a:t>
            </a:r>
            <a:endParaRPr sz="1400" b="0" u="none">
              <a:solidFill>
                <a:srgbClr val="000000"/>
              </a:solidFill>
              <a:latin typeface="Arial"/>
              <a:ea typeface="Arial"/>
              <a:cs typeface="Arial"/>
            </a:endParaRPr>
          </a:p>
        </p:txBody>
      </p:sp>
      <p:sp>
        <p:nvSpPr>
          <p:cNvPr id="73" name="Shape 23">
            <a:extLst>
              <a:ext uri="{FF2B5EF4-FFF2-40B4-BE49-F238E27FC236}">
                <a16:creationId xmlns:a16="http://schemas.microsoft.com/office/drawing/2014/main" id="{00C5A8E8-0D85-4259-B451-BE95B90A8F74}"/>
              </a:ext>
            </a:extLst>
          </p:cNvPr>
          <p:cNvSpPr>
            <a:spLocks noGrp="1"/>
          </p:cNvSpPr>
          <p:nvPr/>
        </p:nvSpPr>
        <p:spPr>
          <a:xfrm>
            <a:off x="4302251" y="5010912"/>
            <a:ext cx="3566160" cy="566640"/>
          </a:xfrm>
          <a:prstGeom prst="roundRect">
            <a:avLst>
              <a:gd name="adj" fmla="val 19355"/>
            </a:avLst>
          </a:prstGeom>
          <a:solidFill>
            <a:srgbClr val="FFF5E6"/>
          </a:solidFill>
          <a:ln w="12700">
            <a:solidFill>
              <a:srgbClr val="F7D6A4"/>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74" name="Text 24">
            <a:extLst>
              <a:ext uri="{FF2B5EF4-FFF2-40B4-BE49-F238E27FC236}">
                <a16:creationId xmlns:a16="http://schemas.microsoft.com/office/drawing/2014/main" id="{AA8C83FF-AA4B-43B2-BF07-ACEF073CACE7}"/>
              </a:ext>
            </a:extLst>
          </p:cNvPr>
          <p:cNvSpPr>
            <a:spLocks noGrp="1"/>
          </p:cNvSpPr>
          <p:nvPr/>
        </p:nvSpPr>
        <p:spPr>
          <a:xfrm>
            <a:off x="4439412" y="5157216"/>
            <a:ext cx="32918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buNone/>
              <a:tabLst>
                <a:tab pos="0" algn="l"/>
              </a:tabLst>
            </a:pPr>
            <a:r>
              <a:rPr sz="950" b="1" u="none" spc="79">
                <a:solidFill>
                  <a:srgbClr val="B45309"/>
                </a:solidFill>
                <a:latin typeface="Aptos"/>
                <a:ea typeface="Aptos"/>
                <a:cs typeface="Aptos"/>
              </a:rPr>
              <a:t>NOT PROVEN → MARKED UNDETERMINED</a:t>
            </a:r>
            <a:endParaRPr sz="1150" b="0" u="none">
              <a:solidFill>
                <a:srgbClr val="000000"/>
              </a:solidFill>
              <a:latin typeface="Arial"/>
              <a:ea typeface="Arial"/>
              <a:cs typeface="Arial"/>
            </a:endParaRPr>
          </a:p>
        </p:txBody>
      </p:sp>
      <p:sp>
        <p:nvSpPr>
          <p:cNvPr id="75" name="Shape 25">
            <a:extLst>
              <a:ext uri="{FF2B5EF4-FFF2-40B4-BE49-F238E27FC236}">
                <a16:creationId xmlns:a16="http://schemas.microsoft.com/office/drawing/2014/main" id="{AF6FCD34-2076-4458-8742-FA28525235C5}"/>
              </a:ext>
            </a:extLst>
          </p:cNvPr>
          <p:cNvSpPr>
            <a:spLocks noGrp="1"/>
          </p:cNvSpPr>
          <p:nvPr/>
        </p:nvSpPr>
        <p:spPr>
          <a:xfrm>
            <a:off x="749880" y="5742360"/>
            <a:ext cx="10670760" cy="402120"/>
          </a:xfrm>
          <a:prstGeom prst="roundRect">
            <a:avLst>
              <a:gd name="adj" fmla="val 13636"/>
            </a:avLst>
          </a:prstGeom>
          <a:solidFill>
            <a:srgbClr val="F1F5F9"/>
          </a:solidFill>
          <a:ln w="12700">
            <a:solidFill>
              <a:srgbClr val="F1F5F9"/>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76" name="Text 26">
            <a:extLst>
              <a:ext uri="{FF2B5EF4-FFF2-40B4-BE49-F238E27FC236}">
                <a16:creationId xmlns:a16="http://schemas.microsoft.com/office/drawing/2014/main" id="{C853B119-E828-40B7-A6AF-9B29C907F6DB}"/>
              </a:ext>
            </a:extLst>
          </p:cNvPr>
          <p:cNvSpPr>
            <a:spLocks noGrp="1"/>
          </p:cNvSpPr>
          <p:nvPr/>
        </p:nvSpPr>
        <p:spPr>
          <a:xfrm>
            <a:off x="951120" y="5815440"/>
            <a:ext cx="1024092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buNone/>
              <a:tabLst>
                <a:tab pos="0" algn="l"/>
              </a:tabLst>
            </a:pPr>
            <a:r>
              <a:rPr sz="1350" b="1" u="none">
                <a:solidFill>
                  <a:srgbClr val="273244"/>
                </a:solidFill>
                <a:latin typeface="Aptos"/>
                <a:ea typeface="Aptos"/>
                <a:cs typeface="Aptos"/>
              </a:rPr>
              <a:t>Humans confirm the facts. Applying the law is a separate job — and it stays with people.</a:t>
            </a:r>
            <a:endParaRPr sz="1350" b="0" u="none">
              <a:solidFill>
                <a:srgbClr val="000000"/>
              </a:solidFill>
              <a:latin typeface="Arial"/>
              <a:ea typeface="Arial"/>
              <a:cs typeface="Arial"/>
            </a:endParaRPr>
          </a:p>
        </p:txBody>
      </p:sp>
      <p:sp>
        <p:nvSpPr>
          <p:cNvPr id="77" name="Text 27">
            <a:extLst>
              <a:ext uri="{FF2B5EF4-FFF2-40B4-BE49-F238E27FC236}">
                <a16:creationId xmlns:a16="http://schemas.microsoft.com/office/drawing/2014/main" id="{9B395917-BC08-473F-BE33-9C3FF1F1359F}"/>
              </a:ext>
            </a:extLst>
          </p:cNvPr>
          <p:cNvSpPr>
            <a:spLocks noGrp="1"/>
          </p:cNvSpPr>
          <p:nvPr/>
        </p:nvSpPr>
        <p:spPr>
          <a:xfrm>
            <a:off x="713160" y="6428160"/>
            <a:ext cx="22856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900" b="1" u="none" spc="111">
                <a:solidFill>
                  <a:srgbClr val="64748B"/>
                </a:solidFill>
                <a:latin typeface="Aptos"/>
                <a:ea typeface="Aptos"/>
                <a:cs typeface="Aptos"/>
              </a:rPr>
              <a:t>AI PRE-SCAN  •  THE SYSTEM</a:t>
            </a:r>
            <a:endParaRPr sz="900" b="0" u="none">
              <a:solidFill>
                <a:srgbClr val="000000"/>
              </a:solidFill>
              <a:latin typeface="Arial"/>
              <a:ea typeface="Arial"/>
              <a:cs typeface="Arial"/>
            </a:endParaRPr>
          </a:p>
        </p:txBody>
      </p:sp>
      <p:sp>
        <p:nvSpPr>
          <p:cNvPr id="78" name="PlaceHolder 1">
            <a:extLst>
              <a:ext uri="{FF2B5EF4-FFF2-40B4-BE49-F238E27FC236}">
                <a16:creationId xmlns:a16="http://schemas.microsoft.com/office/drawing/2014/main" id="{1DDA6142-8D10-484E-B18E-4E0AA936C9E0}"/>
              </a:ext>
            </a:extLst>
          </p:cNvPr>
          <p:cNvSpPr>
            <a:spLocks noGrp="1"/>
          </p:cNvSpPr>
          <p:nvPr>
            <p:ph type="sldNum" idx="7"/>
          </p:nvPr>
        </p:nvSpPr>
        <p:spPr>
          <a:xfrm>
            <a:off x="11292840" y="6428160"/>
            <a:ext cx="319680" cy="182520"/>
          </a:xfrm>
          <a:prstGeom prst="rect">
            <a:avLst/>
          </a:prstGeom>
          <a:noFill/>
          <a:ln w="0">
            <a:noFill/>
          </a:ln>
        </p:spPr>
        <p:txBody>
          <a:bodyPr lIns="0" tIns="0" rIns="0" bIns="0" anchor="t">
            <a:noAutofit/>
          </a:bodyPr>
          <a:lstStyle>
            <a:lvl1pPr indent="0" algn="r" defTabSz="914400">
              <a:lnSpc>
                <a:spcPct val="100000"/>
              </a:lnSpc>
              <a:buNone/>
              <a:defRPr sz="900" b="0" u="none">
                <a:solidFill>
                  <a:srgbClr val="94A3B8"/>
                </a:solidFill>
                <a:latin typeface="Aptos"/>
                <a:ea typeface="Aptos"/>
                <a:cs typeface="Aptos"/>
              </a:defRPr>
            </a:lvl1pPr>
          </a:lstStyle>
          <a:p>
            <a:pPr indent="0" algn="r" defTabSz="914400">
              <a:lnSpc>
                <a:spcPct val="100000"/>
              </a:lnSpc>
              <a:buNone/>
            </a:pPr>
            <a:fld id="{202359C0-8A7A-196E-DD58-8E6569619F09}" type="slidenum">
              <a:rPr sz="900" b="0" u="none">
                <a:solidFill>
                  <a:srgbClr val="94A3B8"/>
                </a:solidFill>
                <a:latin typeface="Aptos"/>
                <a:ea typeface="Aptos"/>
                <a:cs typeface="Aptos"/>
              </a:rPr>
              <a:t>3</a:t>
            </a:fld>
            <a:endParaRPr sz="900" b="0" u="non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2426239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Text 0">
            <a:extLst>
              <a:ext uri="{FF2B5EF4-FFF2-40B4-BE49-F238E27FC236}">
                <a16:creationId xmlns:a16="http://schemas.microsoft.com/office/drawing/2014/main" id="{F9DDF729-6A84-412D-B0D8-F9CAE8265100}"/>
              </a:ext>
            </a:extLst>
          </p:cNvPr>
          <p:cNvSpPr>
            <a:spLocks noGrp="1"/>
          </p:cNvSpPr>
          <p:nvPr/>
        </p:nvSpPr>
        <p:spPr>
          <a:xfrm>
            <a:off x="713232" y="384143"/>
            <a:ext cx="2598706" cy="21926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100" b="1" u="none" spc="181">
                <a:solidFill>
                  <a:srgbClr val="2563EB"/>
                </a:solidFill>
                <a:latin typeface="Aptos"/>
                <a:ea typeface="Aptos"/>
                <a:cs typeface="Aptos"/>
              </a:rPr>
              <a:t>THE DEMO</a:t>
            </a:r>
            <a:endParaRPr sz="1100" b="0" u="none">
              <a:solidFill>
                <a:srgbClr val="000000"/>
              </a:solidFill>
              <a:latin typeface="Arial"/>
              <a:ea typeface="Arial"/>
              <a:cs typeface="Arial"/>
            </a:endParaRPr>
          </a:p>
        </p:txBody>
      </p:sp>
      <p:sp>
        <p:nvSpPr>
          <p:cNvPr id="80" name="Text 1">
            <a:extLst>
              <a:ext uri="{FF2B5EF4-FFF2-40B4-BE49-F238E27FC236}">
                <a16:creationId xmlns:a16="http://schemas.microsoft.com/office/drawing/2014/main" id="{BE0958AE-0D4E-412A-ADDA-EF3B7E444C7F}"/>
              </a:ext>
            </a:extLst>
          </p:cNvPr>
          <p:cNvSpPr>
            <a:spLocks noGrp="1"/>
          </p:cNvSpPr>
          <p:nvPr/>
        </p:nvSpPr>
        <p:spPr>
          <a:xfrm>
            <a:off x="713160" y="713160"/>
            <a:ext cx="1074384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buNone/>
              <a:tabLst>
                <a:tab pos="0" algn="l"/>
              </a:tabLst>
            </a:pPr>
            <a:r>
              <a:rPr sz="4000" b="1" u="none">
                <a:solidFill>
                  <a:srgbClr val="0B1020"/>
                </a:solidFill>
                <a:latin typeface="Aptos Display"/>
                <a:ea typeface="Aptos Display"/>
                <a:cs typeface="Aptos Display"/>
              </a:rPr>
              <a:t>One name in; evidence and questions out</a:t>
            </a:r>
            <a:endParaRPr sz="4000" b="0" u="none">
              <a:solidFill>
                <a:srgbClr val="000000"/>
              </a:solidFill>
              <a:latin typeface="Arial"/>
              <a:ea typeface="Arial"/>
              <a:cs typeface="Arial"/>
            </a:endParaRPr>
          </a:p>
        </p:txBody>
      </p:sp>
      <p:sp>
        <p:nvSpPr>
          <p:cNvPr id="81" name="Text 2">
            <a:extLst>
              <a:ext uri="{FF2B5EF4-FFF2-40B4-BE49-F238E27FC236}">
                <a16:creationId xmlns:a16="http://schemas.microsoft.com/office/drawing/2014/main" id="{014D6D0C-4E4D-4E08-8307-0CE6E91B8919}"/>
              </a:ext>
            </a:extLst>
          </p:cNvPr>
          <p:cNvSpPr>
            <a:spLocks noGrp="1"/>
          </p:cNvSpPr>
          <p:nvPr/>
        </p:nvSpPr>
        <p:spPr>
          <a:xfrm>
            <a:off x="749880" y="1572840"/>
            <a:ext cx="868680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050" b="1" u="none" spc="99">
                <a:solidFill>
                  <a:srgbClr val="64748B"/>
                </a:solidFill>
                <a:latin typeface="Aptos"/>
                <a:ea typeface="Aptos"/>
                <a:cs typeface="Aptos"/>
              </a:rPr>
              <a:t>TWO REAL SCANS  •  OUTPUT SHOWN UNEDITED</a:t>
            </a:r>
            <a:endParaRPr sz="1050" b="0" u="none">
              <a:solidFill>
                <a:srgbClr val="000000"/>
              </a:solidFill>
              <a:latin typeface="Arial"/>
              <a:ea typeface="Arial"/>
              <a:cs typeface="Arial"/>
            </a:endParaRPr>
          </a:p>
        </p:txBody>
      </p:sp>
      <p:sp>
        <p:nvSpPr>
          <p:cNvPr id="82" name="Shape 3">
            <a:extLst>
              <a:ext uri="{FF2B5EF4-FFF2-40B4-BE49-F238E27FC236}">
                <a16:creationId xmlns:a16="http://schemas.microsoft.com/office/drawing/2014/main" id="{95653D35-B7DB-40C1-8DCB-ACC6F9917A15}"/>
              </a:ext>
            </a:extLst>
          </p:cNvPr>
          <p:cNvSpPr>
            <a:spLocks noGrp="1"/>
          </p:cNvSpPr>
          <p:nvPr/>
        </p:nvSpPr>
        <p:spPr>
          <a:xfrm>
            <a:off x="749808" y="1965960"/>
            <a:ext cx="5193792" cy="3794400"/>
          </a:xfrm>
          <a:prstGeom prst="roundRect">
            <a:avLst>
              <a:gd name="adj" fmla="val 3614"/>
            </a:avLst>
          </a:prstGeom>
          <a:solidFill>
            <a:srgbClr val="FFFFFF"/>
          </a:solidFill>
          <a:ln w="12700">
            <a:solidFill>
              <a:srgbClr val="D8E2F2"/>
            </a:solidFill>
          </a:ln>
          <a:effectLst>
            <a:outerShdw algn="bl" rotWithShape="0">
              <a:srgbClr val="0B1020">
                <a:alpha val="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83" name="Text 4">
            <a:extLst>
              <a:ext uri="{FF2B5EF4-FFF2-40B4-BE49-F238E27FC236}">
                <a16:creationId xmlns:a16="http://schemas.microsoft.com/office/drawing/2014/main" id="{C895E9BD-7288-4645-B8C0-2EF442B0E117}"/>
              </a:ext>
            </a:extLst>
          </p:cNvPr>
          <p:cNvSpPr>
            <a:spLocks noGrp="1"/>
          </p:cNvSpPr>
          <p:nvPr/>
        </p:nvSpPr>
        <p:spPr>
          <a:xfrm>
            <a:off x="1051560" y="2258640"/>
            <a:ext cx="10054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050" b="1" u="none" spc="139">
                <a:solidFill>
                  <a:srgbClr val="2563EB"/>
                </a:solidFill>
                <a:latin typeface="Aptos"/>
                <a:ea typeface="Aptos"/>
                <a:cs typeface="Aptos"/>
              </a:rPr>
              <a:t>PERSONIO</a:t>
            </a:r>
            <a:endParaRPr sz="1050" b="0" u="none">
              <a:solidFill>
                <a:srgbClr val="000000"/>
              </a:solidFill>
              <a:latin typeface="Arial"/>
              <a:ea typeface="Arial"/>
              <a:cs typeface="Arial"/>
            </a:endParaRPr>
          </a:p>
        </p:txBody>
      </p:sp>
      <p:sp>
        <p:nvSpPr>
          <p:cNvPr id="84" name="Text 5">
            <a:extLst>
              <a:ext uri="{FF2B5EF4-FFF2-40B4-BE49-F238E27FC236}">
                <a16:creationId xmlns:a16="http://schemas.microsoft.com/office/drawing/2014/main" id="{10F5F896-E876-498E-AEC4-D9274811020A}"/>
              </a:ext>
            </a:extLst>
          </p:cNvPr>
          <p:cNvSpPr>
            <a:spLocks noGrp="1"/>
          </p:cNvSpPr>
          <p:nvPr/>
        </p:nvSpPr>
        <p:spPr>
          <a:xfrm>
            <a:off x="1051560" y="2578680"/>
            <a:ext cx="356580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buNone/>
              <a:tabLst>
                <a:tab pos="0" algn="l"/>
              </a:tabLst>
            </a:pPr>
            <a:r>
              <a:rPr sz="2600" b="1" u="none">
                <a:solidFill>
                  <a:srgbClr val="0B1020"/>
                </a:solidFill>
                <a:latin typeface="Aptos Display"/>
                <a:ea typeface="Aptos Display"/>
                <a:cs typeface="Aptos Display"/>
              </a:rPr>
              <a:t>Public evidence found</a:t>
            </a:r>
            <a:endParaRPr sz="2600" b="0" u="none">
              <a:solidFill>
                <a:srgbClr val="000000"/>
              </a:solidFill>
              <a:latin typeface="Arial"/>
              <a:ea typeface="Arial"/>
              <a:cs typeface="Arial"/>
            </a:endParaRPr>
          </a:p>
        </p:txBody>
      </p:sp>
      <p:sp>
        <p:nvSpPr>
          <p:cNvPr id="85" name="Text 6">
            <a:extLst>
              <a:ext uri="{FF2B5EF4-FFF2-40B4-BE49-F238E27FC236}">
                <a16:creationId xmlns:a16="http://schemas.microsoft.com/office/drawing/2014/main" id="{48B4EC36-673C-4B68-88F7-0D86F8E00D71}"/>
              </a:ext>
            </a:extLst>
          </p:cNvPr>
          <p:cNvSpPr>
            <a:spLocks noGrp="1"/>
          </p:cNvSpPr>
          <p:nvPr/>
        </p:nvSpPr>
        <p:spPr>
          <a:xfrm>
            <a:off x="1051560" y="3035880"/>
            <a:ext cx="470916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400" b="0" u="none">
                <a:solidFill>
                  <a:srgbClr val="64748B"/>
                </a:solidFill>
                <a:latin typeface="Aptos"/>
                <a:ea typeface="Aptos"/>
                <a:cs typeface="Aptos"/>
              </a:rPr>
              <a:t>2 possible systems  •  2 proven  •  0 undetermined</a:t>
            </a:r>
            <a:endParaRPr sz="1400" b="0" u="none">
              <a:solidFill>
                <a:srgbClr val="000000"/>
              </a:solidFill>
              <a:latin typeface="Arial"/>
              <a:ea typeface="Arial"/>
              <a:cs typeface="Arial"/>
            </a:endParaRPr>
          </a:p>
        </p:txBody>
      </p:sp>
      <p:sp>
        <p:nvSpPr>
          <p:cNvPr id="86" name="Shape 7">
            <a:extLst>
              <a:ext uri="{FF2B5EF4-FFF2-40B4-BE49-F238E27FC236}">
                <a16:creationId xmlns:a16="http://schemas.microsoft.com/office/drawing/2014/main" id="{52B99E8C-4FAD-4852-A47A-FF15DF50F0B1}"/>
              </a:ext>
            </a:extLst>
          </p:cNvPr>
          <p:cNvSpPr>
            <a:spLocks noGrp="1"/>
          </p:cNvSpPr>
          <p:nvPr/>
        </p:nvSpPr>
        <p:spPr>
          <a:xfrm>
            <a:off x="1051560" y="3584520"/>
            <a:ext cx="4590288" cy="1206720"/>
          </a:xfrm>
          <a:prstGeom prst="roundRect">
            <a:avLst>
              <a:gd name="adj" fmla="val 7576"/>
            </a:avLst>
          </a:prstGeom>
          <a:solidFill>
            <a:srgbClr val="EAF2FF"/>
          </a:solidFill>
          <a:ln w="12700">
            <a:solidFill>
              <a:srgbClr val="BED3FF"/>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87" name="Text 8">
            <a:extLst>
              <a:ext uri="{FF2B5EF4-FFF2-40B4-BE49-F238E27FC236}">
                <a16:creationId xmlns:a16="http://schemas.microsoft.com/office/drawing/2014/main" id="{693C2E7A-2B79-4585-8383-2FC8A21A9985}"/>
              </a:ext>
            </a:extLst>
          </p:cNvPr>
          <p:cNvSpPr>
            <a:spLocks noGrp="1"/>
          </p:cNvSpPr>
          <p:nvPr/>
        </p:nvSpPr>
        <p:spPr>
          <a:xfrm>
            <a:off x="1298520" y="3767400"/>
            <a:ext cx="23313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950" b="1" u="none" spc="99">
                <a:solidFill>
                  <a:srgbClr val="2563EB"/>
                </a:solidFill>
                <a:latin typeface="Aptos"/>
                <a:ea typeface="Aptos"/>
                <a:cs typeface="Aptos"/>
              </a:rPr>
              <a:t>EXACT SUPPORTING SENTENCE</a:t>
            </a:r>
            <a:endParaRPr sz="950" b="0" u="none">
              <a:solidFill>
                <a:srgbClr val="000000"/>
              </a:solidFill>
              <a:latin typeface="Arial"/>
              <a:ea typeface="Arial"/>
              <a:cs typeface="Arial"/>
            </a:endParaRPr>
          </a:p>
        </p:txBody>
      </p:sp>
      <p:sp>
        <p:nvSpPr>
          <p:cNvPr id="88" name="Text 9">
            <a:extLst>
              <a:ext uri="{FF2B5EF4-FFF2-40B4-BE49-F238E27FC236}">
                <a16:creationId xmlns:a16="http://schemas.microsoft.com/office/drawing/2014/main" id="{278879F8-91B8-4CE6-A455-2A0C21490514}"/>
              </a:ext>
            </a:extLst>
          </p:cNvPr>
          <p:cNvSpPr>
            <a:spLocks noGrp="1"/>
          </p:cNvSpPr>
          <p:nvPr/>
        </p:nvSpPr>
        <p:spPr>
          <a:xfrm>
            <a:off x="1298520" y="4078080"/>
            <a:ext cx="416016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buNone/>
              <a:tabLst>
                <a:tab pos="0" algn="l"/>
              </a:tabLst>
            </a:pPr>
            <a:r>
              <a:rPr sz="1200" b="0" i="1" u="none">
                <a:solidFill>
                  <a:srgbClr val="0B1020"/>
                </a:solidFill>
                <a:latin typeface="Aptos"/>
                <a:ea typeface="Aptos"/>
                <a:cs typeface="Aptos"/>
              </a:rPr>
              <a:t>“Turn complex HR data into confident decisions. Ask Personio Assistant any question and get AI-powered insights in seconds…”</a:t>
            </a:r>
            <a:endParaRPr sz="1650" b="0" u="none">
              <a:solidFill>
                <a:srgbClr val="000000"/>
              </a:solidFill>
              <a:latin typeface="Arial"/>
              <a:ea typeface="Arial"/>
              <a:cs typeface="Arial"/>
            </a:endParaRPr>
          </a:p>
        </p:txBody>
      </p:sp>
      <p:sp>
        <p:nvSpPr>
          <p:cNvPr id="89" name="Text 10">
            <a:extLst>
              <a:ext uri="{FF2B5EF4-FFF2-40B4-BE49-F238E27FC236}">
                <a16:creationId xmlns:a16="http://schemas.microsoft.com/office/drawing/2014/main" id="{EF13023F-EF52-45D8-95B1-467340A29488}"/>
              </a:ext>
            </a:extLst>
          </p:cNvPr>
          <p:cNvSpPr>
            <a:spLocks noGrp="1"/>
          </p:cNvSpPr>
          <p:nvPr/>
        </p:nvSpPr>
        <p:spPr>
          <a:xfrm>
            <a:off x="1051560" y="5093280"/>
            <a:ext cx="452592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300" b="1" u="none">
                <a:solidFill>
                  <a:srgbClr val="273244"/>
                </a:solidFill>
                <a:latin typeface="Aptos"/>
                <a:ea typeface="Aptos"/>
                <a:cs typeface="Aptos"/>
              </a:rPr>
              <a:t>Question: Was either tool renamed, repurposed or retrained?</a:t>
            </a:r>
            <a:endParaRPr sz="1500" b="0" u="none">
              <a:solidFill>
                <a:srgbClr val="000000"/>
              </a:solidFill>
              <a:latin typeface="Arial"/>
              <a:ea typeface="Arial"/>
              <a:cs typeface="Arial"/>
            </a:endParaRPr>
          </a:p>
        </p:txBody>
      </p:sp>
      <p:sp>
        <p:nvSpPr>
          <p:cNvPr id="90" name="Shape 11">
            <a:extLst>
              <a:ext uri="{FF2B5EF4-FFF2-40B4-BE49-F238E27FC236}">
                <a16:creationId xmlns:a16="http://schemas.microsoft.com/office/drawing/2014/main" id="{CAB61817-52DA-4607-807C-D44738209C96}"/>
              </a:ext>
            </a:extLst>
          </p:cNvPr>
          <p:cNvSpPr>
            <a:spLocks noGrp="1"/>
          </p:cNvSpPr>
          <p:nvPr/>
        </p:nvSpPr>
        <p:spPr>
          <a:xfrm>
            <a:off x="6217920" y="1965960"/>
            <a:ext cx="5193792" cy="3794400"/>
          </a:xfrm>
          <a:prstGeom prst="roundRect">
            <a:avLst>
              <a:gd name="adj" fmla="val 3614"/>
            </a:avLst>
          </a:prstGeom>
          <a:solidFill>
            <a:srgbClr val="F1F5F9"/>
          </a:solidFill>
          <a:ln w="12700">
            <a:solidFill>
              <a:srgbClr val="E2E8F0"/>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91" name="Text 12">
            <a:extLst>
              <a:ext uri="{FF2B5EF4-FFF2-40B4-BE49-F238E27FC236}">
                <a16:creationId xmlns:a16="http://schemas.microsoft.com/office/drawing/2014/main" id="{5C622183-5235-4283-966B-6C948F1F36EF}"/>
              </a:ext>
            </a:extLst>
          </p:cNvPr>
          <p:cNvSpPr>
            <a:spLocks noGrp="1"/>
          </p:cNvSpPr>
          <p:nvPr/>
        </p:nvSpPr>
        <p:spPr>
          <a:xfrm>
            <a:off x="6528960" y="2258640"/>
            <a:ext cx="18284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050" b="1" u="none" spc="139">
                <a:solidFill>
                  <a:srgbClr val="64748B"/>
                </a:solidFill>
                <a:latin typeface="Aptos"/>
                <a:ea typeface="Aptos"/>
                <a:cs typeface="Aptos"/>
              </a:rPr>
              <a:t>BALLYMALOE FOODS</a:t>
            </a:r>
            <a:endParaRPr sz="1050" b="0" u="none">
              <a:solidFill>
                <a:srgbClr val="000000"/>
              </a:solidFill>
              <a:latin typeface="Arial"/>
              <a:ea typeface="Arial"/>
              <a:cs typeface="Arial"/>
            </a:endParaRPr>
          </a:p>
        </p:txBody>
      </p:sp>
      <p:sp>
        <p:nvSpPr>
          <p:cNvPr id="92" name="Text 13">
            <a:extLst>
              <a:ext uri="{FF2B5EF4-FFF2-40B4-BE49-F238E27FC236}">
                <a16:creationId xmlns:a16="http://schemas.microsoft.com/office/drawing/2014/main" id="{E2306893-B13C-4C67-97E0-AAF280689951}"/>
              </a:ext>
            </a:extLst>
          </p:cNvPr>
          <p:cNvSpPr>
            <a:spLocks noGrp="1"/>
          </p:cNvSpPr>
          <p:nvPr/>
        </p:nvSpPr>
        <p:spPr>
          <a:xfrm>
            <a:off x="6528960" y="2578680"/>
            <a:ext cx="41601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buNone/>
              <a:tabLst>
                <a:tab pos="0" algn="l"/>
              </a:tabLst>
            </a:pPr>
            <a:r>
              <a:rPr sz="2600" b="1" u="none">
                <a:solidFill>
                  <a:srgbClr val="0B1020"/>
                </a:solidFill>
                <a:latin typeface="Aptos Display"/>
                <a:ea typeface="Aptos Display"/>
                <a:cs typeface="Aptos Display"/>
              </a:rPr>
              <a:t>No public evidence found</a:t>
            </a:r>
            <a:endParaRPr sz="2600" b="0" u="none">
              <a:solidFill>
                <a:srgbClr val="000000"/>
              </a:solidFill>
              <a:latin typeface="Arial"/>
              <a:ea typeface="Arial"/>
              <a:cs typeface="Arial"/>
            </a:endParaRPr>
          </a:p>
        </p:txBody>
      </p:sp>
      <p:sp>
        <p:nvSpPr>
          <p:cNvPr id="93" name="Text 14">
            <a:extLst>
              <a:ext uri="{FF2B5EF4-FFF2-40B4-BE49-F238E27FC236}">
                <a16:creationId xmlns:a16="http://schemas.microsoft.com/office/drawing/2014/main" id="{FAD7D58D-FE69-4ACF-8522-5DD19AF844FC}"/>
              </a:ext>
            </a:extLst>
          </p:cNvPr>
          <p:cNvSpPr>
            <a:spLocks noGrp="1"/>
          </p:cNvSpPr>
          <p:nvPr/>
        </p:nvSpPr>
        <p:spPr>
          <a:xfrm>
            <a:off x="6528960" y="3035880"/>
            <a:ext cx="416016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400" b="0" u="none">
                <a:solidFill>
                  <a:srgbClr val="64748B"/>
                </a:solidFill>
                <a:latin typeface="Aptos"/>
                <a:ea typeface="Aptos"/>
                <a:cs typeface="Aptos"/>
              </a:rPr>
              <a:t>0 possible systems  •  1 question to discuss</a:t>
            </a:r>
            <a:endParaRPr sz="1400" b="0" u="none">
              <a:solidFill>
                <a:srgbClr val="000000"/>
              </a:solidFill>
              <a:latin typeface="Arial"/>
              <a:ea typeface="Arial"/>
              <a:cs typeface="Arial"/>
            </a:endParaRPr>
          </a:p>
        </p:txBody>
      </p:sp>
      <p:sp>
        <p:nvSpPr>
          <p:cNvPr id="94" name="Shape 15">
            <a:extLst>
              <a:ext uri="{FF2B5EF4-FFF2-40B4-BE49-F238E27FC236}">
                <a16:creationId xmlns:a16="http://schemas.microsoft.com/office/drawing/2014/main" id="{6F96F672-BCB6-4646-9E7D-56A18EC0F9B7}"/>
              </a:ext>
            </a:extLst>
          </p:cNvPr>
          <p:cNvSpPr>
            <a:spLocks noGrp="1"/>
          </p:cNvSpPr>
          <p:nvPr/>
        </p:nvSpPr>
        <p:spPr>
          <a:xfrm>
            <a:off x="6528960" y="3584520"/>
            <a:ext cx="4590288" cy="1206720"/>
          </a:xfrm>
          <a:prstGeom prst="roundRect">
            <a:avLst>
              <a:gd name="adj" fmla="val 7576"/>
            </a:avLst>
          </a:prstGeom>
          <a:solidFill>
            <a:srgbClr val="FFFFFF"/>
          </a:solidFill>
          <a:ln w="12700">
            <a:solidFill>
              <a:srgbClr val="D8E2F2"/>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95" name="Text 16">
            <a:extLst>
              <a:ext uri="{FF2B5EF4-FFF2-40B4-BE49-F238E27FC236}">
                <a16:creationId xmlns:a16="http://schemas.microsoft.com/office/drawing/2014/main" id="{04A87919-DB78-4FF7-A58D-11ABEAA62925}"/>
              </a:ext>
            </a:extLst>
          </p:cNvPr>
          <p:cNvSpPr>
            <a:spLocks noGrp="1"/>
          </p:cNvSpPr>
          <p:nvPr/>
        </p:nvSpPr>
        <p:spPr>
          <a:xfrm>
            <a:off x="6775560" y="3767400"/>
            <a:ext cx="196560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950" b="1" u="none" spc="99">
                <a:solidFill>
                  <a:srgbClr val="B45309"/>
                </a:solidFill>
                <a:latin typeface="Aptos"/>
                <a:ea typeface="Aptos"/>
                <a:cs typeface="Aptos"/>
              </a:rPr>
              <a:t>THE HONEST RESULT</a:t>
            </a:r>
            <a:endParaRPr sz="950" b="0" u="none">
              <a:solidFill>
                <a:srgbClr val="000000"/>
              </a:solidFill>
              <a:latin typeface="Arial"/>
              <a:ea typeface="Arial"/>
              <a:cs typeface="Arial"/>
            </a:endParaRPr>
          </a:p>
        </p:txBody>
      </p:sp>
      <p:sp>
        <p:nvSpPr>
          <p:cNvPr id="96" name="Text 17">
            <a:extLst>
              <a:ext uri="{FF2B5EF4-FFF2-40B4-BE49-F238E27FC236}">
                <a16:creationId xmlns:a16="http://schemas.microsoft.com/office/drawing/2014/main" id="{63D1E561-E470-410F-9371-CEF075AB87E4}"/>
              </a:ext>
            </a:extLst>
          </p:cNvPr>
          <p:cNvSpPr>
            <a:spLocks noGrp="1"/>
          </p:cNvSpPr>
          <p:nvPr/>
        </p:nvSpPr>
        <p:spPr>
          <a:xfrm>
            <a:off x="6775560" y="4096440"/>
            <a:ext cx="374868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buNone/>
              <a:tabLst>
                <a:tab pos="0" algn="l"/>
              </a:tabLst>
            </a:pPr>
            <a:r>
              <a:rPr sz="1200" b="1" u="none">
                <a:solidFill>
                  <a:srgbClr val="0B1020"/>
                </a:solidFill>
                <a:latin typeface="Aptos Display"/>
                <a:ea typeface="Aptos Display"/>
                <a:cs typeface="Aptos Display"/>
              </a:rPr>
              <a:t>No public evidence is not the same as no AI use.</a:t>
            </a:r>
            <a:endParaRPr sz="2200" b="0" u="none">
              <a:solidFill>
                <a:srgbClr val="000000"/>
              </a:solidFill>
              <a:latin typeface="Arial"/>
              <a:ea typeface="Arial"/>
              <a:cs typeface="Arial"/>
            </a:endParaRPr>
          </a:p>
        </p:txBody>
      </p:sp>
      <p:sp>
        <p:nvSpPr>
          <p:cNvPr id="97" name="Text 18">
            <a:extLst>
              <a:ext uri="{FF2B5EF4-FFF2-40B4-BE49-F238E27FC236}">
                <a16:creationId xmlns:a16="http://schemas.microsoft.com/office/drawing/2014/main" id="{1CB9528D-9214-4368-AAC2-1A17B0370E0C}"/>
              </a:ext>
            </a:extLst>
          </p:cNvPr>
          <p:cNvSpPr>
            <a:spLocks noGrp="1"/>
          </p:cNvSpPr>
          <p:nvPr/>
        </p:nvSpPr>
        <p:spPr>
          <a:xfrm>
            <a:off x="6528960" y="5093280"/>
            <a:ext cx="420588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300" b="1" u="none">
                <a:solidFill>
                  <a:srgbClr val="273244"/>
                </a:solidFill>
                <a:latin typeface="Aptos"/>
                <a:ea typeface="Aptos"/>
                <a:cs typeface="Aptos"/>
              </a:rPr>
              <a:t>Question to ask: What AI tools does the business actually use?</a:t>
            </a:r>
            <a:endParaRPr sz="1500" b="0" u="none">
              <a:solidFill>
                <a:srgbClr val="000000"/>
              </a:solidFill>
              <a:latin typeface="Arial"/>
              <a:ea typeface="Arial"/>
              <a:cs typeface="Arial"/>
            </a:endParaRPr>
          </a:p>
        </p:txBody>
      </p:sp>
      <p:sp>
        <p:nvSpPr>
          <p:cNvPr id="98" name="Text 19">
            <a:extLst>
              <a:ext uri="{FF2B5EF4-FFF2-40B4-BE49-F238E27FC236}">
                <a16:creationId xmlns:a16="http://schemas.microsoft.com/office/drawing/2014/main" id="{7E8AE9B7-C347-407E-9D50-3A39A51A6747}"/>
              </a:ext>
            </a:extLst>
          </p:cNvPr>
          <p:cNvSpPr>
            <a:spLocks noGrp="1"/>
          </p:cNvSpPr>
          <p:nvPr/>
        </p:nvSpPr>
        <p:spPr>
          <a:xfrm>
            <a:off x="713160" y="6428160"/>
            <a:ext cx="22856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900" b="1" u="none" spc="111">
                <a:solidFill>
                  <a:srgbClr val="64748B"/>
                </a:solidFill>
                <a:latin typeface="Aptos"/>
                <a:ea typeface="Aptos"/>
                <a:cs typeface="Aptos"/>
              </a:rPr>
              <a:t>AI PRE-SCAN  •  THE DEMO</a:t>
            </a:r>
            <a:endParaRPr sz="900" b="0" u="none">
              <a:solidFill>
                <a:srgbClr val="000000"/>
              </a:solidFill>
              <a:latin typeface="Arial"/>
              <a:ea typeface="Arial"/>
              <a:cs typeface="Arial"/>
            </a:endParaRPr>
          </a:p>
        </p:txBody>
      </p:sp>
      <p:sp>
        <p:nvSpPr>
          <p:cNvPr id="99" name="PlaceHolder 1">
            <a:extLst>
              <a:ext uri="{FF2B5EF4-FFF2-40B4-BE49-F238E27FC236}">
                <a16:creationId xmlns:a16="http://schemas.microsoft.com/office/drawing/2014/main" id="{43904E9A-545C-40F0-A3FF-C697B21CD680}"/>
              </a:ext>
            </a:extLst>
          </p:cNvPr>
          <p:cNvSpPr>
            <a:spLocks noGrp="1"/>
          </p:cNvSpPr>
          <p:nvPr>
            <p:ph type="sldNum" idx="8"/>
          </p:nvPr>
        </p:nvSpPr>
        <p:spPr>
          <a:xfrm>
            <a:off x="11292840" y="6428160"/>
            <a:ext cx="319680" cy="182520"/>
          </a:xfrm>
          <a:prstGeom prst="rect">
            <a:avLst/>
          </a:prstGeom>
          <a:noFill/>
          <a:ln w="0">
            <a:noFill/>
          </a:ln>
        </p:spPr>
        <p:txBody>
          <a:bodyPr lIns="0" tIns="0" rIns="0" bIns="0" anchor="t">
            <a:noAutofit/>
          </a:bodyPr>
          <a:lstStyle>
            <a:lvl1pPr indent="0" algn="r" defTabSz="914400">
              <a:lnSpc>
                <a:spcPct val="100000"/>
              </a:lnSpc>
              <a:buNone/>
              <a:defRPr sz="900" b="0" u="none">
                <a:solidFill>
                  <a:srgbClr val="94A3B8"/>
                </a:solidFill>
                <a:latin typeface="Aptos"/>
                <a:ea typeface="Aptos"/>
                <a:cs typeface="Aptos"/>
              </a:defRPr>
            </a:lvl1pPr>
          </a:lstStyle>
          <a:p>
            <a:pPr indent="0" algn="r" defTabSz="914400">
              <a:lnSpc>
                <a:spcPct val="100000"/>
              </a:lnSpc>
              <a:buNone/>
            </a:pPr>
            <a:fld id="{EFD6AB9A-5F9E-5F59-51AB-3C8734130965}" type="slidenum">
              <a:rPr sz="900" b="0" u="none">
                <a:solidFill>
                  <a:srgbClr val="94A3B8"/>
                </a:solidFill>
                <a:latin typeface="Aptos"/>
                <a:ea typeface="Aptos"/>
                <a:cs typeface="Aptos"/>
              </a:rPr>
              <a:t>4</a:t>
            </a:fld>
            <a:endParaRPr sz="900" b="0" u="non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8467668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Text 0">
            <a:extLst>
              <a:ext uri="{FF2B5EF4-FFF2-40B4-BE49-F238E27FC236}">
                <a16:creationId xmlns:a16="http://schemas.microsoft.com/office/drawing/2014/main" id="{913DD227-DF10-4E1B-A9F2-4EE9640252AC}"/>
              </a:ext>
            </a:extLst>
          </p:cNvPr>
          <p:cNvSpPr>
            <a:spLocks noGrp="1"/>
          </p:cNvSpPr>
          <p:nvPr/>
        </p:nvSpPr>
        <p:spPr>
          <a:xfrm>
            <a:off x="713160" y="384120"/>
            <a:ext cx="27428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100" b="1" u="none" spc="181">
                <a:solidFill>
                  <a:srgbClr val="2563EB"/>
                </a:solidFill>
                <a:latin typeface="Aptos"/>
                <a:ea typeface="Aptos"/>
                <a:cs typeface="Aptos"/>
              </a:rPr>
              <a:t>THE TRUST BOUNDARY</a:t>
            </a:r>
            <a:endParaRPr sz="1100" b="0" u="none">
              <a:solidFill>
                <a:srgbClr val="000000"/>
              </a:solidFill>
              <a:latin typeface="Arial"/>
              <a:ea typeface="Arial"/>
              <a:cs typeface="Arial"/>
            </a:endParaRPr>
          </a:p>
        </p:txBody>
      </p:sp>
      <p:sp>
        <p:nvSpPr>
          <p:cNvPr id="101" name="Text 1">
            <a:extLst>
              <a:ext uri="{FF2B5EF4-FFF2-40B4-BE49-F238E27FC236}">
                <a16:creationId xmlns:a16="http://schemas.microsoft.com/office/drawing/2014/main" id="{DDF0F064-490C-4C3C-BEC0-6723229A9C63}"/>
              </a:ext>
            </a:extLst>
          </p:cNvPr>
          <p:cNvSpPr>
            <a:spLocks noGrp="1"/>
          </p:cNvSpPr>
          <p:nvPr/>
        </p:nvSpPr>
        <p:spPr>
          <a:xfrm>
            <a:off x="713137" y="713137"/>
            <a:ext cx="10743819" cy="914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l" defTabSz="914400">
              <a:lnSpc>
                <a:spcPct val="100000"/>
              </a:lnSpc>
              <a:buNone/>
              <a:tabLst>
                <a:tab pos="0" algn="l"/>
              </a:tabLst>
              <a:defRPr sz="3500" b="1">
                <a:solidFill>
                  <a:srgbClr val="0B1020"/>
                </a:solidFill>
                <a:latin typeface="Aptos Display"/>
                <a:ea typeface="Aptos Display"/>
                <a:cs typeface="Aptos Display"/>
              </a:defRPr>
            </a:pPr>
            <a:r>
              <a:rPr sz="3500" b="1" u="none">
                <a:solidFill>
                  <a:srgbClr val="0B1020"/>
                </a:solidFill>
                <a:latin typeface="Aptos Display"/>
                <a:ea typeface="Aptos Display"/>
                <a:cs typeface="Aptos Display"/>
              </a:rPr>
              <a:t>Trust is enforced at the gate,</a:t>
            </a:r>
            <a:endParaRPr sz="3700" b="0" u="none">
              <a:solidFill>
                <a:srgbClr val="000000"/>
              </a:solidFill>
              <a:latin typeface="Arial"/>
              <a:ea typeface="Arial"/>
              <a:cs typeface="Arial"/>
            </a:endParaRPr>
          </a:p>
          <a:p>
            <a:pPr algn="l" defTabSz="914400">
              <a:lnSpc>
                <a:spcPct val="100000"/>
              </a:lnSpc>
              <a:buNone/>
              <a:tabLst>
                <a:tab pos="0" algn="l"/>
              </a:tabLst>
              <a:defRPr sz="3500" b="1">
                <a:solidFill>
                  <a:srgbClr val="0B1020"/>
                </a:solidFill>
                <a:latin typeface="Aptos Display"/>
                <a:ea typeface="Aptos Display"/>
                <a:cs typeface="Aptos Display"/>
              </a:defRPr>
            </a:pPr>
            <a:r>
              <a:rPr sz="3500" b="1" u="none">
                <a:solidFill>
                  <a:srgbClr val="0B1020"/>
                </a:solidFill>
                <a:latin typeface="Aptos Display"/>
                <a:ea typeface="Aptos Display"/>
                <a:cs typeface="Aptos Display"/>
              </a:rPr>
              <a:t>not promised in the prompt</a:t>
            </a:r>
            <a:endParaRPr sz="3700" b="0" u="none">
              <a:solidFill>
                <a:srgbClr val="000000"/>
              </a:solidFill>
              <a:latin typeface="Arial"/>
              <a:ea typeface="Arial"/>
              <a:cs typeface="Arial"/>
            </a:endParaRPr>
          </a:p>
        </p:txBody>
      </p:sp>
      <p:sp>
        <p:nvSpPr>
          <p:cNvPr id="102" name="Text 2">
            <a:extLst>
              <a:ext uri="{FF2B5EF4-FFF2-40B4-BE49-F238E27FC236}">
                <a16:creationId xmlns:a16="http://schemas.microsoft.com/office/drawing/2014/main" id="{80888F36-0A5F-431F-AA62-0D2EEB9B76E7}"/>
              </a:ext>
            </a:extLst>
          </p:cNvPr>
          <p:cNvSpPr>
            <a:spLocks noGrp="1"/>
          </p:cNvSpPr>
          <p:nvPr/>
        </p:nvSpPr>
        <p:spPr>
          <a:xfrm>
            <a:off x="749903" y="1783080"/>
            <a:ext cx="5851779" cy="319659"/>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800" b="0" u="none">
                <a:solidFill>
                  <a:srgbClr val="64748B"/>
                </a:solidFill>
                <a:latin typeface="Aptos"/>
                <a:ea typeface="Aptos"/>
                <a:cs typeface="Aptos"/>
              </a:rPr>
              <a:t>A finding ships only when all three checks pass</a:t>
            </a:r>
            <a:endParaRPr sz="1800" b="0" u="none">
              <a:solidFill>
                <a:srgbClr val="000000"/>
              </a:solidFill>
              <a:latin typeface="Arial"/>
              <a:ea typeface="Arial"/>
              <a:cs typeface="Arial"/>
            </a:endParaRPr>
          </a:p>
        </p:txBody>
      </p:sp>
      <p:sp>
        <p:nvSpPr>
          <p:cNvPr id="103" name="Shape 3">
            <a:extLst>
              <a:ext uri="{FF2B5EF4-FFF2-40B4-BE49-F238E27FC236}">
                <a16:creationId xmlns:a16="http://schemas.microsoft.com/office/drawing/2014/main" id="{29624A94-E901-41FC-82CB-284DF6FAB68F}"/>
              </a:ext>
            </a:extLst>
          </p:cNvPr>
          <p:cNvSpPr>
            <a:spLocks noGrp="1"/>
          </p:cNvSpPr>
          <p:nvPr/>
        </p:nvSpPr>
        <p:spPr>
          <a:xfrm>
            <a:off x="4078224" y="3154680"/>
            <a:ext cx="310896" cy="360"/>
          </a:xfrm>
          <a:prstGeom prst="line">
            <a:avLst/>
          </a:prstGeom>
          <a:ln w="25400">
            <a:solidFill>
              <a:srgbClr val="2563EB"/>
            </a:solidFill>
            <a:tailEnd type="triangle" w="med" len="med"/>
          </a:ln>
        </p:spPr>
        <p:style>
          <a:lnRef idx="0">
            <a:scrgbClr r="0" g="0" b="0"/>
          </a:lnRef>
          <a:fillRef idx="0">
            <a:scrgbClr r="0" g="0" b="0"/>
          </a:fillRef>
          <a:effectRef idx="0">
            <a:scrgbClr r="0" g="0" b="0"/>
          </a:effectRef>
          <a:fontRef idx="minor"/>
        </p:style>
        <p:txBody>
          <a:bodyPr lIns="90000" tIns="-44640" rIns="90000" bIns="-44640" anchor="t">
            <a:noAutofit/>
          </a:bodyPr>
          <a:lstStyle/>
          <a:p>
            <a:endParaRPr sz="1800" b="0" u="none">
              <a:solidFill>
                <a:srgbClr val="000000"/>
              </a:solidFill>
              <a:latin typeface="Arial"/>
              <a:ea typeface="Arial"/>
              <a:cs typeface="Arial"/>
            </a:endParaRPr>
          </a:p>
        </p:txBody>
      </p:sp>
      <p:sp>
        <p:nvSpPr>
          <p:cNvPr id="104" name="Shape 4">
            <a:extLst>
              <a:ext uri="{FF2B5EF4-FFF2-40B4-BE49-F238E27FC236}">
                <a16:creationId xmlns:a16="http://schemas.microsoft.com/office/drawing/2014/main" id="{7DB0489C-F24E-499C-B761-17C06BA0E9BB}"/>
              </a:ext>
            </a:extLst>
          </p:cNvPr>
          <p:cNvSpPr>
            <a:spLocks noGrp="1"/>
          </p:cNvSpPr>
          <p:nvPr/>
        </p:nvSpPr>
        <p:spPr>
          <a:xfrm>
            <a:off x="7735824" y="3154680"/>
            <a:ext cx="310896" cy="360"/>
          </a:xfrm>
          <a:prstGeom prst="line">
            <a:avLst/>
          </a:prstGeom>
          <a:ln w="25400">
            <a:solidFill>
              <a:srgbClr val="2563EB"/>
            </a:solidFill>
            <a:tailEnd type="triangle" w="med" len="med"/>
          </a:ln>
        </p:spPr>
        <p:style>
          <a:lnRef idx="0">
            <a:scrgbClr r="0" g="0" b="0"/>
          </a:lnRef>
          <a:fillRef idx="0">
            <a:scrgbClr r="0" g="0" b="0"/>
          </a:fillRef>
          <a:effectRef idx="0">
            <a:scrgbClr r="0" g="0" b="0"/>
          </a:effectRef>
          <a:fontRef idx="minor"/>
        </p:style>
        <p:txBody>
          <a:bodyPr lIns="90000" tIns="-44640" rIns="90000" bIns="-44640" anchor="t">
            <a:noAutofit/>
          </a:bodyPr>
          <a:lstStyle/>
          <a:p>
            <a:endParaRPr sz="1800" b="0" u="none">
              <a:solidFill>
                <a:srgbClr val="000000"/>
              </a:solidFill>
              <a:latin typeface="Arial"/>
              <a:ea typeface="Arial"/>
              <a:cs typeface="Arial"/>
            </a:endParaRPr>
          </a:p>
        </p:txBody>
      </p:sp>
      <p:sp>
        <p:nvSpPr>
          <p:cNvPr id="105" name="Shape 5">
            <a:extLst>
              <a:ext uri="{FF2B5EF4-FFF2-40B4-BE49-F238E27FC236}">
                <a16:creationId xmlns:a16="http://schemas.microsoft.com/office/drawing/2014/main" id="{1E18E3C3-5276-4434-AF0D-7118ABDB56CC}"/>
              </a:ext>
            </a:extLst>
          </p:cNvPr>
          <p:cNvSpPr>
            <a:spLocks noGrp="1"/>
          </p:cNvSpPr>
          <p:nvPr/>
        </p:nvSpPr>
        <p:spPr>
          <a:xfrm>
            <a:off x="749808" y="2194560"/>
            <a:ext cx="3310128" cy="1938240"/>
          </a:xfrm>
          <a:prstGeom prst="roundRect">
            <a:avLst>
              <a:gd name="adj" fmla="val 7075"/>
            </a:avLst>
          </a:prstGeom>
          <a:solidFill>
            <a:srgbClr val="FFFFFF"/>
          </a:solidFill>
          <a:ln w="12700">
            <a:solidFill>
              <a:srgbClr val="D8E2F2"/>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106" name="Shape 6">
            <a:extLst>
              <a:ext uri="{FF2B5EF4-FFF2-40B4-BE49-F238E27FC236}">
                <a16:creationId xmlns:a16="http://schemas.microsoft.com/office/drawing/2014/main" id="{3A18733D-5672-40EA-802B-23714E537A66}"/>
              </a:ext>
            </a:extLst>
          </p:cNvPr>
          <p:cNvSpPr>
            <a:spLocks noGrp="1"/>
          </p:cNvSpPr>
          <p:nvPr/>
        </p:nvSpPr>
        <p:spPr>
          <a:xfrm>
            <a:off x="978407" y="2468879"/>
            <a:ext cx="475200" cy="475200"/>
          </a:xfrm>
          <a:prstGeom prst="ellipse">
            <a:avLst/>
          </a:prstGeom>
          <a:solidFill>
            <a:srgbClr val="EAF2FF"/>
          </a:solidFill>
          <a:ln w="12700">
            <a:solidFill>
              <a:srgbClr val="EAF2FF"/>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107" name="Text 7">
            <a:extLst>
              <a:ext uri="{FF2B5EF4-FFF2-40B4-BE49-F238E27FC236}">
                <a16:creationId xmlns:a16="http://schemas.microsoft.com/office/drawing/2014/main" id="{ED3DF422-06A8-4E6C-8727-43DAC4FCE734}"/>
              </a:ext>
            </a:extLst>
          </p:cNvPr>
          <p:cNvSpPr>
            <a:spLocks noGrp="1"/>
          </p:cNvSpPr>
          <p:nvPr/>
        </p:nvSpPr>
        <p:spPr>
          <a:xfrm>
            <a:off x="978407" y="2468879"/>
            <a:ext cx="47520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buNone/>
              <a:tabLst>
                <a:tab pos="0" algn="l"/>
              </a:tabLst>
            </a:pPr>
            <a:r>
              <a:rPr sz="1500" b="1" u="none">
                <a:solidFill>
                  <a:srgbClr val="1D4ED8"/>
                </a:solidFill>
                <a:latin typeface="Aptos"/>
                <a:ea typeface="Aptos"/>
                <a:cs typeface="Aptos"/>
              </a:rPr>
              <a:t>01</a:t>
            </a:r>
            <a:endParaRPr sz="1500" b="0" u="none">
              <a:solidFill>
                <a:srgbClr val="000000"/>
              </a:solidFill>
              <a:latin typeface="Arial"/>
              <a:ea typeface="Arial"/>
              <a:cs typeface="Arial"/>
            </a:endParaRPr>
          </a:p>
        </p:txBody>
      </p:sp>
      <p:sp>
        <p:nvSpPr>
          <p:cNvPr id="108" name="Text 8">
            <a:extLst>
              <a:ext uri="{FF2B5EF4-FFF2-40B4-BE49-F238E27FC236}">
                <a16:creationId xmlns:a16="http://schemas.microsoft.com/office/drawing/2014/main" id="{58C46FEB-D492-4EF2-B4D7-D9268DF7D02B}"/>
              </a:ext>
            </a:extLst>
          </p:cNvPr>
          <p:cNvSpPr>
            <a:spLocks noGrp="1"/>
          </p:cNvSpPr>
          <p:nvPr/>
        </p:nvSpPr>
        <p:spPr>
          <a:xfrm>
            <a:off x="1591056" y="2523744"/>
            <a:ext cx="21945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800" b="1" u="none">
                <a:solidFill>
                  <a:srgbClr val="0B1020"/>
                </a:solidFill>
                <a:latin typeface="Aptos Display"/>
                <a:ea typeface="Aptos Display"/>
                <a:cs typeface="Aptos Display"/>
              </a:rPr>
              <a:t>Exact quote</a:t>
            </a:r>
            <a:endParaRPr sz="2200" b="0" u="none">
              <a:solidFill>
                <a:srgbClr val="000000"/>
              </a:solidFill>
              <a:latin typeface="Arial"/>
              <a:ea typeface="Arial"/>
              <a:cs typeface="Arial"/>
            </a:endParaRPr>
          </a:p>
        </p:txBody>
      </p:sp>
      <p:sp>
        <p:nvSpPr>
          <p:cNvPr id="109" name="Text 9">
            <a:extLst>
              <a:ext uri="{FF2B5EF4-FFF2-40B4-BE49-F238E27FC236}">
                <a16:creationId xmlns:a16="http://schemas.microsoft.com/office/drawing/2014/main" id="{846A4E3C-7926-44F8-A0D8-59ADE38606CD}"/>
              </a:ext>
            </a:extLst>
          </p:cNvPr>
          <p:cNvSpPr>
            <a:spLocks noGrp="1"/>
          </p:cNvSpPr>
          <p:nvPr/>
        </p:nvSpPr>
        <p:spPr>
          <a:xfrm>
            <a:off x="978407" y="3163824"/>
            <a:ext cx="2761488"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buNone/>
              <a:tabLst>
                <a:tab pos="0" algn="l"/>
              </a:tabLst>
            </a:pPr>
            <a:r>
              <a:rPr sz="1400" b="0" u="none">
                <a:solidFill>
                  <a:srgbClr val="64748B"/>
                </a:solidFill>
                <a:latin typeface="Aptos"/>
                <a:ea typeface="Aptos"/>
                <a:cs typeface="Aptos"/>
              </a:rPr>
              <a:t>The quoted sentence really is on the page</a:t>
            </a:r>
            <a:endParaRPr sz="1400" b="0" u="none">
              <a:solidFill>
                <a:srgbClr val="000000"/>
              </a:solidFill>
              <a:latin typeface="Arial"/>
              <a:ea typeface="Arial"/>
              <a:cs typeface="Arial"/>
            </a:endParaRPr>
          </a:p>
        </p:txBody>
      </p:sp>
      <p:sp>
        <p:nvSpPr>
          <p:cNvPr id="110" name="Shape 10">
            <a:extLst>
              <a:ext uri="{FF2B5EF4-FFF2-40B4-BE49-F238E27FC236}">
                <a16:creationId xmlns:a16="http://schemas.microsoft.com/office/drawing/2014/main" id="{67F019D2-D994-410D-A926-3DF168EC4559}"/>
              </a:ext>
            </a:extLst>
          </p:cNvPr>
          <p:cNvSpPr>
            <a:spLocks noGrp="1"/>
          </p:cNvSpPr>
          <p:nvPr/>
        </p:nvSpPr>
        <p:spPr>
          <a:xfrm>
            <a:off x="4407408" y="2194560"/>
            <a:ext cx="3310128" cy="1938240"/>
          </a:xfrm>
          <a:prstGeom prst="roundRect">
            <a:avLst>
              <a:gd name="adj" fmla="val 7075"/>
            </a:avLst>
          </a:prstGeom>
          <a:solidFill>
            <a:srgbClr val="2563EB"/>
          </a:solidFill>
          <a:ln w="12700">
            <a:solidFill>
              <a:srgbClr val="2563EB"/>
            </a:solidFill>
          </a:ln>
          <a:effectLst>
            <a:outerShdw algn="bl" rotWithShape="0">
              <a:srgbClr val="0B1020">
                <a:alpha val="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FFFFFF"/>
              </a:solidFill>
              <a:latin typeface="Arial"/>
              <a:ea typeface="Arial"/>
              <a:cs typeface="Arial"/>
            </a:endParaRPr>
          </a:p>
        </p:txBody>
      </p:sp>
      <p:sp>
        <p:nvSpPr>
          <p:cNvPr id="111" name="Shape 11">
            <a:extLst>
              <a:ext uri="{FF2B5EF4-FFF2-40B4-BE49-F238E27FC236}">
                <a16:creationId xmlns:a16="http://schemas.microsoft.com/office/drawing/2014/main" id="{4CDB228B-9C37-4B35-AABB-AE228912E33C}"/>
              </a:ext>
            </a:extLst>
          </p:cNvPr>
          <p:cNvSpPr>
            <a:spLocks noGrp="1"/>
          </p:cNvSpPr>
          <p:nvPr/>
        </p:nvSpPr>
        <p:spPr>
          <a:xfrm>
            <a:off x="4636008" y="2468879"/>
            <a:ext cx="475200" cy="475200"/>
          </a:xfrm>
          <a:prstGeom prst="ellipse">
            <a:avLst/>
          </a:prstGeom>
          <a:solidFill>
            <a:srgbClr val="FFFFFF"/>
          </a:solidFill>
          <a:ln w="12700">
            <a:solidFill>
              <a:srgbClr val="FFFFFF"/>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112" name="Text 12">
            <a:extLst>
              <a:ext uri="{FF2B5EF4-FFF2-40B4-BE49-F238E27FC236}">
                <a16:creationId xmlns:a16="http://schemas.microsoft.com/office/drawing/2014/main" id="{952E25AA-0D26-428D-8E94-600ABDF55FC7}"/>
              </a:ext>
            </a:extLst>
          </p:cNvPr>
          <p:cNvSpPr>
            <a:spLocks noGrp="1"/>
          </p:cNvSpPr>
          <p:nvPr/>
        </p:nvSpPr>
        <p:spPr>
          <a:xfrm>
            <a:off x="4636008" y="2468879"/>
            <a:ext cx="47520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buNone/>
              <a:tabLst>
                <a:tab pos="0" algn="l"/>
              </a:tabLst>
            </a:pPr>
            <a:r>
              <a:rPr sz="1500" b="1" u="none">
                <a:solidFill>
                  <a:srgbClr val="2563EB"/>
                </a:solidFill>
                <a:latin typeface="Aptos"/>
                <a:ea typeface="Aptos"/>
                <a:cs typeface="Aptos"/>
              </a:rPr>
              <a:t>02</a:t>
            </a:r>
            <a:endParaRPr sz="1500" b="0" u="none">
              <a:solidFill>
                <a:srgbClr val="000000"/>
              </a:solidFill>
              <a:latin typeface="Arial"/>
              <a:ea typeface="Arial"/>
              <a:cs typeface="Arial"/>
            </a:endParaRPr>
          </a:p>
        </p:txBody>
      </p:sp>
      <p:sp>
        <p:nvSpPr>
          <p:cNvPr id="113" name="Text 13">
            <a:extLst>
              <a:ext uri="{FF2B5EF4-FFF2-40B4-BE49-F238E27FC236}">
                <a16:creationId xmlns:a16="http://schemas.microsoft.com/office/drawing/2014/main" id="{270DC1F2-6388-41F0-AF91-A27291DAA0BE}"/>
              </a:ext>
            </a:extLst>
          </p:cNvPr>
          <p:cNvSpPr>
            <a:spLocks noGrp="1"/>
          </p:cNvSpPr>
          <p:nvPr/>
        </p:nvSpPr>
        <p:spPr>
          <a:xfrm>
            <a:off x="5248656" y="2523744"/>
            <a:ext cx="21945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800" b="1" u="none">
                <a:solidFill>
                  <a:srgbClr val="FFFFFF"/>
                </a:solidFill>
                <a:latin typeface="Aptos Display"/>
                <a:ea typeface="Aptos Display"/>
                <a:cs typeface="Aptos Display"/>
              </a:rPr>
              <a:t>Traceable source</a:t>
            </a:r>
            <a:endParaRPr sz="2200" b="0" u="none">
              <a:solidFill>
                <a:srgbClr val="000000"/>
              </a:solidFill>
              <a:latin typeface="Arial"/>
              <a:ea typeface="Arial"/>
              <a:cs typeface="Arial"/>
            </a:endParaRPr>
          </a:p>
        </p:txBody>
      </p:sp>
      <p:sp>
        <p:nvSpPr>
          <p:cNvPr id="114" name="Text 14">
            <a:extLst>
              <a:ext uri="{FF2B5EF4-FFF2-40B4-BE49-F238E27FC236}">
                <a16:creationId xmlns:a16="http://schemas.microsoft.com/office/drawing/2014/main" id="{5FC4FE4D-803B-4343-A32C-40A57774E13E}"/>
              </a:ext>
            </a:extLst>
          </p:cNvPr>
          <p:cNvSpPr>
            <a:spLocks noGrp="1"/>
          </p:cNvSpPr>
          <p:nvPr/>
        </p:nvSpPr>
        <p:spPr>
          <a:xfrm>
            <a:off x="4636008" y="3163824"/>
            <a:ext cx="2761488"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buNone/>
              <a:tabLst>
                <a:tab pos="0" algn="l"/>
              </a:tabLst>
            </a:pPr>
            <a:r>
              <a:rPr sz="1400" b="0" u="none">
                <a:solidFill>
                  <a:srgbClr val="EAF2FF"/>
                </a:solidFill>
                <a:latin typeface="Aptos"/>
                <a:ea typeface="Aptos"/>
                <a:cs typeface="Aptos"/>
              </a:rPr>
              <a:t>We know whose page it is and when we fetched it</a:t>
            </a:r>
            <a:endParaRPr sz="1400" b="0" u="none">
              <a:solidFill>
                <a:srgbClr val="000000"/>
              </a:solidFill>
              <a:latin typeface="Arial"/>
              <a:ea typeface="Arial"/>
              <a:cs typeface="Arial"/>
            </a:endParaRPr>
          </a:p>
        </p:txBody>
      </p:sp>
      <p:sp>
        <p:nvSpPr>
          <p:cNvPr id="115" name="Shape 15">
            <a:extLst>
              <a:ext uri="{FF2B5EF4-FFF2-40B4-BE49-F238E27FC236}">
                <a16:creationId xmlns:a16="http://schemas.microsoft.com/office/drawing/2014/main" id="{A7975808-C466-464F-A552-466736FA6B16}"/>
              </a:ext>
            </a:extLst>
          </p:cNvPr>
          <p:cNvSpPr>
            <a:spLocks noGrp="1"/>
          </p:cNvSpPr>
          <p:nvPr/>
        </p:nvSpPr>
        <p:spPr>
          <a:xfrm>
            <a:off x="8065008" y="2194560"/>
            <a:ext cx="3310128" cy="1938240"/>
          </a:xfrm>
          <a:prstGeom prst="roundRect">
            <a:avLst>
              <a:gd name="adj" fmla="val 7075"/>
            </a:avLst>
          </a:prstGeom>
          <a:solidFill>
            <a:srgbClr val="FFFFFF"/>
          </a:solidFill>
          <a:ln w="12700">
            <a:solidFill>
              <a:srgbClr val="D8E2F2"/>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116" name="Shape 16">
            <a:extLst>
              <a:ext uri="{FF2B5EF4-FFF2-40B4-BE49-F238E27FC236}">
                <a16:creationId xmlns:a16="http://schemas.microsoft.com/office/drawing/2014/main" id="{49C7BFC3-B212-462B-8447-B8D1AF9683FE}"/>
              </a:ext>
            </a:extLst>
          </p:cNvPr>
          <p:cNvSpPr>
            <a:spLocks noGrp="1"/>
          </p:cNvSpPr>
          <p:nvPr/>
        </p:nvSpPr>
        <p:spPr>
          <a:xfrm>
            <a:off x="8293608" y="2468879"/>
            <a:ext cx="475200" cy="475200"/>
          </a:xfrm>
          <a:prstGeom prst="ellipse">
            <a:avLst/>
          </a:prstGeom>
          <a:solidFill>
            <a:srgbClr val="EAF2FF"/>
          </a:solidFill>
          <a:ln w="12700">
            <a:solidFill>
              <a:srgbClr val="EAF2FF"/>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117" name="Text 17">
            <a:extLst>
              <a:ext uri="{FF2B5EF4-FFF2-40B4-BE49-F238E27FC236}">
                <a16:creationId xmlns:a16="http://schemas.microsoft.com/office/drawing/2014/main" id="{1B45A50B-4CCF-4C2B-BCC1-4C9B708621B9}"/>
              </a:ext>
            </a:extLst>
          </p:cNvPr>
          <p:cNvSpPr>
            <a:spLocks noGrp="1"/>
          </p:cNvSpPr>
          <p:nvPr/>
        </p:nvSpPr>
        <p:spPr>
          <a:xfrm>
            <a:off x="8293608" y="2468879"/>
            <a:ext cx="47520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buNone/>
              <a:tabLst>
                <a:tab pos="0" algn="l"/>
              </a:tabLst>
            </a:pPr>
            <a:r>
              <a:rPr sz="1500" b="1" u="none">
                <a:solidFill>
                  <a:srgbClr val="1D4ED8"/>
                </a:solidFill>
                <a:latin typeface="Aptos"/>
                <a:ea typeface="Aptos"/>
                <a:cs typeface="Aptos"/>
              </a:rPr>
              <a:t>03</a:t>
            </a:r>
            <a:endParaRPr sz="1500" b="0" u="none">
              <a:solidFill>
                <a:srgbClr val="000000"/>
              </a:solidFill>
              <a:latin typeface="Arial"/>
              <a:ea typeface="Arial"/>
              <a:cs typeface="Arial"/>
            </a:endParaRPr>
          </a:p>
        </p:txBody>
      </p:sp>
      <p:sp>
        <p:nvSpPr>
          <p:cNvPr id="118" name="Text 18">
            <a:extLst>
              <a:ext uri="{FF2B5EF4-FFF2-40B4-BE49-F238E27FC236}">
                <a16:creationId xmlns:a16="http://schemas.microsoft.com/office/drawing/2014/main" id="{95D6FBD7-E312-45BB-8BD0-29ED3F90CB29}"/>
              </a:ext>
            </a:extLst>
          </p:cNvPr>
          <p:cNvSpPr>
            <a:spLocks noGrp="1"/>
          </p:cNvSpPr>
          <p:nvPr/>
        </p:nvSpPr>
        <p:spPr>
          <a:xfrm>
            <a:off x="8906256" y="2523744"/>
            <a:ext cx="21945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800" b="1" u="none">
                <a:solidFill>
                  <a:srgbClr val="0B1020"/>
                </a:solidFill>
                <a:latin typeface="Aptos Display"/>
                <a:ea typeface="Aptos Display"/>
                <a:cs typeface="Aptos Display"/>
              </a:rPr>
              <a:t>Current enough</a:t>
            </a:r>
            <a:endParaRPr sz="2200" b="0" u="none">
              <a:solidFill>
                <a:srgbClr val="000000"/>
              </a:solidFill>
              <a:latin typeface="Arial"/>
              <a:ea typeface="Arial"/>
              <a:cs typeface="Arial"/>
            </a:endParaRPr>
          </a:p>
        </p:txBody>
      </p:sp>
      <p:sp>
        <p:nvSpPr>
          <p:cNvPr id="119" name="Text 19">
            <a:extLst>
              <a:ext uri="{FF2B5EF4-FFF2-40B4-BE49-F238E27FC236}">
                <a16:creationId xmlns:a16="http://schemas.microsoft.com/office/drawing/2014/main" id="{C73FA78E-D11A-4AAA-80CC-757F41334329}"/>
              </a:ext>
            </a:extLst>
          </p:cNvPr>
          <p:cNvSpPr>
            <a:spLocks noGrp="1"/>
          </p:cNvSpPr>
          <p:nvPr/>
        </p:nvSpPr>
        <p:spPr>
          <a:xfrm>
            <a:off x="8293608" y="3163824"/>
            <a:ext cx="2761488"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buNone/>
              <a:tabLst>
                <a:tab pos="0" algn="l"/>
              </a:tabLst>
            </a:pPr>
            <a:r>
              <a:rPr sz="1400" b="0" u="none">
                <a:solidFill>
                  <a:srgbClr val="64748B"/>
                </a:solidFill>
                <a:latin typeface="Aptos"/>
                <a:ea typeface="Aptos"/>
                <a:cs typeface="Aptos"/>
              </a:rPr>
              <a:t>The page is recent enough to support the claim</a:t>
            </a:r>
            <a:endParaRPr sz="1400" b="0" u="none">
              <a:solidFill>
                <a:srgbClr val="000000"/>
              </a:solidFill>
              <a:latin typeface="Arial"/>
              <a:ea typeface="Arial"/>
              <a:cs typeface="Arial"/>
            </a:endParaRPr>
          </a:p>
        </p:txBody>
      </p:sp>
      <p:sp>
        <p:nvSpPr>
          <p:cNvPr id="120" name="Shape 20">
            <a:extLst>
              <a:ext uri="{FF2B5EF4-FFF2-40B4-BE49-F238E27FC236}">
                <a16:creationId xmlns:a16="http://schemas.microsoft.com/office/drawing/2014/main" id="{58CB0FC7-0AD1-4CA7-94D0-93AAAD23098C}"/>
              </a:ext>
            </a:extLst>
          </p:cNvPr>
          <p:cNvSpPr>
            <a:spLocks noGrp="1"/>
          </p:cNvSpPr>
          <p:nvPr/>
        </p:nvSpPr>
        <p:spPr>
          <a:xfrm>
            <a:off x="6062472" y="4187952"/>
            <a:ext cx="360" cy="384048"/>
          </a:xfrm>
          <a:prstGeom prst="line">
            <a:avLst/>
          </a:prstGeom>
          <a:ln w="25400">
            <a:solidFill>
              <a:srgbClr val="B45309"/>
            </a:solidFill>
            <a:tailEnd type="triangle" w="med" len="med"/>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121" name="Shape 21">
            <a:extLst>
              <a:ext uri="{FF2B5EF4-FFF2-40B4-BE49-F238E27FC236}">
                <a16:creationId xmlns:a16="http://schemas.microsoft.com/office/drawing/2014/main" id="{9FE7AD33-4C2A-4DD0-B137-AEE7EBCF1F9F}"/>
              </a:ext>
            </a:extLst>
          </p:cNvPr>
          <p:cNvSpPr>
            <a:spLocks noGrp="1"/>
          </p:cNvSpPr>
          <p:nvPr/>
        </p:nvSpPr>
        <p:spPr>
          <a:xfrm>
            <a:off x="2496312" y="4645152"/>
            <a:ext cx="7132320" cy="402336"/>
          </a:xfrm>
          <a:prstGeom prst="roundRect">
            <a:avLst>
              <a:gd name="adj" fmla="val 17857"/>
            </a:avLst>
          </a:prstGeom>
          <a:solidFill>
            <a:srgbClr val="FFF5E6"/>
          </a:solidFill>
          <a:ln w="12700">
            <a:solidFill>
              <a:srgbClr val="F7D6A4"/>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122" name="Text 22">
            <a:extLst>
              <a:ext uri="{FF2B5EF4-FFF2-40B4-BE49-F238E27FC236}">
                <a16:creationId xmlns:a16="http://schemas.microsoft.com/office/drawing/2014/main" id="{2613651E-14EB-4684-84E6-97F923B41D22}"/>
              </a:ext>
            </a:extLst>
          </p:cNvPr>
          <p:cNvSpPr>
            <a:spLocks noGrp="1"/>
          </p:cNvSpPr>
          <p:nvPr/>
        </p:nvSpPr>
        <p:spPr>
          <a:xfrm>
            <a:off x="2633472" y="4736592"/>
            <a:ext cx="6858000" cy="21945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buNone/>
              <a:tabLst>
                <a:tab pos="0" algn="l"/>
              </a:tabLst>
            </a:pPr>
            <a:r>
              <a:rPr sz="1050" b="1" u="none" spc="60">
                <a:solidFill>
                  <a:srgbClr val="B45309"/>
                </a:solidFill>
                <a:latin typeface="Aptos"/>
                <a:ea typeface="Aptos"/>
                <a:cs typeface="Aptos"/>
              </a:rPr>
              <a:t>FAILS A CHECK → SEARCH AGAIN → STILL UNPROVEN → ASK THE CLIENT</a:t>
            </a:r>
            <a:endParaRPr sz="1050" b="0" u="none">
              <a:solidFill>
                <a:srgbClr val="000000"/>
              </a:solidFill>
              <a:latin typeface="Arial"/>
              <a:ea typeface="Arial"/>
              <a:cs typeface="Arial"/>
            </a:endParaRPr>
          </a:p>
        </p:txBody>
      </p:sp>
      <p:sp>
        <p:nvSpPr>
          <p:cNvPr id="123" name="Shape 23">
            <a:extLst>
              <a:ext uri="{FF2B5EF4-FFF2-40B4-BE49-F238E27FC236}">
                <a16:creationId xmlns:a16="http://schemas.microsoft.com/office/drawing/2014/main" id="{4D46ED31-6FDF-4187-97D7-CBCA7061505B}"/>
              </a:ext>
            </a:extLst>
          </p:cNvPr>
          <p:cNvSpPr>
            <a:spLocks noGrp="1"/>
          </p:cNvSpPr>
          <p:nvPr/>
        </p:nvSpPr>
        <p:spPr>
          <a:xfrm>
            <a:off x="749880" y="5321880"/>
            <a:ext cx="3309840" cy="987120"/>
          </a:xfrm>
          <a:prstGeom prst="roundRect">
            <a:avLst>
              <a:gd name="adj" fmla="val 11111"/>
            </a:avLst>
          </a:prstGeom>
          <a:solidFill>
            <a:srgbClr val="E7F7F4"/>
          </a:solidFill>
          <a:ln w="12700">
            <a:solidFill>
              <a:srgbClr val="B7E4DC"/>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124" name="Text 24">
            <a:extLst>
              <a:ext uri="{FF2B5EF4-FFF2-40B4-BE49-F238E27FC236}">
                <a16:creationId xmlns:a16="http://schemas.microsoft.com/office/drawing/2014/main" id="{45281EB8-D0C2-42A0-B427-733BF2A11623}"/>
              </a:ext>
            </a:extLst>
          </p:cNvPr>
          <p:cNvSpPr>
            <a:spLocks noGrp="1"/>
          </p:cNvSpPr>
          <p:nvPr/>
        </p:nvSpPr>
        <p:spPr>
          <a:xfrm>
            <a:off x="914400" y="5431680"/>
            <a:ext cx="298044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lnSpcReduction="9999"/>
          </a:bodyPr>
          <a:lstStyle/>
          <a:p>
            <a:pPr defTabSz="914400">
              <a:lnSpc>
                <a:spcPct val="100000"/>
              </a:lnSpc>
              <a:buNone/>
              <a:tabLst>
                <a:tab pos="0" algn="l"/>
              </a:tabLst>
            </a:pPr>
            <a:r>
              <a:rPr sz="2800" b="1" u="none">
                <a:solidFill>
                  <a:srgbClr val="0F766E"/>
                </a:solidFill>
                <a:latin typeface="Aptos Display"/>
                <a:ea typeface="Aptos Display"/>
                <a:cs typeface="Aptos Display"/>
              </a:rPr>
              <a:t>100%</a:t>
            </a:r>
            <a:endParaRPr sz="2800" b="0" u="none">
              <a:solidFill>
                <a:srgbClr val="000000"/>
              </a:solidFill>
              <a:latin typeface="Arial"/>
              <a:ea typeface="Arial"/>
              <a:cs typeface="Arial"/>
            </a:endParaRPr>
          </a:p>
        </p:txBody>
      </p:sp>
      <p:sp>
        <p:nvSpPr>
          <p:cNvPr id="125" name="Text 25">
            <a:extLst>
              <a:ext uri="{FF2B5EF4-FFF2-40B4-BE49-F238E27FC236}">
                <a16:creationId xmlns:a16="http://schemas.microsoft.com/office/drawing/2014/main" id="{A0EBEFAC-04F4-4203-B546-225556DA6B5C}"/>
              </a:ext>
            </a:extLst>
          </p:cNvPr>
          <p:cNvSpPr>
            <a:spLocks noGrp="1"/>
          </p:cNvSpPr>
          <p:nvPr/>
        </p:nvSpPr>
        <p:spPr>
          <a:xfrm>
            <a:off x="914400" y="5888880"/>
            <a:ext cx="2980440" cy="24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buNone/>
              <a:tabLst>
                <a:tab pos="0" algn="l"/>
              </a:tabLst>
            </a:pPr>
            <a:r>
              <a:rPr sz="1250" b="0" u="none">
                <a:solidFill>
                  <a:srgbClr val="273244"/>
                </a:solidFill>
                <a:latin typeface="Aptos"/>
                <a:ea typeface="Aptos"/>
                <a:cs typeface="Aptos"/>
              </a:rPr>
              <a:t>of unproven claims refused</a:t>
            </a:r>
            <a:endParaRPr sz="1250" b="0" u="none">
              <a:solidFill>
                <a:srgbClr val="000000"/>
              </a:solidFill>
              <a:latin typeface="Arial"/>
              <a:ea typeface="Arial"/>
              <a:cs typeface="Arial"/>
            </a:endParaRPr>
          </a:p>
        </p:txBody>
      </p:sp>
      <p:sp>
        <p:nvSpPr>
          <p:cNvPr id="126" name="Shape 26">
            <a:extLst>
              <a:ext uri="{FF2B5EF4-FFF2-40B4-BE49-F238E27FC236}">
                <a16:creationId xmlns:a16="http://schemas.microsoft.com/office/drawing/2014/main" id="{4FB659DA-2550-46F5-A7BB-5344317591CA}"/>
              </a:ext>
            </a:extLst>
          </p:cNvPr>
          <p:cNvSpPr>
            <a:spLocks noGrp="1"/>
          </p:cNvSpPr>
          <p:nvPr/>
        </p:nvSpPr>
        <p:spPr>
          <a:xfrm>
            <a:off x="4407480" y="5321880"/>
            <a:ext cx="3309840" cy="987120"/>
          </a:xfrm>
          <a:prstGeom prst="roundRect">
            <a:avLst>
              <a:gd name="adj" fmla="val 11111"/>
            </a:avLst>
          </a:prstGeom>
          <a:solidFill>
            <a:srgbClr val="E7F7F4"/>
          </a:solidFill>
          <a:ln w="12700">
            <a:solidFill>
              <a:srgbClr val="B7E4DC"/>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127" name="Text 27">
            <a:extLst>
              <a:ext uri="{FF2B5EF4-FFF2-40B4-BE49-F238E27FC236}">
                <a16:creationId xmlns:a16="http://schemas.microsoft.com/office/drawing/2014/main" id="{EAA78822-ED23-4034-AB5D-4EC783E211C6}"/>
              </a:ext>
            </a:extLst>
          </p:cNvPr>
          <p:cNvSpPr>
            <a:spLocks noGrp="1"/>
          </p:cNvSpPr>
          <p:nvPr/>
        </p:nvSpPr>
        <p:spPr>
          <a:xfrm>
            <a:off x="4572000" y="5431680"/>
            <a:ext cx="298044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lnSpcReduction="9999"/>
          </a:bodyPr>
          <a:lstStyle/>
          <a:p>
            <a:pPr defTabSz="914400">
              <a:lnSpc>
                <a:spcPct val="100000"/>
              </a:lnSpc>
              <a:buNone/>
              <a:tabLst>
                <a:tab pos="0" algn="l"/>
              </a:tabLst>
            </a:pPr>
            <a:r>
              <a:rPr sz="2800" b="1" u="none">
                <a:solidFill>
                  <a:srgbClr val="0F766E"/>
                </a:solidFill>
                <a:latin typeface="Aptos Display"/>
                <a:ea typeface="Aptos Display"/>
                <a:cs typeface="Aptos Display"/>
              </a:rPr>
              <a:t>0</a:t>
            </a:r>
            <a:endParaRPr sz="2800" b="0" u="none">
              <a:solidFill>
                <a:srgbClr val="000000"/>
              </a:solidFill>
              <a:latin typeface="Arial"/>
              <a:ea typeface="Arial"/>
              <a:cs typeface="Arial"/>
            </a:endParaRPr>
          </a:p>
        </p:txBody>
      </p:sp>
      <p:sp>
        <p:nvSpPr>
          <p:cNvPr id="128" name="Text 28">
            <a:extLst>
              <a:ext uri="{FF2B5EF4-FFF2-40B4-BE49-F238E27FC236}">
                <a16:creationId xmlns:a16="http://schemas.microsoft.com/office/drawing/2014/main" id="{6952121B-3E4D-4D73-8347-B5901FED1A57}"/>
              </a:ext>
            </a:extLst>
          </p:cNvPr>
          <p:cNvSpPr>
            <a:spLocks noGrp="1"/>
          </p:cNvSpPr>
          <p:nvPr/>
        </p:nvSpPr>
        <p:spPr>
          <a:xfrm>
            <a:off x="4572000" y="5888880"/>
            <a:ext cx="2980440" cy="24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buNone/>
              <a:tabLst>
                <a:tab pos="0" algn="l"/>
              </a:tabLst>
            </a:pPr>
            <a:r>
              <a:rPr sz="1250" b="0" u="none">
                <a:solidFill>
                  <a:srgbClr val="273244"/>
                </a:solidFill>
                <a:latin typeface="Aptos"/>
                <a:ea typeface="Aptos"/>
                <a:cs typeface="Aptos"/>
              </a:rPr>
              <a:t>false claims where nothing was public</a:t>
            </a:r>
            <a:endParaRPr sz="1250" b="0" u="none">
              <a:solidFill>
                <a:srgbClr val="000000"/>
              </a:solidFill>
              <a:latin typeface="Arial"/>
              <a:ea typeface="Arial"/>
              <a:cs typeface="Arial"/>
            </a:endParaRPr>
          </a:p>
        </p:txBody>
      </p:sp>
      <p:sp>
        <p:nvSpPr>
          <p:cNvPr id="129" name="Shape 29">
            <a:extLst>
              <a:ext uri="{FF2B5EF4-FFF2-40B4-BE49-F238E27FC236}">
                <a16:creationId xmlns:a16="http://schemas.microsoft.com/office/drawing/2014/main" id="{75DE2D76-2C78-44EB-80E8-BABBA7C8204D}"/>
              </a:ext>
            </a:extLst>
          </p:cNvPr>
          <p:cNvSpPr>
            <a:spLocks noGrp="1"/>
          </p:cNvSpPr>
          <p:nvPr/>
        </p:nvSpPr>
        <p:spPr>
          <a:xfrm>
            <a:off x="8065080" y="5321880"/>
            <a:ext cx="3309840" cy="987120"/>
          </a:xfrm>
          <a:prstGeom prst="roundRect">
            <a:avLst>
              <a:gd name="adj" fmla="val 11111"/>
            </a:avLst>
          </a:prstGeom>
          <a:solidFill>
            <a:srgbClr val="E7F7F4"/>
          </a:solidFill>
          <a:ln w="12700">
            <a:solidFill>
              <a:srgbClr val="B7E4DC"/>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130" name="Text 30">
            <a:extLst>
              <a:ext uri="{FF2B5EF4-FFF2-40B4-BE49-F238E27FC236}">
                <a16:creationId xmlns:a16="http://schemas.microsoft.com/office/drawing/2014/main" id="{99D7EB6C-D962-4AD8-8A3E-68305698A2E0}"/>
              </a:ext>
            </a:extLst>
          </p:cNvPr>
          <p:cNvSpPr>
            <a:spLocks noGrp="1"/>
          </p:cNvSpPr>
          <p:nvPr/>
        </p:nvSpPr>
        <p:spPr>
          <a:xfrm>
            <a:off x="8229600" y="5431680"/>
            <a:ext cx="2980440" cy="40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lnSpcReduction="9999"/>
          </a:bodyPr>
          <a:lstStyle/>
          <a:p>
            <a:pPr defTabSz="914400">
              <a:lnSpc>
                <a:spcPct val="100000"/>
              </a:lnSpc>
              <a:buNone/>
              <a:tabLst>
                <a:tab pos="0" algn="l"/>
              </a:tabLst>
            </a:pPr>
            <a:r>
              <a:rPr sz="2800" b="1" u="none">
                <a:solidFill>
                  <a:srgbClr val="0F766E"/>
                </a:solidFill>
                <a:latin typeface="Aptos Display"/>
                <a:ea typeface="Aptos Display"/>
                <a:cs typeface="Aptos Display"/>
              </a:rPr>
              <a:t>0</a:t>
            </a:r>
            <a:endParaRPr sz="2800" b="0" u="none">
              <a:solidFill>
                <a:srgbClr val="000000"/>
              </a:solidFill>
              <a:latin typeface="Arial"/>
              <a:ea typeface="Arial"/>
              <a:cs typeface="Arial"/>
            </a:endParaRPr>
          </a:p>
        </p:txBody>
      </p:sp>
      <p:sp>
        <p:nvSpPr>
          <p:cNvPr id="131" name="Text 31">
            <a:extLst>
              <a:ext uri="{FF2B5EF4-FFF2-40B4-BE49-F238E27FC236}">
                <a16:creationId xmlns:a16="http://schemas.microsoft.com/office/drawing/2014/main" id="{C6AD46EC-1C3D-4FE8-8B5D-0B0293FD290C}"/>
              </a:ext>
            </a:extLst>
          </p:cNvPr>
          <p:cNvSpPr>
            <a:spLocks noGrp="1"/>
          </p:cNvSpPr>
          <p:nvPr/>
        </p:nvSpPr>
        <p:spPr>
          <a:xfrm>
            <a:off x="8229600" y="5888880"/>
            <a:ext cx="2980440" cy="24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buNone/>
              <a:tabLst>
                <a:tab pos="0" algn="l"/>
              </a:tabLst>
            </a:pPr>
            <a:r>
              <a:rPr sz="1250" b="0" u="none">
                <a:solidFill>
                  <a:srgbClr val="273244"/>
                </a:solidFill>
                <a:latin typeface="Aptos"/>
                <a:ea typeface="Aptos"/>
                <a:cs typeface="Aptos"/>
              </a:rPr>
              <a:t>findings missing their source</a:t>
            </a:r>
            <a:endParaRPr sz="1250" b="0" u="none">
              <a:solidFill>
                <a:srgbClr val="000000"/>
              </a:solidFill>
              <a:latin typeface="Arial"/>
              <a:ea typeface="Arial"/>
              <a:cs typeface="Arial"/>
            </a:endParaRPr>
          </a:p>
        </p:txBody>
      </p:sp>
      <p:sp>
        <p:nvSpPr>
          <p:cNvPr id="132" name="Text 32">
            <a:extLst>
              <a:ext uri="{FF2B5EF4-FFF2-40B4-BE49-F238E27FC236}">
                <a16:creationId xmlns:a16="http://schemas.microsoft.com/office/drawing/2014/main" id="{71B15D19-2306-4CAB-B2A1-D702958CD600}"/>
              </a:ext>
            </a:extLst>
          </p:cNvPr>
          <p:cNvSpPr>
            <a:spLocks noGrp="1"/>
          </p:cNvSpPr>
          <p:nvPr/>
        </p:nvSpPr>
        <p:spPr>
          <a:xfrm>
            <a:off x="713160" y="6428160"/>
            <a:ext cx="32918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900" b="1" u="none" spc="111">
                <a:solidFill>
                  <a:srgbClr val="64748B"/>
                </a:solidFill>
                <a:latin typeface="Aptos"/>
                <a:ea typeface="Aptos"/>
                <a:cs typeface="Aptos"/>
              </a:rPr>
              <a:t>AI PRE-SCAN  •  THE TRUST BOUNDARY</a:t>
            </a:r>
            <a:endParaRPr sz="900" b="0" u="none">
              <a:solidFill>
                <a:srgbClr val="000000"/>
              </a:solidFill>
              <a:latin typeface="Arial"/>
              <a:ea typeface="Arial"/>
              <a:cs typeface="Arial"/>
            </a:endParaRPr>
          </a:p>
        </p:txBody>
      </p:sp>
      <p:sp>
        <p:nvSpPr>
          <p:cNvPr id="133" name="PlaceHolder 1">
            <a:extLst>
              <a:ext uri="{FF2B5EF4-FFF2-40B4-BE49-F238E27FC236}">
                <a16:creationId xmlns:a16="http://schemas.microsoft.com/office/drawing/2014/main" id="{12786B44-9AE0-418C-AB11-6B72356FA8EA}"/>
              </a:ext>
            </a:extLst>
          </p:cNvPr>
          <p:cNvSpPr>
            <a:spLocks noGrp="1"/>
          </p:cNvSpPr>
          <p:nvPr>
            <p:ph type="sldNum" idx="9"/>
          </p:nvPr>
        </p:nvSpPr>
        <p:spPr>
          <a:xfrm>
            <a:off x="11292840" y="6428160"/>
            <a:ext cx="319680" cy="182520"/>
          </a:xfrm>
          <a:prstGeom prst="rect">
            <a:avLst/>
          </a:prstGeom>
          <a:noFill/>
          <a:ln w="0">
            <a:noFill/>
          </a:ln>
        </p:spPr>
        <p:txBody>
          <a:bodyPr lIns="0" tIns="0" rIns="0" bIns="0" anchor="t">
            <a:noAutofit/>
          </a:bodyPr>
          <a:lstStyle>
            <a:lvl1pPr indent="0" algn="r" defTabSz="914400">
              <a:lnSpc>
                <a:spcPct val="100000"/>
              </a:lnSpc>
              <a:buNone/>
              <a:defRPr sz="900" b="0" u="none">
                <a:solidFill>
                  <a:srgbClr val="94A3B8"/>
                </a:solidFill>
                <a:latin typeface="Aptos"/>
                <a:ea typeface="Aptos"/>
                <a:cs typeface="Aptos"/>
              </a:defRPr>
            </a:lvl1pPr>
          </a:lstStyle>
          <a:p>
            <a:pPr indent="0" algn="r" defTabSz="914400">
              <a:lnSpc>
                <a:spcPct val="100000"/>
              </a:lnSpc>
              <a:buNone/>
            </a:pPr>
            <a:fld id="{EE5B3003-2C54-13C6-9832-7637201064DE}" type="slidenum">
              <a:rPr sz="900" b="0" u="none">
                <a:solidFill>
                  <a:srgbClr val="94A3B8"/>
                </a:solidFill>
                <a:latin typeface="Aptos"/>
                <a:ea typeface="Aptos"/>
                <a:cs typeface="Aptos"/>
              </a:rPr>
              <a:t>5</a:t>
            </a:fld>
            <a:endParaRPr sz="900" b="0" u="non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3801959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Text 0">
            <a:extLst>
              <a:ext uri="{FF2B5EF4-FFF2-40B4-BE49-F238E27FC236}">
                <a16:creationId xmlns:a16="http://schemas.microsoft.com/office/drawing/2014/main" id="{88C77FD8-00A2-4BF0-8626-D77BBC9D806B}"/>
              </a:ext>
            </a:extLst>
          </p:cNvPr>
          <p:cNvSpPr>
            <a:spLocks noGrp="1"/>
          </p:cNvSpPr>
          <p:nvPr/>
        </p:nvSpPr>
        <p:spPr>
          <a:xfrm>
            <a:off x="758952" y="1719072"/>
            <a:ext cx="1956816" cy="21945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100" b="1" u="none" spc="181">
                <a:solidFill>
                  <a:srgbClr val="2563EB"/>
                </a:solidFill>
                <a:latin typeface="Aptos"/>
                <a:ea typeface="Aptos"/>
                <a:cs typeface="Aptos"/>
              </a:rPr>
              <a:t>INSIDE LANGGRAPH</a:t>
            </a:r>
            <a:endParaRPr sz="1100" b="0" u="none">
              <a:solidFill>
                <a:srgbClr val="000000"/>
              </a:solidFill>
              <a:latin typeface="Arial"/>
              <a:ea typeface="Arial"/>
              <a:cs typeface="Arial"/>
            </a:endParaRPr>
          </a:p>
        </p:txBody>
      </p:sp>
      <p:sp>
        <p:nvSpPr>
          <p:cNvPr id="135" name="Text 1">
            <a:extLst>
              <a:ext uri="{FF2B5EF4-FFF2-40B4-BE49-F238E27FC236}">
                <a16:creationId xmlns:a16="http://schemas.microsoft.com/office/drawing/2014/main" id="{9BB9B35C-3399-44BB-B6A2-D854072F0857}"/>
              </a:ext>
            </a:extLst>
          </p:cNvPr>
          <p:cNvSpPr>
            <a:spLocks noGrp="1"/>
          </p:cNvSpPr>
          <p:nvPr/>
        </p:nvSpPr>
        <p:spPr>
          <a:xfrm>
            <a:off x="713160" y="713160"/>
            <a:ext cx="10743840" cy="749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lnSpcReduction="9999"/>
          </a:bodyPr>
          <a:lstStyle/>
          <a:p>
            <a:pPr defTabSz="914400">
              <a:lnSpc>
                <a:spcPct val="100000"/>
              </a:lnSpc>
              <a:buNone/>
              <a:tabLst>
                <a:tab pos="0" algn="l"/>
              </a:tabLst>
            </a:pPr>
            <a:r>
              <a:rPr sz="4000" b="1" u="none">
                <a:solidFill>
                  <a:srgbClr val="0B1020"/>
                </a:solidFill>
                <a:latin typeface="Aptos Display"/>
                <a:ea typeface="Aptos Display"/>
                <a:cs typeface="Aptos Display"/>
              </a:rPr>
              <a:t>LangGraph runs the full evidence loop</a:t>
            </a:r>
            <a:endParaRPr sz="4000" b="0" u="none">
              <a:solidFill>
                <a:srgbClr val="000000"/>
              </a:solidFill>
              <a:latin typeface="Arial"/>
              <a:ea typeface="Arial"/>
              <a:cs typeface="Arial"/>
            </a:endParaRPr>
          </a:p>
        </p:txBody>
      </p:sp>
      <p:sp>
        <p:nvSpPr>
          <p:cNvPr id="136" name="Shape 2">
            <a:extLst>
              <a:ext uri="{FF2B5EF4-FFF2-40B4-BE49-F238E27FC236}">
                <a16:creationId xmlns:a16="http://schemas.microsoft.com/office/drawing/2014/main" id="{754E6CBB-1BCE-4D4B-AC70-4B2BEFE90855}"/>
              </a:ext>
            </a:extLst>
          </p:cNvPr>
          <p:cNvSpPr>
            <a:spLocks noGrp="1"/>
          </p:cNvSpPr>
          <p:nvPr/>
        </p:nvSpPr>
        <p:spPr>
          <a:xfrm>
            <a:off x="2999232" y="2816352"/>
            <a:ext cx="566928" cy="0"/>
          </a:xfrm>
          <a:prstGeom prst="line">
            <a:avLst/>
          </a:prstGeom>
          <a:ln w="29210">
            <a:solidFill>
              <a:srgbClr val="2563EB"/>
            </a:solidFill>
            <a:tailEnd type="triangle" w="med" len="med"/>
          </a:ln>
        </p:spPr>
        <p:style>
          <a:lnRef idx="0">
            <a:scrgbClr r="0" g="0" b="0"/>
          </a:lnRef>
          <a:fillRef idx="0">
            <a:scrgbClr r="0" g="0" b="0"/>
          </a:fillRef>
          <a:effectRef idx="0">
            <a:scrgbClr r="0" g="0" b="0"/>
          </a:effectRef>
          <a:fontRef idx="minor"/>
        </p:style>
        <p:txBody>
          <a:bodyPr lIns="90000" tIns="-44640" rIns="90000" bIns="-44640" anchor="t">
            <a:noAutofit/>
          </a:bodyPr>
          <a:lstStyle/>
          <a:p>
            <a:endParaRPr sz="1800" b="0" u="none">
              <a:solidFill>
                <a:srgbClr val="000000"/>
              </a:solidFill>
              <a:latin typeface="Arial"/>
              <a:ea typeface="Arial"/>
              <a:cs typeface="Arial"/>
            </a:endParaRPr>
          </a:p>
        </p:txBody>
      </p:sp>
      <p:sp>
        <p:nvSpPr>
          <p:cNvPr id="137" name="Shape 3">
            <a:extLst>
              <a:ext uri="{FF2B5EF4-FFF2-40B4-BE49-F238E27FC236}">
                <a16:creationId xmlns:a16="http://schemas.microsoft.com/office/drawing/2014/main" id="{E052E134-CE43-4D80-BF13-70ECF4BAD05F}"/>
              </a:ext>
            </a:extLst>
          </p:cNvPr>
          <p:cNvSpPr>
            <a:spLocks noGrp="1"/>
          </p:cNvSpPr>
          <p:nvPr/>
        </p:nvSpPr>
        <p:spPr>
          <a:xfrm>
            <a:off x="5815584" y="2816352"/>
            <a:ext cx="566928" cy="0"/>
          </a:xfrm>
          <a:prstGeom prst="line">
            <a:avLst/>
          </a:prstGeom>
          <a:ln w="29210">
            <a:solidFill>
              <a:srgbClr val="2563EB"/>
            </a:solidFill>
            <a:tailEnd type="triangle" w="med" len="med"/>
          </a:ln>
        </p:spPr>
        <p:style>
          <a:lnRef idx="0">
            <a:scrgbClr r="0" g="0" b="0"/>
          </a:lnRef>
          <a:fillRef idx="0">
            <a:scrgbClr r="0" g="0" b="0"/>
          </a:fillRef>
          <a:effectRef idx="0">
            <a:scrgbClr r="0" g="0" b="0"/>
          </a:effectRef>
          <a:fontRef idx="minor"/>
        </p:style>
        <p:txBody>
          <a:bodyPr lIns="90000" tIns="-44640" rIns="90000" bIns="-44640" anchor="t">
            <a:noAutofit/>
          </a:bodyPr>
          <a:lstStyle/>
          <a:p>
            <a:endParaRPr sz="1800" b="0" u="none">
              <a:solidFill>
                <a:srgbClr val="000000"/>
              </a:solidFill>
              <a:latin typeface="Arial"/>
              <a:ea typeface="Arial"/>
              <a:cs typeface="Arial"/>
            </a:endParaRPr>
          </a:p>
        </p:txBody>
      </p:sp>
      <p:sp>
        <p:nvSpPr>
          <p:cNvPr id="138" name="Shape 4">
            <a:extLst>
              <a:ext uri="{FF2B5EF4-FFF2-40B4-BE49-F238E27FC236}">
                <a16:creationId xmlns:a16="http://schemas.microsoft.com/office/drawing/2014/main" id="{A25E0C70-2ECF-41E8-855A-B3E5175FF349}"/>
              </a:ext>
            </a:extLst>
          </p:cNvPr>
          <p:cNvSpPr>
            <a:spLocks noGrp="1"/>
          </p:cNvSpPr>
          <p:nvPr/>
        </p:nvSpPr>
        <p:spPr>
          <a:xfrm>
            <a:off x="8631936" y="2816352"/>
            <a:ext cx="566928" cy="0"/>
          </a:xfrm>
          <a:prstGeom prst="line">
            <a:avLst/>
          </a:prstGeom>
          <a:ln w="29210">
            <a:solidFill>
              <a:srgbClr val="0F766E"/>
            </a:solidFill>
            <a:tailEnd type="triangle" w="med" len="med"/>
          </a:ln>
        </p:spPr>
        <p:style>
          <a:lnRef idx="0">
            <a:scrgbClr r="0" g="0" b="0"/>
          </a:lnRef>
          <a:fillRef idx="0">
            <a:scrgbClr r="0" g="0" b="0"/>
          </a:fillRef>
          <a:effectRef idx="0">
            <a:scrgbClr r="0" g="0" b="0"/>
          </a:effectRef>
          <a:fontRef idx="minor"/>
        </p:style>
        <p:txBody>
          <a:bodyPr lIns="90000" tIns="-44640" rIns="90000" bIns="-44640" anchor="t">
            <a:noAutofit/>
          </a:bodyPr>
          <a:lstStyle/>
          <a:p>
            <a:endParaRPr sz="1800" b="0" u="none">
              <a:solidFill>
                <a:srgbClr val="000000"/>
              </a:solidFill>
              <a:latin typeface="Arial"/>
              <a:ea typeface="Arial"/>
              <a:cs typeface="Arial"/>
            </a:endParaRPr>
          </a:p>
        </p:txBody>
      </p:sp>
      <p:sp>
        <p:nvSpPr>
          <p:cNvPr id="139" name="Shape 5">
            <a:extLst>
              <a:ext uri="{FF2B5EF4-FFF2-40B4-BE49-F238E27FC236}">
                <a16:creationId xmlns:a16="http://schemas.microsoft.com/office/drawing/2014/main" id="{F0CC24A2-DBE9-454D-B0B1-8758109B95E8}"/>
              </a:ext>
            </a:extLst>
          </p:cNvPr>
          <p:cNvSpPr>
            <a:spLocks noGrp="1"/>
          </p:cNvSpPr>
          <p:nvPr/>
        </p:nvSpPr>
        <p:spPr>
          <a:xfrm>
            <a:off x="1874519" y="4005072"/>
            <a:ext cx="4937760" cy="0"/>
          </a:xfrm>
          <a:prstGeom prst="line">
            <a:avLst/>
          </a:prstGeom>
          <a:ln w="22860">
            <a:solidFill>
              <a:srgbClr val="2563EB"/>
            </a:solidFill>
            <a:prstDash val="dash"/>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140" name="Shape 6">
            <a:extLst>
              <a:ext uri="{FF2B5EF4-FFF2-40B4-BE49-F238E27FC236}">
                <a16:creationId xmlns:a16="http://schemas.microsoft.com/office/drawing/2014/main" id="{8C869394-F02E-4A36-A9FA-AE6A3B4BF377}"/>
              </a:ext>
            </a:extLst>
          </p:cNvPr>
          <p:cNvSpPr>
            <a:spLocks noGrp="1"/>
          </p:cNvSpPr>
          <p:nvPr/>
        </p:nvSpPr>
        <p:spPr>
          <a:xfrm>
            <a:off x="7507224" y="3456432"/>
            <a:ext cx="0" cy="932688"/>
          </a:xfrm>
          <a:prstGeom prst="line">
            <a:avLst/>
          </a:prstGeom>
          <a:ln w="22860">
            <a:solidFill>
              <a:srgbClr val="B45309"/>
            </a:solidFill>
            <a:tailEnd type="triangle" w="med" len="med"/>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141" name="Shape 7">
            <a:extLst>
              <a:ext uri="{FF2B5EF4-FFF2-40B4-BE49-F238E27FC236}">
                <a16:creationId xmlns:a16="http://schemas.microsoft.com/office/drawing/2014/main" id="{B85DAE03-BD70-47B6-B929-FC80CC7AD67F}"/>
              </a:ext>
            </a:extLst>
          </p:cNvPr>
          <p:cNvSpPr>
            <a:spLocks noGrp="1"/>
          </p:cNvSpPr>
          <p:nvPr/>
        </p:nvSpPr>
        <p:spPr>
          <a:xfrm>
            <a:off x="749808" y="2212848"/>
            <a:ext cx="2249424" cy="1207008"/>
          </a:xfrm>
          <a:prstGeom prst="roundRect">
            <a:avLst>
              <a:gd name="adj" fmla="val 10606"/>
            </a:avLst>
          </a:prstGeom>
          <a:solidFill>
            <a:srgbClr val="FFFFFF"/>
          </a:solidFill>
          <a:ln w="12700">
            <a:solidFill>
              <a:srgbClr val="D8E2F2"/>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142" name="Text 8">
            <a:extLst>
              <a:ext uri="{FF2B5EF4-FFF2-40B4-BE49-F238E27FC236}">
                <a16:creationId xmlns:a16="http://schemas.microsoft.com/office/drawing/2014/main" id="{E49EAA9B-01C2-4C54-86E5-08A7C9465C40}"/>
              </a:ext>
            </a:extLst>
          </p:cNvPr>
          <p:cNvSpPr>
            <a:spLocks noGrp="1"/>
          </p:cNvSpPr>
          <p:nvPr/>
        </p:nvSpPr>
        <p:spPr>
          <a:xfrm>
            <a:off x="914400" y="2395728"/>
            <a:ext cx="1920240" cy="246888"/>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buNone/>
              <a:tabLst>
                <a:tab pos="0" algn="l"/>
              </a:tabLst>
            </a:pPr>
            <a:r>
              <a:rPr sz="1100" b="1" u="none" spc="99">
                <a:solidFill>
                  <a:srgbClr val="0B1020"/>
                </a:solidFill>
                <a:latin typeface="Aptos"/>
                <a:ea typeface="Aptos"/>
                <a:cs typeface="Aptos"/>
              </a:rPr>
              <a:t>RESEARCH</a:t>
            </a:r>
            <a:endParaRPr sz="1100" b="0" u="none">
              <a:solidFill>
                <a:srgbClr val="000000"/>
              </a:solidFill>
              <a:latin typeface="Arial"/>
              <a:ea typeface="Arial"/>
              <a:cs typeface="Arial"/>
            </a:endParaRPr>
          </a:p>
        </p:txBody>
      </p:sp>
      <p:sp>
        <p:nvSpPr>
          <p:cNvPr id="143" name="Text 9">
            <a:extLst>
              <a:ext uri="{FF2B5EF4-FFF2-40B4-BE49-F238E27FC236}">
                <a16:creationId xmlns:a16="http://schemas.microsoft.com/office/drawing/2014/main" id="{38BAC738-8E9B-46C5-98DF-463E7D2B7505}"/>
              </a:ext>
            </a:extLst>
          </p:cNvPr>
          <p:cNvSpPr>
            <a:spLocks noGrp="1"/>
          </p:cNvSpPr>
          <p:nvPr/>
        </p:nvSpPr>
        <p:spPr>
          <a:xfrm>
            <a:off x="841247" y="2670048"/>
            <a:ext cx="2066543" cy="713232"/>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buNone/>
              <a:tabLst>
                <a:tab pos="0" algn="l"/>
              </a:tabLst>
            </a:pPr>
            <a:r>
              <a:rPr sz="1600" b="1" u="none">
                <a:solidFill>
                  <a:srgbClr val="0B1020"/>
                </a:solidFill>
                <a:latin typeface="Aptos Display"/>
                <a:ea typeface="Aptos Display"/>
                <a:cs typeface="Aptos Display"/>
              </a:rPr>
              <a:t>Search + retrieve</a:t>
            </a:r>
            <a:endParaRPr sz="1900" b="0" u="none">
              <a:solidFill>
                <a:srgbClr val="000000"/>
              </a:solidFill>
              <a:latin typeface="Arial"/>
              <a:ea typeface="Arial"/>
              <a:cs typeface="Arial"/>
            </a:endParaRPr>
          </a:p>
        </p:txBody>
      </p:sp>
      <p:sp>
        <p:nvSpPr>
          <p:cNvPr id="144" name="Shape 10">
            <a:extLst>
              <a:ext uri="{FF2B5EF4-FFF2-40B4-BE49-F238E27FC236}">
                <a16:creationId xmlns:a16="http://schemas.microsoft.com/office/drawing/2014/main" id="{CCC3A136-D28B-4688-92A1-B08C4DCBEDD5}"/>
              </a:ext>
            </a:extLst>
          </p:cNvPr>
          <p:cNvSpPr>
            <a:spLocks noGrp="1"/>
          </p:cNvSpPr>
          <p:nvPr/>
        </p:nvSpPr>
        <p:spPr>
          <a:xfrm>
            <a:off x="3566160" y="2212848"/>
            <a:ext cx="2249424" cy="1207008"/>
          </a:xfrm>
          <a:prstGeom prst="roundRect">
            <a:avLst>
              <a:gd name="adj" fmla="val 10606"/>
            </a:avLst>
          </a:prstGeom>
          <a:solidFill>
            <a:srgbClr val="FFFFFF"/>
          </a:solidFill>
          <a:ln w="12700">
            <a:solidFill>
              <a:srgbClr val="D8E2F2"/>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145" name="Text 11">
            <a:extLst>
              <a:ext uri="{FF2B5EF4-FFF2-40B4-BE49-F238E27FC236}">
                <a16:creationId xmlns:a16="http://schemas.microsoft.com/office/drawing/2014/main" id="{181DA080-24F2-48EE-8EF0-84FD9F3FB9AA}"/>
              </a:ext>
            </a:extLst>
          </p:cNvPr>
          <p:cNvSpPr>
            <a:spLocks noGrp="1"/>
          </p:cNvSpPr>
          <p:nvPr/>
        </p:nvSpPr>
        <p:spPr>
          <a:xfrm>
            <a:off x="3730752" y="2395728"/>
            <a:ext cx="1920240" cy="246888"/>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buNone/>
              <a:tabLst>
                <a:tab pos="0" algn="l"/>
              </a:tabLst>
            </a:pPr>
            <a:r>
              <a:rPr sz="1100" b="1" u="none" spc="99">
                <a:solidFill>
                  <a:srgbClr val="0B1020"/>
                </a:solidFill>
                <a:latin typeface="Aptos"/>
                <a:ea typeface="Aptos"/>
                <a:cs typeface="Aptos"/>
              </a:rPr>
              <a:t>EXTRACT</a:t>
            </a:r>
            <a:endParaRPr sz="1100" b="0" u="none">
              <a:solidFill>
                <a:srgbClr val="000000"/>
              </a:solidFill>
              <a:latin typeface="Arial"/>
              <a:ea typeface="Arial"/>
              <a:cs typeface="Arial"/>
            </a:endParaRPr>
          </a:p>
        </p:txBody>
      </p:sp>
      <p:sp>
        <p:nvSpPr>
          <p:cNvPr id="146" name="Text 12">
            <a:extLst>
              <a:ext uri="{FF2B5EF4-FFF2-40B4-BE49-F238E27FC236}">
                <a16:creationId xmlns:a16="http://schemas.microsoft.com/office/drawing/2014/main" id="{3040942F-34DE-4EA6-B94B-ABA8ED52A405}"/>
              </a:ext>
            </a:extLst>
          </p:cNvPr>
          <p:cNvSpPr>
            <a:spLocks noGrp="1"/>
          </p:cNvSpPr>
          <p:nvPr/>
        </p:nvSpPr>
        <p:spPr>
          <a:xfrm>
            <a:off x="3657600" y="2670048"/>
            <a:ext cx="2066543" cy="713232"/>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buNone/>
              <a:tabLst>
                <a:tab pos="0" algn="l"/>
              </a:tabLst>
            </a:pPr>
            <a:r>
              <a:rPr sz="1600" b="1" u="none">
                <a:solidFill>
                  <a:srgbClr val="0B1020"/>
                </a:solidFill>
                <a:latin typeface="Aptos Display"/>
                <a:ea typeface="Aptos Display"/>
                <a:cs typeface="Aptos Display"/>
              </a:rPr>
              <a:t>Possible facts</a:t>
            </a:r>
            <a:endParaRPr sz="1900" b="0" u="none">
              <a:solidFill>
                <a:srgbClr val="000000"/>
              </a:solidFill>
              <a:latin typeface="Arial"/>
              <a:ea typeface="Arial"/>
              <a:cs typeface="Arial"/>
            </a:endParaRPr>
          </a:p>
        </p:txBody>
      </p:sp>
      <p:sp>
        <p:nvSpPr>
          <p:cNvPr id="147" name="Shape 13">
            <a:extLst>
              <a:ext uri="{FF2B5EF4-FFF2-40B4-BE49-F238E27FC236}">
                <a16:creationId xmlns:a16="http://schemas.microsoft.com/office/drawing/2014/main" id="{8CC321B9-D944-43CC-A423-6F1237A1E00D}"/>
              </a:ext>
            </a:extLst>
          </p:cNvPr>
          <p:cNvSpPr>
            <a:spLocks noGrp="1"/>
          </p:cNvSpPr>
          <p:nvPr/>
        </p:nvSpPr>
        <p:spPr>
          <a:xfrm>
            <a:off x="6382512" y="2212848"/>
            <a:ext cx="2249424" cy="1207008"/>
          </a:xfrm>
          <a:prstGeom prst="roundRect">
            <a:avLst>
              <a:gd name="adj" fmla="val 8046"/>
            </a:avLst>
          </a:prstGeom>
          <a:solidFill>
            <a:srgbClr val="2563EB"/>
          </a:solidFill>
          <a:ln w="12700">
            <a:solidFill>
              <a:srgbClr val="2563EB"/>
            </a:solidFill>
          </a:ln>
          <a:effectLst>
            <a:outerShdw algn="bl" rotWithShape="0">
              <a:srgbClr val="0B1020">
                <a:alpha val="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FFFFFF"/>
              </a:solidFill>
              <a:latin typeface="Arial"/>
              <a:ea typeface="Arial"/>
              <a:cs typeface="Arial"/>
            </a:endParaRPr>
          </a:p>
        </p:txBody>
      </p:sp>
      <p:sp>
        <p:nvSpPr>
          <p:cNvPr id="148" name="Text 14">
            <a:extLst>
              <a:ext uri="{FF2B5EF4-FFF2-40B4-BE49-F238E27FC236}">
                <a16:creationId xmlns:a16="http://schemas.microsoft.com/office/drawing/2014/main" id="{8526F5D3-1268-4032-A80E-0257A00BAE85}"/>
              </a:ext>
            </a:extLst>
          </p:cNvPr>
          <p:cNvSpPr>
            <a:spLocks noGrp="1"/>
          </p:cNvSpPr>
          <p:nvPr/>
        </p:nvSpPr>
        <p:spPr>
          <a:xfrm>
            <a:off x="6547104" y="2395728"/>
            <a:ext cx="1920240" cy="246888"/>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buNone/>
              <a:tabLst>
                <a:tab pos="0" algn="l"/>
              </a:tabLst>
            </a:pPr>
            <a:r>
              <a:rPr sz="1100" b="1" u="none" spc="99">
                <a:solidFill>
                  <a:srgbClr val="FFFFFF"/>
                </a:solidFill>
                <a:latin typeface="Aptos"/>
                <a:ea typeface="Aptos"/>
                <a:cs typeface="Aptos"/>
              </a:rPr>
              <a:t>EVIDENCE GATE</a:t>
            </a:r>
            <a:endParaRPr sz="1100" b="0" u="none">
              <a:solidFill>
                <a:srgbClr val="000000"/>
              </a:solidFill>
              <a:latin typeface="Arial"/>
              <a:ea typeface="Arial"/>
              <a:cs typeface="Arial"/>
            </a:endParaRPr>
          </a:p>
        </p:txBody>
      </p:sp>
      <p:sp>
        <p:nvSpPr>
          <p:cNvPr id="149" name="Text 15">
            <a:extLst>
              <a:ext uri="{FF2B5EF4-FFF2-40B4-BE49-F238E27FC236}">
                <a16:creationId xmlns:a16="http://schemas.microsoft.com/office/drawing/2014/main" id="{95691DC1-CDEB-4E3D-9FCA-EE75F3A581C0}"/>
              </a:ext>
            </a:extLst>
          </p:cNvPr>
          <p:cNvSpPr>
            <a:spLocks noGrp="1"/>
          </p:cNvSpPr>
          <p:nvPr/>
        </p:nvSpPr>
        <p:spPr>
          <a:xfrm>
            <a:off x="6473952" y="2670048"/>
            <a:ext cx="2066543" cy="713232"/>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buNone/>
              <a:tabLst>
                <a:tab pos="0" algn="l"/>
              </a:tabLst>
            </a:pPr>
            <a:r>
              <a:rPr sz="1600" b="1" u="none">
                <a:solidFill>
                  <a:srgbClr val="FFFFFF"/>
                </a:solidFill>
                <a:latin typeface="Aptos Display"/>
                <a:ea typeface="Aptos Display"/>
                <a:cs typeface="Aptos Display"/>
              </a:rPr>
              <a:t>Quoted support</a:t>
            </a:r>
            <a:endParaRPr sz="1900" b="0" u="none">
              <a:solidFill>
                <a:srgbClr val="000000"/>
              </a:solidFill>
              <a:latin typeface="Arial"/>
              <a:ea typeface="Arial"/>
              <a:cs typeface="Arial"/>
            </a:endParaRPr>
          </a:p>
          <a:p>
            <a:pPr algn="ctr" defTabSz="914400">
              <a:lnSpc>
                <a:spcPct val="100000"/>
              </a:lnSpc>
              <a:buNone/>
              <a:tabLst>
                <a:tab pos="0" algn="l"/>
              </a:tabLst>
            </a:pPr>
            <a:r>
              <a:rPr sz="1600" b="1" u="none">
                <a:solidFill>
                  <a:srgbClr val="FFFFFF"/>
                </a:solidFill>
                <a:latin typeface="Aptos Display"/>
                <a:ea typeface="Aptos Display"/>
                <a:cs typeface="Aptos Display"/>
              </a:rPr>
              <a:t>+ source fit</a:t>
            </a:r>
            <a:endParaRPr sz="1900" b="0" u="none">
              <a:solidFill>
                <a:srgbClr val="000000"/>
              </a:solidFill>
              <a:latin typeface="Arial"/>
              <a:ea typeface="Arial"/>
              <a:cs typeface="Arial"/>
            </a:endParaRPr>
          </a:p>
        </p:txBody>
      </p:sp>
      <p:sp>
        <p:nvSpPr>
          <p:cNvPr id="150" name="Shape 16">
            <a:extLst>
              <a:ext uri="{FF2B5EF4-FFF2-40B4-BE49-F238E27FC236}">
                <a16:creationId xmlns:a16="http://schemas.microsoft.com/office/drawing/2014/main" id="{D50B9FE9-4DFD-4F9D-90B0-3583DCEF3A8C}"/>
              </a:ext>
            </a:extLst>
          </p:cNvPr>
          <p:cNvSpPr>
            <a:spLocks noGrp="1"/>
          </p:cNvSpPr>
          <p:nvPr/>
        </p:nvSpPr>
        <p:spPr>
          <a:xfrm>
            <a:off x="9198864" y="2212848"/>
            <a:ext cx="2249424" cy="1207008"/>
          </a:xfrm>
          <a:prstGeom prst="roundRect">
            <a:avLst>
              <a:gd name="adj" fmla="val 10606"/>
            </a:avLst>
          </a:prstGeom>
          <a:solidFill>
            <a:srgbClr val="E7F7F4"/>
          </a:solidFill>
          <a:ln w="12700">
            <a:solidFill>
              <a:srgbClr val="E7F7F4"/>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151" name="Text 17">
            <a:extLst>
              <a:ext uri="{FF2B5EF4-FFF2-40B4-BE49-F238E27FC236}">
                <a16:creationId xmlns:a16="http://schemas.microsoft.com/office/drawing/2014/main" id="{1552D616-80EF-4E4D-B833-014B91D5DBD5}"/>
              </a:ext>
            </a:extLst>
          </p:cNvPr>
          <p:cNvSpPr>
            <a:spLocks noGrp="1"/>
          </p:cNvSpPr>
          <p:nvPr/>
        </p:nvSpPr>
        <p:spPr>
          <a:xfrm>
            <a:off x="9363456" y="2395728"/>
            <a:ext cx="1920240" cy="246888"/>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buNone/>
              <a:tabLst>
                <a:tab pos="0" algn="l"/>
              </a:tabLst>
            </a:pPr>
            <a:r>
              <a:rPr sz="1100" b="1" u="none" spc="99">
                <a:solidFill>
                  <a:srgbClr val="0F766E"/>
                </a:solidFill>
                <a:latin typeface="Aptos"/>
                <a:ea typeface="Aptos"/>
                <a:cs typeface="Aptos"/>
              </a:rPr>
              <a:t>PASS → REPORT</a:t>
            </a:r>
            <a:endParaRPr sz="1100" b="0" u="none">
              <a:solidFill>
                <a:srgbClr val="000000"/>
              </a:solidFill>
              <a:latin typeface="Arial"/>
              <a:ea typeface="Arial"/>
              <a:cs typeface="Arial"/>
            </a:endParaRPr>
          </a:p>
        </p:txBody>
      </p:sp>
      <p:sp>
        <p:nvSpPr>
          <p:cNvPr id="152" name="Text 18">
            <a:extLst>
              <a:ext uri="{FF2B5EF4-FFF2-40B4-BE49-F238E27FC236}">
                <a16:creationId xmlns:a16="http://schemas.microsoft.com/office/drawing/2014/main" id="{D859982C-46A0-48F7-B8CE-234787CFCFDD}"/>
              </a:ext>
            </a:extLst>
          </p:cNvPr>
          <p:cNvSpPr>
            <a:spLocks noGrp="1"/>
          </p:cNvSpPr>
          <p:nvPr/>
        </p:nvSpPr>
        <p:spPr>
          <a:xfrm>
            <a:off x="9290304" y="2670048"/>
            <a:ext cx="2066543" cy="713232"/>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buNone/>
              <a:tabLst>
                <a:tab pos="0" algn="l"/>
              </a:tabLst>
            </a:pPr>
            <a:r>
              <a:rPr sz="1600" b="1" u="none">
                <a:solidFill>
                  <a:srgbClr val="0F766E"/>
                </a:solidFill>
                <a:latin typeface="Aptos Display"/>
                <a:ea typeface="Aptos Display"/>
                <a:cs typeface="Aptos Display"/>
              </a:rPr>
              <a:t>Supported facts + questions</a:t>
            </a:r>
            <a:endParaRPr sz="1900" b="0" u="none">
              <a:solidFill>
                <a:srgbClr val="000000"/>
              </a:solidFill>
              <a:latin typeface="Arial"/>
              <a:ea typeface="Arial"/>
              <a:cs typeface="Arial"/>
            </a:endParaRPr>
          </a:p>
        </p:txBody>
      </p:sp>
      <p:sp>
        <p:nvSpPr>
          <p:cNvPr id="153" name="Text 19">
            <a:extLst>
              <a:ext uri="{FF2B5EF4-FFF2-40B4-BE49-F238E27FC236}">
                <a16:creationId xmlns:a16="http://schemas.microsoft.com/office/drawing/2014/main" id="{FE825CC1-6EE7-4F00-AAB3-75ACBACC59F1}"/>
              </a:ext>
            </a:extLst>
          </p:cNvPr>
          <p:cNvSpPr>
            <a:spLocks noGrp="1"/>
          </p:cNvSpPr>
          <p:nvPr/>
        </p:nvSpPr>
        <p:spPr>
          <a:xfrm>
            <a:off x="3438144" y="4096512"/>
            <a:ext cx="1810512" cy="21945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buNone/>
              <a:tabLst>
                <a:tab pos="0" algn="l"/>
              </a:tabLst>
            </a:pPr>
            <a:r>
              <a:rPr sz="1000" b="1" u="none" spc="99">
                <a:solidFill>
                  <a:srgbClr val="2563EB"/>
                </a:solidFill>
                <a:latin typeface="Aptos"/>
                <a:ea typeface="Aptos"/>
                <a:cs typeface="Aptos"/>
              </a:rPr>
              <a:t>RETRY → RESEARCH</a:t>
            </a:r>
            <a:endParaRPr sz="1000" b="0" u="none">
              <a:solidFill>
                <a:srgbClr val="000000"/>
              </a:solidFill>
              <a:latin typeface="Arial"/>
              <a:ea typeface="Arial"/>
              <a:cs typeface="Arial"/>
            </a:endParaRPr>
          </a:p>
        </p:txBody>
      </p:sp>
      <p:sp>
        <p:nvSpPr>
          <p:cNvPr id="154" name="Shape 20">
            <a:extLst>
              <a:ext uri="{FF2B5EF4-FFF2-40B4-BE49-F238E27FC236}">
                <a16:creationId xmlns:a16="http://schemas.microsoft.com/office/drawing/2014/main" id="{EC944899-C6E2-44E6-A5AA-F5D6FB1787CB}"/>
              </a:ext>
            </a:extLst>
          </p:cNvPr>
          <p:cNvSpPr>
            <a:spLocks noGrp="1"/>
          </p:cNvSpPr>
          <p:nvPr/>
        </p:nvSpPr>
        <p:spPr>
          <a:xfrm>
            <a:off x="6382512" y="4443984"/>
            <a:ext cx="2249424" cy="640080"/>
          </a:xfrm>
          <a:prstGeom prst="roundRect">
            <a:avLst>
              <a:gd name="adj" fmla="val 17241"/>
            </a:avLst>
          </a:prstGeom>
          <a:solidFill>
            <a:srgbClr val="FFF5E6"/>
          </a:solidFill>
          <a:ln w="12700">
            <a:solidFill>
              <a:srgbClr val="F7D6A4"/>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155" name="Text 21">
            <a:extLst>
              <a:ext uri="{FF2B5EF4-FFF2-40B4-BE49-F238E27FC236}">
                <a16:creationId xmlns:a16="http://schemas.microsoft.com/office/drawing/2014/main" id="{FBAEC982-E50D-4D6F-BF8A-2C7AB2245809}"/>
              </a:ext>
            </a:extLst>
          </p:cNvPr>
          <p:cNvSpPr>
            <a:spLocks noGrp="1"/>
          </p:cNvSpPr>
          <p:nvPr/>
        </p:nvSpPr>
        <p:spPr>
          <a:xfrm>
            <a:off x="6455664" y="4544568"/>
            <a:ext cx="2103120" cy="438912"/>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buNone/>
              <a:tabLst>
                <a:tab pos="0" algn="l"/>
              </a:tabLst>
            </a:pPr>
            <a:r>
              <a:rPr sz="1000" b="1" u="none">
                <a:solidFill>
                  <a:srgbClr val="B45309"/>
                </a:solidFill>
                <a:latin typeface="Aptos"/>
                <a:ea typeface="Aptos"/>
                <a:cs typeface="Aptos"/>
              </a:rPr>
              <a:t>AFTER 3 PASSES → UNDETERMINED</a:t>
            </a:r>
            <a:endParaRPr sz="1050" b="0" u="none">
              <a:solidFill>
                <a:srgbClr val="000000"/>
              </a:solidFill>
              <a:latin typeface="Arial"/>
              <a:ea typeface="Arial"/>
              <a:cs typeface="Arial"/>
            </a:endParaRPr>
          </a:p>
        </p:txBody>
      </p:sp>
      <p:sp>
        <p:nvSpPr>
          <p:cNvPr id="156" name="Shape 22">
            <a:extLst>
              <a:ext uri="{FF2B5EF4-FFF2-40B4-BE49-F238E27FC236}">
                <a16:creationId xmlns:a16="http://schemas.microsoft.com/office/drawing/2014/main" id="{230BF84D-201F-4CCE-BCCD-EAC9E244BEC5}"/>
              </a:ext>
            </a:extLst>
          </p:cNvPr>
          <p:cNvSpPr>
            <a:spLocks noGrp="1"/>
          </p:cNvSpPr>
          <p:nvPr/>
        </p:nvSpPr>
        <p:spPr>
          <a:xfrm>
            <a:off x="749880" y="5596200"/>
            <a:ext cx="10625040" cy="566640"/>
          </a:xfrm>
          <a:prstGeom prst="roundRect">
            <a:avLst>
              <a:gd name="adj" fmla="val 12903"/>
            </a:avLst>
          </a:prstGeom>
          <a:solidFill>
            <a:srgbClr val="F1F5F9"/>
          </a:solidFill>
          <a:ln w="12700">
            <a:solidFill>
              <a:srgbClr val="F1F5F9"/>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157" name="Text 23">
            <a:extLst>
              <a:ext uri="{FF2B5EF4-FFF2-40B4-BE49-F238E27FC236}">
                <a16:creationId xmlns:a16="http://schemas.microsoft.com/office/drawing/2014/main" id="{741BB1AA-DE08-4755-9147-8634B6302692}"/>
              </a:ext>
            </a:extLst>
          </p:cNvPr>
          <p:cNvSpPr>
            <a:spLocks noGrp="1"/>
          </p:cNvSpPr>
          <p:nvPr/>
        </p:nvSpPr>
        <p:spPr>
          <a:xfrm>
            <a:off x="1005840" y="5769720"/>
            <a:ext cx="180975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050" b="1" u="none" spc="99">
                <a:solidFill>
                  <a:srgbClr val="64748B"/>
                </a:solidFill>
                <a:latin typeface="Aptos"/>
                <a:ea typeface="Aptos"/>
                <a:cs typeface="Aptos"/>
              </a:rPr>
              <a:t>OUTSIDE LANGGRAPH</a:t>
            </a:r>
            <a:endParaRPr sz="1050" b="0" u="none">
              <a:solidFill>
                <a:srgbClr val="000000"/>
              </a:solidFill>
              <a:latin typeface="Arial"/>
              <a:ea typeface="Arial"/>
              <a:cs typeface="Arial"/>
            </a:endParaRPr>
          </a:p>
        </p:txBody>
      </p:sp>
      <p:sp>
        <p:nvSpPr>
          <p:cNvPr id="159" name="Text 25">
            <a:extLst>
              <a:ext uri="{FF2B5EF4-FFF2-40B4-BE49-F238E27FC236}">
                <a16:creationId xmlns:a16="http://schemas.microsoft.com/office/drawing/2014/main" id="{44112745-0E93-4B38-90A9-43B58C39A1C9}"/>
              </a:ext>
            </a:extLst>
          </p:cNvPr>
          <p:cNvSpPr>
            <a:spLocks noGrp="1"/>
          </p:cNvSpPr>
          <p:nvPr/>
        </p:nvSpPr>
        <p:spPr>
          <a:xfrm>
            <a:off x="3429000" y="5687640"/>
            <a:ext cx="5940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buNone/>
              <a:tabLst>
                <a:tab pos="0" algn="l"/>
              </a:tabLst>
            </a:pPr>
            <a:r>
              <a:rPr sz="1800" b="1" u="none">
                <a:solidFill>
                  <a:srgbClr val="0B1020"/>
                </a:solidFill>
                <a:latin typeface="Aptos Display"/>
                <a:ea typeface="Aptos Display"/>
                <a:cs typeface="Aptos Display"/>
              </a:rPr>
              <a:t>n8n</a:t>
            </a:r>
            <a:endParaRPr sz="1800" b="0" u="none">
              <a:solidFill>
                <a:srgbClr val="000000"/>
              </a:solidFill>
              <a:latin typeface="Arial"/>
              <a:ea typeface="Arial"/>
              <a:cs typeface="Arial"/>
            </a:endParaRPr>
          </a:p>
        </p:txBody>
      </p:sp>
      <p:sp>
        <p:nvSpPr>
          <p:cNvPr id="160" name="Shape 26">
            <a:extLst>
              <a:ext uri="{FF2B5EF4-FFF2-40B4-BE49-F238E27FC236}">
                <a16:creationId xmlns:a16="http://schemas.microsoft.com/office/drawing/2014/main" id="{F28D05C9-B1F5-4B70-A314-80ED557F1598}"/>
              </a:ext>
            </a:extLst>
          </p:cNvPr>
          <p:cNvSpPr>
            <a:spLocks noGrp="1"/>
          </p:cNvSpPr>
          <p:nvPr/>
        </p:nvSpPr>
        <p:spPr>
          <a:xfrm>
            <a:off x="4160520" y="5870160"/>
            <a:ext cx="914400" cy="360"/>
          </a:xfrm>
          <a:prstGeom prst="line">
            <a:avLst/>
          </a:prstGeom>
          <a:ln w="17780">
            <a:solidFill>
              <a:srgbClr val="64748B"/>
            </a:solidFill>
            <a:tailEnd type="triangle" w="med" len="med"/>
          </a:ln>
        </p:spPr>
        <p:style>
          <a:lnRef idx="0">
            <a:scrgbClr r="0" g="0" b="0"/>
          </a:lnRef>
          <a:fillRef idx="0">
            <a:scrgbClr r="0" g="0" b="0"/>
          </a:fillRef>
          <a:effectRef idx="0">
            <a:scrgbClr r="0" g="0" b="0"/>
          </a:effectRef>
          <a:fontRef idx="minor"/>
        </p:style>
        <p:txBody>
          <a:bodyPr lIns="90000" tIns="-44640" rIns="90000" bIns="-44640" anchor="t">
            <a:noAutofit/>
          </a:bodyPr>
          <a:lstStyle/>
          <a:p>
            <a:endParaRPr sz="1800" b="0" u="none">
              <a:solidFill>
                <a:srgbClr val="000000"/>
              </a:solidFill>
              <a:latin typeface="Arial"/>
              <a:ea typeface="Arial"/>
              <a:cs typeface="Arial"/>
            </a:endParaRPr>
          </a:p>
        </p:txBody>
      </p:sp>
      <p:sp>
        <p:nvSpPr>
          <p:cNvPr id="161" name="Text 27">
            <a:extLst>
              <a:ext uri="{FF2B5EF4-FFF2-40B4-BE49-F238E27FC236}">
                <a16:creationId xmlns:a16="http://schemas.microsoft.com/office/drawing/2014/main" id="{A528B397-011E-4133-95E2-BF49887C7AA3}"/>
              </a:ext>
            </a:extLst>
          </p:cNvPr>
          <p:cNvSpPr>
            <a:spLocks noGrp="1"/>
          </p:cNvSpPr>
          <p:nvPr/>
        </p:nvSpPr>
        <p:spPr>
          <a:xfrm>
            <a:off x="5266800" y="5687640"/>
            <a:ext cx="12340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85000" lnSpcReduction="9999"/>
          </a:bodyPr>
          <a:lstStyle/>
          <a:p>
            <a:pPr algn="ctr" defTabSz="914400">
              <a:lnSpc>
                <a:spcPct val="100000"/>
              </a:lnSpc>
              <a:buNone/>
              <a:tabLst>
                <a:tab pos="0" algn="l"/>
              </a:tabLst>
            </a:pPr>
            <a:r>
              <a:rPr sz="1800" b="1" u="none">
                <a:solidFill>
                  <a:srgbClr val="0B1020"/>
                </a:solidFill>
                <a:latin typeface="Aptos Display"/>
                <a:ea typeface="Aptos Display"/>
                <a:cs typeface="Aptos Display"/>
              </a:rPr>
              <a:t>Notion report</a:t>
            </a:r>
            <a:endParaRPr sz="1800" b="0" u="none">
              <a:solidFill>
                <a:srgbClr val="000000"/>
              </a:solidFill>
              <a:latin typeface="Arial"/>
              <a:ea typeface="Arial"/>
              <a:cs typeface="Arial"/>
            </a:endParaRPr>
          </a:p>
        </p:txBody>
      </p:sp>
      <p:sp>
        <p:nvSpPr>
          <p:cNvPr id="162" name="Text 28">
            <a:extLst>
              <a:ext uri="{FF2B5EF4-FFF2-40B4-BE49-F238E27FC236}">
                <a16:creationId xmlns:a16="http://schemas.microsoft.com/office/drawing/2014/main" id="{685E5C88-0537-433B-9CE8-5EB0BF39B75C}"/>
              </a:ext>
            </a:extLst>
          </p:cNvPr>
          <p:cNvSpPr>
            <a:spLocks noGrp="1"/>
          </p:cNvSpPr>
          <p:nvPr/>
        </p:nvSpPr>
        <p:spPr>
          <a:xfrm>
            <a:off x="6784920" y="5715000"/>
            <a:ext cx="41601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9999"/>
          </a:bodyPr>
          <a:lstStyle/>
          <a:p>
            <a:pPr algn="r" defTabSz="914400">
              <a:lnSpc>
                <a:spcPct val="100000"/>
              </a:lnSpc>
              <a:buNone/>
              <a:tabLst>
                <a:tab pos="0" algn="l"/>
              </a:tabLst>
            </a:pPr>
            <a:r>
              <a:rPr sz="1350" b="0" u="none">
                <a:solidFill>
                  <a:srgbClr val="64748B"/>
                </a:solidFill>
                <a:latin typeface="Aptos"/>
                <a:ea typeface="Aptos"/>
                <a:cs typeface="Aptos"/>
              </a:rPr>
              <a:t>n8n files the finished report. It does not make decisions.</a:t>
            </a:r>
            <a:endParaRPr sz="1350" b="0" u="none">
              <a:solidFill>
                <a:srgbClr val="000000"/>
              </a:solidFill>
              <a:latin typeface="Arial"/>
              <a:ea typeface="Arial"/>
              <a:cs typeface="Arial"/>
            </a:endParaRPr>
          </a:p>
        </p:txBody>
      </p:sp>
      <p:sp>
        <p:nvSpPr>
          <p:cNvPr id="163" name="Text 29">
            <a:extLst>
              <a:ext uri="{FF2B5EF4-FFF2-40B4-BE49-F238E27FC236}">
                <a16:creationId xmlns:a16="http://schemas.microsoft.com/office/drawing/2014/main" id="{FCC59A14-10DA-4CA7-AED8-95C1A2FB2B7F}"/>
              </a:ext>
            </a:extLst>
          </p:cNvPr>
          <p:cNvSpPr>
            <a:spLocks noGrp="1"/>
          </p:cNvSpPr>
          <p:nvPr/>
        </p:nvSpPr>
        <p:spPr>
          <a:xfrm>
            <a:off x="713137" y="6428137"/>
            <a:ext cx="3048000" cy="16411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defTabSz="914400">
              <a:lnSpc>
                <a:spcPct val="100000"/>
              </a:lnSpc>
              <a:buNone/>
              <a:tabLst>
                <a:tab pos="0" algn="l"/>
              </a:tabLst>
            </a:pPr>
            <a:r>
              <a:rPr sz="900" b="1" u="none" spc="111">
                <a:solidFill>
                  <a:srgbClr val="64748B"/>
                </a:solidFill>
                <a:latin typeface="Aptos"/>
                <a:ea typeface="Aptos"/>
                <a:cs typeface="Aptos"/>
              </a:rPr>
              <a:t>AI PRE-SCAN  •  THE ARCHITECTURE</a:t>
            </a:r>
            <a:endParaRPr sz="900" b="0" u="none">
              <a:solidFill>
                <a:srgbClr val="000000"/>
              </a:solidFill>
              <a:latin typeface="Arial"/>
              <a:ea typeface="Arial"/>
              <a:cs typeface="Arial"/>
            </a:endParaRPr>
          </a:p>
        </p:txBody>
      </p:sp>
      <p:sp>
        <p:nvSpPr>
          <p:cNvPr id="164" name="PlaceHolder 1">
            <a:extLst>
              <a:ext uri="{FF2B5EF4-FFF2-40B4-BE49-F238E27FC236}">
                <a16:creationId xmlns:a16="http://schemas.microsoft.com/office/drawing/2014/main" id="{7921EEFA-F2AA-41FB-B325-EA328ACA8B2A}"/>
              </a:ext>
            </a:extLst>
          </p:cNvPr>
          <p:cNvSpPr>
            <a:spLocks noGrp="1"/>
          </p:cNvSpPr>
          <p:nvPr>
            <p:ph type="sldNum" idx="10"/>
          </p:nvPr>
        </p:nvSpPr>
        <p:spPr>
          <a:xfrm>
            <a:off x="11292840" y="6428160"/>
            <a:ext cx="319680" cy="182520"/>
          </a:xfrm>
          <a:prstGeom prst="rect">
            <a:avLst/>
          </a:prstGeom>
          <a:noFill/>
          <a:ln w="0">
            <a:noFill/>
          </a:ln>
        </p:spPr>
        <p:txBody>
          <a:bodyPr lIns="0" tIns="0" rIns="0" bIns="0" anchor="t">
            <a:noAutofit/>
          </a:bodyPr>
          <a:lstStyle>
            <a:lvl1pPr indent="0" algn="r" defTabSz="914400">
              <a:lnSpc>
                <a:spcPct val="100000"/>
              </a:lnSpc>
              <a:buNone/>
              <a:defRPr sz="900" b="0" u="none">
                <a:solidFill>
                  <a:srgbClr val="94A3B8"/>
                </a:solidFill>
                <a:latin typeface="Aptos"/>
                <a:ea typeface="Aptos"/>
                <a:cs typeface="Aptos"/>
              </a:defRPr>
            </a:lvl1pPr>
          </a:lstStyle>
          <a:p>
            <a:pPr indent="0" algn="r" defTabSz="914400">
              <a:lnSpc>
                <a:spcPct val="100000"/>
              </a:lnSpc>
              <a:buNone/>
            </a:pPr>
            <a:fld id="{8C630A04-5A25-9E0C-9436-126091DB86B3}" type="slidenum">
              <a:rPr sz="900" b="0" u="none">
                <a:solidFill>
                  <a:srgbClr val="94A3B8"/>
                </a:solidFill>
                <a:latin typeface="Aptos"/>
                <a:ea typeface="Aptos"/>
                <a:cs typeface="Aptos"/>
              </a:rPr>
              <a:t>6</a:t>
            </a:fld>
            <a:endParaRPr sz="900" b="0" u="none">
              <a:solidFill>
                <a:srgbClr val="000000"/>
              </a:solidFill>
              <a:latin typeface="Times New Roman"/>
              <a:ea typeface="Times New Roman"/>
              <a:cs typeface="Times New Roman"/>
            </a:endParaRPr>
          </a:p>
        </p:txBody>
      </p:sp>
      <p:sp>
        <p:nvSpPr>
          <p:cNvPr id="165" name="LangGraph Boundary">
            <a:extLst>
              <a:ext uri="{FF2B5EF4-FFF2-40B4-BE49-F238E27FC236}">
                <a16:creationId xmlns:a16="http://schemas.microsoft.com/office/drawing/2014/main" id="{C26BA395-B948-4459-9BEB-80D326C885EE}"/>
              </a:ext>
            </a:extLst>
          </p:cNvPr>
          <p:cNvSpPr>
            <a:spLocks noGrp="1"/>
          </p:cNvSpPr>
          <p:nvPr/>
        </p:nvSpPr>
        <p:spPr>
          <a:xfrm>
            <a:off x="512064" y="1938528"/>
            <a:ext cx="11164824" cy="3392424"/>
          </a:xfrm>
          <a:prstGeom prst="roundRect">
            <a:avLst>
              <a:gd name="adj" fmla="val 3158"/>
            </a:avLst>
          </a:prstGeom>
          <a:noFill/>
          <a:ln w="15240">
            <a:solidFill>
              <a:srgbClr val="93C5FD"/>
            </a:solidFill>
            <a:prstDash val="solid"/>
          </a:ln>
        </p:spPr>
        <p:txBody>
          <a:bodyPr/>
          <a:lstStyle/>
          <a:p>
            <a:endParaRPr lang="en-US"/>
          </a:p>
        </p:txBody>
      </p:sp>
      <p:sp>
        <p:nvSpPr>
          <p:cNvPr id="934" name="Retry V1">
            <a:extLst>
              <a:ext uri="{FF2B5EF4-FFF2-40B4-BE49-F238E27FC236}">
                <a16:creationId xmlns:a16="http://schemas.microsoft.com/office/drawing/2014/main" id="{F0CC24A2-DBE9-454D-B0B1-8758109B95E8}"/>
              </a:ext>
            </a:extLst>
          </p:cNvPr>
          <p:cNvSpPr>
            <a:spLocks noGrp="1"/>
          </p:cNvSpPr>
          <p:nvPr/>
        </p:nvSpPr>
        <p:spPr>
          <a:xfrm>
            <a:off x="6812280" y="3438144"/>
            <a:ext cx="0" cy="566928"/>
          </a:xfrm>
          <a:prstGeom prst="line">
            <a:avLst/>
          </a:prstGeom>
          <a:ln w="22860">
            <a:solidFill>
              <a:srgbClr val="2563EB"/>
            </a:solidFill>
            <a:prstDash val="dash"/>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935" name="Retry V2">
            <a:extLst>
              <a:ext uri="{FF2B5EF4-FFF2-40B4-BE49-F238E27FC236}">
                <a16:creationId xmlns:a16="http://schemas.microsoft.com/office/drawing/2014/main" id="{F0CC24A2-DBE9-454D-B0B1-8758109B95E8}"/>
              </a:ext>
            </a:extLst>
          </p:cNvPr>
          <p:cNvSpPr>
            <a:spLocks noGrp="1"/>
          </p:cNvSpPr>
          <p:nvPr/>
        </p:nvSpPr>
        <p:spPr>
          <a:xfrm flipV="1">
            <a:off x="1874519" y="3438144"/>
            <a:ext cx="0" cy="566928"/>
          </a:xfrm>
          <a:prstGeom prst="line">
            <a:avLst/>
          </a:prstGeom>
          <a:ln w="22860">
            <a:solidFill>
              <a:srgbClr val="2563EB"/>
            </a:solidFill>
            <a:prstDash val="dash"/>
            <a:tailEnd type="triangle" w="med" len="med"/>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Tree>
    <p:extLst>
      <p:ext uri="{BB962C8B-B14F-4D97-AF65-F5344CB8AC3E}">
        <p14:creationId xmlns:p14="http://schemas.microsoft.com/office/powerpoint/2010/main" val="16920595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Text 0">
            <a:extLst>
              <a:ext uri="{FF2B5EF4-FFF2-40B4-BE49-F238E27FC236}">
                <a16:creationId xmlns:a16="http://schemas.microsoft.com/office/drawing/2014/main" id="{D31306D0-4594-4E66-BB31-963969ECED40}"/>
              </a:ext>
            </a:extLst>
          </p:cNvPr>
          <p:cNvSpPr>
            <a:spLocks noGrp="1"/>
          </p:cNvSpPr>
          <p:nvPr/>
        </p:nvSpPr>
        <p:spPr>
          <a:xfrm>
            <a:off x="713160" y="384120"/>
            <a:ext cx="27428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100" b="1" u="none" spc="181">
                <a:solidFill>
                  <a:srgbClr val="2563EB"/>
                </a:solidFill>
                <a:latin typeface="Aptos"/>
                <a:ea typeface="Aptos"/>
                <a:cs typeface="Aptos"/>
              </a:rPr>
              <a:t>POST-MVP • VENDOR DRIFT</a:t>
            </a:r>
            <a:endParaRPr sz="1100" b="0" u="none">
              <a:solidFill>
                <a:srgbClr val="000000"/>
              </a:solidFill>
              <a:latin typeface="Arial"/>
              <a:ea typeface="Arial"/>
              <a:cs typeface="Arial"/>
            </a:endParaRPr>
          </a:p>
        </p:txBody>
      </p:sp>
      <p:sp>
        <p:nvSpPr>
          <p:cNvPr id="166" name="Text 1">
            <a:extLst>
              <a:ext uri="{FF2B5EF4-FFF2-40B4-BE49-F238E27FC236}">
                <a16:creationId xmlns:a16="http://schemas.microsoft.com/office/drawing/2014/main" id="{B2EA6B29-E353-4856-BB2A-939C6024C15D}"/>
              </a:ext>
            </a:extLst>
          </p:cNvPr>
          <p:cNvSpPr>
            <a:spLocks noGrp="1"/>
          </p:cNvSpPr>
          <p:nvPr/>
        </p:nvSpPr>
        <p:spPr>
          <a:xfrm>
            <a:off x="713160" y="713160"/>
            <a:ext cx="10743840" cy="749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fontScale="88810" lnSpcReduction="9999"/>
          </a:bodyPr>
          <a:lstStyle/>
          <a:p>
            <a:pPr defTabSz="914400">
              <a:lnSpc>
                <a:spcPct val="100000"/>
              </a:lnSpc>
              <a:buNone/>
              <a:tabLst>
                <a:tab pos="0" algn="l"/>
              </a:tabLst>
            </a:pPr>
            <a:r>
              <a:rPr sz="4000" b="1" u="none">
                <a:solidFill>
                  <a:srgbClr val="0B1020"/>
                </a:solidFill>
                <a:latin typeface="Aptos Display"/>
                <a:ea typeface="Aptos Display"/>
                <a:cs typeface="Aptos Display"/>
              </a:rPr>
              <a:t>Vendor updates can change a client's AI inventory</a:t>
            </a:r>
            <a:endParaRPr sz="4000" b="0" u="none">
              <a:solidFill>
                <a:srgbClr val="000000"/>
              </a:solidFill>
              <a:latin typeface="Arial"/>
              <a:ea typeface="Arial"/>
              <a:cs typeface="Arial"/>
            </a:endParaRPr>
          </a:p>
        </p:txBody>
      </p:sp>
      <p:sp>
        <p:nvSpPr>
          <p:cNvPr id="167" name="Text 2">
            <a:extLst>
              <a:ext uri="{FF2B5EF4-FFF2-40B4-BE49-F238E27FC236}">
                <a16:creationId xmlns:a16="http://schemas.microsoft.com/office/drawing/2014/main" id="{0EEB6E1A-E431-4A16-93FA-618FC510899B}"/>
              </a:ext>
            </a:extLst>
          </p:cNvPr>
          <p:cNvSpPr>
            <a:spLocks noGrp="1"/>
          </p:cNvSpPr>
          <p:nvPr/>
        </p:nvSpPr>
        <p:spPr>
          <a:xfrm>
            <a:off x="749880" y="1833563"/>
            <a:ext cx="5486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050" b="1" u="none" spc="99">
                <a:solidFill>
                  <a:srgbClr val="B45309"/>
                </a:solidFill>
                <a:latin typeface="Aptos"/>
                <a:ea typeface="Aptos"/>
                <a:cs typeface="Aptos"/>
              </a:rPr>
              <a:t>DESIGNED, NOT BUILT — THE NEXT STEP</a:t>
            </a:r>
            <a:endParaRPr sz="1050" b="0" u="none">
              <a:solidFill>
                <a:srgbClr val="000000"/>
              </a:solidFill>
              <a:latin typeface="Arial"/>
              <a:ea typeface="Arial"/>
              <a:cs typeface="Arial"/>
            </a:endParaRPr>
          </a:p>
        </p:txBody>
      </p:sp>
      <p:sp>
        <p:nvSpPr>
          <p:cNvPr id="168" name="Shape 3">
            <a:extLst>
              <a:ext uri="{FF2B5EF4-FFF2-40B4-BE49-F238E27FC236}">
                <a16:creationId xmlns:a16="http://schemas.microsoft.com/office/drawing/2014/main" id="{17EF9BA1-3679-48B8-A4AF-C646BA50CCDB}"/>
              </a:ext>
            </a:extLst>
          </p:cNvPr>
          <p:cNvSpPr>
            <a:spLocks noGrp="1"/>
          </p:cNvSpPr>
          <p:nvPr/>
        </p:nvSpPr>
        <p:spPr>
          <a:xfrm>
            <a:off x="2404872" y="2694642"/>
            <a:ext cx="7315200" cy="360"/>
          </a:xfrm>
          <a:prstGeom prst="line">
            <a:avLst/>
          </a:prstGeom>
          <a:ln w="50800">
            <a:solidFill>
              <a:srgbClr val="E2E8F0"/>
            </a:solidFill>
          </a:ln>
        </p:spPr>
        <p:style>
          <a:lnRef idx="0">
            <a:scrgbClr r="0" g="0" b="0"/>
          </a:lnRef>
          <a:fillRef idx="0">
            <a:scrgbClr r="0" g="0" b="0"/>
          </a:fillRef>
          <a:effectRef idx="0">
            <a:scrgbClr r="0" g="0" b="0"/>
          </a:effectRef>
          <a:fontRef idx="minor"/>
        </p:style>
        <p:txBody>
          <a:bodyPr lIns="90000" tIns="-44640" rIns="90000" bIns="-44640" anchor="t">
            <a:noAutofit/>
          </a:bodyPr>
          <a:lstStyle/>
          <a:p>
            <a:endParaRPr sz="1800" b="0" u="none">
              <a:solidFill>
                <a:srgbClr val="000000"/>
              </a:solidFill>
              <a:latin typeface="Arial"/>
              <a:ea typeface="Arial"/>
              <a:cs typeface="Arial"/>
            </a:endParaRPr>
          </a:p>
        </p:txBody>
      </p:sp>
      <p:sp>
        <p:nvSpPr>
          <p:cNvPr id="169" name="Shape 4">
            <a:extLst>
              <a:ext uri="{FF2B5EF4-FFF2-40B4-BE49-F238E27FC236}">
                <a16:creationId xmlns:a16="http://schemas.microsoft.com/office/drawing/2014/main" id="{3C6B4316-F3D3-4418-B41A-64B19F541A6B}"/>
              </a:ext>
            </a:extLst>
          </p:cNvPr>
          <p:cNvSpPr>
            <a:spLocks noGrp="1"/>
          </p:cNvSpPr>
          <p:nvPr/>
        </p:nvSpPr>
        <p:spPr>
          <a:xfrm>
            <a:off x="2194812" y="2411322"/>
            <a:ext cx="420120" cy="420120"/>
          </a:xfrm>
          <a:prstGeom prst="ellipse">
            <a:avLst/>
          </a:prstGeom>
          <a:solidFill>
            <a:srgbClr val="FFFFFF"/>
          </a:solidFill>
          <a:ln w="12700">
            <a:solidFill>
              <a:srgbClr val="E2E8F0"/>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171" name="Shape 6">
            <a:extLst>
              <a:ext uri="{FF2B5EF4-FFF2-40B4-BE49-F238E27FC236}">
                <a16:creationId xmlns:a16="http://schemas.microsoft.com/office/drawing/2014/main" id="{5873C6EB-85E7-4F2B-A274-FB8F9EEB6CA9}"/>
              </a:ext>
            </a:extLst>
          </p:cNvPr>
          <p:cNvSpPr>
            <a:spLocks noGrp="1"/>
          </p:cNvSpPr>
          <p:nvPr/>
        </p:nvSpPr>
        <p:spPr>
          <a:xfrm>
            <a:off x="749808" y="3069833"/>
            <a:ext cx="3310128" cy="1161288"/>
          </a:xfrm>
          <a:prstGeom prst="roundRect">
            <a:avLst>
              <a:gd name="adj" fmla="val 11811"/>
            </a:avLst>
          </a:prstGeom>
          <a:solidFill>
            <a:srgbClr val="FFFFFF"/>
          </a:solidFill>
          <a:ln w="12700">
            <a:solidFill>
              <a:srgbClr val="D8E2F2"/>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172" name="Text 7">
            <a:extLst>
              <a:ext uri="{FF2B5EF4-FFF2-40B4-BE49-F238E27FC236}">
                <a16:creationId xmlns:a16="http://schemas.microsoft.com/office/drawing/2014/main" id="{91D862EC-C9EC-402F-838C-B1098F41134F}"/>
              </a:ext>
            </a:extLst>
          </p:cNvPr>
          <p:cNvSpPr>
            <a:spLocks noGrp="1"/>
          </p:cNvSpPr>
          <p:nvPr/>
        </p:nvSpPr>
        <p:spPr>
          <a:xfrm>
            <a:off x="978407" y="3316722"/>
            <a:ext cx="2852928"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buNone/>
              <a:tabLst>
                <a:tab pos="0" algn="l"/>
              </a:tabLst>
            </a:pPr>
            <a:r>
              <a:rPr sz="1550" b="1" u="none">
                <a:solidFill>
                  <a:srgbClr val="0B1020"/>
                </a:solidFill>
                <a:latin typeface="Aptos Display"/>
                <a:ea typeface="Aptos Display"/>
                <a:cs typeface="Aptos Display"/>
              </a:rPr>
              <a:t>No evidenced AI ranking</a:t>
            </a:r>
            <a:endParaRPr sz="2000" b="0" u="none">
              <a:solidFill>
                <a:srgbClr val="000000"/>
              </a:solidFill>
              <a:latin typeface="Arial"/>
              <a:ea typeface="Arial"/>
              <a:cs typeface="Arial"/>
            </a:endParaRPr>
          </a:p>
        </p:txBody>
      </p:sp>
      <p:sp>
        <p:nvSpPr>
          <p:cNvPr id="173" name="Text 8">
            <a:extLst>
              <a:ext uri="{FF2B5EF4-FFF2-40B4-BE49-F238E27FC236}">
                <a16:creationId xmlns:a16="http://schemas.microsoft.com/office/drawing/2014/main" id="{AE47C620-C1F0-40E2-A939-2AB9E2FCC45A}"/>
              </a:ext>
            </a:extLst>
          </p:cNvPr>
          <p:cNvSpPr>
            <a:spLocks noGrp="1"/>
          </p:cNvSpPr>
          <p:nvPr/>
        </p:nvSpPr>
        <p:spPr>
          <a:xfrm>
            <a:off x="978407" y="3819642"/>
            <a:ext cx="2852928"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buNone/>
              <a:tabLst>
                <a:tab pos="0" algn="l"/>
              </a:tabLst>
            </a:pPr>
            <a:r>
              <a:rPr sz="1350" b="0" u="none">
                <a:solidFill>
                  <a:srgbClr val="64748B"/>
                </a:solidFill>
                <a:latin typeface="Aptos"/>
                <a:ea typeface="Aptos"/>
                <a:cs typeface="Aptos"/>
              </a:rPr>
              <a:t>Client already uses the hiring software</a:t>
            </a:r>
            <a:endParaRPr sz="1350" b="0" u="none">
              <a:solidFill>
                <a:srgbClr val="000000"/>
              </a:solidFill>
              <a:latin typeface="Arial"/>
              <a:ea typeface="Arial"/>
              <a:cs typeface="Arial"/>
            </a:endParaRPr>
          </a:p>
        </p:txBody>
      </p:sp>
      <p:sp>
        <p:nvSpPr>
          <p:cNvPr id="174" name="Shape 9">
            <a:extLst>
              <a:ext uri="{FF2B5EF4-FFF2-40B4-BE49-F238E27FC236}">
                <a16:creationId xmlns:a16="http://schemas.microsoft.com/office/drawing/2014/main" id="{A9942CC6-CA00-4F44-8AC2-23BECCBF8B8A}"/>
              </a:ext>
            </a:extLst>
          </p:cNvPr>
          <p:cNvSpPr>
            <a:spLocks noGrp="1"/>
          </p:cNvSpPr>
          <p:nvPr/>
        </p:nvSpPr>
        <p:spPr>
          <a:xfrm>
            <a:off x="5852412" y="2411322"/>
            <a:ext cx="420120" cy="420120"/>
          </a:xfrm>
          <a:prstGeom prst="ellipse">
            <a:avLst/>
          </a:prstGeom>
          <a:solidFill>
            <a:srgbClr val="FFFFFF"/>
          </a:solidFill>
          <a:ln w="12700">
            <a:solidFill>
              <a:srgbClr val="E2E8F0"/>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176" name="Shape 11">
            <a:extLst>
              <a:ext uri="{FF2B5EF4-FFF2-40B4-BE49-F238E27FC236}">
                <a16:creationId xmlns:a16="http://schemas.microsoft.com/office/drawing/2014/main" id="{BC0B8906-E6B7-4ABA-9B54-93717530FCC3}"/>
              </a:ext>
            </a:extLst>
          </p:cNvPr>
          <p:cNvSpPr>
            <a:spLocks noGrp="1"/>
          </p:cNvSpPr>
          <p:nvPr/>
        </p:nvSpPr>
        <p:spPr>
          <a:xfrm>
            <a:off x="4407408" y="3069833"/>
            <a:ext cx="3310128" cy="1161288"/>
          </a:xfrm>
          <a:prstGeom prst="roundRect">
            <a:avLst>
              <a:gd name="adj" fmla="val 11811"/>
            </a:avLst>
          </a:prstGeom>
          <a:solidFill>
            <a:srgbClr val="FFFFFF"/>
          </a:solidFill>
          <a:ln w="12700">
            <a:solidFill>
              <a:srgbClr val="D8E2F2"/>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177" name="Text 12">
            <a:extLst>
              <a:ext uri="{FF2B5EF4-FFF2-40B4-BE49-F238E27FC236}">
                <a16:creationId xmlns:a16="http://schemas.microsoft.com/office/drawing/2014/main" id="{206C9828-74A4-48D1-AD10-1BA8631CC2D8}"/>
              </a:ext>
            </a:extLst>
          </p:cNvPr>
          <p:cNvSpPr>
            <a:spLocks noGrp="1"/>
          </p:cNvSpPr>
          <p:nvPr/>
        </p:nvSpPr>
        <p:spPr>
          <a:xfrm>
            <a:off x="4636008" y="3316722"/>
            <a:ext cx="2852928"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buNone/>
              <a:tabLst>
                <a:tab pos="0" algn="l"/>
              </a:tabLst>
            </a:pPr>
            <a:r>
              <a:rPr sz="1550" b="1" u="none">
                <a:solidFill>
                  <a:srgbClr val="0B1020"/>
                </a:solidFill>
                <a:latin typeface="Aptos Display"/>
                <a:ea typeface="Aptos Display"/>
                <a:cs typeface="Aptos Display"/>
              </a:rPr>
              <a:t>Vendor adds AI CV ranking</a:t>
            </a:r>
            <a:endParaRPr sz="2000" b="0" u="none">
              <a:solidFill>
                <a:srgbClr val="000000"/>
              </a:solidFill>
              <a:latin typeface="Arial"/>
              <a:ea typeface="Arial"/>
              <a:cs typeface="Arial"/>
            </a:endParaRPr>
          </a:p>
        </p:txBody>
      </p:sp>
      <p:sp>
        <p:nvSpPr>
          <p:cNvPr id="178" name="Text 13">
            <a:extLst>
              <a:ext uri="{FF2B5EF4-FFF2-40B4-BE49-F238E27FC236}">
                <a16:creationId xmlns:a16="http://schemas.microsoft.com/office/drawing/2014/main" id="{47DA6A0C-6EC3-4967-91D8-332AC0E4BA71}"/>
              </a:ext>
            </a:extLst>
          </p:cNvPr>
          <p:cNvSpPr>
            <a:spLocks noGrp="1"/>
          </p:cNvSpPr>
          <p:nvPr/>
        </p:nvSpPr>
        <p:spPr>
          <a:xfrm>
            <a:off x="4636008" y="3819642"/>
            <a:ext cx="2852928"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buNone/>
              <a:tabLst>
                <a:tab pos="0" algn="l"/>
              </a:tabLst>
            </a:pPr>
            <a:r>
              <a:rPr sz="1350" b="0" u="none">
                <a:solidFill>
                  <a:srgbClr val="64748B"/>
                </a:solidFill>
                <a:latin typeface="Aptos"/>
                <a:ea typeface="Aptos"/>
                <a:cs typeface="Aptos"/>
              </a:rPr>
              <a:t>No new client purchase</a:t>
            </a:r>
            <a:endParaRPr sz="1350" b="0" u="none">
              <a:solidFill>
                <a:srgbClr val="000000"/>
              </a:solidFill>
              <a:latin typeface="Arial"/>
              <a:ea typeface="Arial"/>
              <a:cs typeface="Arial"/>
            </a:endParaRPr>
          </a:p>
        </p:txBody>
      </p:sp>
      <p:sp>
        <p:nvSpPr>
          <p:cNvPr id="179" name="Shape 14">
            <a:extLst>
              <a:ext uri="{FF2B5EF4-FFF2-40B4-BE49-F238E27FC236}">
                <a16:creationId xmlns:a16="http://schemas.microsoft.com/office/drawing/2014/main" id="{058C8C15-3A99-4123-A788-D7FDED8C9A47}"/>
              </a:ext>
            </a:extLst>
          </p:cNvPr>
          <p:cNvSpPr>
            <a:spLocks noGrp="1"/>
          </p:cNvSpPr>
          <p:nvPr/>
        </p:nvSpPr>
        <p:spPr>
          <a:xfrm>
            <a:off x="9436752" y="2338242"/>
            <a:ext cx="566640" cy="566640"/>
          </a:xfrm>
          <a:prstGeom prst="ellipse">
            <a:avLst/>
          </a:prstGeom>
          <a:solidFill>
            <a:srgbClr val="2563EB"/>
          </a:solidFill>
          <a:ln w="12700">
            <a:solidFill>
              <a:srgbClr val="2563EB"/>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FFFFFF"/>
              </a:solidFill>
              <a:latin typeface="Arial"/>
              <a:ea typeface="Arial"/>
              <a:cs typeface="Arial"/>
            </a:endParaRPr>
          </a:p>
        </p:txBody>
      </p:sp>
      <p:sp>
        <p:nvSpPr>
          <p:cNvPr id="181" name="Shape 16">
            <a:extLst>
              <a:ext uri="{FF2B5EF4-FFF2-40B4-BE49-F238E27FC236}">
                <a16:creationId xmlns:a16="http://schemas.microsoft.com/office/drawing/2014/main" id="{1658AA7A-27BE-4213-A01C-64FCABF3FB6B}"/>
              </a:ext>
            </a:extLst>
          </p:cNvPr>
          <p:cNvSpPr>
            <a:spLocks noGrp="1"/>
          </p:cNvSpPr>
          <p:nvPr/>
        </p:nvSpPr>
        <p:spPr>
          <a:xfrm>
            <a:off x="8065008" y="3069833"/>
            <a:ext cx="3310128" cy="1161288"/>
          </a:xfrm>
          <a:prstGeom prst="roundRect">
            <a:avLst>
              <a:gd name="adj" fmla="val 10135"/>
            </a:avLst>
          </a:prstGeom>
          <a:solidFill>
            <a:srgbClr val="2563EB"/>
          </a:solidFill>
          <a:ln w="12700">
            <a:solidFill>
              <a:srgbClr val="2563EB"/>
            </a:solidFill>
          </a:ln>
          <a:effectLst>
            <a:outerShdw algn="bl" rotWithShape="0">
              <a:srgbClr val="0B1020">
                <a:alpha val="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FFFFFF"/>
              </a:solidFill>
              <a:latin typeface="Arial"/>
              <a:ea typeface="Arial"/>
              <a:cs typeface="Arial"/>
            </a:endParaRPr>
          </a:p>
        </p:txBody>
      </p:sp>
      <p:sp>
        <p:nvSpPr>
          <p:cNvPr id="182" name="Text 17">
            <a:extLst>
              <a:ext uri="{FF2B5EF4-FFF2-40B4-BE49-F238E27FC236}">
                <a16:creationId xmlns:a16="http://schemas.microsoft.com/office/drawing/2014/main" id="{B113E239-ED3C-4A03-A253-7243C35C6515}"/>
              </a:ext>
            </a:extLst>
          </p:cNvPr>
          <p:cNvSpPr>
            <a:spLocks noGrp="1"/>
          </p:cNvSpPr>
          <p:nvPr/>
        </p:nvSpPr>
        <p:spPr>
          <a:xfrm>
            <a:off x="8293608" y="3316722"/>
            <a:ext cx="2852928"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buNone/>
              <a:tabLst>
                <a:tab pos="0" algn="l"/>
              </a:tabLst>
            </a:pPr>
            <a:r>
              <a:rPr sz="1550" b="1" u="none">
                <a:solidFill>
                  <a:srgbClr val="FFFFFF"/>
                </a:solidFill>
                <a:latin typeface="Aptos Display"/>
                <a:ea typeface="Aptos Display"/>
                <a:cs typeface="Aptos Display"/>
              </a:rPr>
              <a:t>The AI inventory changed</a:t>
            </a:r>
            <a:endParaRPr sz="2200" b="0" u="none">
              <a:solidFill>
                <a:srgbClr val="000000"/>
              </a:solidFill>
              <a:latin typeface="Arial"/>
              <a:ea typeface="Arial"/>
              <a:cs typeface="Arial"/>
            </a:endParaRPr>
          </a:p>
        </p:txBody>
      </p:sp>
      <p:sp>
        <p:nvSpPr>
          <p:cNvPr id="183" name="Text 18">
            <a:extLst>
              <a:ext uri="{FF2B5EF4-FFF2-40B4-BE49-F238E27FC236}">
                <a16:creationId xmlns:a16="http://schemas.microsoft.com/office/drawing/2014/main" id="{A89862D7-2956-4574-98AC-CE70D260055E}"/>
              </a:ext>
            </a:extLst>
          </p:cNvPr>
          <p:cNvSpPr>
            <a:spLocks noGrp="1"/>
          </p:cNvSpPr>
          <p:nvPr/>
        </p:nvSpPr>
        <p:spPr>
          <a:xfrm>
            <a:off x="8293608" y="3819642"/>
            <a:ext cx="2852928"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buNone/>
              <a:tabLst>
                <a:tab pos="0" algn="l"/>
              </a:tabLst>
            </a:pPr>
            <a:r>
              <a:rPr sz="1350" b="0" u="none">
                <a:solidFill>
                  <a:srgbClr val="EAF2FF"/>
                </a:solidFill>
                <a:latin typeface="Aptos"/>
                <a:ea typeface="Aptos"/>
                <a:cs typeface="Aptos"/>
              </a:rPr>
              <a:t>Alert the adviser</a:t>
            </a:r>
            <a:endParaRPr sz="1350" b="0" u="none">
              <a:solidFill>
                <a:srgbClr val="000000"/>
              </a:solidFill>
              <a:latin typeface="Arial"/>
              <a:ea typeface="Arial"/>
              <a:cs typeface="Arial"/>
            </a:endParaRPr>
          </a:p>
        </p:txBody>
      </p:sp>
      <p:sp>
        <p:nvSpPr>
          <p:cNvPr id="184" name="Text 19">
            <a:extLst>
              <a:ext uri="{FF2B5EF4-FFF2-40B4-BE49-F238E27FC236}">
                <a16:creationId xmlns:a16="http://schemas.microsoft.com/office/drawing/2014/main" id="{94E770F1-1007-437A-8483-3714290AF765}"/>
              </a:ext>
            </a:extLst>
          </p:cNvPr>
          <p:cNvSpPr>
            <a:spLocks noGrp="1"/>
          </p:cNvSpPr>
          <p:nvPr/>
        </p:nvSpPr>
        <p:spPr>
          <a:xfrm>
            <a:off x="1915668" y="4916922"/>
            <a:ext cx="21484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buNone/>
              <a:tabLst>
                <a:tab pos="0" algn="l"/>
              </a:tabLst>
            </a:pPr>
            <a:r>
              <a:rPr sz="1100" b="1" u="none" spc="99">
                <a:solidFill>
                  <a:srgbClr val="64748B"/>
                </a:solidFill>
                <a:latin typeface="Aptos"/>
                <a:ea typeface="Aptos"/>
                <a:cs typeface="Aptos"/>
              </a:rPr>
              <a:t>PILOT WITH ADVISERS</a:t>
            </a:r>
            <a:endParaRPr sz="1100" b="0" u="none">
              <a:solidFill>
                <a:srgbClr val="000000"/>
              </a:solidFill>
              <a:latin typeface="Arial"/>
              <a:ea typeface="Arial"/>
              <a:cs typeface="Arial"/>
            </a:endParaRPr>
          </a:p>
        </p:txBody>
      </p:sp>
      <p:sp>
        <p:nvSpPr>
          <p:cNvPr id="185" name="Shape 20">
            <a:extLst>
              <a:ext uri="{FF2B5EF4-FFF2-40B4-BE49-F238E27FC236}">
                <a16:creationId xmlns:a16="http://schemas.microsoft.com/office/drawing/2014/main" id="{1002F08D-4F3F-482E-9EC4-702CE51C9D27}"/>
              </a:ext>
            </a:extLst>
          </p:cNvPr>
          <p:cNvSpPr>
            <a:spLocks noGrp="1"/>
          </p:cNvSpPr>
          <p:nvPr/>
        </p:nvSpPr>
        <p:spPr>
          <a:xfrm>
            <a:off x="4082508" y="5044722"/>
            <a:ext cx="594360" cy="360"/>
          </a:xfrm>
          <a:prstGeom prst="line">
            <a:avLst/>
          </a:prstGeom>
          <a:ln w="22860">
            <a:solidFill>
              <a:srgbClr val="2563EB"/>
            </a:solidFill>
            <a:tailEnd type="triangle" w="med" len="med"/>
          </a:ln>
        </p:spPr>
        <p:style>
          <a:lnRef idx="0">
            <a:scrgbClr r="0" g="0" b="0"/>
          </a:lnRef>
          <a:fillRef idx="0">
            <a:scrgbClr r="0" g="0" b="0"/>
          </a:fillRef>
          <a:effectRef idx="0">
            <a:scrgbClr r="0" g="0" b="0"/>
          </a:effectRef>
          <a:fontRef idx="minor"/>
        </p:style>
        <p:txBody>
          <a:bodyPr lIns="90000" tIns="-44640" rIns="90000" bIns="-44640" anchor="t">
            <a:noAutofit/>
          </a:bodyPr>
          <a:lstStyle/>
          <a:p>
            <a:endParaRPr sz="1800" b="0" u="none">
              <a:solidFill>
                <a:srgbClr val="000000"/>
              </a:solidFill>
              <a:latin typeface="Arial"/>
              <a:ea typeface="Arial"/>
              <a:cs typeface="Arial"/>
            </a:endParaRPr>
          </a:p>
        </p:txBody>
      </p:sp>
      <p:sp>
        <p:nvSpPr>
          <p:cNvPr id="186" name="Text 21">
            <a:extLst>
              <a:ext uri="{FF2B5EF4-FFF2-40B4-BE49-F238E27FC236}">
                <a16:creationId xmlns:a16="http://schemas.microsoft.com/office/drawing/2014/main" id="{91CE1227-C385-4BA4-B222-1875ED58A44E}"/>
              </a:ext>
            </a:extLst>
          </p:cNvPr>
          <p:cNvSpPr>
            <a:spLocks noGrp="1"/>
          </p:cNvSpPr>
          <p:nvPr/>
        </p:nvSpPr>
        <p:spPr>
          <a:xfrm>
            <a:off x="4686228" y="4916922"/>
            <a:ext cx="24685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buNone/>
              <a:tabLst>
                <a:tab pos="0" algn="l"/>
              </a:tabLst>
            </a:pPr>
            <a:r>
              <a:rPr sz="1100" b="1" u="none" spc="99">
                <a:solidFill>
                  <a:srgbClr val="2563EB"/>
                </a:solidFill>
                <a:latin typeface="Aptos"/>
                <a:ea typeface="Aptos"/>
                <a:cs typeface="Aptos"/>
              </a:rPr>
              <a:t>PROVE ALERTS USEFUL</a:t>
            </a:r>
            <a:endParaRPr sz="1100" b="0" u="none">
              <a:solidFill>
                <a:srgbClr val="000000"/>
              </a:solidFill>
              <a:latin typeface="Arial"/>
              <a:ea typeface="Arial"/>
              <a:cs typeface="Arial"/>
            </a:endParaRPr>
          </a:p>
        </p:txBody>
      </p:sp>
      <p:sp>
        <p:nvSpPr>
          <p:cNvPr id="187" name="Shape 22">
            <a:extLst>
              <a:ext uri="{FF2B5EF4-FFF2-40B4-BE49-F238E27FC236}">
                <a16:creationId xmlns:a16="http://schemas.microsoft.com/office/drawing/2014/main" id="{A8C5E434-E906-44BC-A1C5-6568CF89C1BE}"/>
              </a:ext>
            </a:extLst>
          </p:cNvPr>
          <p:cNvSpPr>
            <a:spLocks noGrp="1"/>
          </p:cNvSpPr>
          <p:nvPr/>
        </p:nvSpPr>
        <p:spPr>
          <a:xfrm>
            <a:off x="7173468" y="5044722"/>
            <a:ext cx="594360" cy="360"/>
          </a:xfrm>
          <a:prstGeom prst="line">
            <a:avLst/>
          </a:prstGeom>
          <a:ln w="22860">
            <a:solidFill>
              <a:srgbClr val="2563EB"/>
            </a:solidFill>
            <a:tailEnd type="triangle" w="med" len="med"/>
          </a:ln>
        </p:spPr>
        <p:style>
          <a:lnRef idx="0">
            <a:scrgbClr r="0" g="0" b="0"/>
          </a:lnRef>
          <a:fillRef idx="0">
            <a:scrgbClr r="0" g="0" b="0"/>
          </a:fillRef>
          <a:effectRef idx="0">
            <a:scrgbClr r="0" g="0" b="0"/>
          </a:effectRef>
          <a:fontRef idx="minor"/>
        </p:style>
        <p:txBody>
          <a:bodyPr lIns="90000" tIns="-44640" rIns="90000" bIns="-44640" anchor="t">
            <a:noAutofit/>
          </a:bodyPr>
          <a:lstStyle/>
          <a:p>
            <a:endParaRPr sz="1800" b="0" u="none">
              <a:solidFill>
                <a:srgbClr val="000000"/>
              </a:solidFill>
              <a:latin typeface="Arial"/>
              <a:ea typeface="Arial"/>
              <a:cs typeface="Arial"/>
            </a:endParaRPr>
          </a:p>
        </p:txBody>
      </p:sp>
      <p:sp>
        <p:nvSpPr>
          <p:cNvPr id="188" name="Text 23">
            <a:extLst>
              <a:ext uri="{FF2B5EF4-FFF2-40B4-BE49-F238E27FC236}">
                <a16:creationId xmlns:a16="http://schemas.microsoft.com/office/drawing/2014/main" id="{B9B2584B-4382-4D2C-84F7-D706864EDC35}"/>
              </a:ext>
            </a:extLst>
          </p:cNvPr>
          <p:cNvSpPr>
            <a:spLocks noGrp="1"/>
          </p:cNvSpPr>
          <p:nvPr/>
        </p:nvSpPr>
        <p:spPr>
          <a:xfrm>
            <a:off x="7786187" y="4916922"/>
            <a:ext cx="24228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buNone/>
              <a:tabLst>
                <a:tab pos="0" algn="l"/>
              </a:tabLst>
            </a:pPr>
            <a:r>
              <a:rPr sz="1100" b="1" u="none" spc="99">
                <a:solidFill>
                  <a:srgbClr val="1D4ED8"/>
                </a:solidFill>
                <a:latin typeface="Aptos"/>
                <a:ea typeface="Aptos"/>
                <a:cs typeface="Aptos"/>
              </a:rPr>
              <a:t>MONITOR ONGOING</a:t>
            </a:r>
            <a:endParaRPr sz="1100" b="0" u="none">
              <a:solidFill>
                <a:srgbClr val="000000"/>
              </a:solidFill>
              <a:latin typeface="Arial"/>
              <a:ea typeface="Arial"/>
              <a:cs typeface="Arial"/>
            </a:endParaRPr>
          </a:p>
        </p:txBody>
      </p:sp>
      <p:sp>
        <p:nvSpPr>
          <p:cNvPr id="189" name="Text 24">
            <a:extLst>
              <a:ext uri="{FF2B5EF4-FFF2-40B4-BE49-F238E27FC236}">
                <a16:creationId xmlns:a16="http://schemas.microsoft.com/office/drawing/2014/main" id="{6B3D67CA-B90E-41E0-B032-E8A38E7BC0B2}"/>
              </a:ext>
            </a:extLst>
          </p:cNvPr>
          <p:cNvSpPr>
            <a:spLocks noGrp="1"/>
          </p:cNvSpPr>
          <p:nvPr/>
        </p:nvSpPr>
        <p:spPr>
          <a:xfrm>
            <a:off x="749880" y="5766820"/>
            <a:ext cx="106066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8839" lnSpcReduction="10000"/>
          </a:bodyPr>
          <a:lstStyle/>
          <a:p>
            <a:pPr algn="ctr" defTabSz="914400">
              <a:lnSpc>
                <a:spcPct val="100000"/>
              </a:lnSpc>
              <a:buNone/>
              <a:tabLst>
                <a:tab pos="0" algn="l"/>
              </a:tabLst>
            </a:pPr>
            <a:r>
              <a:rPr sz="2100" b="1" u="none" dirty="0">
                <a:solidFill>
                  <a:srgbClr val="0B1020"/>
                </a:solidFill>
                <a:latin typeface="Aptos Display"/>
                <a:ea typeface="Aptos Display"/>
                <a:cs typeface="Aptos Display"/>
              </a:rPr>
              <a:t>Turn a blank-page scan into an auditable, recurring conversation.</a:t>
            </a:r>
            <a:endParaRPr sz="2100" b="0" u="none" dirty="0">
              <a:solidFill>
                <a:srgbClr val="000000"/>
              </a:solidFill>
              <a:latin typeface="Arial"/>
              <a:ea typeface="Arial"/>
              <a:cs typeface="Arial"/>
            </a:endParaRPr>
          </a:p>
        </p:txBody>
      </p:sp>
      <p:sp>
        <p:nvSpPr>
          <p:cNvPr id="190" name="Text 25">
            <a:extLst>
              <a:ext uri="{FF2B5EF4-FFF2-40B4-BE49-F238E27FC236}">
                <a16:creationId xmlns:a16="http://schemas.microsoft.com/office/drawing/2014/main" id="{7ED0E0F8-4801-4D94-8911-FDF052482537}"/>
              </a:ext>
            </a:extLst>
          </p:cNvPr>
          <p:cNvSpPr>
            <a:spLocks noGrp="1"/>
          </p:cNvSpPr>
          <p:nvPr/>
        </p:nvSpPr>
        <p:spPr>
          <a:xfrm>
            <a:off x="713160" y="6428160"/>
            <a:ext cx="31089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900" b="1" u="none" spc="111">
                <a:solidFill>
                  <a:srgbClr val="64748B"/>
                </a:solidFill>
                <a:latin typeface="Aptos"/>
                <a:ea typeface="Aptos"/>
                <a:cs typeface="Aptos"/>
              </a:rPr>
              <a:t>AI PRE-SCAN  •  THE POST-MVP PATH</a:t>
            </a:r>
            <a:endParaRPr sz="900" b="0" u="none">
              <a:solidFill>
                <a:srgbClr val="000000"/>
              </a:solidFill>
              <a:latin typeface="Arial"/>
              <a:ea typeface="Arial"/>
              <a:cs typeface="Arial"/>
            </a:endParaRPr>
          </a:p>
        </p:txBody>
      </p:sp>
      <p:sp>
        <p:nvSpPr>
          <p:cNvPr id="191" name="PlaceHolder 1">
            <a:extLst>
              <a:ext uri="{FF2B5EF4-FFF2-40B4-BE49-F238E27FC236}">
                <a16:creationId xmlns:a16="http://schemas.microsoft.com/office/drawing/2014/main" id="{95379090-48E0-44A1-8D3E-B6BD6BB3C4C8}"/>
              </a:ext>
            </a:extLst>
          </p:cNvPr>
          <p:cNvSpPr>
            <a:spLocks noGrp="1"/>
          </p:cNvSpPr>
          <p:nvPr>
            <p:ph type="sldNum" idx="11"/>
          </p:nvPr>
        </p:nvSpPr>
        <p:spPr>
          <a:xfrm>
            <a:off x="11292840" y="6428160"/>
            <a:ext cx="319680" cy="182520"/>
          </a:xfrm>
          <a:prstGeom prst="rect">
            <a:avLst/>
          </a:prstGeom>
          <a:noFill/>
          <a:ln w="0">
            <a:noFill/>
          </a:ln>
        </p:spPr>
        <p:txBody>
          <a:bodyPr lIns="0" tIns="0" rIns="0" bIns="0" anchor="t">
            <a:noAutofit/>
          </a:bodyPr>
          <a:lstStyle>
            <a:lvl1pPr indent="0" algn="r" defTabSz="914400">
              <a:lnSpc>
                <a:spcPct val="100000"/>
              </a:lnSpc>
              <a:buNone/>
              <a:defRPr sz="900" b="0" u="none">
                <a:solidFill>
                  <a:srgbClr val="94A3B8"/>
                </a:solidFill>
                <a:latin typeface="Aptos"/>
                <a:ea typeface="Aptos"/>
                <a:cs typeface="Aptos"/>
              </a:defRPr>
            </a:lvl1pPr>
          </a:lstStyle>
          <a:p>
            <a:pPr indent="0" algn="r" defTabSz="914400">
              <a:lnSpc>
                <a:spcPct val="100000"/>
              </a:lnSpc>
              <a:buNone/>
            </a:pPr>
            <a:fld id="{D3D7D1C8-AE23-AA48-DF65-C742588DBE47}" type="slidenum">
              <a:rPr sz="900" b="0" u="none">
                <a:solidFill>
                  <a:srgbClr val="94A3B8"/>
                </a:solidFill>
                <a:latin typeface="Aptos"/>
                <a:ea typeface="Aptos"/>
                <a:cs typeface="Aptos"/>
              </a:rPr>
              <a:t>7</a:t>
            </a:fld>
            <a:endParaRPr sz="900" b="0" u="non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6345719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Text 0">
            <a:extLst>
              <a:ext uri="{FF2B5EF4-FFF2-40B4-BE49-F238E27FC236}">
                <a16:creationId xmlns:a16="http://schemas.microsoft.com/office/drawing/2014/main" id="{19EFEC4B-93A2-4739-BDFA-4C205ED650EF}"/>
              </a:ext>
            </a:extLst>
          </p:cNvPr>
          <p:cNvSpPr>
            <a:spLocks noGrp="1"/>
          </p:cNvSpPr>
          <p:nvPr/>
        </p:nvSpPr>
        <p:spPr>
          <a:xfrm>
            <a:off x="713160" y="384120"/>
            <a:ext cx="27428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100" b="1" u="none" spc="181">
                <a:solidFill>
                  <a:srgbClr val="2563EB"/>
                </a:solidFill>
                <a:latin typeface="Aptos"/>
                <a:ea typeface="Aptos"/>
                <a:cs typeface="Aptos"/>
              </a:rPr>
              <a:t>APPENDIX • EVALUATION</a:t>
            </a:r>
            <a:endParaRPr sz="1100" b="0" u="none">
              <a:solidFill>
                <a:srgbClr val="000000"/>
              </a:solidFill>
              <a:latin typeface="Arial"/>
              <a:ea typeface="Arial"/>
              <a:cs typeface="Arial"/>
            </a:endParaRPr>
          </a:p>
        </p:txBody>
      </p:sp>
      <p:sp>
        <p:nvSpPr>
          <p:cNvPr id="193" name="Text 1">
            <a:extLst>
              <a:ext uri="{FF2B5EF4-FFF2-40B4-BE49-F238E27FC236}">
                <a16:creationId xmlns:a16="http://schemas.microsoft.com/office/drawing/2014/main" id="{D1AE4FFD-D66F-40B9-B1E2-669138525E9E}"/>
              </a:ext>
            </a:extLst>
          </p:cNvPr>
          <p:cNvSpPr>
            <a:spLocks noGrp="1"/>
          </p:cNvSpPr>
          <p:nvPr/>
        </p:nvSpPr>
        <p:spPr>
          <a:xfrm>
            <a:off x="713160" y="713160"/>
            <a:ext cx="10743840" cy="840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fontScale="85000" lnSpcReduction="19999"/>
          </a:bodyPr>
          <a:lstStyle/>
          <a:p>
            <a:pPr defTabSz="914400">
              <a:lnSpc>
                <a:spcPct val="100000"/>
              </a:lnSpc>
              <a:buNone/>
              <a:tabLst>
                <a:tab pos="0" algn="l"/>
              </a:tabLst>
            </a:pPr>
            <a:r>
              <a:rPr sz="3600" b="1" u="none">
                <a:solidFill>
                  <a:srgbClr val="0B1020"/>
                </a:solidFill>
                <a:latin typeface="Aptos Display"/>
                <a:ea typeface="Aptos Display"/>
                <a:cs typeface="Aptos Display"/>
              </a:rPr>
              <a:t>The honesty controls pass; research quality still needs work</a:t>
            </a:r>
            <a:endParaRPr sz="3600" b="0" u="none">
              <a:solidFill>
                <a:srgbClr val="000000"/>
              </a:solidFill>
              <a:latin typeface="Arial"/>
              <a:ea typeface="Arial"/>
              <a:cs typeface="Arial"/>
            </a:endParaRPr>
          </a:p>
        </p:txBody>
      </p:sp>
      <p:sp>
        <p:nvSpPr>
          <p:cNvPr id="194" name="Text 2">
            <a:extLst>
              <a:ext uri="{FF2B5EF4-FFF2-40B4-BE49-F238E27FC236}">
                <a16:creationId xmlns:a16="http://schemas.microsoft.com/office/drawing/2014/main" id="{B95A86C9-23CF-4478-9CF6-45E3A00E1B70}"/>
              </a:ext>
            </a:extLst>
          </p:cNvPr>
          <p:cNvSpPr>
            <a:spLocks noGrp="1"/>
          </p:cNvSpPr>
          <p:nvPr/>
        </p:nvSpPr>
        <p:spPr>
          <a:xfrm>
            <a:off x="749808" y="1938528"/>
            <a:ext cx="2926080" cy="228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buNone/>
              <a:tabLst>
                <a:tab pos="0" algn="l"/>
              </a:tabLst>
            </a:pPr>
            <a:r>
              <a:rPr sz="1100" b="1" u="none" spc="119">
                <a:solidFill>
                  <a:srgbClr val="0F766E"/>
                </a:solidFill>
                <a:latin typeface="Aptos"/>
                <a:ea typeface="Aptos"/>
                <a:cs typeface="Aptos"/>
              </a:rPr>
              <a:t>HELD IN EVERY RUN</a:t>
            </a:r>
            <a:endParaRPr sz="1100" b="0" u="none">
              <a:solidFill>
                <a:srgbClr val="000000"/>
              </a:solidFill>
              <a:latin typeface="Arial"/>
              <a:ea typeface="Arial"/>
              <a:cs typeface="Arial"/>
            </a:endParaRPr>
          </a:p>
        </p:txBody>
      </p:sp>
      <p:sp>
        <p:nvSpPr>
          <p:cNvPr id="195" name="Text 3">
            <a:extLst>
              <a:ext uri="{FF2B5EF4-FFF2-40B4-BE49-F238E27FC236}">
                <a16:creationId xmlns:a16="http://schemas.microsoft.com/office/drawing/2014/main" id="{8DBA1692-5C6A-4791-98CB-CE4A7CB35991}"/>
              </a:ext>
            </a:extLst>
          </p:cNvPr>
          <p:cNvSpPr>
            <a:spLocks noGrp="1"/>
          </p:cNvSpPr>
          <p:nvPr/>
        </p:nvSpPr>
        <p:spPr>
          <a:xfrm>
            <a:off x="6446520" y="1938528"/>
            <a:ext cx="2926080" cy="228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buNone/>
              <a:tabLst>
                <a:tab pos="0" algn="l"/>
              </a:tabLst>
            </a:pPr>
            <a:r>
              <a:rPr sz="1100" b="1" u="none" spc="119">
                <a:solidFill>
                  <a:srgbClr val="B45309"/>
                </a:solidFill>
                <a:latin typeface="Aptos"/>
                <a:ea typeface="Aptos"/>
                <a:cs typeface="Aptos"/>
              </a:rPr>
              <a:t>SHORT OF TARGET</a:t>
            </a:r>
            <a:endParaRPr sz="1100" b="0" u="none">
              <a:solidFill>
                <a:srgbClr val="000000"/>
              </a:solidFill>
              <a:latin typeface="Arial"/>
              <a:ea typeface="Arial"/>
              <a:cs typeface="Arial"/>
            </a:endParaRPr>
          </a:p>
        </p:txBody>
      </p:sp>
      <p:sp>
        <p:nvSpPr>
          <p:cNvPr id="196" name="Shape 4">
            <a:extLst>
              <a:ext uri="{FF2B5EF4-FFF2-40B4-BE49-F238E27FC236}">
                <a16:creationId xmlns:a16="http://schemas.microsoft.com/office/drawing/2014/main" id="{8196031A-69B5-444D-9F3D-64C15312189A}"/>
              </a:ext>
            </a:extLst>
          </p:cNvPr>
          <p:cNvSpPr>
            <a:spLocks noGrp="1"/>
          </p:cNvSpPr>
          <p:nvPr/>
        </p:nvSpPr>
        <p:spPr>
          <a:xfrm>
            <a:off x="749808" y="2249424"/>
            <a:ext cx="4892040" cy="932688"/>
          </a:xfrm>
          <a:prstGeom prst="roundRect">
            <a:avLst>
              <a:gd name="adj" fmla="val 11111"/>
            </a:avLst>
          </a:prstGeom>
          <a:solidFill>
            <a:srgbClr val="E7F7F4"/>
          </a:solidFill>
          <a:ln w="12700">
            <a:solidFill>
              <a:srgbClr val="B7E4DC"/>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197" name="Text 5">
            <a:extLst>
              <a:ext uri="{FF2B5EF4-FFF2-40B4-BE49-F238E27FC236}">
                <a16:creationId xmlns:a16="http://schemas.microsoft.com/office/drawing/2014/main" id="{BE3A56A1-8028-4C9E-9655-8AF1029726B3}"/>
              </a:ext>
            </a:extLst>
          </p:cNvPr>
          <p:cNvSpPr>
            <a:spLocks noGrp="1"/>
          </p:cNvSpPr>
          <p:nvPr/>
        </p:nvSpPr>
        <p:spPr>
          <a:xfrm>
            <a:off x="914400" y="2441448"/>
            <a:ext cx="4562856"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buNone/>
              <a:tabLst>
                <a:tab pos="0" algn="l"/>
              </a:tabLst>
            </a:pPr>
            <a:r>
              <a:rPr sz="1450" b="1" u="none">
                <a:solidFill>
                  <a:srgbClr val="0B1020"/>
                </a:solidFill>
                <a:latin typeface="Aptos Display"/>
                <a:ea typeface="Aptos Display"/>
                <a:cs typeface="Aptos Display"/>
              </a:rPr>
              <a:t>Stayed silent when nothing was public</a:t>
            </a:r>
            <a:endParaRPr sz="2800" b="0" u="none">
              <a:solidFill>
                <a:srgbClr val="000000"/>
              </a:solidFill>
              <a:latin typeface="Arial"/>
              <a:ea typeface="Arial"/>
              <a:cs typeface="Arial"/>
            </a:endParaRPr>
          </a:p>
        </p:txBody>
      </p:sp>
      <p:sp>
        <p:nvSpPr>
          <p:cNvPr id="198" name="Text 6">
            <a:extLst>
              <a:ext uri="{FF2B5EF4-FFF2-40B4-BE49-F238E27FC236}">
                <a16:creationId xmlns:a16="http://schemas.microsoft.com/office/drawing/2014/main" id="{265D3931-223D-4EDD-A158-5088DA916643}"/>
              </a:ext>
            </a:extLst>
          </p:cNvPr>
          <p:cNvSpPr>
            <a:spLocks noGrp="1"/>
          </p:cNvSpPr>
          <p:nvPr/>
        </p:nvSpPr>
        <p:spPr>
          <a:xfrm>
            <a:off x="914400" y="2752344"/>
            <a:ext cx="4562856" cy="23774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buNone/>
              <a:tabLst>
                <a:tab pos="0" algn="l"/>
              </a:tabLst>
            </a:pPr>
            <a:r>
              <a:rPr sz="1100" b="0" u="none">
                <a:solidFill>
                  <a:srgbClr val="64748B"/>
                </a:solidFill>
                <a:latin typeface="Aptos"/>
                <a:ea typeface="Aptos"/>
                <a:cs typeface="Aptos"/>
              </a:rPr>
              <a:t>3 of 3 companies with no public AI footprint → no claim made</a:t>
            </a:r>
            <a:endParaRPr sz="1250" b="0" u="none">
              <a:solidFill>
                <a:srgbClr val="000000"/>
              </a:solidFill>
              <a:latin typeface="Arial"/>
              <a:ea typeface="Arial"/>
              <a:cs typeface="Arial"/>
            </a:endParaRPr>
          </a:p>
        </p:txBody>
      </p:sp>
      <p:sp>
        <p:nvSpPr>
          <p:cNvPr id="199" name="Shape 7">
            <a:extLst>
              <a:ext uri="{FF2B5EF4-FFF2-40B4-BE49-F238E27FC236}">
                <a16:creationId xmlns:a16="http://schemas.microsoft.com/office/drawing/2014/main" id="{B0702F60-B270-4879-9F8C-3C0C3C683373}"/>
              </a:ext>
            </a:extLst>
          </p:cNvPr>
          <p:cNvSpPr>
            <a:spLocks noGrp="1"/>
          </p:cNvSpPr>
          <p:nvPr/>
        </p:nvSpPr>
        <p:spPr>
          <a:xfrm>
            <a:off x="749808" y="3255264"/>
            <a:ext cx="4892040" cy="932688"/>
          </a:xfrm>
          <a:prstGeom prst="roundRect">
            <a:avLst>
              <a:gd name="adj" fmla="val 11111"/>
            </a:avLst>
          </a:prstGeom>
          <a:solidFill>
            <a:srgbClr val="E7F7F4"/>
          </a:solidFill>
          <a:ln w="12700">
            <a:solidFill>
              <a:srgbClr val="B7E4DC"/>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200" name="Text 8">
            <a:extLst>
              <a:ext uri="{FF2B5EF4-FFF2-40B4-BE49-F238E27FC236}">
                <a16:creationId xmlns:a16="http://schemas.microsoft.com/office/drawing/2014/main" id="{2FE8C594-B359-4192-B3F6-DC8562714766}"/>
              </a:ext>
            </a:extLst>
          </p:cNvPr>
          <p:cNvSpPr>
            <a:spLocks noGrp="1"/>
          </p:cNvSpPr>
          <p:nvPr/>
        </p:nvSpPr>
        <p:spPr>
          <a:xfrm>
            <a:off x="914400" y="3447288"/>
            <a:ext cx="4562856"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buNone/>
              <a:tabLst>
                <a:tab pos="0" algn="l"/>
              </a:tabLst>
            </a:pPr>
            <a:r>
              <a:rPr sz="1450" b="1" u="none">
                <a:solidFill>
                  <a:srgbClr val="0B1020"/>
                </a:solidFill>
                <a:latin typeface="Aptos Display"/>
                <a:ea typeface="Aptos Display"/>
                <a:cs typeface="Aptos Display"/>
              </a:rPr>
              <a:t>Invented nothing on those companies</a:t>
            </a:r>
            <a:endParaRPr sz="2800" b="0" u="none">
              <a:solidFill>
                <a:srgbClr val="000000"/>
              </a:solidFill>
              <a:latin typeface="Arial"/>
              <a:ea typeface="Arial"/>
              <a:cs typeface="Arial"/>
            </a:endParaRPr>
          </a:p>
        </p:txBody>
      </p:sp>
      <p:sp>
        <p:nvSpPr>
          <p:cNvPr id="201" name="Text 9">
            <a:extLst>
              <a:ext uri="{FF2B5EF4-FFF2-40B4-BE49-F238E27FC236}">
                <a16:creationId xmlns:a16="http://schemas.microsoft.com/office/drawing/2014/main" id="{D03E132A-3776-49F1-916D-5C98743E2832}"/>
              </a:ext>
            </a:extLst>
          </p:cNvPr>
          <p:cNvSpPr>
            <a:spLocks noGrp="1"/>
          </p:cNvSpPr>
          <p:nvPr/>
        </p:nvSpPr>
        <p:spPr>
          <a:xfrm>
            <a:off x="914400" y="3758184"/>
            <a:ext cx="4562856" cy="23774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buNone/>
              <a:tabLst>
                <a:tab pos="0" algn="l"/>
              </a:tabLst>
            </a:pPr>
            <a:r>
              <a:rPr sz="1100" b="0" u="none">
                <a:solidFill>
                  <a:srgbClr val="64748B"/>
                </a:solidFill>
                <a:latin typeface="Aptos"/>
                <a:ea typeface="Aptos"/>
                <a:cs typeface="Aptos"/>
              </a:rPr>
              <a:t>0 false claims across those 3 scans</a:t>
            </a:r>
            <a:endParaRPr sz="1250" b="0" u="none">
              <a:solidFill>
                <a:srgbClr val="000000"/>
              </a:solidFill>
              <a:latin typeface="Arial"/>
              <a:ea typeface="Arial"/>
              <a:cs typeface="Arial"/>
            </a:endParaRPr>
          </a:p>
        </p:txBody>
      </p:sp>
      <p:sp>
        <p:nvSpPr>
          <p:cNvPr id="202" name="Shape 10">
            <a:extLst>
              <a:ext uri="{FF2B5EF4-FFF2-40B4-BE49-F238E27FC236}">
                <a16:creationId xmlns:a16="http://schemas.microsoft.com/office/drawing/2014/main" id="{BC2F9AB4-BEB6-44C5-8031-0CC2037B92F0}"/>
              </a:ext>
            </a:extLst>
          </p:cNvPr>
          <p:cNvSpPr>
            <a:spLocks noGrp="1"/>
          </p:cNvSpPr>
          <p:nvPr/>
        </p:nvSpPr>
        <p:spPr>
          <a:xfrm>
            <a:off x="749808" y="4261104"/>
            <a:ext cx="4892040" cy="932688"/>
          </a:xfrm>
          <a:prstGeom prst="roundRect">
            <a:avLst>
              <a:gd name="adj" fmla="val 11111"/>
            </a:avLst>
          </a:prstGeom>
          <a:solidFill>
            <a:srgbClr val="E7F7F4"/>
          </a:solidFill>
          <a:ln w="12700">
            <a:solidFill>
              <a:srgbClr val="B7E4DC"/>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203" name="Text 11">
            <a:extLst>
              <a:ext uri="{FF2B5EF4-FFF2-40B4-BE49-F238E27FC236}">
                <a16:creationId xmlns:a16="http://schemas.microsoft.com/office/drawing/2014/main" id="{03DC1155-D461-4B82-9F26-25E40D9ABB8B}"/>
              </a:ext>
            </a:extLst>
          </p:cNvPr>
          <p:cNvSpPr>
            <a:spLocks noGrp="1"/>
          </p:cNvSpPr>
          <p:nvPr/>
        </p:nvSpPr>
        <p:spPr>
          <a:xfrm>
            <a:off x="914400" y="4453128"/>
            <a:ext cx="4562856"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buNone/>
              <a:tabLst>
                <a:tab pos="0" algn="l"/>
              </a:tabLst>
            </a:pPr>
            <a:r>
              <a:rPr sz="1450" b="1" u="none">
                <a:solidFill>
                  <a:srgbClr val="0B1020"/>
                </a:solidFill>
                <a:latin typeface="Aptos Display"/>
                <a:ea typeface="Aptos Display"/>
                <a:cs typeface="Aptos Display"/>
              </a:rPr>
              <a:t>Every finding traceable to its source</a:t>
            </a:r>
            <a:endParaRPr sz="2800" b="0" u="none">
              <a:solidFill>
                <a:srgbClr val="000000"/>
              </a:solidFill>
              <a:latin typeface="Arial"/>
              <a:ea typeface="Arial"/>
              <a:cs typeface="Arial"/>
            </a:endParaRPr>
          </a:p>
        </p:txBody>
      </p:sp>
      <p:sp>
        <p:nvSpPr>
          <p:cNvPr id="204" name="Text 12">
            <a:extLst>
              <a:ext uri="{FF2B5EF4-FFF2-40B4-BE49-F238E27FC236}">
                <a16:creationId xmlns:a16="http://schemas.microsoft.com/office/drawing/2014/main" id="{AA881CBF-E2AF-4429-BE07-971E9E41230B}"/>
              </a:ext>
            </a:extLst>
          </p:cNvPr>
          <p:cNvSpPr>
            <a:spLocks noGrp="1"/>
          </p:cNvSpPr>
          <p:nvPr/>
        </p:nvSpPr>
        <p:spPr>
          <a:xfrm>
            <a:off x="914400" y="4764024"/>
            <a:ext cx="4562856" cy="23774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buNone/>
              <a:tabLst>
                <a:tab pos="0" algn="l"/>
              </a:tabLst>
            </a:pPr>
            <a:r>
              <a:rPr sz="1100" b="0" u="none">
                <a:solidFill>
                  <a:srgbClr val="64748B"/>
                </a:solidFill>
                <a:latin typeface="Aptos"/>
                <a:ea typeface="Aptos"/>
                <a:cs typeface="Aptos"/>
              </a:rPr>
              <a:t>All 64 findings: source quoted, fetched and re-checked</a:t>
            </a:r>
            <a:endParaRPr sz="1250" b="0" u="none">
              <a:solidFill>
                <a:srgbClr val="000000"/>
              </a:solidFill>
              <a:latin typeface="Arial"/>
              <a:ea typeface="Arial"/>
              <a:cs typeface="Arial"/>
            </a:endParaRPr>
          </a:p>
        </p:txBody>
      </p:sp>
      <p:sp>
        <p:nvSpPr>
          <p:cNvPr id="205" name="Shape 13">
            <a:extLst>
              <a:ext uri="{FF2B5EF4-FFF2-40B4-BE49-F238E27FC236}">
                <a16:creationId xmlns:a16="http://schemas.microsoft.com/office/drawing/2014/main" id="{26CE3924-57E1-4EF8-B7B8-B9A460DC7732}"/>
              </a:ext>
            </a:extLst>
          </p:cNvPr>
          <p:cNvSpPr>
            <a:spLocks noGrp="1"/>
          </p:cNvSpPr>
          <p:nvPr/>
        </p:nvSpPr>
        <p:spPr>
          <a:xfrm>
            <a:off x="6446520" y="2249424"/>
            <a:ext cx="4937760" cy="932688"/>
          </a:xfrm>
          <a:prstGeom prst="roundRect">
            <a:avLst>
              <a:gd name="adj" fmla="val 11111"/>
            </a:avLst>
          </a:prstGeom>
          <a:solidFill>
            <a:srgbClr val="FFF5E6"/>
          </a:solidFill>
          <a:ln w="12700">
            <a:solidFill>
              <a:srgbClr val="F7D6A4"/>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206" name="Text 14">
            <a:extLst>
              <a:ext uri="{FF2B5EF4-FFF2-40B4-BE49-F238E27FC236}">
                <a16:creationId xmlns:a16="http://schemas.microsoft.com/office/drawing/2014/main" id="{CFDE188C-C7E5-4322-A97F-5E50BAC12F43}"/>
              </a:ext>
            </a:extLst>
          </p:cNvPr>
          <p:cNvSpPr>
            <a:spLocks noGrp="1"/>
          </p:cNvSpPr>
          <p:nvPr/>
        </p:nvSpPr>
        <p:spPr>
          <a:xfrm>
            <a:off x="9921240" y="2276856"/>
            <a:ext cx="1261872" cy="32918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defTabSz="914400">
              <a:lnSpc>
                <a:spcPct val="100000"/>
              </a:lnSpc>
              <a:buNone/>
              <a:tabLst>
                <a:tab pos="0" algn="l"/>
              </a:tabLst>
            </a:pPr>
            <a:r>
              <a:rPr sz="2000" b="1" u="none">
                <a:solidFill>
                  <a:srgbClr val="B45309"/>
                </a:solidFill>
                <a:latin typeface="Aptos Display"/>
                <a:ea typeface="Aptos Display"/>
                <a:cs typeface="Aptos Display"/>
              </a:rPr>
              <a:t>44%</a:t>
            </a:r>
            <a:endParaRPr sz="2700" b="0" u="none">
              <a:solidFill>
                <a:srgbClr val="000000"/>
              </a:solidFill>
              <a:latin typeface="Arial"/>
              <a:ea typeface="Arial"/>
              <a:cs typeface="Arial"/>
            </a:endParaRPr>
          </a:p>
        </p:txBody>
      </p:sp>
      <p:sp>
        <p:nvSpPr>
          <p:cNvPr id="207" name="Text 15">
            <a:extLst>
              <a:ext uri="{FF2B5EF4-FFF2-40B4-BE49-F238E27FC236}">
                <a16:creationId xmlns:a16="http://schemas.microsoft.com/office/drawing/2014/main" id="{8322B8B9-DD0E-4600-9760-940A8452B613}"/>
              </a:ext>
            </a:extLst>
          </p:cNvPr>
          <p:cNvSpPr>
            <a:spLocks noGrp="1"/>
          </p:cNvSpPr>
          <p:nvPr/>
        </p:nvSpPr>
        <p:spPr>
          <a:xfrm>
            <a:off x="6647688" y="2331720"/>
            <a:ext cx="3154680" cy="23774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buNone/>
              <a:tabLst>
                <a:tab pos="0" algn="l"/>
              </a:tabLst>
            </a:pPr>
            <a:r>
              <a:rPr sz="1350" b="1" u="none">
                <a:solidFill>
                  <a:srgbClr val="0B1020"/>
                </a:solidFill>
                <a:latin typeface="Aptos"/>
                <a:ea typeface="Aptos"/>
                <a:cs typeface="Aptos"/>
              </a:rPr>
              <a:t>Known AI systems found</a:t>
            </a:r>
            <a:endParaRPr sz="1500" b="0" u="none">
              <a:solidFill>
                <a:srgbClr val="000000"/>
              </a:solidFill>
              <a:latin typeface="Arial"/>
              <a:ea typeface="Arial"/>
              <a:cs typeface="Arial"/>
            </a:endParaRPr>
          </a:p>
        </p:txBody>
      </p:sp>
      <p:sp>
        <p:nvSpPr>
          <p:cNvPr id="208" name="Text 16">
            <a:extLst>
              <a:ext uri="{FF2B5EF4-FFF2-40B4-BE49-F238E27FC236}">
                <a16:creationId xmlns:a16="http://schemas.microsoft.com/office/drawing/2014/main" id="{C83BDBD6-162B-43A3-9B9F-A2F907196BD3}"/>
              </a:ext>
            </a:extLst>
          </p:cNvPr>
          <p:cNvSpPr>
            <a:spLocks noGrp="1"/>
          </p:cNvSpPr>
          <p:nvPr/>
        </p:nvSpPr>
        <p:spPr>
          <a:xfrm>
            <a:off x="6647688" y="2907791"/>
            <a:ext cx="4535424" cy="182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defTabSz="914400">
              <a:lnSpc>
                <a:spcPct val="100000"/>
              </a:lnSpc>
              <a:buNone/>
              <a:tabLst>
                <a:tab pos="0" algn="l"/>
              </a:tabLst>
            </a:pPr>
            <a:r>
              <a:rPr sz="950" b="0" u="none">
                <a:solidFill>
                  <a:srgbClr val="64748B"/>
                </a:solidFill>
                <a:latin typeface="Aptos"/>
                <a:ea typeface="Aptos"/>
                <a:cs typeface="Aptos"/>
              </a:rPr>
              <a:t>target 75%   ·   higher is better</a:t>
            </a:r>
            <a:endParaRPr sz="1200" b="0" u="none">
              <a:solidFill>
                <a:srgbClr val="000000"/>
              </a:solidFill>
              <a:latin typeface="Arial"/>
              <a:ea typeface="Arial"/>
              <a:cs typeface="Arial"/>
            </a:endParaRPr>
          </a:p>
        </p:txBody>
      </p:sp>
      <p:sp>
        <p:nvSpPr>
          <p:cNvPr id="209" name="Shape 17">
            <a:extLst>
              <a:ext uri="{FF2B5EF4-FFF2-40B4-BE49-F238E27FC236}">
                <a16:creationId xmlns:a16="http://schemas.microsoft.com/office/drawing/2014/main" id="{0DB9825D-7508-4995-95C7-934EDA4F37E1}"/>
              </a:ext>
            </a:extLst>
          </p:cNvPr>
          <p:cNvSpPr>
            <a:spLocks noGrp="1"/>
          </p:cNvSpPr>
          <p:nvPr/>
        </p:nvSpPr>
        <p:spPr>
          <a:xfrm>
            <a:off x="6446520" y="3255264"/>
            <a:ext cx="4937760" cy="932688"/>
          </a:xfrm>
          <a:prstGeom prst="roundRect">
            <a:avLst>
              <a:gd name="adj" fmla="val 11111"/>
            </a:avLst>
          </a:prstGeom>
          <a:solidFill>
            <a:srgbClr val="FFF5E6"/>
          </a:solidFill>
          <a:ln w="12700">
            <a:solidFill>
              <a:srgbClr val="F7D6A4"/>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210" name="Text 18">
            <a:extLst>
              <a:ext uri="{FF2B5EF4-FFF2-40B4-BE49-F238E27FC236}">
                <a16:creationId xmlns:a16="http://schemas.microsoft.com/office/drawing/2014/main" id="{17848AE0-FF6F-40E1-98A0-DB4C36391EA8}"/>
              </a:ext>
            </a:extLst>
          </p:cNvPr>
          <p:cNvSpPr>
            <a:spLocks noGrp="1"/>
          </p:cNvSpPr>
          <p:nvPr/>
        </p:nvSpPr>
        <p:spPr>
          <a:xfrm>
            <a:off x="9921240" y="3282696"/>
            <a:ext cx="1261872" cy="32918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defTabSz="914400">
              <a:lnSpc>
                <a:spcPct val="100000"/>
              </a:lnSpc>
              <a:buNone/>
              <a:tabLst>
                <a:tab pos="0" algn="l"/>
              </a:tabLst>
            </a:pPr>
            <a:r>
              <a:rPr sz="2000" b="1" u="none">
                <a:solidFill>
                  <a:srgbClr val="B45309"/>
                </a:solidFill>
                <a:latin typeface="Aptos Display"/>
                <a:ea typeface="Aptos Display"/>
                <a:cs typeface="Aptos Display"/>
              </a:rPr>
              <a:t>74%</a:t>
            </a:r>
            <a:endParaRPr sz="2700" b="0" u="none">
              <a:solidFill>
                <a:srgbClr val="000000"/>
              </a:solidFill>
              <a:latin typeface="Arial"/>
              <a:ea typeface="Arial"/>
              <a:cs typeface="Arial"/>
            </a:endParaRPr>
          </a:p>
        </p:txBody>
      </p:sp>
      <p:sp>
        <p:nvSpPr>
          <p:cNvPr id="211" name="Text 19">
            <a:extLst>
              <a:ext uri="{FF2B5EF4-FFF2-40B4-BE49-F238E27FC236}">
                <a16:creationId xmlns:a16="http://schemas.microsoft.com/office/drawing/2014/main" id="{8D7682D7-13A7-457B-B39E-C3D67C88EE7E}"/>
              </a:ext>
            </a:extLst>
          </p:cNvPr>
          <p:cNvSpPr>
            <a:spLocks noGrp="1"/>
          </p:cNvSpPr>
          <p:nvPr/>
        </p:nvSpPr>
        <p:spPr>
          <a:xfrm>
            <a:off x="6647688" y="3337560"/>
            <a:ext cx="3154680" cy="23774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buNone/>
              <a:tabLst>
                <a:tab pos="0" algn="l"/>
              </a:tabLst>
            </a:pPr>
            <a:r>
              <a:rPr sz="1350" b="1" u="none">
                <a:solidFill>
                  <a:srgbClr val="0B1020"/>
                </a:solidFill>
                <a:latin typeface="Aptos"/>
                <a:ea typeface="Aptos"/>
                <a:cs typeface="Aptos"/>
              </a:rPr>
              <a:t>Company role labelled right</a:t>
            </a:r>
            <a:endParaRPr sz="1500" b="0" u="none">
              <a:solidFill>
                <a:srgbClr val="000000"/>
              </a:solidFill>
              <a:latin typeface="Arial"/>
              <a:ea typeface="Arial"/>
              <a:cs typeface="Arial"/>
            </a:endParaRPr>
          </a:p>
        </p:txBody>
      </p:sp>
      <p:sp>
        <p:nvSpPr>
          <p:cNvPr id="212" name="Text 20">
            <a:extLst>
              <a:ext uri="{FF2B5EF4-FFF2-40B4-BE49-F238E27FC236}">
                <a16:creationId xmlns:a16="http://schemas.microsoft.com/office/drawing/2014/main" id="{F48EC716-45C8-4BDE-B38C-BEB97565F84F}"/>
              </a:ext>
            </a:extLst>
          </p:cNvPr>
          <p:cNvSpPr>
            <a:spLocks noGrp="1"/>
          </p:cNvSpPr>
          <p:nvPr/>
        </p:nvSpPr>
        <p:spPr>
          <a:xfrm>
            <a:off x="6647688" y="3913632"/>
            <a:ext cx="4535424" cy="182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defTabSz="914400">
              <a:lnSpc>
                <a:spcPct val="100000"/>
              </a:lnSpc>
              <a:buNone/>
              <a:tabLst>
                <a:tab pos="0" algn="l"/>
              </a:tabLst>
            </a:pPr>
            <a:r>
              <a:rPr sz="950" b="0" u="none">
                <a:solidFill>
                  <a:srgbClr val="64748B"/>
                </a:solidFill>
                <a:latin typeface="Aptos"/>
                <a:ea typeface="Aptos"/>
                <a:cs typeface="Aptos"/>
              </a:rPr>
              <a:t>target 90%   ·   higher is better   ·   provider vs deployer</a:t>
            </a:r>
            <a:endParaRPr sz="1200" b="0" u="none">
              <a:solidFill>
                <a:srgbClr val="000000"/>
              </a:solidFill>
              <a:latin typeface="Arial"/>
              <a:ea typeface="Arial"/>
              <a:cs typeface="Arial"/>
            </a:endParaRPr>
          </a:p>
        </p:txBody>
      </p:sp>
      <p:sp>
        <p:nvSpPr>
          <p:cNvPr id="213" name="Shape 21">
            <a:extLst>
              <a:ext uri="{FF2B5EF4-FFF2-40B4-BE49-F238E27FC236}">
                <a16:creationId xmlns:a16="http://schemas.microsoft.com/office/drawing/2014/main" id="{612E23E4-AB61-4840-9EC1-1E5C1F1B7BEB}"/>
              </a:ext>
            </a:extLst>
          </p:cNvPr>
          <p:cNvSpPr>
            <a:spLocks noGrp="1"/>
          </p:cNvSpPr>
          <p:nvPr/>
        </p:nvSpPr>
        <p:spPr>
          <a:xfrm>
            <a:off x="6446520" y="4261104"/>
            <a:ext cx="4937760" cy="932688"/>
          </a:xfrm>
          <a:prstGeom prst="roundRect">
            <a:avLst>
              <a:gd name="adj" fmla="val 11111"/>
            </a:avLst>
          </a:prstGeom>
          <a:solidFill>
            <a:srgbClr val="FFF5E6"/>
          </a:solidFill>
          <a:ln w="12700">
            <a:solidFill>
              <a:srgbClr val="F7D6A4"/>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214" name="Text 22">
            <a:extLst>
              <a:ext uri="{FF2B5EF4-FFF2-40B4-BE49-F238E27FC236}">
                <a16:creationId xmlns:a16="http://schemas.microsoft.com/office/drawing/2014/main" id="{979C9888-DF46-4225-90BC-23760AD0D020}"/>
              </a:ext>
            </a:extLst>
          </p:cNvPr>
          <p:cNvSpPr>
            <a:spLocks noGrp="1"/>
          </p:cNvSpPr>
          <p:nvPr/>
        </p:nvSpPr>
        <p:spPr>
          <a:xfrm>
            <a:off x="9921240" y="4288536"/>
            <a:ext cx="1261872" cy="32918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defTabSz="914400">
              <a:lnSpc>
                <a:spcPct val="100000"/>
              </a:lnSpc>
              <a:buNone/>
              <a:tabLst>
                <a:tab pos="0" algn="l"/>
              </a:tabLst>
            </a:pPr>
            <a:r>
              <a:rPr sz="2000" b="1" u="none">
                <a:solidFill>
                  <a:srgbClr val="B45309"/>
                </a:solidFill>
                <a:latin typeface="Aptos Display"/>
                <a:ea typeface="Aptos Display"/>
                <a:cs typeface="Aptos Display"/>
              </a:rPr>
              <a:t>33%</a:t>
            </a:r>
            <a:endParaRPr sz="2700" b="0" u="none">
              <a:solidFill>
                <a:srgbClr val="000000"/>
              </a:solidFill>
              <a:latin typeface="Arial"/>
              <a:ea typeface="Arial"/>
              <a:cs typeface="Arial"/>
            </a:endParaRPr>
          </a:p>
        </p:txBody>
      </p:sp>
      <p:sp>
        <p:nvSpPr>
          <p:cNvPr id="215" name="Text 23">
            <a:extLst>
              <a:ext uri="{FF2B5EF4-FFF2-40B4-BE49-F238E27FC236}">
                <a16:creationId xmlns:a16="http://schemas.microsoft.com/office/drawing/2014/main" id="{7780F269-F960-4E65-A61F-8069902E5080}"/>
              </a:ext>
            </a:extLst>
          </p:cNvPr>
          <p:cNvSpPr>
            <a:spLocks noGrp="1"/>
          </p:cNvSpPr>
          <p:nvPr/>
        </p:nvSpPr>
        <p:spPr>
          <a:xfrm>
            <a:off x="6647688" y="4343400"/>
            <a:ext cx="3154680" cy="23774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buNone/>
              <a:tabLst>
                <a:tab pos="0" algn="l"/>
              </a:tabLst>
            </a:pPr>
            <a:r>
              <a:rPr sz="1350" b="1" u="none">
                <a:solidFill>
                  <a:srgbClr val="0B1020"/>
                </a:solidFill>
                <a:latin typeface="Aptos"/>
                <a:ea typeface="Aptos"/>
                <a:cs typeface="Aptos"/>
              </a:rPr>
              <a:t>Claimed use without proof</a:t>
            </a:r>
            <a:endParaRPr sz="1500" b="0" u="none">
              <a:solidFill>
                <a:srgbClr val="000000"/>
              </a:solidFill>
              <a:latin typeface="Arial"/>
              <a:ea typeface="Arial"/>
              <a:cs typeface="Arial"/>
            </a:endParaRPr>
          </a:p>
        </p:txBody>
      </p:sp>
      <p:sp>
        <p:nvSpPr>
          <p:cNvPr id="216" name="Text 24">
            <a:extLst>
              <a:ext uri="{FF2B5EF4-FFF2-40B4-BE49-F238E27FC236}">
                <a16:creationId xmlns:a16="http://schemas.microsoft.com/office/drawing/2014/main" id="{FC47EF03-61B4-49CB-AE05-4DA53320EB08}"/>
              </a:ext>
            </a:extLst>
          </p:cNvPr>
          <p:cNvSpPr>
            <a:spLocks noGrp="1"/>
          </p:cNvSpPr>
          <p:nvPr/>
        </p:nvSpPr>
        <p:spPr>
          <a:xfrm>
            <a:off x="6647688" y="4919472"/>
            <a:ext cx="4535424" cy="182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defTabSz="914400">
              <a:lnSpc>
                <a:spcPct val="100000"/>
              </a:lnSpc>
              <a:buNone/>
              <a:tabLst>
                <a:tab pos="0" algn="l"/>
              </a:tabLst>
            </a:pPr>
            <a:r>
              <a:rPr sz="950" b="0" u="none">
                <a:solidFill>
                  <a:srgbClr val="64748B"/>
                </a:solidFill>
                <a:latin typeface="Aptos"/>
                <a:ea typeface="Aptos"/>
                <a:cs typeface="Aptos"/>
              </a:rPr>
              <a:t>limit 10%   ·   lower is better</a:t>
            </a:r>
            <a:endParaRPr sz="1200" b="0" u="none">
              <a:solidFill>
                <a:srgbClr val="000000"/>
              </a:solidFill>
              <a:latin typeface="Arial"/>
              <a:ea typeface="Arial"/>
              <a:cs typeface="Arial"/>
            </a:endParaRPr>
          </a:p>
        </p:txBody>
      </p:sp>
      <p:sp>
        <p:nvSpPr>
          <p:cNvPr id="217" name="Shape 25">
            <a:extLst>
              <a:ext uri="{FF2B5EF4-FFF2-40B4-BE49-F238E27FC236}">
                <a16:creationId xmlns:a16="http://schemas.microsoft.com/office/drawing/2014/main" id="{6049E9B7-C302-47A3-A59F-7D688BDECAB6}"/>
              </a:ext>
            </a:extLst>
          </p:cNvPr>
          <p:cNvSpPr>
            <a:spLocks noGrp="1"/>
          </p:cNvSpPr>
          <p:nvPr/>
        </p:nvSpPr>
        <p:spPr>
          <a:xfrm>
            <a:off x="749808" y="5449824"/>
            <a:ext cx="10634472" cy="731520"/>
          </a:xfrm>
          <a:prstGeom prst="roundRect">
            <a:avLst>
              <a:gd name="adj" fmla="val 13158"/>
            </a:avLst>
          </a:prstGeom>
          <a:solidFill>
            <a:srgbClr val="F1F5F9"/>
          </a:solidFill>
          <a:ln w="12700">
            <a:solidFill>
              <a:srgbClr val="F1F5F9"/>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218" name="Text 26">
            <a:extLst>
              <a:ext uri="{FF2B5EF4-FFF2-40B4-BE49-F238E27FC236}">
                <a16:creationId xmlns:a16="http://schemas.microsoft.com/office/drawing/2014/main" id="{4C09B2C6-BD0C-4FF3-8140-A0446743FC45}"/>
              </a:ext>
            </a:extLst>
          </p:cNvPr>
          <p:cNvSpPr>
            <a:spLocks noGrp="1"/>
          </p:cNvSpPr>
          <p:nvPr/>
        </p:nvSpPr>
        <p:spPr>
          <a:xfrm>
            <a:off x="987552" y="5577840"/>
            <a:ext cx="2926080" cy="201168"/>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buNone/>
              <a:tabLst>
                <a:tab pos="0" algn="l"/>
              </a:tabLst>
            </a:pPr>
            <a:r>
              <a:rPr sz="1000" b="1" u="none" spc="99">
                <a:solidFill>
                  <a:srgbClr val="B45309"/>
                </a:solidFill>
                <a:latin typeface="Aptos"/>
                <a:ea typeface="Aptos"/>
                <a:cs typeface="Aptos"/>
              </a:rPr>
              <a:t>SAME CODE, TWO ANSWERS</a:t>
            </a:r>
            <a:endParaRPr sz="1050" b="0" u="none">
              <a:solidFill>
                <a:srgbClr val="000000"/>
              </a:solidFill>
              <a:latin typeface="Arial"/>
              <a:ea typeface="Arial"/>
              <a:cs typeface="Arial"/>
            </a:endParaRPr>
          </a:p>
        </p:txBody>
      </p:sp>
      <p:sp>
        <p:nvSpPr>
          <p:cNvPr id="219" name="Text 27">
            <a:extLst>
              <a:ext uri="{FF2B5EF4-FFF2-40B4-BE49-F238E27FC236}">
                <a16:creationId xmlns:a16="http://schemas.microsoft.com/office/drawing/2014/main" id="{BE224489-3823-4A86-A978-5C3DDA20F7C3}"/>
              </a:ext>
            </a:extLst>
          </p:cNvPr>
          <p:cNvSpPr>
            <a:spLocks noGrp="1"/>
          </p:cNvSpPr>
          <p:nvPr/>
        </p:nvSpPr>
        <p:spPr>
          <a:xfrm>
            <a:off x="987552" y="5797296"/>
            <a:ext cx="310896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buNone/>
              <a:tabLst>
                <a:tab pos="0" algn="l"/>
              </a:tabLst>
            </a:pPr>
            <a:r>
              <a:rPr sz="1250" b="1" u="none">
                <a:solidFill>
                  <a:srgbClr val="0B1020"/>
                </a:solidFill>
                <a:latin typeface="Aptos Display"/>
                <a:ea typeface="Aptos Display"/>
                <a:cs typeface="Aptos Display"/>
              </a:rPr>
              <a:t>Systems found: 56% → 44%</a:t>
            </a:r>
            <a:endParaRPr sz="1800" b="0" u="none">
              <a:solidFill>
                <a:srgbClr val="000000"/>
              </a:solidFill>
              <a:latin typeface="Arial"/>
              <a:ea typeface="Arial"/>
              <a:cs typeface="Arial"/>
            </a:endParaRPr>
          </a:p>
        </p:txBody>
      </p:sp>
      <p:sp>
        <p:nvSpPr>
          <p:cNvPr id="220" name="Shape 28">
            <a:extLst>
              <a:ext uri="{FF2B5EF4-FFF2-40B4-BE49-F238E27FC236}">
                <a16:creationId xmlns:a16="http://schemas.microsoft.com/office/drawing/2014/main" id="{B1FDB213-06E0-4DD2-A976-4519115FE18F}"/>
              </a:ext>
            </a:extLst>
          </p:cNvPr>
          <p:cNvSpPr>
            <a:spLocks noGrp="1"/>
          </p:cNvSpPr>
          <p:nvPr/>
        </p:nvSpPr>
        <p:spPr>
          <a:xfrm>
            <a:off x="4315968" y="5614416"/>
            <a:ext cx="0" cy="402336"/>
          </a:xfrm>
          <a:prstGeom prst="line">
            <a:avLst/>
          </a:prstGeom>
          <a:ln w="31750">
            <a:solidFill>
              <a:srgbClr val="CBD5E1"/>
            </a:solidFill>
          </a:ln>
        </p:spPr>
        <p:style>
          <a:lnRef idx="0">
            <a:scrgbClr r="0" g="0" b="0"/>
          </a:lnRef>
          <a:fillRef idx="0">
            <a:scrgbClr r="0" g="0" b="0"/>
          </a:fillRef>
          <a:effectRef idx="0">
            <a:scrgbClr r="0" g="0" b="0"/>
          </a:effectRef>
          <a:fontRef idx="minor"/>
        </p:style>
        <p:txBody>
          <a:bodyPr lIns="90000" tIns="-44640" rIns="90000" bIns="-44640" anchor="t">
            <a:noAutofit/>
          </a:bodyPr>
          <a:lstStyle/>
          <a:p>
            <a:endParaRPr sz="1800" b="0" u="none">
              <a:solidFill>
                <a:srgbClr val="000000"/>
              </a:solidFill>
              <a:latin typeface="Arial"/>
              <a:ea typeface="Arial"/>
              <a:cs typeface="Arial"/>
            </a:endParaRPr>
          </a:p>
        </p:txBody>
      </p:sp>
      <p:sp>
        <p:nvSpPr>
          <p:cNvPr id="222" name="Text 30">
            <a:extLst>
              <a:ext uri="{FF2B5EF4-FFF2-40B4-BE49-F238E27FC236}">
                <a16:creationId xmlns:a16="http://schemas.microsoft.com/office/drawing/2014/main" id="{1D95A243-1684-425D-9F32-ED7B214EAACD}"/>
              </a:ext>
            </a:extLst>
          </p:cNvPr>
          <p:cNvSpPr>
            <a:spLocks noGrp="1"/>
          </p:cNvSpPr>
          <p:nvPr/>
        </p:nvSpPr>
        <p:spPr>
          <a:xfrm>
            <a:off x="4590288" y="5541264"/>
            <a:ext cx="6611112" cy="566928"/>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l" defTabSz="914400">
              <a:lnSpc>
                <a:spcPct val="100000"/>
              </a:lnSpc>
              <a:buNone/>
              <a:tabLst>
                <a:tab pos="0" algn="l"/>
              </a:tabLst>
            </a:pPr>
            <a:r>
              <a:rPr sz="1350" b="1" u="none">
                <a:solidFill>
                  <a:srgbClr val="0B1020"/>
                </a:solidFill>
                <a:latin typeface="Aptos"/>
                <a:ea typeface="Aptos"/>
                <a:cs typeface="Aptos"/>
              </a:rPr>
              <a:t>One run cannot prove an improvement. The honesty controls are worth quoting because they never moved.</a:t>
            </a:r>
            <a:endParaRPr sz="1400" b="0" u="none">
              <a:solidFill>
                <a:srgbClr val="000000"/>
              </a:solidFill>
              <a:latin typeface="Arial"/>
              <a:ea typeface="Arial"/>
              <a:cs typeface="Arial"/>
            </a:endParaRPr>
          </a:p>
        </p:txBody>
      </p:sp>
      <p:sp>
        <p:nvSpPr>
          <p:cNvPr id="223" name="Text 31">
            <a:extLst>
              <a:ext uri="{FF2B5EF4-FFF2-40B4-BE49-F238E27FC236}">
                <a16:creationId xmlns:a16="http://schemas.microsoft.com/office/drawing/2014/main" id="{C2FCF663-4561-4B33-8A1D-D78276D7568E}"/>
              </a:ext>
            </a:extLst>
          </p:cNvPr>
          <p:cNvSpPr>
            <a:spLocks noGrp="1"/>
          </p:cNvSpPr>
          <p:nvPr/>
        </p:nvSpPr>
        <p:spPr>
          <a:xfrm>
            <a:off x="713160" y="6428160"/>
            <a:ext cx="32918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900" b="1" u="none" spc="111">
                <a:solidFill>
                  <a:srgbClr val="64748B"/>
                </a:solidFill>
                <a:latin typeface="Aptos"/>
                <a:ea typeface="Aptos"/>
                <a:cs typeface="Aptos"/>
              </a:rPr>
              <a:t>AI PRE-SCAN  •  APPENDIX • EVALUATION</a:t>
            </a:r>
            <a:endParaRPr sz="900" b="0" u="none">
              <a:solidFill>
                <a:srgbClr val="000000"/>
              </a:solidFill>
              <a:latin typeface="Arial"/>
              <a:ea typeface="Arial"/>
              <a:cs typeface="Arial"/>
            </a:endParaRPr>
          </a:p>
        </p:txBody>
      </p:sp>
      <p:sp>
        <p:nvSpPr>
          <p:cNvPr id="224" name="PlaceHolder 1">
            <a:extLst>
              <a:ext uri="{FF2B5EF4-FFF2-40B4-BE49-F238E27FC236}">
                <a16:creationId xmlns:a16="http://schemas.microsoft.com/office/drawing/2014/main" id="{8A0B43A9-585F-428E-BB9F-5CEDFC03C9A5}"/>
              </a:ext>
            </a:extLst>
          </p:cNvPr>
          <p:cNvSpPr>
            <a:spLocks noGrp="1"/>
          </p:cNvSpPr>
          <p:nvPr>
            <p:ph type="sldNum" idx="12"/>
          </p:nvPr>
        </p:nvSpPr>
        <p:spPr>
          <a:xfrm>
            <a:off x="11292840" y="6428160"/>
            <a:ext cx="319680" cy="182520"/>
          </a:xfrm>
          <a:prstGeom prst="rect">
            <a:avLst/>
          </a:prstGeom>
          <a:noFill/>
          <a:ln w="0">
            <a:noFill/>
          </a:ln>
        </p:spPr>
        <p:txBody>
          <a:bodyPr lIns="0" tIns="0" rIns="0" bIns="0" anchor="t">
            <a:noAutofit/>
          </a:bodyPr>
          <a:lstStyle>
            <a:lvl1pPr indent="0" algn="r" defTabSz="914400">
              <a:lnSpc>
                <a:spcPct val="100000"/>
              </a:lnSpc>
              <a:buNone/>
              <a:defRPr sz="900" b="0" u="none">
                <a:solidFill>
                  <a:srgbClr val="94A3B8"/>
                </a:solidFill>
                <a:latin typeface="Aptos"/>
                <a:ea typeface="Aptos"/>
                <a:cs typeface="Aptos"/>
              </a:defRPr>
            </a:lvl1pPr>
          </a:lstStyle>
          <a:p>
            <a:pPr indent="0" algn="r" defTabSz="914400">
              <a:lnSpc>
                <a:spcPct val="100000"/>
              </a:lnSpc>
              <a:buNone/>
            </a:pPr>
            <a:fld id="{BA58DA2A-B818-18A9-29C1-B697728D5BCE}" type="slidenum">
              <a:rPr sz="900" b="0" u="none">
                <a:solidFill>
                  <a:srgbClr val="94A3B8"/>
                </a:solidFill>
                <a:latin typeface="Aptos"/>
                <a:ea typeface="Aptos"/>
                <a:cs typeface="Aptos"/>
              </a:rPr>
              <a:t>8</a:t>
            </a:fld>
            <a:endParaRPr sz="900" b="0" u="none">
              <a:solidFill>
                <a:srgbClr val="000000"/>
              </a:solidFill>
              <a:latin typeface="Times New Roman"/>
              <a:ea typeface="Times New Roman"/>
              <a:cs typeface="Times New Roman"/>
            </a:endParaRPr>
          </a:p>
        </p:txBody>
      </p:sp>
      <p:sp>
        <p:nvSpPr>
          <p:cNvPr id="777" name="Text Context">
            <a:extLst>
              <a:ext uri="{FF2B5EF4-FFF2-40B4-BE49-F238E27FC236}">
                <a16:creationId xmlns:a16="http://schemas.microsoft.com/office/drawing/2014/main" id="{B95A86C9-23CF-4478-9CF6-45E3A00E1B70}"/>
              </a:ext>
            </a:extLst>
          </p:cNvPr>
          <p:cNvSpPr>
            <a:spLocks noGrp="1"/>
          </p:cNvSpPr>
          <p:nvPr/>
        </p:nvSpPr>
        <p:spPr>
          <a:xfrm>
            <a:off x="749808" y="1591056"/>
            <a:ext cx="10634472" cy="23774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l" defTabSz="914400">
              <a:lnSpc>
                <a:spcPct val="100000"/>
              </a:lnSpc>
              <a:buNone/>
              <a:tabLst>
                <a:tab pos="0" algn="l"/>
              </a:tabLst>
            </a:pPr>
            <a:r>
              <a:rPr sz="1100" b="0" u="none" spc="119">
                <a:solidFill>
                  <a:srgbClr val="64748B"/>
                </a:solidFill>
                <a:latin typeface="Aptos"/>
                <a:ea typeface="Aptos"/>
                <a:cs typeface="Aptos"/>
              </a:rPr>
              <a:t>Tested against 12 companies with known answers — including 3 with no public AI footprint</a:t>
            </a:r>
            <a:endParaRPr sz="1100" b="0" u="none">
              <a:solidFill>
                <a:srgbClr val="000000"/>
              </a:solidFill>
              <a:latin typeface="Arial"/>
              <a:ea typeface="Arial"/>
              <a:cs typeface="Arial"/>
            </a:endParaRPr>
          </a:p>
        </p:txBody>
      </p:sp>
      <p:sp>
        <p:nvSpPr>
          <p:cNvPr id="778" name="Rounded Rectangle 777">
            <a:extLst>
              <a:ext uri="{FF2B5EF4-FFF2-40B4-BE49-F238E27FC236}">
                <a16:creationId xmlns:a16="http://schemas.microsoft.com/office/drawing/2014/main" id="{3FF65F1F-F246-4C7E-9DB8-AB9501227147}"/>
              </a:ext>
            </a:extLst>
          </p:cNvPr>
          <p:cNvSpPr>
            <a:spLocks noGrp="1"/>
          </p:cNvSpPr>
          <p:nvPr/>
        </p:nvSpPr>
        <p:spPr>
          <a:xfrm>
            <a:off x="6647688" y="2706624"/>
            <a:ext cx="4535424" cy="128016"/>
          </a:xfrm>
          <a:prstGeom prst="roundRect">
            <a:avLst>
              <a:gd name="adj" fmla="val 50000"/>
            </a:avLst>
          </a:prstGeom>
          <a:solidFill>
            <a:srgbClr val="F3D9B5"/>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79" name="Rounded Rectangle 778">
            <a:extLst>
              <a:ext uri="{FF2B5EF4-FFF2-40B4-BE49-F238E27FC236}">
                <a16:creationId xmlns:a16="http://schemas.microsoft.com/office/drawing/2014/main" id="{8D1B59A7-AE1A-4296-B29B-11851FD43371}"/>
              </a:ext>
            </a:extLst>
          </p:cNvPr>
          <p:cNvSpPr>
            <a:spLocks noGrp="1"/>
          </p:cNvSpPr>
          <p:nvPr/>
        </p:nvSpPr>
        <p:spPr>
          <a:xfrm>
            <a:off x="6647688" y="2706624"/>
            <a:ext cx="2013728" cy="128016"/>
          </a:xfrm>
          <a:prstGeom prst="roundRect">
            <a:avLst>
              <a:gd name="adj" fmla="val 50000"/>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80" name="Rectangle 779">
            <a:extLst>
              <a:ext uri="{FF2B5EF4-FFF2-40B4-BE49-F238E27FC236}">
                <a16:creationId xmlns:a16="http://schemas.microsoft.com/office/drawing/2014/main" id="{12ECBF05-95A9-46DA-8C70-CFE185A7EDC8}"/>
              </a:ext>
            </a:extLst>
          </p:cNvPr>
          <p:cNvSpPr>
            <a:spLocks noGrp="1"/>
          </p:cNvSpPr>
          <p:nvPr/>
        </p:nvSpPr>
        <p:spPr>
          <a:xfrm>
            <a:off x="10035539" y="2642616"/>
            <a:ext cx="27432" cy="256032"/>
          </a:xfrm>
          <a:prstGeom prst="rect">
            <a:avLst/>
          </a:prstGeom>
          <a:solidFill>
            <a:srgbClr val="0B102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81" name="Rounded Rectangle 780">
            <a:extLst>
              <a:ext uri="{FF2B5EF4-FFF2-40B4-BE49-F238E27FC236}">
                <a16:creationId xmlns:a16="http://schemas.microsoft.com/office/drawing/2014/main" id="{3D7251BA-EC82-4B04-8C05-6193DE487152}"/>
              </a:ext>
            </a:extLst>
          </p:cNvPr>
          <p:cNvSpPr>
            <a:spLocks noGrp="1"/>
          </p:cNvSpPr>
          <p:nvPr/>
        </p:nvSpPr>
        <p:spPr>
          <a:xfrm>
            <a:off x="6647688" y="3712464"/>
            <a:ext cx="4535424" cy="128016"/>
          </a:xfrm>
          <a:prstGeom prst="roundRect">
            <a:avLst>
              <a:gd name="adj" fmla="val 50000"/>
            </a:avLst>
          </a:prstGeom>
          <a:solidFill>
            <a:srgbClr val="F3D9B5"/>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82" name="Rounded Rectangle 781">
            <a:extLst>
              <a:ext uri="{FF2B5EF4-FFF2-40B4-BE49-F238E27FC236}">
                <a16:creationId xmlns:a16="http://schemas.microsoft.com/office/drawing/2014/main" id="{C3A69D42-4797-4EEC-A72C-98DABDF5A243}"/>
              </a:ext>
            </a:extLst>
          </p:cNvPr>
          <p:cNvSpPr>
            <a:spLocks noGrp="1"/>
          </p:cNvSpPr>
          <p:nvPr/>
        </p:nvSpPr>
        <p:spPr>
          <a:xfrm>
            <a:off x="6647688" y="3712464"/>
            <a:ext cx="3351678" cy="128016"/>
          </a:xfrm>
          <a:prstGeom prst="roundRect">
            <a:avLst>
              <a:gd name="adj" fmla="val 50000"/>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83" name="Rectangle 782">
            <a:extLst>
              <a:ext uri="{FF2B5EF4-FFF2-40B4-BE49-F238E27FC236}">
                <a16:creationId xmlns:a16="http://schemas.microsoft.com/office/drawing/2014/main" id="{1071C6EF-AFAE-4D6E-B5D8-846A60ACF94D}"/>
              </a:ext>
            </a:extLst>
          </p:cNvPr>
          <p:cNvSpPr>
            <a:spLocks noGrp="1"/>
          </p:cNvSpPr>
          <p:nvPr/>
        </p:nvSpPr>
        <p:spPr>
          <a:xfrm>
            <a:off x="10715853" y="3648456"/>
            <a:ext cx="27432" cy="256032"/>
          </a:xfrm>
          <a:prstGeom prst="rect">
            <a:avLst/>
          </a:prstGeom>
          <a:solidFill>
            <a:srgbClr val="0B102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84" name="Rounded Rectangle 783">
            <a:extLst>
              <a:ext uri="{FF2B5EF4-FFF2-40B4-BE49-F238E27FC236}">
                <a16:creationId xmlns:a16="http://schemas.microsoft.com/office/drawing/2014/main" id="{7503D16D-8CD3-4371-AA47-0480691F8D53}"/>
              </a:ext>
            </a:extLst>
          </p:cNvPr>
          <p:cNvSpPr>
            <a:spLocks noGrp="1"/>
          </p:cNvSpPr>
          <p:nvPr/>
        </p:nvSpPr>
        <p:spPr>
          <a:xfrm>
            <a:off x="6647688" y="4718304"/>
            <a:ext cx="4535424" cy="128016"/>
          </a:xfrm>
          <a:prstGeom prst="roundRect">
            <a:avLst>
              <a:gd name="adj" fmla="val 50000"/>
            </a:avLst>
          </a:prstGeom>
          <a:solidFill>
            <a:srgbClr val="F3D9B5"/>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85" name="Rounded Rectangle 784">
            <a:extLst>
              <a:ext uri="{FF2B5EF4-FFF2-40B4-BE49-F238E27FC236}">
                <a16:creationId xmlns:a16="http://schemas.microsoft.com/office/drawing/2014/main" id="{F0CC2C07-7414-4BE8-91AA-D9E94C76EAF1}"/>
              </a:ext>
            </a:extLst>
          </p:cNvPr>
          <p:cNvSpPr>
            <a:spLocks noGrp="1"/>
          </p:cNvSpPr>
          <p:nvPr/>
        </p:nvSpPr>
        <p:spPr>
          <a:xfrm>
            <a:off x="6647688" y="4718304"/>
            <a:ext cx="1510296" cy="128016"/>
          </a:xfrm>
          <a:prstGeom prst="roundRect">
            <a:avLst>
              <a:gd name="adj" fmla="val 50000"/>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86" name="Rectangle 785">
            <a:extLst>
              <a:ext uri="{FF2B5EF4-FFF2-40B4-BE49-F238E27FC236}">
                <a16:creationId xmlns:a16="http://schemas.microsoft.com/office/drawing/2014/main" id="{05035308-45E1-4C98-A2DB-239A9C34DC24}"/>
              </a:ext>
            </a:extLst>
          </p:cNvPr>
          <p:cNvSpPr>
            <a:spLocks noGrp="1"/>
          </p:cNvSpPr>
          <p:nvPr/>
        </p:nvSpPr>
        <p:spPr>
          <a:xfrm>
            <a:off x="7087514" y="4654296"/>
            <a:ext cx="27432" cy="256032"/>
          </a:xfrm>
          <a:prstGeom prst="rect">
            <a:avLst/>
          </a:prstGeom>
          <a:solidFill>
            <a:srgbClr val="0B102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11901113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Text 0">
            <a:extLst>
              <a:ext uri="{FF2B5EF4-FFF2-40B4-BE49-F238E27FC236}">
                <a16:creationId xmlns:a16="http://schemas.microsoft.com/office/drawing/2014/main" id="{FE84A012-AD9E-4777-B398-0CDD08F3E192}"/>
              </a:ext>
            </a:extLst>
          </p:cNvPr>
          <p:cNvSpPr>
            <a:spLocks noGrp="1"/>
          </p:cNvSpPr>
          <p:nvPr/>
        </p:nvSpPr>
        <p:spPr>
          <a:xfrm>
            <a:off x="713232" y="384143"/>
            <a:ext cx="2598706" cy="21926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100" b="1" u="none" spc="181">
                <a:solidFill>
                  <a:srgbClr val="2563EB"/>
                </a:solidFill>
                <a:latin typeface="Aptos"/>
                <a:ea typeface="Aptos"/>
                <a:cs typeface="Aptos"/>
              </a:rPr>
              <a:t>APPENDIX • SCOPE</a:t>
            </a:r>
            <a:endParaRPr sz="1100" b="0" u="none">
              <a:solidFill>
                <a:srgbClr val="000000"/>
              </a:solidFill>
              <a:latin typeface="Arial"/>
              <a:ea typeface="Arial"/>
              <a:cs typeface="Arial"/>
            </a:endParaRPr>
          </a:p>
        </p:txBody>
      </p:sp>
      <p:sp>
        <p:nvSpPr>
          <p:cNvPr id="226" name="Text 1">
            <a:extLst>
              <a:ext uri="{FF2B5EF4-FFF2-40B4-BE49-F238E27FC236}">
                <a16:creationId xmlns:a16="http://schemas.microsoft.com/office/drawing/2014/main" id="{2D8899FC-643B-439D-ADD1-173988E9E44C}"/>
              </a:ext>
            </a:extLst>
          </p:cNvPr>
          <p:cNvSpPr>
            <a:spLocks noGrp="1"/>
          </p:cNvSpPr>
          <p:nvPr/>
        </p:nvSpPr>
        <p:spPr>
          <a:xfrm>
            <a:off x="713137" y="713137"/>
            <a:ext cx="10743819" cy="5715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lnSpcReduction="19999"/>
          </a:bodyPr>
          <a:lstStyle/>
          <a:p>
            <a:pPr algn="l" defTabSz="914400">
              <a:lnSpc>
                <a:spcPct val="100000"/>
              </a:lnSpc>
              <a:buNone/>
              <a:tabLst>
                <a:tab pos="0" algn="l"/>
              </a:tabLst>
              <a:defRPr sz="3500" b="1">
                <a:solidFill>
                  <a:srgbClr val="0B1020"/>
                </a:solidFill>
                <a:latin typeface="Aptos Display"/>
                <a:ea typeface="Aptos Display"/>
                <a:cs typeface="Aptos Display"/>
              </a:defRPr>
            </a:pPr>
            <a:r>
              <a:rPr sz="3500" b="1" u="none">
                <a:solidFill>
                  <a:srgbClr val="0B1020"/>
                </a:solidFill>
                <a:latin typeface="Aptos Display"/>
                <a:ea typeface="Aptos Display"/>
                <a:cs typeface="Aptos Display"/>
              </a:rPr>
              <a:t>Discovery finds facts; the checker applies the law</a:t>
            </a:r>
            <a:endParaRPr sz="3800" b="0" u="none">
              <a:solidFill>
                <a:srgbClr val="000000"/>
              </a:solidFill>
              <a:latin typeface="Arial"/>
              <a:ea typeface="Arial"/>
              <a:cs typeface="Arial"/>
            </a:endParaRPr>
          </a:p>
        </p:txBody>
      </p:sp>
      <p:sp>
        <p:nvSpPr>
          <p:cNvPr id="227" name="Shape 2">
            <a:extLst>
              <a:ext uri="{FF2B5EF4-FFF2-40B4-BE49-F238E27FC236}">
                <a16:creationId xmlns:a16="http://schemas.microsoft.com/office/drawing/2014/main" id="{4C88A50C-CE58-4753-B410-8BCD1891D515}"/>
              </a:ext>
            </a:extLst>
          </p:cNvPr>
          <p:cNvSpPr>
            <a:spLocks noGrp="1"/>
          </p:cNvSpPr>
          <p:nvPr/>
        </p:nvSpPr>
        <p:spPr>
          <a:xfrm>
            <a:off x="4974336" y="3456360"/>
            <a:ext cx="786383" cy="360"/>
          </a:xfrm>
          <a:prstGeom prst="line">
            <a:avLst/>
          </a:prstGeom>
          <a:ln w="27940">
            <a:solidFill>
              <a:srgbClr val="2563EB"/>
            </a:solidFill>
            <a:tailEnd type="triangle" w="med" len="med"/>
          </a:ln>
        </p:spPr>
        <p:style>
          <a:lnRef idx="0">
            <a:scrgbClr r="0" g="0" b="0"/>
          </a:lnRef>
          <a:fillRef idx="0">
            <a:scrgbClr r="0" g="0" b="0"/>
          </a:fillRef>
          <a:effectRef idx="0">
            <a:scrgbClr r="0" g="0" b="0"/>
          </a:effectRef>
          <a:fontRef idx="minor"/>
        </p:style>
        <p:txBody>
          <a:bodyPr lIns="90000" tIns="-44640" rIns="90000" bIns="-44640" anchor="t">
            <a:noAutofit/>
          </a:bodyPr>
          <a:lstStyle/>
          <a:p>
            <a:endParaRPr sz="1800" b="0" u="none">
              <a:solidFill>
                <a:srgbClr val="000000"/>
              </a:solidFill>
              <a:latin typeface="Arial"/>
              <a:ea typeface="Arial"/>
              <a:cs typeface="Arial"/>
            </a:endParaRPr>
          </a:p>
        </p:txBody>
      </p:sp>
      <p:sp>
        <p:nvSpPr>
          <p:cNvPr id="228" name="Shape 3">
            <a:extLst>
              <a:ext uri="{FF2B5EF4-FFF2-40B4-BE49-F238E27FC236}">
                <a16:creationId xmlns:a16="http://schemas.microsoft.com/office/drawing/2014/main" id="{6326EB9D-61AF-4E15-8CFB-07CA482283B7}"/>
              </a:ext>
            </a:extLst>
          </p:cNvPr>
          <p:cNvSpPr>
            <a:spLocks noGrp="1"/>
          </p:cNvSpPr>
          <p:nvPr/>
        </p:nvSpPr>
        <p:spPr>
          <a:xfrm>
            <a:off x="6345936" y="3456360"/>
            <a:ext cx="786383" cy="360"/>
          </a:xfrm>
          <a:prstGeom prst="line">
            <a:avLst/>
          </a:prstGeom>
          <a:ln w="27940">
            <a:solidFill>
              <a:srgbClr val="2563EB"/>
            </a:solidFill>
            <a:tailEnd type="triangle" w="med" len="med"/>
          </a:ln>
        </p:spPr>
        <p:style>
          <a:lnRef idx="0">
            <a:scrgbClr r="0" g="0" b="0"/>
          </a:lnRef>
          <a:fillRef idx="0">
            <a:scrgbClr r="0" g="0" b="0"/>
          </a:fillRef>
          <a:effectRef idx="0">
            <a:scrgbClr r="0" g="0" b="0"/>
          </a:effectRef>
          <a:fontRef idx="minor"/>
        </p:style>
        <p:txBody>
          <a:bodyPr lIns="90000" tIns="-44640" rIns="90000" bIns="-44640" anchor="t">
            <a:noAutofit/>
          </a:bodyPr>
          <a:lstStyle/>
          <a:p>
            <a:endParaRPr sz="1800" b="0" u="none">
              <a:solidFill>
                <a:srgbClr val="000000"/>
              </a:solidFill>
              <a:latin typeface="Arial"/>
              <a:ea typeface="Arial"/>
              <a:cs typeface="Arial"/>
            </a:endParaRPr>
          </a:p>
        </p:txBody>
      </p:sp>
      <p:sp>
        <p:nvSpPr>
          <p:cNvPr id="229" name="Shape 4">
            <a:extLst>
              <a:ext uri="{FF2B5EF4-FFF2-40B4-BE49-F238E27FC236}">
                <a16:creationId xmlns:a16="http://schemas.microsoft.com/office/drawing/2014/main" id="{0A2276C7-2D87-4201-9A4C-C8FEE27F03E5}"/>
              </a:ext>
            </a:extLst>
          </p:cNvPr>
          <p:cNvSpPr>
            <a:spLocks noGrp="1"/>
          </p:cNvSpPr>
          <p:nvPr/>
        </p:nvSpPr>
        <p:spPr>
          <a:xfrm>
            <a:off x="749880" y="1892880"/>
            <a:ext cx="4224240" cy="3309840"/>
          </a:xfrm>
          <a:prstGeom prst="roundRect">
            <a:avLst>
              <a:gd name="adj" fmla="val 4420"/>
            </a:avLst>
          </a:prstGeom>
          <a:solidFill>
            <a:srgbClr val="EAF2FF"/>
          </a:solidFill>
          <a:ln w="12700">
            <a:solidFill>
              <a:srgbClr val="BED3FF"/>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230" name="Text 5">
            <a:extLst>
              <a:ext uri="{FF2B5EF4-FFF2-40B4-BE49-F238E27FC236}">
                <a16:creationId xmlns:a16="http://schemas.microsoft.com/office/drawing/2014/main" id="{EBEAECA0-A8AA-4994-A82F-A8D6E9ECC4E7}"/>
              </a:ext>
            </a:extLst>
          </p:cNvPr>
          <p:cNvSpPr>
            <a:spLocks noGrp="1"/>
          </p:cNvSpPr>
          <p:nvPr/>
        </p:nvSpPr>
        <p:spPr>
          <a:xfrm>
            <a:off x="1078920" y="2240280"/>
            <a:ext cx="191988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100" b="1" u="none" spc="139">
                <a:solidFill>
                  <a:srgbClr val="2563EB"/>
                </a:solidFill>
                <a:latin typeface="Aptos"/>
                <a:ea typeface="Aptos"/>
                <a:cs typeface="Aptos"/>
              </a:rPr>
              <a:t>AI PRE-SCAN</a:t>
            </a:r>
            <a:endParaRPr sz="1100" b="0" u="none">
              <a:solidFill>
                <a:srgbClr val="000000"/>
              </a:solidFill>
              <a:latin typeface="Arial"/>
              <a:ea typeface="Arial"/>
              <a:cs typeface="Arial"/>
            </a:endParaRPr>
          </a:p>
        </p:txBody>
      </p:sp>
      <p:sp>
        <p:nvSpPr>
          <p:cNvPr id="231" name="Text 6">
            <a:extLst>
              <a:ext uri="{FF2B5EF4-FFF2-40B4-BE49-F238E27FC236}">
                <a16:creationId xmlns:a16="http://schemas.microsoft.com/office/drawing/2014/main" id="{27F60434-0AB0-4D70-B071-2A94CED83BF6}"/>
              </a:ext>
            </a:extLst>
          </p:cNvPr>
          <p:cNvSpPr>
            <a:spLocks noGrp="1"/>
          </p:cNvSpPr>
          <p:nvPr/>
        </p:nvSpPr>
        <p:spPr>
          <a:xfrm>
            <a:off x="1078920" y="2670120"/>
            <a:ext cx="3749039"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2000" b="1" u="none">
                <a:solidFill>
                  <a:srgbClr val="0B1020"/>
                </a:solidFill>
                <a:latin typeface="Aptos Display"/>
                <a:ea typeface="Aptos Display"/>
                <a:cs typeface="Aptos Display"/>
              </a:rPr>
              <a:t>Establish the facts</a:t>
            </a:r>
            <a:endParaRPr sz="2700" b="0" u="none">
              <a:solidFill>
                <a:srgbClr val="000000"/>
              </a:solidFill>
              <a:latin typeface="Arial"/>
              <a:ea typeface="Arial"/>
              <a:cs typeface="Arial"/>
            </a:endParaRPr>
          </a:p>
        </p:txBody>
      </p:sp>
      <p:sp>
        <p:nvSpPr>
          <p:cNvPr id="232" name="Shape 7">
            <a:extLst>
              <a:ext uri="{FF2B5EF4-FFF2-40B4-BE49-F238E27FC236}">
                <a16:creationId xmlns:a16="http://schemas.microsoft.com/office/drawing/2014/main" id="{7A47C345-683C-433F-A119-EE7C7B112BB5}"/>
              </a:ext>
            </a:extLst>
          </p:cNvPr>
          <p:cNvSpPr>
            <a:spLocks noGrp="1"/>
          </p:cNvSpPr>
          <p:nvPr/>
        </p:nvSpPr>
        <p:spPr>
          <a:xfrm>
            <a:off x="1097280" y="3364920"/>
            <a:ext cx="145800" cy="145800"/>
          </a:xfrm>
          <a:prstGeom prst="ellipse">
            <a:avLst/>
          </a:prstGeom>
          <a:solidFill>
            <a:srgbClr val="2563EB"/>
          </a:solidFill>
          <a:ln w="12700">
            <a:solidFill>
              <a:srgbClr val="2563EB"/>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FFFFFF"/>
              </a:solidFill>
              <a:latin typeface="Arial"/>
              <a:ea typeface="Arial"/>
              <a:cs typeface="Arial"/>
            </a:endParaRPr>
          </a:p>
        </p:txBody>
      </p:sp>
      <p:sp>
        <p:nvSpPr>
          <p:cNvPr id="233" name="Text 8">
            <a:extLst>
              <a:ext uri="{FF2B5EF4-FFF2-40B4-BE49-F238E27FC236}">
                <a16:creationId xmlns:a16="http://schemas.microsoft.com/office/drawing/2014/main" id="{62F51FF9-DBBE-4186-AD8A-2680DDAB95C7}"/>
              </a:ext>
            </a:extLst>
          </p:cNvPr>
          <p:cNvSpPr>
            <a:spLocks noGrp="1"/>
          </p:cNvSpPr>
          <p:nvPr/>
        </p:nvSpPr>
        <p:spPr>
          <a:xfrm>
            <a:off x="1389960" y="3300840"/>
            <a:ext cx="292572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450" b="0" u="none">
                <a:solidFill>
                  <a:srgbClr val="273244"/>
                </a:solidFill>
                <a:latin typeface="Aptos"/>
                <a:ea typeface="Aptos"/>
                <a:cs typeface="Aptos"/>
              </a:rPr>
              <a:t>Possible systems</a:t>
            </a:r>
            <a:endParaRPr sz="1450" b="0" u="none">
              <a:solidFill>
                <a:srgbClr val="000000"/>
              </a:solidFill>
              <a:latin typeface="Arial"/>
              <a:ea typeface="Arial"/>
              <a:cs typeface="Arial"/>
            </a:endParaRPr>
          </a:p>
        </p:txBody>
      </p:sp>
      <p:sp>
        <p:nvSpPr>
          <p:cNvPr id="234" name="Shape 9">
            <a:extLst>
              <a:ext uri="{FF2B5EF4-FFF2-40B4-BE49-F238E27FC236}">
                <a16:creationId xmlns:a16="http://schemas.microsoft.com/office/drawing/2014/main" id="{E4E87F43-583E-4CF3-A8DC-4EF4A4CA0A43}"/>
              </a:ext>
            </a:extLst>
          </p:cNvPr>
          <p:cNvSpPr>
            <a:spLocks noGrp="1"/>
          </p:cNvSpPr>
          <p:nvPr/>
        </p:nvSpPr>
        <p:spPr>
          <a:xfrm>
            <a:off x="1097280" y="3758040"/>
            <a:ext cx="145800" cy="145800"/>
          </a:xfrm>
          <a:prstGeom prst="ellipse">
            <a:avLst/>
          </a:prstGeom>
          <a:solidFill>
            <a:srgbClr val="2563EB"/>
          </a:solidFill>
          <a:ln w="12700">
            <a:solidFill>
              <a:srgbClr val="2563EB"/>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FFFFFF"/>
              </a:solidFill>
              <a:latin typeface="Arial"/>
              <a:ea typeface="Arial"/>
              <a:cs typeface="Arial"/>
            </a:endParaRPr>
          </a:p>
        </p:txBody>
      </p:sp>
      <p:sp>
        <p:nvSpPr>
          <p:cNvPr id="235" name="Text 10">
            <a:extLst>
              <a:ext uri="{FF2B5EF4-FFF2-40B4-BE49-F238E27FC236}">
                <a16:creationId xmlns:a16="http://schemas.microsoft.com/office/drawing/2014/main" id="{FAA99820-0616-4587-8C52-28E42C53C23A}"/>
              </a:ext>
            </a:extLst>
          </p:cNvPr>
          <p:cNvSpPr>
            <a:spLocks noGrp="1"/>
          </p:cNvSpPr>
          <p:nvPr/>
        </p:nvSpPr>
        <p:spPr>
          <a:xfrm>
            <a:off x="1389960" y="3694320"/>
            <a:ext cx="292572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450" b="0" u="none">
                <a:solidFill>
                  <a:srgbClr val="273244"/>
                </a:solidFill>
                <a:latin typeface="Aptos"/>
                <a:ea typeface="Aptos"/>
                <a:cs typeface="Aptos"/>
              </a:rPr>
              <a:t>Exact quoted evidence</a:t>
            </a:r>
            <a:endParaRPr sz="1450" b="0" u="none">
              <a:solidFill>
                <a:srgbClr val="000000"/>
              </a:solidFill>
              <a:latin typeface="Arial"/>
              <a:ea typeface="Arial"/>
              <a:cs typeface="Arial"/>
            </a:endParaRPr>
          </a:p>
        </p:txBody>
      </p:sp>
      <p:sp>
        <p:nvSpPr>
          <p:cNvPr id="236" name="Shape 11">
            <a:extLst>
              <a:ext uri="{FF2B5EF4-FFF2-40B4-BE49-F238E27FC236}">
                <a16:creationId xmlns:a16="http://schemas.microsoft.com/office/drawing/2014/main" id="{C6106C08-9CAC-485A-BA62-3739E08DCDE0}"/>
              </a:ext>
            </a:extLst>
          </p:cNvPr>
          <p:cNvSpPr>
            <a:spLocks noGrp="1"/>
          </p:cNvSpPr>
          <p:nvPr/>
        </p:nvSpPr>
        <p:spPr>
          <a:xfrm>
            <a:off x="1097280" y="4151520"/>
            <a:ext cx="145800" cy="145800"/>
          </a:xfrm>
          <a:prstGeom prst="ellipse">
            <a:avLst/>
          </a:prstGeom>
          <a:solidFill>
            <a:srgbClr val="2563EB"/>
          </a:solidFill>
          <a:ln w="12700">
            <a:solidFill>
              <a:srgbClr val="2563EB"/>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FFFFFF"/>
              </a:solidFill>
              <a:latin typeface="Arial"/>
              <a:ea typeface="Arial"/>
              <a:cs typeface="Arial"/>
            </a:endParaRPr>
          </a:p>
        </p:txBody>
      </p:sp>
      <p:sp>
        <p:nvSpPr>
          <p:cNvPr id="237" name="Text 12">
            <a:extLst>
              <a:ext uri="{FF2B5EF4-FFF2-40B4-BE49-F238E27FC236}">
                <a16:creationId xmlns:a16="http://schemas.microsoft.com/office/drawing/2014/main" id="{66E3F9CA-6DE5-4355-9DDD-CF1B99861008}"/>
              </a:ext>
            </a:extLst>
          </p:cNvPr>
          <p:cNvSpPr>
            <a:spLocks noGrp="1"/>
          </p:cNvSpPr>
          <p:nvPr/>
        </p:nvSpPr>
        <p:spPr>
          <a:xfrm>
            <a:off x="1389960" y="4087440"/>
            <a:ext cx="292572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450" b="0" u="none">
                <a:solidFill>
                  <a:srgbClr val="273244"/>
                </a:solidFill>
                <a:latin typeface="Aptos"/>
                <a:ea typeface="Aptos"/>
                <a:cs typeface="Aptos"/>
              </a:rPr>
              <a:t>Where every fact came from</a:t>
            </a:r>
            <a:endParaRPr sz="1450" b="0" u="none">
              <a:solidFill>
                <a:srgbClr val="000000"/>
              </a:solidFill>
              <a:latin typeface="Arial"/>
              <a:ea typeface="Arial"/>
              <a:cs typeface="Arial"/>
            </a:endParaRPr>
          </a:p>
        </p:txBody>
      </p:sp>
      <p:sp>
        <p:nvSpPr>
          <p:cNvPr id="238" name="Shape 13">
            <a:extLst>
              <a:ext uri="{FF2B5EF4-FFF2-40B4-BE49-F238E27FC236}">
                <a16:creationId xmlns:a16="http://schemas.microsoft.com/office/drawing/2014/main" id="{6C4404D9-ACEA-417F-B32C-71802B614B7B}"/>
              </a:ext>
            </a:extLst>
          </p:cNvPr>
          <p:cNvSpPr>
            <a:spLocks noGrp="1"/>
          </p:cNvSpPr>
          <p:nvPr/>
        </p:nvSpPr>
        <p:spPr>
          <a:xfrm>
            <a:off x="1097280" y="4544640"/>
            <a:ext cx="145800" cy="145800"/>
          </a:xfrm>
          <a:prstGeom prst="ellipse">
            <a:avLst/>
          </a:prstGeom>
          <a:solidFill>
            <a:srgbClr val="2563EB"/>
          </a:solidFill>
          <a:ln w="12700">
            <a:solidFill>
              <a:srgbClr val="2563EB"/>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FFFFFF"/>
              </a:solidFill>
              <a:latin typeface="Arial"/>
              <a:ea typeface="Arial"/>
              <a:cs typeface="Arial"/>
            </a:endParaRPr>
          </a:p>
        </p:txBody>
      </p:sp>
      <p:sp>
        <p:nvSpPr>
          <p:cNvPr id="239" name="Text 14">
            <a:extLst>
              <a:ext uri="{FF2B5EF4-FFF2-40B4-BE49-F238E27FC236}">
                <a16:creationId xmlns:a16="http://schemas.microsoft.com/office/drawing/2014/main" id="{F45F05F5-F6AA-4B7F-8F6C-59648FAB94BA}"/>
              </a:ext>
            </a:extLst>
          </p:cNvPr>
          <p:cNvSpPr>
            <a:spLocks noGrp="1"/>
          </p:cNvSpPr>
          <p:nvPr/>
        </p:nvSpPr>
        <p:spPr>
          <a:xfrm>
            <a:off x="1389960" y="4480560"/>
            <a:ext cx="292572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450" b="0" u="none">
                <a:solidFill>
                  <a:srgbClr val="273244"/>
                </a:solidFill>
                <a:latin typeface="Aptos"/>
                <a:ea typeface="Aptos"/>
                <a:cs typeface="Aptos"/>
              </a:rPr>
              <a:t>Unresolved questions</a:t>
            </a:r>
            <a:endParaRPr sz="1450" b="0" u="none">
              <a:solidFill>
                <a:srgbClr val="000000"/>
              </a:solidFill>
              <a:latin typeface="Arial"/>
              <a:ea typeface="Arial"/>
              <a:cs typeface="Arial"/>
            </a:endParaRPr>
          </a:p>
        </p:txBody>
      </p:sp>
      <p:sp>
        <p:nvSpPr>
          <p:cNvPr id="240" name="Shape 15">
            <a:extLst>
              <a:ext uri="{FF2B5EF4-FFF2-40B4-BE49-F238E27FC236}">
                <a16:creationId xmlns:a16="http://schemas.microsoft.com/office/drawing/2014/main" id="{B6D66E97-82DC-4F99-9ADB-A530B26217CD}"/>
              </a:ext>
            </a:extLst>
          </p:cNvPr>
          <p:cNvSpPr>
            <a:spLocks noGrp="1"/>
          </p:cNvSpPr>
          <p:nvPr/>
        </p:nvSpPr>
        <p:spPr>
          <a:xfrm>
            <a:off x="5760720" y="3136320"/>
            <a:ext cx="585000" cy="585000"/>
          </a:xfrm>
          <a:prstGeom prst="ellipse">
            <a:avLst/>
          </a:prstGeom>
          <a:solidFill>
            <a:srgbClr val="FFFFFF"/>
          </a:solidFill>
          <a:ln w="12700">
            <a:solidFill>
              <a:srgbClr val="2563EB"/>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241" name="Text 16">
            <a:extLst>
              <a:ext uri="{FF2B5EF4-FFF2-40B4-BE49-F238E27FC236}">
                <a16:creationId xmlns:a16="http://schemas.microsoft.com/office/drawing/2014/main" id="{F7FFCB3C-9BB5-48F2-8911-40684D53A3B9}"/>
              </a:ext>
            </a:extLst>
          </p:cNvPr>
          <p:cNvSpPr>
            <a:spLocks noGrp="1"/>
          </p:cNvSpPr>
          <p:nvPr/>
        </p:nvSpPr>
        <p:spPr>
          <a:xfrm>
            <a:off x="5532120" y="3831480"/>
            <a:ext cx="104220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buNone/>
              <a:tabLst>
                <a:tab pos="0" algn="l"/>
              </a:tabLst>
            </a:pPr>
            <a:r>
              <a:rPr sz="1050" b="1" u="none" spc="111">
                <a:solidFill>
                  <a:srgbClr val="2563EB"/>
                </a:solidFill>
                <a:latin typeface="Aptos"/>
                <a:ea typeface="Aptos"/>
                <a:cs typeface="Aptos"/>
              </a:rPr>
              <a:t>HUMAN</a:t>
            </a:r>
            <a:endParaRPr sz="1050" b="0" u="none">
              <a:solidFill>
                <a:srgbClr val="000000"/>
              </a:solidFill>
              <a:latin typeface="Arial"/>
              <a:ea typeface="Arial"/>
              <a:cs typeface="Arial"/>
            </a:endParaRPr>
          </a:p>
        </p:txBody>
      </p:sp>
      <p:sp>
        <p:nvSpPr>
          <p:cNvPr id="242" name="Text 17">
            <a:extLst>
              <a:ext uri="{FF2B5EF4-FFF2-40B4-BE49-F238E27FC236}">
                <a16:creationId xmlns:a16="http://schemas.microsoft.com/office/drawing/2014/main" id="{185837D8-05FB-447B-9912-019505D0DAD3}"/>
              </a:ext>
            </a:extLst>
          </p:cNvPr>
          <p:cNvSpPr>
            <a:spLocks noGrp="1"/>
          </p:cNvSpPr>
          <p:nvPr/>
        </p:nvSpPr>
        <p:spPr>
          <a:xfrm>
            <a:off x="5532120" y="4078080"/>
            <a:ext cx="104220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buNone/>
              <a:tabLst>
                <a:tab pos="0" algn="l"/>
              </a:tabLst>
            </a:pPr>
            <a:r>
              <a:rPr sz="1050" b="1" u="none" spc="111">
                <a:solidFill>
                  <a:srgbClr val="2563EB"/>
                </a:solidFill>
                <a:latin typeface="Aptos"/>
                <a:ea typeface="Aptos"/>
                <a:cs typeface="Aptos"/>
              </a:rPr>
              <a:t>REVIEW</a:t>
            </a:r>
            <a:endParaRPr sz="1050" b="0" u="none">
              <a:solidFill>
                <a:srgbClr val="000000"/>
              </a:solidFill>
              <a:latin typeface="Arial"/>
              <a:ea typeface="Arial"/>
              <a:cs typeface="Arial"/>
            </a:endParaRPr>
          </a:p>
        </p:txBody>
      </p:sp>
      <p:sp>
        <p:nvSpPr>
          <p:cNvPr id="243" name="Shape 18">
            <a:extLst>
              <a:ext uri="{FF2B5EF4-FFF2-40B4-BE49-F238E27FC236}">
                <a16:creationId xmlns:a16="http://schemas.microsoft.com/office/drawing/2014/main" id="{2C9B8C63-54C6-4397-B9B6-9F30BFEC55CD}"/>
              </a:ext>
            </a:extLst>
          </p:cNvPr>
          <p:cNvSpPr>
            <a:spLocks noGrp="1"/>
          </p:cNvSpPr>
          <p:nvPr/>
        </p:nvSpPr>
        <p:spPr>
          <a:xfrm>
            <a:off x="7132320" y="1892880"/>
            <a:ext cx="4251600" cy="3309840"/>
          </a:xfrm>
          <a:prstGeom prst="roundRect">
            <a:avLst>
              <a:gd name="adj" fmla="val 4420"/>
            </a:avLst>
          </a:prstGeom>
          <a:solidFill>
            <a:srgbClr val="FFFFFF"/>
          </a:solidFill>
          <a:ln w="12700">
            <a:solidFill>
              <a:srgbClr val="D8E2F2"/>
            </a:solidFill>
          </a:ln>
          <a:effectLst>
            <a:outerShdw algn="bl" rotWithShape="0">
              <a:srgbClr val="0B1020">
                <a:alpha val="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244" name="Text 19">
            <a:extLst>
              <a:ext uri="{FF2B5EF4-FFF2-40B4-BE49-F238E27FC236}">
                <a16:creationId xmlns:a16="http://schemas.microsoft.com/office/drawing/2014/main" id="{92E944D8-8286-4FAE-A8EF-88616127027F}"/>
              </a:ext>
            </a:extLst>
          </p:cNvPr>
          <p:cNvSpPr>
            <a:spLocks noGrp="1"/>
          </p:cNvSpPr>
          <p:nvPr/>
        </p:nvSpPr>
        <p:spPr>
          <a:xfrm>
            <a:off x="7461360" y="2240280"/>
            <a:ext cx="25142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100" b="1" u="none" spc="119">
                <a:solidFill>
                  <a:srgbClr val="0F766E"/>
                </a:solidFill>
                <a:latin typeface="Aptos"/>
                <a:ea typeface="Aptos"/>
                <a:cs typeface="Aptos"/>
              </a:rPr>
              <a:t>DETERMINISTIC CHECKER</a:t>
            </a:r>
            <a:endParaRPr sz="1100" b="0" u="none">
              <a:solidFill>
                <a:srgbClr val="000000"/>
              </a:solidFill>
              <a:latin typeface="Arial"/>
              <a:ea typeface="Arial"/>
              <a:cs typeface="Arial"/>
            </a:endParaRPr>
          </a:p>
        </p:txBody>
      </p:sp>
      <p:sp>
        <p:nvSpPr>
          <p:cNvPr id="245" name="Text 20">
            <a:extLst>
              <a:ext uri="{FF2B5EF4-FFF2-40B4-BE49-F238E27FC236}">
                <a16:creationId xmlns:a16="http://schemas.microsoft.com/office/drawing/2014/main" id="{C238E7F4-CD09-4AA4-8590-2F2D2354609D}"/>
              </a:ext>
            </a:extLst>
          </p:cNvPr>
          <p:cNvSpPr>
            <a:spLocks noGrp="1"/>
          </p:cNvSpPr>
          <p:nvPr/>
        </p:nvSpPr>
        <p:spPr>
          <a:xfrm>
            <a:off x="7461360" y="2670120"/>
            <a:ext cx="3749039"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2000" b="1" u="none">
                <a:solidFill>
                  <a:srgbClr val="0B1020"/>
                </a:solidFill>
                <a:latin typeface="Aptos Display"/>
                <a:ea typeface="Aptos Display"/>
                <a:cs typeface="Aptos Display"/>
              </a:rPr>
              <a:t>Determine the law</a:t>
            </a:r>
            <a:endParaRPr sz="2700" b="0" u="none">
              <a:solidFill>
                <a:srgbClr val="000000"/>
              </a:solidFill>
              <a:latin typeface="Arial"/>
              <a:ea typeface="Arial"/>
              <a:cs typeface="Arial"/>
            </a:endParaRPr>
          </a:p>
        </p:txBody>
      </p:sp>
      <p:sp>
        <p:nvSpPr>
          <p:cNvPr id="246" name="Shape 21">
            <a:extLst>
              <a:ext uri="{FF2B5EF4-FFF2-40B4-BE49-F238E27FC236}">
                <a16:creationId xmlns:a16="http://schemas.microsoft.com/office/drawing/2014/main" id="{340332C6-573A-4CF6-8D12-1BB9F1476100}"/>
              </a:ext>
            </a:extLst>
          </p:cNvPr>
          <p:cNvSpPr>
            <a:spLocks noGrp="1"/>
          </p:cNvSpPr>
          <p:nvPr/>
        </p:nvSpPr>
        <p:spPr>
          <a:xfrm>
            <a:off x="7479720" y="3364920"/>
            <a:ext cx="145800" cy="145800"/>
          </a:xfrm>
          <a:prstGeom prst="ellipse">
            <a:avLst/>
          </a:prstGeom>
          <a:solidFill>
            <a:srgbClr val="0F766E"/>
          </a:solidFill>
          <a:ln w="12700">
            <a:solidFill>
              <a:srgbClr val="0F766E"/>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FFFFFF"/>
              </a:solidFill>
              <a:latin typeface="Arial"/>
              <a:ea typeface="Arial"/>
              <a:cs typeface="Arial"/>
            </a:endParaRPr>
          </a:p>
        </p:txBody>
      </p:sp>
      <p:sp>
        <p:nvSpPr>
          <p:cNvPr id="247" name="Text 22">
            <a:extLst>
              <a:ext uri="{FF2B5EF4-FFF2-40B4-BE49-F238E27FC236}">
                <a16:creationId xmlns:a16="http://schemas.microsoft.com/office/drawing/2014/main" id="{43D30892-A717-4014-A01E-709CFC9D3156}"/>
              </a:ext>
            </a:extLst>
          </p:cNvPr>
          <p:cNvSpPr>
            <a:spLocks noGrp="1"/>
          </p:cNvSpPr>
          <p:nvPr/>
        </p:nvSpPr>
        <p:spPr>
          <a:xfrm>
            <a:off x="7772400" y="3300840"/>
            <a:ext cx="292572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450" b="0" u="none">
                <a:solidFill>
                  <a:srgbClr val="273244"/>
                </a:solidFill>
                <a:latin typeface="Aptos"/>
                <a:ea typeface="Aptos"/>
                <a:cs typeface="Aptos"/>
              </a:rPr>
              <a:t>Confirm the facts</a:t>
            </a:r>
            <a:endParaRPr sz="1450" b="0" u="none">
              <a:solidFill>
                <a:srgbClr val="000000"/>
              </a:solidFill>
              <a:latin typeface="Arial"/>
              <a:ea typeface="Arial"/>
              <a:cs typeface="Arial"/>
            </a:endParaRPr>
          </a:p>
        </p:txBody>
      </p:sp>
      <p:sp>
        <p:nvSpPr>
          <p:cNvPr id="248" name="Shape 23">
            <a:extLst>
              <a:ext uri="{FF2B5EF4-FFF2-40B4-BE49-F238E27FC236}">
                <a16:creationId xmlns:a16="http://schemas.microsoft.com/office/drawing/2014/main" id="{1A2A68BD-D836-46A1-9F83-210D88DB57C7}"/>
              </a:ext>
            </a:extLst>
          </p:cNvPr>
          <p:cNvSpPr>
            <a:spLocks noGrp="1"/>
          </p:cNvSpPr>
          <p:nvPr/>
        </p:nvSpPr>
        <p:spPr>
          <a:xfrm>
            <a:off x="7479720" y="3758040"/>
            <a:ext cx="145800" cy="145800"/>
          </a:xfrm>
          <a:prstGeom prst="ellipse">
            <a:avLst/>
          </a:prstGeom>
          <a:solidFill>
            <a:srgbClr val="0F766E"/>
          </a:solidFill>
          <a:ln w="12700">
            <a:solidFill>
              <a:srgbClr val="0F766E"/>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FFFFFF"/>
              </a:solidFill>
              <a:latin typeface="Arial"/>
              <a:ea typeface="Arial"/>
              <a:cs typeface="Arial"/>
            </a:endParaRPr>
          </a:p>
        </p:txBody>
      </p:sp>
      <p:sp>
        <p:nvSpPr>
          <p:cNvPr id="249" name="Text 24">
            <a:extLst>
              <a:ext uri="{FF2B5EF4-FFF2-40B4-BE49-F238E27FC236}">
                <a16:creationId xmlns:a16="http://schemas.microsoft.com/office/drawing/2014/main" id="{79251DEB-21A1-4AAE-90FB-6347080ADCC6}"/>
              </a:ext>
            </a:extLst>
          </p:cNvPr>
          <p:cNvSpPr>
            <a:spLocks noGrp="1"/>
          </p:cNvSpPr>
          <p:nvPr/>
        </p:nvSpPr>
        <p:spPr>
          <a:xfrm>
            <a:off x="7772400" y="3694320"/>
            <a:ext cx="292572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450" b="0" u="none">
                <a:solidFill>
                  <a:srgbClr val="273244"/>
                </a:solidFill>
                <a:latin typeface="Aptos"/>
                <a:ea typeface="Aptos"/>
                <a:cs typeface="Aptos"/>
              </a:rPr>
              <a:t>Classify risk</a:t>
            </a:r>
            <a:endParaRPr sz="1450" b="0" u="none">
              <a:solidFill>
                <a:srgbClr val="000000"/>
              </a:solidFill>
              <a:latin typeface="Arial"/>
              <a:ea typeface="Arial"/>
              <a:cs typeface="Arial"/>
            </a:endParaRPr>
          </a:p>
        </p:txBody>
      </p:sp>
      <p:sp>
        <p:nvSpPr>
          <p:cNvPr id="250" name="Shape 25">
            <a:extLst>
              <a:ext uri="{FF2B5EF4-FFF2-40B4-BE49-F238E27FC236}">
                <a16:creationId xmlns:a16="http://schemas.microsoft.com/office/drawing/2014/main" id="{F022F9A9-A6F0-4B05-A715-AD21011C9519}"/>
              </a:ext>
            </a:extLst>
          </p:cNvPr>
          <p:cNvSpPr>
            <a:spLocks noGrp="1"/>
          </p:cNvSpPr>
          <p:nvPr/>
        </p:nvSpPr>
        <p:spPr>
          <a:xfrm>
            <a:off x="7479720" y="4151520"/>
            <a:ext cx="145800" cy="145800"/>
          </a:xfrm>
          <a:prstGeom prst="ellipse">
            <a:avLst/>
          </a:prstGeom>
          <a:solidFill>
            <a:srgbClr val="0F766E"/>
          </a:solidFill>
          <a:ln w="12700">
            <a:solidFill>
              <a:srgbClr val="0F766E"/>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FFFFFF"/>
              </a:solidFill>
              <a:latin typeface="Arial"/>
              <a:ea typeface="Arial"/>
              <a:cs typeface="Arial"/>
            </a:endParaRPr>
          </a:p>
        </p:txBody>
      </p:sp>
      <p:sp>
        <p:nvSpPr>
          <p:cNvPr id="251" name="Text 26">
            <a:extLst>
              <a:ext uri="{FF2B5EF4-FFF2-40B4-BE49-F238E27FC236}">
                <a16:creationId xmlns:a16="http://schemas.microsoft.com/office/drawing/2014/main" id="{61A612F6-FF5D-4157-AB10-85D7676F0511}"/>
              </a:ext>
            </a:extLst>
          </p:cNvPr>
          <p:cNvSpPr>
            <a:spLocks noGrp="1"/>
          </p:cNvSpPr>
          <p:nvPr/>
        </p:nvSpPr>
        <p:spPr>
          <a:xfrm>
            <a:off x="7772400" y="4087440"/>
            <a:ext cx="292572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450" b="0" u="none">
                <a:solidFill>
                  <a:srgbClr val="273244"/>
                </a:solidFill>
                <a:latin typeface="Aptos"/>
                <a:ea typeface="Aptos"/>
                <a:cs typeface="Aptos"/>
              </a:rPr>
              <a:t>Determine obligations</a:t>
            </a:r>
            <a:endParaRPr sz="1450" b="0" u="none">
              <a:solidFill>
                <a:srgbClr val="000000"/>
              </a:solidFill>
              <a:latin typeface="Arial"/>
              <a:ea typeface="Arial"/>
              <a:cs typeface="Arial"/>
            </a:endParaRPr>
          </a:p>
        </p:txBody>
      </p:sp>
      <p:sp>
        <p:nvSpPr>
          <p:cNvPr id="252" name="Shape 27">
            <a:extLst>
              <a:ext uri="{FF2B5EF4-FFF2-40B4-BE49-F238E27FC236}">
                <a16:creationId xmlns:a16="http://schemas.microsoft.com/office/drawing/2014/main" id="{EEAC2EC9-1693-48A5-8C55-1D52396B156F}"/>
              </a:ext>
            </a:extLst>
          </p:cNvPr>
          <p:cNvSpPr>
            <a:spLocks noGrp="1"/>
          </p:cNvSpPr>
          <p:nvPr/>
        </p:nvSpPr>
        <p:spPr>
          <a:xfrm>
            <a:off x="7479720" y="4544640"/>
            <a:ext cx="145800" cy="145800"/>
          </a:xfrm>
          <a:prstGeom prst="ellipse">
            <a:avLst/>
          </a:prstGeom>
          <a:solidFill>
            <a:srgbClr val="0F766E"/>
          </a:solidFill>
          <a:ln w="12700">
            <a:solidFill>
              <a:srgbClr val="0F766E"/>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FFFFFF"/>
              </a:solidFill>
              <a:latin typeface="Arial"/>
              <a:ea typeface="Arial"/>
              <a:cs typeface="Arial"/>
            </a:endParaRPr>
          </a:p>
        </p:txBody>
      </p:sp>
      <p:sp>
        <p:nvSpPr>
          <p:cNvPr id="253" name="Text 28">
            <a:extLst>
              <a:ext uri="{FF2B5EF4-FFF2-40B4-BE49-F238E27FC236}">
                <a16:creationId xmlns:a16="http://schemas.microsoft.com/office/drawing/2014/main" id="{6753719E-65F6-4161-8ED1-F5D1144DFD4E}"/>
              </a:ext>
            </a:extLst>
          </p:cNvPr>
          <p:cNvSpPr>
            <a:spLocks noGrp="1"/>
          </p:cNvSpPr>
          <p:nvPr/>
        </p:nvSpPr>
        <p:spPr>
          <a:xfrm>
            <a:off x="7772400" y="4480560"/>
            <a:ext cx="292572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450" b="0" u="none">
                <a:solidFill>
                  <a:srgbClr val="273244"/>
                </a:solidFill>
                <a:latin typeface="Aptos"/>
                <a:ea typeface="Aptos"/>
                <a:cs typeface="Aptos"/>
              </a:rPr>
              <a:t>Preserve legal accountability</a:t>
            </a:r>
            <a:endParaRPr sz="1450" b="0" u="none">
              <a:solidFill>
                <a:srgbClr val="000000"/>
              </a:solidFill>
              <a:latin typeface="Arial"/>
              <a:ea typeface="Arial"/>
              <a:cs typeface="Arial"/>
            </a:endParaRPr>
          </a:p>
        </p:txBody>
      </p:sp>
      <p:sp>
        <p:nvSpPr>
          <p:cNvPr id="254" name="Shape 29">
            <a:extLst>
              <a:ext uri="{FF2B5EF4-FFF2-40B4-BE49-F238E27FC236}">
                <a16:creationId xmlns:a16="http://schemas.microsoft.com/office/drawing/2014/main" id="{0F8A7D1A-0CC4-4E3C-975C-4F17E640C72D}"/>
              </a:ext>
            </a:extLst>
          </p:cNvPr>
          <p:cNvSpPr>
            <a:spLocks noGrp="1"/>
          </p:cNvSpPr>
          <p:nvPr/>
        </p:nvSpPr>
        <p:spPr>
          <a:xfrm>
            <a:off x="749880" y="5541120"/>
            <a:ext cx="10634040" cy="585000"/>
          </a:xfrm>
          <a:prstGeom prst="roundRect">
            <a:avLst>
              <a:gd name="adj" fmla="val 15625"/>
            </a:avLst>
          </a:prstGeom>
          <a:solidFill>
            <a:srgbClr val="FFF5E6"/>
          </a:solidFill>
          <a:ln w="12700">
            <a:solidFill>
              <a:srgbClr val="F7D6A4"/>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255" name="Text 30">
            <a:extLst>
              <a:ext uri="{FF2B5EF4-FFF2-40B4-BE49-F238E27FC236}">
                <a16:creationId xmlns:a16="http://schemas.microsoft.com/office/drawing/2014/main" id="{8D1E05C0-9AAF-4334-9B86-F553DAE585C8}"/>
              </a:ext>
            </a:extLst>
          </p:cNvPr>
          <p:cNvSpPr>
            <a:spLocks noGrp="1"/>
          </p:cNvSpPr>
          <p:nvPr/>
        </p:nvSpPr>
        <p:spPr>
          <a:xfrm>
            <a:off x="987480" y="5733360"/>
            <a:ext cx="13345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050" b="1" u="none" spc="99">
                <a:solidFill>
                  <a:srgbClr val="B45309"/>
                </a:solidFill>
                <a:latin typeface="Aptos"/>
                <a:ea typeface="Aptos"/>
                <a:cs typeface="Aptos"/>
              </a:rPr>
              <a:t>NEVER CLAIMED</a:t>
            </a:r>
            <a:endParaRPr sz="1050" b="0" u="none">
              <a:solidFill>
                <a:srgbClr val="000000"/>
              </a:solidFill>
              <a:latin typeface="Arial"/>
              <a:ea typeface="Arial"/>
              <a:cs typeface="Arial"/>
            </a:endParaRPr>
          </a:p>
        </p:txBody>
      </p:sp>
      <p:sp>
        <p:nvSpPr>
          <p:cNvPr id="256" name="Text 31">
            <a:extLst>
              <a:ext uri="{FF2B5EF4-FFF2-40B4-BE49-F238E27FC236}">
                <a16:creationId xmlns:a16="http://schemas.microsoft.com/office/drawing/2014/main" id="{6AF4350F-6A6C-4777-B567-E54797ABA89E}"/>
              </a:ext>
            </a:extLst>
          </p:cNvPr>
          <p:cNvSpPr>
            <a:spLocks noGrp="1"/>
          </p:cNvSpPr>
          <p:nvPr/>
        </p:nvSpPr>
        <p:spPr>
          <a:xfrm>
            <a:off x="2505600" y="5687640"/>
            <a:ext cx="83664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buNone/>
              <a:tabLst>
                <a:tab pos="0" algn="l"/>
              </a:tabLst>
            </a:pPr>
            <a:r>
              <a:rPr sz="1400" b="1" u="none">
                <a:solidFill>
                  <a:srgbClr val="273244"/>
                </a:solidFill>
                <a:latin typeface="Aptos"/>
                <a:ea typeface="Aptos"/>
                <a:cs typeface="Aptos"/>
              </a:rPr>
              <a:t>complete internal visibility  •  legal advice  •  autonomous compliance decisions</a:t>
            </a:r>
            <a:endParaRPr sz="1400" b="0" u="none">
              <a:solidFill>
                <a:srgbClr val="000000"/>
              </a:solidFill>
              <a:latin typeface="Arial"/>
              <a:ea typeface="Arial"/>
              <a:cs typeface="Arial"/>
            </a:endParaRPr>
          </a:p>
        </p:txBody>
      </p:sp>
      <p:sp>
        <p:nvSpPr>
          <p:cNvPr id="257" name="Text 32">
            <a:extLst>
              <a:ext uri="{FF2B5EF4-FFF2-40B4-BE49-F238E27FC236}">
                <a16:creationId xmlns:a16="http://schemas.microsoft.com/office/drawing/2014/main" id="{C172EFDA-B878-456D-9442-994166207527}"/>
              </a:ext>
            </a:extLst>
          </p:cNvPr>
          <p:cNvSpPr>
            <a:spLocks noGrp="1"/>
          </p:cNvSpPr>
          <p:nvPr/>
        </p:nvSpPr>
        <p:spPr>
          <a:xfrm>
            <a:off x="713160" y="6428160"/>
            <a:ext cx="32918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900" b="1" u="none" spc="111">
                <a:solidFill>
                  <a:srgbClr val="64748B"/>
                </a:solidFill>
                <a:latin typeface="Aptos"/>
                <a:ea typeface="Aptos"/>
                <a:cs typeface="Aptos"/>
              </a:rPr>
              <a:t>AI PRE-SCAN  •  APPENDIX • SCOPE</a:t>
            </a:r>
            <a:endParaRPr sz="900" b="0" u="none">
              <a:solidFill>
                <a:srgbClr val="000000"/>
              </a:solidFill>
              <a:latin typeface="Arial"/>
              <a:ea typeface="Arial"/>
              <a:cs typeface="Arial"/>
            </a:endParaRPr>
          </a:p>
        </p:txBody>
      </p:sp>
      <p:sp>
        <p:nvSpPr>
          <p:cNvPr id="258" name="PlaceHolder 1">
            <a:extLst>
              <a:ext uri="{FF2B5EF4-FFF2-40B4-BE49-F238E27FC236}">
                <a16:creationId xmlns:a16="http://schemas.microsoft.com/office/drawing/2014/main" id="{5BF07703-FA62-4737-AF0D-9CF738DA09DF}"/>
              </a:ext>
            </a:extLst>
          </p:cNvPr>
          <p:cNvSpPr>
            <a:spLocks noGrp="1"/>
          </p:cNvSpPr>
          <p:nvPr>
            <p:ph type="sldNum" idx="13"/>
          </p:nvPr>
        </p:nvSpPr>
        <p:spPr>
          <a:xfrm>
            <a:off x="11292840" y="6428160"/>
            <a:ext cx="319680" cy="182520"/>
          </a:xfrm>
          <a:prstGeom prst="rect">
            <a:avLst/>
          </a:prstGeom>
          <a:noFill/>
          <a:ln w="0">
            <a:noFill/>
          </a:ln>
        </p:spPr>
        <p:txBody>
          <a:bodyPr lIns="0" tIns="0" rIns="0" bIns="0" anchor="t">
            <a:noAutofit/>
          </a:bodyPr>
          <a:lstStyle>
            <a:lvl1pPr indent="0" algn="r" defTabSz="914400">
              <a:lnSpc>
                <a:spcPct val="100000"/>
              </a:lnSpc>
              <a:buNone/>
              <a:defRPr sz="900" b="0" u="none">
                <a:solidFill>
                  <a:srgbClr val="94A3B8"/>
                </a:solidFill>
                <a:latin typeface="Aptos"/>
                <a:ea typeface="Aptos"/>
                <a:cs typeface="Aptos"/>
              </a:defRPr>
            </a:lvl1pPr>
          </a:lstStyle>
          <a:p>
            <a:pPr indent="0" algn="r" defTabSz="914400">
              <a:lnSpc>
                <a:spcPct val="100000"/>
              </a:lnSpc>
              <a:buNone/>
            </a:pPr>
            <a:fld id="{388657AE-30A1-5A7A-6A7F-315D84436430}" type="slidenum">
              <a:rPr sz="900" b="0" u="none">
                <a:solidFill>
                  <a:srgbClr val="94A3B8"/>
                </a:solidFill>
                <a:latin typeface="Aptos"/>
                <a:ea typeface="Aptos"/>
                <a:cs typeface="Aptos"/>
              </a:rPr>
              <a:t>9</a:t>
            </a:fld>
            <a:endParaRPr sz="900" b="0" u="non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4757503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 name="Text 0">
            <a:extLst>
              <a:ext uri="{FF2B5EF4-FFF2-40B4-BE49-F238E27FC236}">
                <a16:creationId xmlns:a16="http://schemas.microsoft.com/office/drawing/2014/main" id="{7C4AE6D1-77AB-4314-B324-B27D06A6A4F3}"/>
              </a:ext>
            </a:extLst>
          </p:cNvPr>
          <p:cNvSpPr>
            <a:spLocks noGrp="1"/>
          </p:cNvSpPr>
          <p:nvPr/>
        </p:nvSpPr>
        <p:spPr>
          <a:xfrm>
            <a:off x="713160" y="384120"/>
            <a:ext cx="27428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100" b="1" u="none" spc="181">
                <a:solidFill>
                  <a:srgbClr val="2563EB"/>
                </a:solidFill>
                <a:latin typeface="Aptos"/>
                <a:ea typeface="Aptos"/>
                <a:cs typeface="Aptos"/>
              </a:rPr>
              <a:t>APPENDIX • DELIVERY</a:t>
            </a:r>
            <a:endParaRPr sz="1100" b="0" u="none">
              <a:solidFill>
                <a:srgbClr val="000000"/>
              </a:solidFill>
              <a:latin typeface="Arial"/>
              <a:ea typeface="Arial"/>
              <a:cs typeface="Arial"/>
            </a:endParaRPr>
          </a:p>
        </p:txBody>
      </p:sp>
      <p:sp>
        <p:nvSpPr>
          <p:cNvPr id="260" name="Text 1">
            <a:extLst>
              <a:ext uri="{FF2B5EF4-FFF2-40B4-BE49-F238E27FC236}">
                <a16:creationId xmlns:a16="http://schemas.microsoft.com/office/drawing/2014/main" id="{CFC4C048-08F9-4DEF-90C1-92DD32F41BFB}"/>
              </a:ext>
            </a:extLst>
          </p:cNvPr>
          <p:cNvSpPr>
            <a:spLocks noGrp="1"/>
          </p:cNvSpPr>
          <p:nvPr/>
        </p:nvSpPr>
        <p:spPr>
          <a:xfrm>
            <a:off x="713160" y="713160"/>
            <a:ext cx="10743840" cy="749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buNone/>
              <a:tabLst>
                <a:tab pos="0" algn="l"/>
              </a:tabLst>
            </a:pPr>
            <a:r>
              <a:rPr sz="4000" b="1" u="none">
                <a:solidFill>
                  <a:srgbClr val="0B1020"/>
                </a:solidFill>
                <a:latin typeface="Aptos Display"/>
                <a:ea typeface="Aptos Display"/>
                <a:cs typeface="Aptos Display"/>
              </a:rPr>
              <a:t>The MVP is built, integrated and tested</a:t>
            </a:r>
            <a:endParaRPr sz="4000" b="0" u="none">
              <a:solidFill>
                <a:srgbClr val="000000"/>
              </a:solidFill>
              <a:latin typeface="Arial"/>
              <a:ea typeface="Arial"/>
              <a:cs typeface="Arial"/>
            </a:endParaRPr>
          </a:p>
        </p:txBody>
      </p:sp>
      <p:sp>
        <p:nvSpPr>
          <p:cNvPr id="261" name="Shape 2">
            <a:extLst>
              <a:ext uri="{FF2B5EF4-FFF2-40B4-BE49-F238E27FC236}">
                <a16:creationId xmlns:a16="http://schemas.microsoft.com/office/drawing/2014/main" id="{CAAED393-0BC2-4706-860B-853F6A2C5CB2}"/>
              </a:ext>
            </a:extLst>
          </p:cNvPr>
          <p:cNvSpPr>
            <a:spLocks noGrp="1"/>
          </p:cNvSpPr>
          <p:nvPr/>
        </p:nvSpPr>
        <p:spPr>
          <a:xfrm>
            <a:off x="749880" y="1719000"/>
            <a:ext cx="8640720" cy="658080"/>
          </a:xfrm>
          <a:prstGeom prst="roundRect">
            <a:avLst>
              <a:gd name="adj" fmla="val 13889"/>
            </a:avLst>
          </a:prstGeom>
          <a:solidFill>
            <a:srgbClr val="FFFFFF"/>
          </a:solidFill>
          <a:ln w="12700">
            <a:solidFill>
              <a:srgbClr val="D8E2F2"/>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262" name="Shape 3">
            <a:extLst>
              <a:ext uri="{FF2B5EF4-FFF2-40B4-BE49-F238E27FC236}">
                <a16:creationId xmlns:a16="http://schemas.microsoft.com/office/drawing/2014/main" id="{136D9F9B-D91F-41F1-84EE-AB592471C6BF}"/>
              </a:ext>
            </a:extLst>
          </p:cNvPr>
          <p:cNvSpPr>
            <a:spLocks noGrp="1"/>
          </p:cNvSpPr>
          <p:nvPr/>
        </p:nvSpPr>
        <p:spPr>
          <a:xfrm>
            <a:off x="749880" y="1719000"/>
            <a:ext cx="109440" cy="658080"/>
          </a:xfrm>
          <a:prstGeom prst="rect">
            <a:avLst/>
          </a:prstGeom>
          <a:solidFill>
            <a:srgbClr val="2563EB"/>
          </a:solidFill>
          <a:ln w="12700">
            <a:solidFill>
              <a:srgbClr val="2563EB"/>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FFFFFF"/>
              </a:solidFill>
              <a:latin typeface="Arial"/>
              <a:ea typeface="Arial"/>
              <a:cs typeface="Arial"/>
            </a:endParaRPr>
          </a:p>
        </p:txBody>
      </p:sp>
      <p:sp>
        <p:nvSpPr>
          <p:cNvPr id="263" name="Text 4">
            <a:extLst>
              <a:ext uri="{FF2B5EF4-FFF2-40B4-BE49-F238E27FC236}">
                <a16:creationId xmlns:a16="http://schemas.microsoft.com/office/drawing/2014/main" id="{FDBE1951-85F4-40FB-9A9A-92417313E9F1}"/>
              </a:ext>
            </a:extLst>
          </p:cNvPr>
          <p:cNvSpPr>
            <a:spLocks noGrp="1"/>
          </p:cNvSpPr>
          <p:nvPr/>
        </p:nvSpPr>
        <p:spPr>
          <a:xfrm>
            <a:off x="1060560" y="1911240"/>
            <a:ext cx="138960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050" b="1" u="none" spc="99">
                <a:solidFill>
                  <a:srgbClr val="2563EB"/>
                </a:solidFill>
                <a:latin typeface="Aptos"/>
                <a:ea typeface="Aptos"/>
                <a:cs typeface="Aptos"/>
              </a:rPr>
              <a:t>RUNS</a:t>
            </a:r>
            <a:endParaRPr sz="1050" b="0" u="none">
              <a:solidFill>
                <a:srgbClr val="000000"/>
              </a:solidFill>
              <a:latin typeface="Arial"/>
              <a:ea typeface="Arial"/>
              <a:cs typeface="Arial"/>
            </a:endParaRPr>
          </a:p>
        </p:txBody>
      </p:sp>
      <p:sp>
        <p:nvSpPr>
          <p:cNvPr id="264" name="Text 5">
            <a:extLst>
              <a:ext uri="{FF2B5EF4-FFF2-40B4-BE49-F238E27FC236}">
                <a16:creationId xmlns:a16="http://schemas.microsoft.com/office/drawing/2014/main" id="{168ADAE5-476A-41D3-93BC-7C03595CACB0}"/>
              </a:ext>
            </a:extLst>
          </p:cNvPr>
          <p:cNvSpPr>
            <a:spLocks noGrp="1"/>
          </p:cNvSpPr>
          <p:nvPr/>
        </p:nvSpPr>
        <p:spPr>
          <a:xfrm>
            <a:off x="2578680" y="1856160"/>
            <a:ext cx="672084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550" b="1" u="none">
                <a:solidFill>
                  <a:srgbClr val="0B1020"/>
                </a:solidFill>
                <a:latin typeface="Aptos Display"/>
                <a:ea typeface="Aptos Display"/>
                <a:cs typeface="Aptos Display"/>
              </a:rPr>
              <a:t>Browser UI + CLI from a company-name trigger</a:t>
            </a:r>
            <a:endParaRPr sz="2000" b="0" u="none">
              <a:solidFill>
                <a:srgbClr val="000000"/>
              </a:solidFill>
              <a:latin typeface="Arial"/>
              <a:ea typeface="Arial"/>
              <a:cs typeface="Arial"/>
            </a:endParaRPr>
          </a:p>
        </p:txBody>
      </p:sp>
      <p:sp>
        <p:nvSpPr>
          <p:cNvPr id="265" name="Shape 6">
            <a:extLst>
              <a:ext uri="{FF2B5EF4-FFF2-40B4-BE49-F238E27FC236}">
                <a16:creationId xmlns:a16="http://schemas.microsoft.com/office/drawing/2014/main" id="{99B7567D-5491-4B92-9C5E-9171BF1EC9C8}"/>
              </a:ext>
            </a:extLst>
          </p:cNvPr>
          <p:cNvSpPr>
            <a:spLocks noGrp="1"/>
          </p:cNvSpPr>
          <p:nvPr/>
        </p:nvSpPr>
        <p:spPr>
          <a:xfrm>
            <a:off x="749880" y="2578680"/>
            <a:ext cx="8640720" cy="658080"/>
          </a:xfrm>
          <a:prstGeom prst="roundRect">
            <a:avLst>
              <a:gd name="adj" fmla="val 13889"/>
            </a:avLst>
          </a:prstGeom>
          <a:solidFill>
            <a:srgbClr val="FFFFFF"/>
          </a:solidFill>
          <a:ln w="12700">
            <a:solidFill>
              <a:srgbClr val="D8E2F2"/>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266" name="Shape 7">
            <a:extLst>
              <a:ext uri="{FF2B5EF4-FFF2-40B4-BE49-F238E27FC236}">
                <a16:creationId xmlns:a16="http://schemas.microsoft.com/office/drawing/2014/main" id="{7C69F7CA-61E5-4DF2-A609-65DA045C34B3}"/>
              </a:ext>
            </a:extLst>
          </p:cNvPr>
          <p:cNvSpPr>
            <a:spLocks noGrp="1"/>
          </p:cNvSpPr>
          <p:nvPr/>
        </p:nvSpPr>
        <p:spPr>
          <a:xfrm>
            <a:off x="749880" y="2578680"/>
            <a:ext cx="109440" cy="658080"/>
          </a:xfrm>
          <a:prstGeom prst="rect">
            <a:avLst/>
          </a:prstGeom>
          <a:solidFill>
            <a:srgbClr val="3B82F6"/>
          </a:solidFill>
          <a:ln w="12700">
            <a:solidFill>
              <a:srgbClr val="3B82F6"/>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FFFFFF"/>
              </a:solidFill>
              <a:latin typeface="Arial"/>
              <a:ea typeface="Arial"/>
              <a:cs typeface="Arial"/>
            </a:endParaRPr>
          </a:p>
        </p:txBody>
      </p:sp>
      <p:sp>
        <p:nvSpPr>
          <p:cNvPr id="267" name="Text 8">
            <a:extLst>
              <a:ext uri="{FF2B5EF4-FFF2-40B4-BE49-F238E27FC236}">
                <a16:creationId xmlns:a16="http://schemas.microsoft.com/office/drawing/2014/main" id="{AEABF63C-C625-42F6-BA0E-7E853AD83821}"/>
              </a:ext>
            </a:extLst>
          </p:cNvPr>
          <p:cNvSpPr>
            <a:spLocks noGrp="1"/>
          </p:cNvSpPr>
          <p:nvPr/>
        </p:nvSpPr>
        <p:spPr>
          <a:xfrm>
            <a:off x="1060560" y="2770560"/>
            <a:ext cx="138960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050" b="1" u="none" spc="99">
                <a:solidFill>
                  <a:srgbClr val="3B82F6"/>
                </a:solidFill>
                <a:latin typeface="Aptos"/>
                <a:ea typeface="Aptos"/>
                <a:cs typeface="Aptos"/>
              </a:rPr>
              <a:t>FINDS EVIDENCE</a:t>
            </a:r>
            <a:endParaRPr sz="1050" b="0" u="none">
              <a:solidFill>
                <a:srgbClr val="000000"/>
              </a:solidFill>
              <a:latin typeface="Arial"/>
              <a:ea typeface="Arial"/>
              <a:cs typeface="Arial"/>
            </a:endParaRPr>
          </a:p>
        </p:txBody>
      </p:sp>
      <p:sp>
        <p:nvSpPr>
          <p:cNvPr id="268" name="Text 9">
            <a:extLst>
              <a:ext uri="{FF2B5EF4-FFF2-40B4-BE49-F238E27FC236}">
                <a16:creationId xmlns:a16="http://schemas.microsoft.com/office/drawing/2014/main" id="{D5090502-B11F-4005-8D92-9C4F0E10D2CE}"/>
              </a:ext>
            </a:extLst>
          </p:cNvPr>
          <p:cNvSpPr>
            <a:spLocks noGrp="1"/>
          </p:cNvSpPr>
          <p:nvPr/>
        </p:nvSpPr>
        <p:spPr>
          <a:xfrm>
            <a:off x="2578680" y="2715840"/>
            <a:ext cx="672084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550" b="1" u="none">
                <a:solidFill>
                  <a:srgbClr val="0B1020"/>
                </a:solidFill>
                <a:latin typeface="Aptos Display"/>
                <a:ea typeface="Aptos Display"/>
                <a:cs typeface="Aptos Display"/>
              </a:rPr>
              <a:t>Serper · NewsAPI · GLEIF · Wikidata</a:t>
            </a:r>
            <a:endParaRPr sz="2000" b="0" u="none">
              <a:solidFill>
                <a:srgbClr val="000000"/>
              </a:solidFill>
              <a:latin typeface="Arial"/>
              <a:ea typeface="Arial"/>
              <a:cs typeface="Arial"/>
            </a:endParaRPr>
          </a:p>
        </p:txBody>
      </p:sp>
      <p:sp>
        <p:nvSpPr>
          <p:cNvPr id="269" name="Shape 10">
            <a:extLst>
              <a:ext uri="{FF2B5EF4-FFF2-40B4-BE49-F238E27FC236}">
                <a16:creationId xmlns:a16="http://schemas.microsoft.com/office/drawing/2014/main" id="{0EA0FB3D-5C2E-4E9F-8E16-C8449341B373}"/>
              </a:ext>
            </a:extLst>
          </p:cNvPr>
          <p:cNvSpPr>
            <a:spLocks noGrp="1"/>
          </p:cNvSpPr>
          <p:nvPr/>
        </p:nvSpPr>
        <p:spPr>
          <a:xfrm>
            <a:off x="749880" y="3438000"/>
            <a:ext cx="8640720" cy="658080"/>
          </a:xfrm>
          <a:prstGeom prst="roundRect">
            <a:avLst>
              <a:gd name="adj" fmla="val 13889"/>
            </a:avLst>
          </a:prstGeom>
          <a:solidFill>
            <a:srgbClr val="FFFFFF"/>
          </a:solidFill>
          <a:ln w="12700">
            <a:solidFill>
              <a:srgbClr val="D8E2F2"/>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270" name="Shape 11">
            <a:extLst>
              <a:ext uri="{FF2B5EF4-FFF2-40B4-BE49-F238E27FC236}">
                <a16:creationId xmlns:a16="http://schemas.microsoft.com/office/drawing/2014/main" id="{755BA3E9-469D-4F7E-AA49-2D29BD419EDD}"/>
              </a:ext>
            </a:extLst>
          </p:cNvPr>
          <p:cNvSpPr>
            <a:spLocks noGrp="1"/>
          </p:cNvSpPr>
          <p:nvPr/>
        </p:nvSpPr>
        <p:spPr>
          <a:xfrm>
            <a:off x="749880" y="3438000"/>
            <a:ext cx="109440" cy="658080"/>
          </a:xfrm>
          <a:prstGeom prst="rect">
            <a:avLst/>
          </a:prstGeom>
          <a:solidFill>
            <a:srgbClr val="0F766E"/>
          </a:solidFill>
          <a:ln w="12700">
            <a:solidFill>
              <a:srgbClr val="0F766E"/>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FFFFFF"/>
              </a:solidFill>
              <a:latin typeface="Arial"/>
              <a:ea typeface="Arial"/>
              <a:cs typeface="Arial"/>
            </a:endParaRPr>
          </a:p>
        </p:txBody>
      </p:sp>
      <p:sp>
        <p:nvSpPr>
          <p:cNvPr id="271" name="Text 12">
            <a:extLst>
              <a:ext uri="{FF2B5EF4-FFF2-40B4-BE49-F238E27FC236}">
                <a16:creationId xmlns:a16="http://schemas.microsoft.com/office/drawing/2014/main" id="{C3FB0E0E-2542-4D86-B1CA-86FEF4CB89A7}"/>
              </a:ext>
            </a:extLst>
          </p:cNvPr>
          <p:cNvSpPr>
            <a:spLocks noGrp="1"/>
          </p:cNvSpPr>
          <p:nvPr/>
        </p:nvSpPr>
        <p:spPr>
          <a:xfrm>
            <a:off x="1060560" y="3630240"/>
            <a:ext cx="138960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050" b="1" u="none" spc="99">
                <a:solidFill>
                  <a:srgbClr val="0F766E"/>
                </a:solidFill>
                <a:latin typeface="Aptos"/>
                <a:ea typeface="Aptos"/>
                <a:cs typeface="Aptos"/>
              </a:rPr>
              <a:t>VERIFIES</a:t>
            </a:r>
            <a:endParaRPr sz="1050" b="0" u="none">
              <a:solidFill>
                <a:srgbClr val="000000"/>
              </a:solidFill>
              <a:latin typeface="Arial"/>
              <a:ea typeface="Arial"/>
              <a:cs typeface="Arial"/>
            </a:endParaRPr>
          </a:p>
        </p:txBody>
      </p:sp>
      <p:sp>
        <p:nvSpPr>
          <p:cNvPr id="272" name="Text 13">
            <a:extLst>
              <a:ext uri="{FF2B5EF4-FFF2-40B4-BE49-F238E27FC236}">
                <a16:creationId xmlns:a16="http://schemas.microsoft.com/office/drawing/2014/main" id="{F7CA283A-AAA3-4330-ADCF-02449F589E0C}"/>
              </a:ext>
            </a:extLst>
          </p:cNvPr>
          <p:cNvSpPr>
            <a:spLocks noGrp="1"/>
          </p:cNvSpPr>
          <p:nvPr/>
        </p:nvSpPr>
        <p:spPr>
          <a:xfrm>
            <a:off x="2578680" y="3547872"/>
            <a:ext cx="6720840" cy="438912"/>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550" b="1" u="none">
                <a:solidFill>
                  <a:srgbClr val="0B1020"/>
                </a:solidFill>
                <a:latin typeface="Aptos Display"/>
                <a:ea typeface="Aptos Display"/>
                <a:cs typeface="Aptos Display"/>
              </a:rPr>
              <a:t>OpenAI extraction · Pinecone evidence store · deterministic gate</a:t>
            </a:r>
            <a:endParaRPr sz="2000" b="0" u="none">
              <a:solidFill>
                <a:srgbClr val="000000"/>
              </a:solidFill>
              <a:latin typeface="Arial"/>
              <a:ea typeface="Arial"/>
              <a:cs typeface="Arial"/>
            </a:endParaRPr>
          </a:p>
        </p:txBody>
      </p:sp>
      <p:sp>
        <p:nvSpPr>
          <p:cNvPr id="273" name="Shape 14">
            <a:extLst>
              <a:ext uri="{FF2B5EF4-FFF2-40B4-BE49-F238E27FC236}">
                <a16:creationId xmlns:a16="http://schemas.microsoft.com/office/drawing/2014/main" id="{39BA4F69-81BE-4D7B-A27A-8A699C5FD7BB}"/>
              </a:ext>
            </a:extLst>
          </p:cNvPr>
          <p:cNvSpPr>
            <a:spLocks noGrp="1"/>
          </p:cNvSpPr>
          <p:nvPr/>
        </p:nvSpPr>
        <p:spPr>
          <a:xfrm>
            <a:off x="749880" y="4297680"/>
            <a:ext cx="8640720" cy="658080"/>
          </a:xfrm>
          <a:prstGeom prst="roundRect">
            <a:avLst>
              <a:gd name="adj" fmla="val 13889"/>
            </a:avLst>
          </a:prstGeom>
          <a:solidFill>
            <a:srgbClr val="FFFFFF"/>
          </a:solidFill>
          <a:ln w="12700">
            <a:solidFill>
              <a:srgbClr val="D8E2F2"/>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274" name="Shape 15">
            <a:extLst>
              <a:ext uri="{FF2B5EF4-FFF2-40B4-BE49-F238E27FC236}">
                <a16:creationId xmlns:a16="http://schemas.microsoft.com/office/drawing/2014/main" id="{C445623C-520A-4828-98A1-A5CC4FD27800}"/>
              </a:ext>
            </a:extLst>
          </p:cNvPr>
          <p:cNvSpPr>
            <a:spLocks noGrp="1"/>
          </p:cNvSpPr>
          <p:nvPr/>
        </p:nvSpPr>
        <p:spPr>
          <a:xfrm>
            <a:off x="749880" y="4297680"/>
            <a:ext cx="109440" cy="658080"/>
          </a:xfrm>
          <a:prstGeom prst="rect">
            <a:avLst/>
          </a:prstGeom>
          <a:solidFill>
            <a:srgbClr val="0F766E"/>
          </a:solidFill>
          <a:ln w="12700">
            <a:solidFill>
              <a:srgbClr val="0F766E"/>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FFFFFF"/>
              </a:solidFill>
              <a:latin typeface="Arial"/>
              <a:ea typeface="Arial"/>
              <a:cs typeface="Arial"/>
            </a:endParaRPr>
          </a:p>
        </p:txBody>
      </p:sp>
      <p:sp>
        <p:nvSpPr>
          <p:cNvPr id="275" name="Text 16">
            <a:extLst>
              <a:ext uri="{FF2B5EF4-FFF2-40B4-BE49-F238E27FC236}">
                <a16:creationId xmlns:a16="http://schemas.microsoft.com/office/drawing/2014/main" id="{193A7B1C-5209-41B5-AC63-6FEC5C9C6F07}"/>
              </a:ext>
            </a:extLst>
          </p:cNvPr>
          <p:cNvSpPr>
            <a:spLocks noGrp="1"/>
          </p:cNvSpPr>
          <p:nvPr/>
        </p:nvSpPr>
        <p:spPr>
          <a:xfrm>
            <a:off x="1060560" y="4489560"/>
            <a:ext cx="138960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050" b="1" u="none" spc="99">
                <a:solidFill>
                  <a:srgbClr val="0F766E"/>
                </a:solidFill>
                <a:latin typeface="Aptos"/>
                <a:ea typeface="Aptos"/>
                <a:cs typeface="Aptos"/>
              </a:rPr>
              <a:t>DELIVERS</a:t>
            </a:r>
            <a:endParaRPr sz="1050" b="0" u="none">
              <a:solidFill>
                <a:srgbClr val="000000"/>
              </a:solidFill>
              <a:latin typeface="Arial"/>
              <a:ea typeface="Arial"/>
              <a:cs typeface="Arial"/>
            </a:endParaRPr>
          </a:p>
        </p:txBody>
      </p:sp>
      <p:sp>
        <p:nvSpPr>
          <p:cNvPr id="276" name="Text 17">
            <a:extLst>
              <a:ext uri="{FF2B5EF4-FFF2-40B4-BE49-F238E27FC236}">
                <a16:creationId xmlns:a16="http://schemas.microsoft.com/office/drawing/2014/main" id="{61B04E95-1158-4800-B894-25F4D5FF1219}"/>
              </a:ext>
            </a:extLst>
          </p:cNvPr>
          <p:cNvSpPr>
            <a:spLocks noGrp="1"/>
          </p:cNvSpPr>
          <p:nvPr/>
        </p:nvSpPr>
        <p:spPr>
          <a:xfrm>
            <a:off x="2578680" y="4434840"/>
            <a:ext cx="672084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550" b="1" u="none">
                <a:solidFill>
                  <a:srgbClr val="0B1020"/>
                </a:solidFill>
                <a:latin typeface="Aptos Display"/>
                <a:ea typeface="Aptos Display"/>
                <a:cs typeface="Aptos Display"/>
              </a:rPr>
              <a:t>Markdown report · n8n → Notion</a:t>
            </a:r>
            <a:endParaRPr sz="2000" b="0" u="none">
              <a:solidFill>
                <a:srgbClr val="000000"/>
              </a:solidFill>
              <a:latin typeface="Arial"/>
              <a:ea typeface="Arial"/>
              <a:cs typeface="Arial"/>
            </a:endParaRPr>
          </a:p>
        </p:txBody>
      </p:sp>
      <p:sp>
        <p:nvSpPr>
          <p:cNvPr id="277" name="Shape 18">
            <a:extLst>
              <a:ext uri="{FF2B5EF4-FFF2-40B4-BE49-F238E27FC236}">
                <a16:creationId xmlns:a16="http://schemas.microsoft.com/office/drawing/2014/main" id="{0F33F73C-32C2-4655-AC9E-24608AD9F002}"/>
              </a:ext>
            </a:extLst>
          </p:cNvPr>
          <p:cNvSpPr>
            <a:spLocks noGrp="1"/>
          </p:cNvSpPr>
          <p:nvPr/>
        </p:nvSpPr>
        <p:spPr>
          <a:xfrm>
            <a:off x="9399960" y="3337560"/>
            <a:ext cx="621720" cy="360"/>
          </a:xfrm>
          <a:prstGeom prst="line">
            <a:avLst/>
          </a:prstGeom>
          <a:ln w="27940">
            <a:solidFill>
              <a:srgbClr val="2563EB"/>
            </a:solidFill>
            <a:tailEnd type="triangle" w="med" len="med"/>
          </a:ln>
        </p:spPr>
        <p:style>
          <a:lnRef idx="0">
            <a:scrgbClr r="0" g="0" b="0"/>
          </a:lnRef>
          <a:fillRef idx="0">
            <a:scrgbClr r="0" g="0" b="0"/>
          </a:fillRef>
          <a:effectRef idx="0">
            <a:scrgbClr r="0" g="0" b="0"/>
          </a:effectRef>
          <a:fontRef idx="minor"/>
        </p:style>
        <p:txBody>
          <a:bodyPr lIns="90000" tIns="-44640" rIns="90000" bIns="-44640" anchor="t">
            <a:noAutofit/>
          </a:bodyPr>
          <a:lstStyle/>
          <a:p>
            <a:endParaRPr sz="1800" b="0" u="none">
              <a:solidFill>
                <a:srgbClr val="000000"/>
              </a:solidFill>
              <a:latin typeface="Arial"/>
              <a:ea typeface="Arial"/>
              <a:cs typeface="Arial"/>
            </a:endParaRPr>
          </a:p>
        </p:txBody>
      </p:sp>
      <p:sp>
        <p:nvSpPr>
          <p:cNvPr id="278" name="Shape 19">
            <a:extLst>
              <a:ext uri="{FF2B5EF4-FFF2-40B4-BE49-F238E27FC236}">
                <a16:creationId xmlns:a16="http://schemas.microsoft.com/office/drawing/2014/main" id="{BF783B1E-8B38-426C-AA09-348731B575E1}"/>
              </a:ext>
            </a:extLst>
          </p:cNvPr>
          <p:cNvSpPr>
            <a:spLocks noGrp="1"/>
          </p:cNvSpPr>
          <p:nvPr/>
        </p:nvSpPr>
        <p:spPr>
          <a:xfrm>
            <a:off x="10040040" y="2596896"/>
            <a:ext cx="1352880" cy="1481040"/>
          </a:xfrm>
          <a:prstGeom prst="roundRect">
            <a:avLst>
              <a:gd name="adj" fmla="val 9459"/>
            </a:avLst>
          </a:prstGeom>
          <a:solidFill>
            <a:srgbClr val="2563EB"/>
          </a:solidFill>
          <a:ln w="12700">
            <a:solidFill>
              <a:srgbClr val="2563EB"/>
            </a:solidFill>
          </a:ln>
          <a:effectLst>
            <a:outerShdw algn="bl" rotWithShape="0">
              <a:srgbClr val="0B1020">
                <a:alpha val="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FFFFFF"/>
              </a:solidFill>
              <a:latin typeface="Arial"/>
              <a:ea typeface="Arial"/>
              <a:cs typeface="Arial"/>
            </a:endParaRPr>
          </a:p>
        </p:txBody>
      </p:sp>
      <p:sp>
        <p:nvSpPr>
          <p:cNvPr id="279" name="Text 20">
            <a:extLst>
              <a:ext uri="{FF2B5EF4-FFF2-40B4-BE49-F238E27FC236}">
                <a16:creationId xmlns:a16="http://schemas.microsoft.com/office/drawing/2014/main" id="{352924FC-A129-4E16-ABB1-CCC0430C44CE}"/>
              </a:ext>
            </a:extLst>
          </p:cNvPr>
          <p:cNvSpPr>
            <a:spLocks noGrp="1"/>
          </p:cNvSpPr>
          <p:nvPr/>
        </p:nvSpPr>
        <p:spPr>
          <a:xfrm>
            <a:off x="10115550" y="2907791"/>
            <a:ext cx="1200150" cy="785908"/>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buNone/>
              <a:tabLst>
                <a:tab pos="0" algn="l"/>
              </a:tabLst>
              <a:defRPr sz="1500" b="1">
                <a:solidFill>
                  <a:srgbClr val="FFFFFF"/>
                </a:solidFill>
                <a:latin typeface="Aptos Display"/>
                <a:ea typeface="Aptos Display"/>
                <a:cs typeface="Aptos Display"/>
              </a:defRPr>
            </a:pPr>
            <a:r>
              <a:rPr sz="1500" b="1" u="none">
                <a:solidFill>
                  <a:srgbClr val="FFFFFF"/>
                </a:solidFill>
                <a:latin typeface="Aptos Display"/>
                <a:ea typeface="Aptos Display"/>
                <a:cs typeface="Aptos Display"/>
              </a:rPr>
              <a:t>EVIDENCE-</a:t>
            </a:r>
            <a:endParaRPr sz="1800" b="0" u="none">
              <a:solidFill>
                <a:srgbClr val="000000"/>
              </a:solidFill>
              <a:latin typeface="Arial"/>
              <a:ea typeface="Arial"/>
              <a:cs typeface="Arial"/>
            </a:endParaRPr>
          </a:p>
          <a:p>
            <a:pPr algn="ctr" defTabSz="914400">
              <a:lnSpc>
                <a:spcPct val="100000"/>
              </a:lnSpc>
              <a:buNone/>
              <a:tabLst>
                <a:tab pos="0" algn="l"/>
              </a:tabLst>
              <a:defRPr sz="1500" b="1">
                <a:solidFill>
                  <a:srgbClr val="FFFFFF"/>
                </a:solidFill>
                <a:latin typeface="Aptos Display"/>
                <a:ea typeface="Aptos Display"/>
                <a:cs typeface="Aptos Display"/>
              </a:defRPr>
            </a:pPr>
            <a:r>
              <a:rPr sz="1500" b="1" u="none">
                <a:solidFill>
                  <a:srgbClr val="FFFFFF"/>
                </a:solidFill>
                <a:latin typeface="Aptos Display"/>
                <a:ea typeface="Aptos Display"/>
                <a:cs typeface="Aptos Display"/>
              </a:rPr>
              <a:t>BACKED</a:t>
            </a:r>
            <a:endParaRPr sz="1800" b="0" u="none">
              <a:solidFill>
                <a:srgbClr val="000000"/>
              </a:solidFill>
              <a:latin typeface="Arial"/>
              <a:ea typeface="Arial"/>
              <a:cs typeface="Arial"/>
            </a:endParaRPr>
          </a:p>
          <a:p>
            <a:pPr algn="ctr" defTabSz="914400">
              <a:lnSpc>
                <a:spcPct val="100000"/>
              </a:lnSpc>
              <a:buNone/>
              <a:tabLst>
                <a:tab pos="0" algn="l"/>
              </a:tabLst>
              <a:defRPr sz="1500" b="1">
                <a:solidFill>
                  <a:srgbClr val="FFFFFF"/>
                </a:solidFill>
                <a:latin typeface="Aptos Display"/>
                <a:ea typeface="Aptos Display"/>
                <a:cs typeface="Aptos Display"/>
              </a:defRPr>
            </a:pPr>
            <a:r>
              <a:rPr sz="1500" b="1" u="none">
                <a:solidFill>
                  <a:srgbClr val="FFFFFF"/>
                </a:solidFill>
                <a:latin typeface="Aptos Display"/>
                <a:ea typeface="Aptos Display"/>
                <a:cs typeface="Aptos Display"/>
              </a:rPr>
              <a:t>REPORT</a:t>
            </a:r>
            <a:endParaRPr sz="1800" b="0" u="none">
              <a:solidFill>
                <a:srgbClr val="000000"/>
              </a:solidFill>
              <a:latin typeface="Arial"/>
              <a:ea typeface="Arial"/>
              <a:cs typeface="Arial"/>
            </a:endParaRPr>
          </a:p>
        </p:txBody>
      </p:sp>
      <p:sp>
        <p:nvSpPr>
          <p:cNvPr id="280" name="Shape 21">
            <a:extLst>
              <a:ext uri="{FF2B5EF4-FFF2-40B4-BE49-F238E27FC236}">
                <a16:creationId xmlns:a16="http://schemas.microsoft.com/office/drawing/2014/main" id="{EE4F0A70-22D2-4146-8481-8D15CFA30BF4}"/>
              </a:ext>
            </a:extLst>
          </p:cNvPr>
          <p:cNvSpPr>
            <a:spLocks noGrp="1"/>
          </p:cNvSpPr>
          <p:nvPr/>
        </p:nvSpPr>
        <p:spPr>
          <a:xfrm>
            <a:off x="749880" y="5394960"/>
            <a:ext cx="6537600" cy="639720"/>
          </a:xfrm>
          <a:prstGeom prst="roundRect">
            <a:avLst>
              <a:gd name="adj" fmla="val 14286"/>
            </a:avLst>
          </a:prstGeom>
          <a:solidFill>
            <a:srgbClr val="F1F5F9"/>
          </a:solidFill>
          <a:ln w="12700">
            <a:solidFill>
              <a:srgbClr val="F1F5F9"/>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281" name="Text 22">
            <a:extLst>
              <a:ext uri="{FF2B5EF4-FFF2-40B4-BE49-F238E27FC236}">
                <a16:creationId xmlns:a16="http://schemas.microsoft.com/office/drawing/2014/main" id="{A470695E-E76B-48EB-BD7C-7B49E106AA5F}"/>
              </a:ext>
            </a:extLst>
          </p:cNvPr>
          <p:cNvSpPr>
            <a:spLocks noGrp="1"/>
          </p:cNvSpPr>
          <p:nvPr/>
        </p:nvSpPr>
        <p:spPr>
          <a:xfrm>
            <a:off x="969120" y="5596200"/>
            <a:ext cx="17827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9999"/>
          </a:bodyPr>
          <a:lstStyle/>
          <a:p>
            <a:pPr algn="ctr" defTabSz="914400">
              <a:lnSpc>
                <a:spcPct val="100000"/>
              </a:lnSpc>
              <a:buNone/>
              <a:tabLst>
                <a:tab pos="0" algn="l"/>
              </a:tabLst>
            </a:pPr>
            <a:r>
              <a:rPr sz="1350" b="1" u="none">
                <a:solidFill>
                  <a:srgbClr val="273244"/>
                </a:solidFill>
                <a:latin typeface="Aptos"/>
                <a:ea typeface="Aptos"/>
                <a:cs typeface="Aptos"/>
              </a:rPr>
              <a:t>12-company evaluation</a:t>
            </a:r>
            <a:endParaRPr sz="1350" b="0" u="none">
              <a:solidFill>
                <a:srgbClr val="000000"/>
              </a:solidFill>
              <a:latin typeface="Arial"/>
              <a:ea typeface="Arial"/>
              <a:cs typeface="Arial"/>
            </a:endParaRPr>
          </a:p>
        </p:txBody>
      </p:sp>
      <p:sp>
        <p:nvSpPr>
          <p:cNvPr id="282" name="Shape 23">
            <a:extLst>
              <a:ext uri="{FF2B5EF4-FFF2-40B4-BE49-F238E27FC236}">
                <a16:creationId xmlns:a16="http://schemas.microsoft.com/office/drawing/2014/main" id="{B4B96333-DA51-490F-88B6-E24785E2C8F1}"/>
              </a:ext>
            </a:extLst>
          </p:cNvPr>
          <p:cNvSpPr>
            <a:spLocks noGrp="1"/>
          </p:cNvSpPr>
          <p:nvPr/>
        </p:nvSpPr>
        <p:spPr>
          <a:xfrm>
            <a:off x="2971800" y="5577840"/>
            <a:ext cx="360" cy="246600"/>
          </a:xfrm>
          <a:prstGeom prst="line">
            <a:avLst/>
          </a:prstGeom>
          <a:ln w="12700">
            <a:solidFill>
              <a:srgbClr val="E2E8F0"/>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283" name="Text 24">
            <a:extLst>
              <a:ext uri="{FF2B5EF4-FFF2-40B4-BE49-F238E27FC236}">
                <a16:creationId xmlns:a16="http://schemas.microsoft.com/office/drawing/2014/main" id="{E086E65B-7A35-4B11-BCD0-FAA7D2B518BE}"/>
              </a:ext>
            </a:extLst>
          </p:cNvPr>
          <p:cNvSpPr>
            <a:spLocks noGrp="1"/>
          </p:cNvSpPr>
          <p:nvPr/>
        </p:nvSpPr>
        <p:spPr>
          <a:xfrm>
            <a:off x="3200400" y="5596200"/>
            <a:ext cx="20570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9999"/>
          </a:bodyPr>
          <a:lstStyle/>
          <a:p>
            <a:pPr algn="ctr" defTabSz="914400">
              <a:lnSpc>
                <a:spcPct val="100000"/>
              </a:lnSpc>
              <a:buNone/>
              <a:tabLst>
                <a:tab pos="0" algn="l"/>
              </a:tabLst>
            </a:pPr>
            <a:r>
              <a:rPr sz="1350" b="1" u="none">
                <a:solidFill>
                  <a:srgbClr val="273244"/>
                </a:solidFill>
                <a:latin typeface="Aptos"/>
                <a:ea typeface="Aptos"/>
                <a:cs typeface="Aptos"/>
              </a:rPr>
              <a:t>2 retained sample reports</a:t>
            </a:r>
            <a:endParaRPr sz="1350" b="0" u="none">
              <a:solidFill>
                <a:srgbClr val="000000"/>
              </a:solidFill>
              <a:latin typeface="Arial"/>
              <a:ea typeface="Arial"/>
              <a:cs typeface="Arial"/>
            </a:endParaRPr>
          </a:p>
        </p:txBody>
      </p:sp>
      <p:sp>
        <p:nvSpPr>
          <p:cNvPr id="284" name="Shape 25">
            <a:extLst>
              <a:ext uri="{FF2B5EF4-FFF2-40B4-BE49-F238E27FC236}">
                <a16:creationId xmlns:a16="http://schemas.microsoft.com/office/drawing/2014/main" id="{DA588051-8909-479C-9F86-D80CD05D896C}"/>
              </a:ext>
            </a:extLst>
          </p:cNvPr>
          <p:cNvSpPr>
            <a:spLocks noGrp="1"/>
          </p:cNvSpPr>
          <p:nvPr/>
        </p:nvSpPr>
        <p:spPr>
          <a:xfrm>
            <a:off x="5468040" y="5577840"/>
            <a:ext cx="360" cy="246600"/>
          </a:xfrm>
          <a:prstGeom prst="line">
            <a:avLst/>
          </a:prstGeom>
          <a:ln w="12700">
            <a:solidFill>
              <a:srgbClr val="E2E8F0"/>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285" name="Text 26">
            <a:extLst>
              <a:ext uri="{FF2B5EF4-FFF2-40B4-BE49-F238E27FC236}">
                <a16:creationId xmlns:a16="http://schemas.microsoft.com/office/drawing/2014/main" id="{0097827B-F517-4059-9A4E-5A48292DCD42}"/>
              </a:ext>
            </a:extLst>
          </p:cNvPr>
          <p:cNvSpPr>
            <a:spLocks noGrp="1"/>
          </p:cNvSpPr>
          <p:nvPr/>
        </p:nvSpPr>
        <p:spPr>
          <a:xfrm>
            <a:off x="5696640" y="5596200"/>
            <a:ext cx="13255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buNone/>
              <a:tabLst>
                <a:tab pos="0" algn="l"/>
              </a:tabLst>
            </a:pPr>
            <a:r>
              <a:rPr sz="1350" b="1" u="none">
                <a:solidFill>
                  <a:srgbClr val="273244"/>
                </a:solidFill>
                <a:latin typeface="Aptos"/>
                <a:ea typeface="Aptos"/>
                <a:cs typeface="Aptos"/>
              </a:rPr>
              <a:t>107 offline tests</a:t>
            </a:r>
            <a:endParaRPr sz="1350" b="0" u="none">
              <a:solidFill>
                <a:srgbClr val="000000"/>
              </a:solidFill>
              <a:latin typeface="Arial"/>
              <a:ea typeface="Arial"/>
              <a:cs typeface="Arial"/>
            </a:endParaRPr>
          </a:p>
        </p:txBody>
      </p:sp>
      <p:sp>
        <p:nvSpPr>
          <p:cNvPr id="286" name="Shape 27">
            <a:extLst>
              <a:ext uri="{FF2B5EF4-FFF2-40B4-BE49-F238E27FC236}">
                <a16:creationId xmlns:a16="http://schemas.microsoft.com/office/drawing/2014/main" id="{157BB4EA-03FF-4374-A592-9B9FE232EA60}"/>
              </a:ext>
            </a:extLst>
          </p:cNvPr>
          <p:cNvSpPr>
            <a:spLocks noGrp="1"/>
          </p:cNvSpPr>
          <p:nvPr/>
        </p:nvSpPr>
        <p:spPr>
          <a:xfrm>
            <a:off x="7598520" y="5394960"/>
            <a:ext cx="3785400" cy="639720"/>
          </a:xfrm>
          <a:prstGeom prst="roundRect">
            <a:avLst>
              <a:gd name="adj" fmla="val 14286"/>
            </a:avLst>
          </a:prstGeom>
          <a:solidFill>
            <a:srgbClr val="FFF5E6"/>
          </a:solidFill>
          <a:ln w="12700">
            <a:solidFill>
              <a:srgbClr val="F7D6A4"/>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287" name="Text 28">
            <a:extLst>
              <a:ext uri="{FF2B5EF4-FFF2-40B4-BE49-F238E27FC236}">
                <a16:creationId xmlns:a16="http://schemas.microsoft.com/office/drawing/2014/main" id="{25E8279F-124B-4CB6-986E-F26D7B393EDB}"/>
              </a:ext>
            </a:extLst>
          </p:cNvPr>
          <p:cNvSpPr>
            <a:spLocks noGrp="1"/>
          </p:cNvSpPr>
          <p:nvPr/>
        </p:nvSpPr>
        <p:spPr>
          <a:xfrm>
            <a:off x="7827120" y="5523120"/>
            <a:ext cx="17827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000" b="1" u="none" spc="79">
                <a:solidFill>
                  <a:srgbClr val="B45309"/>
                </a:solidFill>
                <a:latin typeface="Aptos"/>
                <a:ea typeface="Aptos"/>
                <a:cs typeface="Aptos"/>
              </a:rPr>
              <a:t>DESIGNED, NOT BUILT</a:t>
            </a:r>
            <a:endParaRPr sz="1000" b="0" u="none">
              <a:solidFill>
                <a:srgbClr val="000000"/>
              </a:solidFill>
              <a:latin typeface="Arial"/>
              <a:ea typeface="Arial"/>
              <a:cs typeface="Arial"/>
            </a:endParaRPr>
          </a:p>
        </p:txBody>
      </p:sp>
      <p:sp>
        <p:nvSpPr>
          <p:cNvPr id="288" name="Text 29">
            <a:extLst>
              <a:ext uri="{FF2B5EF4-FFF2-40B4-BE49-F238E27FC236}">
                <a16:creationId xmlns:a16="http://schemas.microsoft.com/office/drawing/2014/main" id="{39068CD3-73A7-4B9A-A5EC-15F7AFA6180B}"/>
              </a:ext>
            </a:extLst>
          </p:cNvPr>
          <p:cNvSpPr>
            <a:spLocks noGrp="1"/>
          </p:cNvSpPr>
          <p:nvPr/>
        </p:nvSpPr>
        <p:spPr>
          <a:xfrm>
            <a:off x="7827120" y="5751720"/>
            <a:ext cx="32457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150" b="0" u="none">
                <a:solidFill>
                  <a:srgbClr val="273244"/>
                </a:solidFill>
                <a:latin typeface="Aptos"/>
                <a:ea typeface="Aptos"/>
                <a:cs typeface="Aptos"/>
              </a:rPr>
              <a:t>scheduled sweeps · vendor-corpus ingestion</a:t>
            </a:r>
            <a:endParaRPr sz="1150" b="0" u="none">
              <a:solidFill>
                <a:srgbClr val="000000"/>
              </a:solidFill>
              <a:latin typeface="Arial"/>
              <a:ea typeface="Arial"/>
              <a:cs typeface="Arial"/>
            </a:endParaRPr>
          </a:p>
        </p:txBody>
      </p:sp>
      <p:sp>
        <p:nvSpPr>
          <p:cNvPr id="289" name="Text 30">
            <a:extLst>
              <a:ext uri="{FF2B5EF4-FFF2-40B4-BE49-F238E27FC236}">
                <a16:creationId xmlns:a16="http://schemas.microsoft.com/office/drawing/2014/main" id="{887A6F48-F66C-4176-9340-C658888CAE11}"/>
              </a:ext>
            </a:extLst>
          </p:cNvPr>
          <p:cNvSpPr>
            <a:spLocks noGrp="1"/>
          </p:cNvSpPr>
          <p:nvPr/>
        </p:nvSpPr>
        <p:spPr>
          <a:xfrm>
            <a:off x="713160" y="6428160"/>
            <a:ext cx="31089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900" b="1" u="none" spc="111">
                <a:solidFill>
                  <a:srgbClr val="64748B"/>
                </a:solidFill>
                <a:latin typeface="Aptos"/>
                <a:ea typeface="Aptos"/>
                <a:cs typeface="Aptos"/>
              </a:rPr>
              <a:t>AI PRE-SCAN  •  APPENDIX • DELIVERY</a:t>
            </a:r>
            <a:endParaRPr sz="900" b="0" u="none">
              <a:solidFill>
                <a:srgbClr val="000000"/>
              </a:solidFill>
              <a:latin typeface="Arial"/>
              <a:ea typeface="Arial"/>
              <a:cs typeface="Arial"/>
            </a:endParaRPr>
          </a:p>
        </p:txBody>
      </p:sp>
      <p:sp>
        <p:nvSpPr>
          <p:cNvPr id="290" name="PlaceHolder 1">
            <a:extLst>
              <a:ext uri="{FF2B5EF4-FFF2-40B4-BE49-F238E27FC236}">
                <a16:creationId xmlns:a16="http://schemas.microsoft.com/office/drawing/2014/main" id="{3071EFA8-BCF4-4CE4-BC4B-A1713C7A635E}"/>
              </a:ext>
            </a:extLst>
          </p:cNvPr>
          <p:cNvSpPr>
            <a:spLocks noGrp="1"/>
          </p:cNvSpPr>
          <p:nvPr>
            <p:ph type="sldNum" idx="14"/>
          </p:nvPr>
        </p:nvSpPr>
        <p:spPr>
          <a:xfrm>
            <a:off x="11292840" y="6428160"/>
            <a:ext cx="319680" cy="182520"/>
          </a:xfrm>
          <a:prstGeom prst="rect">
            <a:avLst/>
          </a:prstGeom>
          <a:noFill/>
          <a:ln w="0">
            <a:noFill/>
          </a:ln>
        </p:spPr>
        <p:txBody>
          <a:bodyPr lIns="0" tIns="0" rIns="0" bIns="0" anchor="t">
            <a:noAutofit/>
          </a:bodyPr>
          <a:lstStyle>
            <a:lvl1pPr indent="0" algn="r" defTabSz="914400">
              <a:lnSpc>
                <a:spcPct val="100000"/>
              </a:lnSpc>
              <a:buNone/>
              <a:defRPr sz="900" b="0" u="none">
                <a:solidFill>
                  <a:srgbClr val="94A3B8"/>
                </a:solidFill>
                <a:latin typeface="Aptos"/>
                <a:ea typeface="Aptos"/>
                <a:cs typeface="Aptos"/>
              </a:defRPr>
            </a:lvl1pPr>
          </a:lstStyle>
          <a:p>
            <a:pPr indent="0" algn="r" defTabSz="914400">
              <a:lnSpc>
                <a:spcPct val="100000"/>
              </a:lnSpc>
              <a:buNone/>
            </a:pPr>
            <a:fld id="{DB7BEEEC-A170-5376-2B6E-CB54687B0CB1}" type="slidenum">
              <a:rPr sz="900" b="0" u="none">
                <a:solidFill>
                  <a:srgbClr val="94A3B8"/>
                </a:solidFill>
                <a:latin typeface="Aptos"/>
                <a:ea typeface="Aptos"/>
                <a:cs typeface="Aptos"/>
              </a:rPr>
              <a:t>10</a:t>
            </a:fld>
            <a:endParaRPr sz="900" b="0" u="non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038109785"/>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majorFont>
      <a:minorFont>
        <a:latin typeface="Aptos"/>
        <a:ea typeface=""/>
        <a:cs typeface=""/>
      </a:minorFont>
    </a:fontScheme>
    <a:fmtScheme name="Offic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a:gradFill>
      </a:fillStyleLst>
      <a:lnStyleLst>
        <a:ln w="6350">
          <a:prstDash val="solid"/>
        </a:ln>
        <a:ln w="12700">
          <a:prstDash val="solid"/>
        </a:ln>
        <a:ln w="19050">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majorFont>
      <a:minorFont>
        <a:latin typeface="Aptos"/>
        <a:ea typeface=""/>
        <a:cs typeface=""/>
      </a:minorFont>
    </a:fontScheme>
    <a:fmtScheme name="Offic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a:gradFill>
      </a:fillStyleLst>
      <a:lnStyleLst>
        <a:ln w="6350">
          <a:prstDash val="solid"/>
        </a:ln>
        <a:ln w="12700">
          <a:prstDash val="solid"/>
        </a:ln>
        <a:ln w="19050">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3888</Words>
  <Application>Microsoft Macintosh PowerPoint</Application>
  <DocSecurity>0</DocSecurity>
  <PresentationFormat>Widescreen</PresentationFormat>
  <Paragraphs>476</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Aptos</vt:lpstr>
      <vt:lpstr>Aptos Display</vt:lpstr>
      <vt:lpstr>Arial</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Nnanyelugo Ahukannah</cp:lastModifiedBy>
  <cp:revision>1</cp:revision>
  <dcterms:created xsi:type="dcterms:W3CDTF">2026-08-14T11:43:14Z</dcterms:created>
  <dcterms:modified xsi:type="dcterms:W3CDTF">2026-08-14T12:30:22Z</dcterms:modified>
</cp:coreProperties>
</file>