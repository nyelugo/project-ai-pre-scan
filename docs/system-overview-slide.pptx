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4a4738c2204789" /><Relationship Type="http://schemas.openxmlformats.org/officeDocument/2006/relationships/extended-properties" Target="/docProps/app.xml" Id="R8dd53de02cf444a5" /><Relationship Type="http://schemas.openxmlformats.org/officeDocument/2006/relationships/officeDocument" Target="/ppt/presentation.xml" Id="R3356a9c2f7ee46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67fb70306b45ee"/>
  </p:sldMasterIdLst>
  <p:notesMasterIdLst>
    <p:notesMasterId xmlns:r="http://schemas.openxmlformats.org/officeDocument/2006/relationships" r:id="R1c4e1dd370ce4f1d"/>
  </p:notesMasterIdLst>
  <p:sldIdLst>
    <p:sldId xmlns:r="http://schemas.openxmlformats.org/officeDocument/2006/relationships" id="256" r:id="Rdaa083d64bd941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d31bcf48d14f93" /><Relationship Type="http://schemas.openxmlformats.org/officeDocument/2006/relationships/slideMaster" Target="/ppt/slideMasters/slideMaster1.xml" Id="Rf767fb70306b45ee" /><Relationship Type="http://schemas.openxmlformats.org/officeDocument/2006/relationships/notesMaster" Target="/ppt/notesMasters/notesMaster1.xml" Id="R1c4e1dd370ce4f1d" /><Relationship Type="http://schemas.openxmlformats.org/officeDocument/2006/relationships/presProps" Target="/ppt/presProps.xml" Id="Rec28490033884feb" /><Relationship Type="http://schemas.openxmlformats.org/officeDocument/2006/relationships/tableStyles" Target="/ppt/tableStyles.xml" Id="Reb77de0a36374a4f" /><Relationship Type="http://schemas.openxmlformats.org/officeDocument/2006/relationships/slide" Target="/ppt/slides/slide1.xml" Id="Rdaa083d64bd941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bde1b60e0040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27b4e1bd994316" /><Relationship Type="http://schemas.openxmlformats.org/officeDocument/2006/relationships/notesMaster" Target="/ppt/notesMasters/notesMaster1.xml" Id="Racee62f42f494f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while delivering the elevator pitch. Emphasise the quoted-evidence gate and the boundary before legal classification.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docs/elevator-pitch.md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docs/report-spec.md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158926dbf45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3231cdddf6471b" /><Relationship Type="http://schemas.openxmlformats.org/officeDocument/2006/relationships/slideLayout" Target="/ppt/slideLayouts/slideLayout1.xml" Id="Rb68f3c86b12247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8f3c86b12247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3df4945dd4dc9" /><Relationship Type="http://schemas.openxmlformats.org/officeDocument/2006/relationships/notesSlide" Target="/ppt/notesSlides/notesSlide1.xml" Id="Re23363b1217248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D4DCC3B-5EBE-47D4-90CF-561BC34E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3011E67-5639-4439-A259-BEF2757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AI PRE-SCAN  /  SYSTEM OVERVIEW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8F9E94-4D1E-4783-991F-E42F2849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company name becomes an auditable first draft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65D56A2-613F-468F-AF86-412D46B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Public research finds candidate AI systems; the evidence gate decides what can safely ship.</a:t>
            </a:r>
          </a:p>
        </p:txBody>
      </p:sp>
      <p:sp>
        <p:nvSpPr>
          <p:cNvPr id="5" name="arrow-1-2">
            <a:extLst xmlns:a="http://schemas.openxmlformats.org/drawingml/2006/main">
              <a:ext uri="{FF2B5EF4-FFF2-40B4-BE49-F238E27FC236}">
                <a16:creationId xmlns:a16="http://schemas.microsoft.com/office/drawing/2014/main" id="{88CA138C-1E48-428C-8A09-53729D32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524125"/>
            <a:ext cx="1714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2-3">
            <a:extLst xmlns:a="http://schemas.openxmlformats.org/drawingml/2006/main">
              <a:ext uri="{FF2B5EF4-FFF2-40B4-BE49-F238E27FC236}">
                <a16:creationId xmlns:a16="http://schemas.microsoft.com/office/drawing/2014/main" id="{34463CBF-713B-40F6-A7D4-C98B0299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24125"/>
            <a:ext cx="17145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search-node">
            <a:extLst xmlns:a="http://schemas.openxmlformats.org/drawingml/2006/main">
              <a:ext uri="{FF2B5EF4-FFF2-40B4-BE49-F238E27FC236}">
                <a16:creationId xmlns:a16="http://schemas.microsoft.com/office/drawing/2014/main" id="{DAF55D46-72FC-4FB7-9E53-2B1DB9DE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52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research-eyebrow">
            <a:extLst xmlns:a="http://schemas.openxmlformats.org/drawingml/2006/main">
              <a:ext uri="{FF2B5EF4-FFF2-40B4-BE49-F238E27FC236}">
                <a16:creationId xmlns:a16="http://schemas.microsoft.com/office/drawing/2014/main" id="{9F58DEEE-6AED-4EA4-8A33-F600E10A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INPUT + RESEARCH</a:t>
            </a:r>
          </a:p>
        </p:txBody>
      </p:sp>
      <p:sp>
        <p:nvSpPr>
          <p:cNvPr id="9" name="research-heading">
            <a:extLst xmlns:a="http://schemas.openxmlformats.org/drawingml/2006/main">
              <a:ext uri="{FF2B5EF4-FFF2-40B4-BE49-F238E27FC236}">
                <a16:creationId xmlns:a16="http://schemas.microsoft.com/office/drawing/2014/main" id="{5C6E12DA-246B-45B5-94A5-5E898A4F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 the public footprint</a:t>
            </a:r>
          </a:p>
        </p:txBody>
      </p:sp>
      <p:sp>
        <p:nvSpPr>
          <p:cNvPr id="10" name="research-body">
            <a:extLst xmlns:a="http://schemas.openxmlformats.org/drawingml/2006/main">
              <a:ext uri="{FF2B5EF4-FFF2-40B4-BE49-F238E27FC236}">
                <a16:creationId xmlns:a16="http://schemas.microsoft.com/office/drawing/2014/main" id="{227481F1-7777-4F8F-A94F-313B0A6F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Company registry · website · careers · vendor pages · news</a:t>
            </a:r>
          </a:p>
        </p:txBody>
      </p:sp>
      <p:sp>
        <p:nvSpPr>
          <p:cNvPr id="11" name="evidence-gate-node">
            <a:extLst xmlns:a="http://schemas.openxmlformats.org/drawingml/2006/main">
              <a:ext uri="{FF2B5EF4-FFF2-40B4-BE49-F238E27FC236}">
                <a16:creationId xmlns:a16="http://schemas.microsoft.com/office/drawing/2014/main" id="{3DF1651D-B67A-432C-8035-E324DA47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52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5EB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25EB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evidence-gate-eyebrow">
            <a:extLst xmlns:a="http://schemas.openxmlformats.org/drawingml/2006/main">
              <a:ext uri="{FF2B5EF4-FFF2-40B4-BE49-F238E27FC236}">
                <a16:creationId xmlns:a16="http://schemas.microsoft.com/office/drawing/2014/main" id="{4066EB7D-380D-4753-AAE9-E6493CCB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DETERMINISTIC GATE</a:t>
            </a:r>
          </a:p>
        </p:txBody>
      </p:sp>
      <p:sp>
        <p:nvSpPr>
          <p:cNvPr id="13" name="evidence-gate-heading">
            <a:extLst xmlns:a="http://schemas.openxmlformats.org/drawingml/2006/main">
              <a:ext uri="{FF2B5EF4-FFF2-40B4-BE49-F238E27FC236}">
                <a16:creationId xmlns:a16="http://schemas.microsoft.com/office/drawing/2014/main" id="{A08AADDD-F4CA-4105-90D4-90E53A51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 every finding</a:t>
            </a:r>
          </a:p>
        </p:txBody>
      </p:sp>
      <p:sp>
        <p:nvSpPr>
          <p:cNvPr id="14" name="evidence-gate-body">
            <a:extLst xmlns:a="http://schemas.openxmlformats.org/drawingml/2006/main">
              <a:ext uri="{FF2B5EF4-FFF2-40B4-BE49-F238E27FC236}">
                <a16:creationId xmlns:a16="http://schemas.microsoft.com/office/drawing/2014/main" id="{259ABB18-18DF-45D4-B66D-7F14DFDF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3390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Quoted evidence + source currentness. Unsupported claims become undetermined.</a:t>
            </a:r>
          </a:p>
        </p:txBody>
      </p:sp>
      <p:sp>
        <p:nvSpPr>
          <p:cNvPr id="15" name="outputs-node">
            <a:extLst xmlns:a="http://schemas.openxmlformats.org/drawingml/2006/main">
              <a:ext uri="{FF2B5EF4-FFF2-40B4-BE49-F238E27FC236}">
                <a16:creationId xmlns:a16="http://schemas.microsoft.com/office/drawing/2014/main" id="{47400CC9-C011-4A52-B028-0D58C051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52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outputs-eyebrow">
            <a:extLst xmlns:a="http://schemas.openxmlformats.org/drawingml/2006/main">
              <a:ext uri="{FF2B5EF4-FFF2-40B4-BE49-F238E27FC236}">
                <a16:creationId xmlns:a16="http://schemas.microsoft.com/office/drawing/2014/main" id="{62A1FF1C-EA23-4460-975B-BEEFADA5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24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TWO USEFUL OUTPUTS</a:t>
            </a:r>
          </a:p>
        </p:txBody>
      </p:sp>
      <p:sp>
        <p:nvSpPr>
          <p:cNvPr id="17" name="outputs-heading">
            <a:extLst xmlns:a="http://schemas.openxmlformats.org/drawingml/2006/main">
              <a:ext uri="{FF2B5EF4-FFF2-40B4-BE49-F238E27FC236}">
                <a16:creationId xmlns:a16="http://schemas.microsoft.com/office/drawing/2014/main" id="{41C6E0CD-53E9-4B20-9FE4-9976DA2C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the client conversation</a:t>
            </a:r>
          </a:p>
        </p:txBody>
      </p:sp>
      <p:sp>
        <p:nvSpPr>
          <p:cNvPr id="18" name="outputs-body">
            <a:extLst xmlns:a="http://schemas.openxmlformats.org/drawingml/2006/main">
              <a:ext uri="{FF2B5EF4-FFF2-40B4-BE49-F238E27FC236}">
                <a16:creationId xmlns:a16="http://schemas.microsoft.com/office/drawing/2014/main" id="{A82AA996-750B-4F34-B546-549C2189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3390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Candidate AI inventory + focused questions to verify with the company</a:t>
            </a:r>
          </a:p>
        </p:txBody>
      </p:sp>
      <p:sp>
        <p:nvSpPr>
          <p:cNvPr id="19" name="human-review-band">
            <a:extLst xmlns:a="http://schemas.openxmlformats.org/drawingml/2006/main">
              <a:ext uri="{FF2B5EF4-FFF2-40B4-BE49-F238E27FC236}">
                <a16:creationId xmlns:a16="http://schemas.microsoft.com/office/drawing/2014/main" id="{D1B34E8C-5712-4813-8083-A01AB700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man-review-accent">
            <a:extLst xmlns:a="http://schemas.openxmlformats.org/drawingml/2006/main">
              <a:ext uri="{FF2B5EF4-FFF2-40B4-BE49-F238E27FC236}">
                <a16:creationId xmlns:a16="http://schemas.microsoft.com/office/drawing/2014/main" id="{0C12D9A9-F100-4CD6-8866-B476F3CF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man-review-label">
            <a:extLst xmlns:a="http://schemas.openxmlformats.org/drawingml/2006/main">
              <a:ext uri="{FF2B5EF4-FFF2-40B4-BE49-F238E27FC236}">
                <a16:creationId xmlns:a16="http://schemas.microsoft.com/office/drawing/2014/main" id="{6B7824CF-6810-417E-9E16-022BF3C6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816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HUMAN REVIEW + LEGAL HANDOFF</a:t>
            </a:r>
          </a:p>
        </p:txBody>
      </p:sp>
      <p:sp>
        <p:nvSpPr>
          <p:cNvPr id="22" name="human-review-message">
            <a:extLst xmlns:a="http://schemas.openxmlformats.org/drawingml/2006/main">
              <a:ext uri="{FF2B5EF4-FFF2-40B4-BE49-F238E27FC236}">
                <a16:creationId xmlns:a16="http://schemas.microsoft.com/office/drawing/2014/main" id="{86989D00-B7CE-4FE7-A7B7-AA877727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adviser confirms the facts — then a separate rules engine applies the law.</a:t>
            </a:r>
          </a:p>
        </p:txBody>
      </p:sp>
    </p:spTree>
    <p:extLst>
      <p:ext uri="{BB962C8B-B14F-4D97-AF65-F5344CB8AC3E}">
        <p14:creationId xmlns:p14="http://schemas.microsoft.com/office/powerpoint/2010/main" val="732907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2026-08-10T12:11:37.7420000Z</dcterms:created>
  <dcterms:modified xsi:type="dcterms:W3CDTF">2026-08-10T12:11:37.7430000Z</dcterms:modified>
</coreProperties>
</file>